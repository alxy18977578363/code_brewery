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7" r:id="rId5"/>
    <p:sldId id="289" r:id="rId6"/>
    <p:sldId id="288" r:id="rId7"/>
    <p:sldId id="301" r:id="rId8"/>
    <p:sldId id="259" r:id="rId9"/>
    <p:sldId id="302" r:id="rId10"/>
    <p:sldId id="300" r:id="rId11"/>
    <p:sldId id="303" r:id="rId12"/>
    <p:sldId id="290" r:id="rId13"/>
    <p:sldId id="266" r:id="rId14"/>
    <p:sldId id="304" r:id="rId15"/>
    <p:sldId id="305" r:id="rId16"/>
    <p:sldId id="292" r:id="rId17"/>
    <p:sldId id="274" r:id="rId18"/>
    <p:sldId id="308" r:id="rId19"/>
    <p:sldId id="309" r:id="rId20"/>
    <p:sldId id="276" r:id="rId21"/>
    <p:sldId id="278" r:id="rId22"/>
    <p:sldId id="310" r:id="rId23"/>
    <p:sldId id="281" r:id="rId24"/>
    <p:sldId id="283" r:id="rId25"/>
    <p:sldId id="286" r:id="rId26"/>
  </p:sldIdLst>
  <p:sldSz cx="9144000" cy="5143500" type="screen16x9"/>
  <p:notesSz cx="6858000" cy="9144000"/>
  <p:custDataLst>
    <p:tags r:id="rId30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4865"/>
    <a:srgbClr val="F2F2F2"/>
    <a:srgbClr val="F5F5F5"/>
    <a:srgbClr val="BFBFBF"/>
    <a:srgbClr val="0071C1"/>
    <a:srgbClr val="E2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46" y="66"/>
      </p:cViewPr>
      <p:guideLst>
        <p:guide orient="horz" pos="1620"/>
        <p:guide pos="2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4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7AFACBB1-1174-4432-BE6F-41B3ACC0B83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itchFamily="34" charset="-122"/>
              </a:defRPr>
            </a:lvl1pPr>
          </a:lstStyle>
          <a:p>
            <a:fld id="{F10490FA-BF50-4B16-B630-490134ED6E9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微软雅黑" pitchFamily="34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490FA-BF50-4B16-B630-490134ED6E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490FA-BF50-4B16-B630-490134ED6E9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0490FA-BF50-4B16-B630-490134ED6E9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C8DB37-21FE-466F-861C-5865DBFB10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1450"/>
            <a:ext cx="7772400" cy="3428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00450"/>
            <a:ext cx="6858000" cy="6858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fld id="{86A4963E-0D9B-45DC-9720-FEC0E036E7D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3634740"/>
            <a:ext cx="142876" cy="1508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36347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a typeface="微软雅黑" pitchFamily="34" charset="-122"/>
              </a:defRPr>
            </a:lvl1pPr>
          </a:lstStyle>
          <a:p>
            <a:fld id="{3C1EF214-A2F4-4BB1-A3DC-69933A723F5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fld id="{86A4963E-0D9B-45DC-9720-FEC0E036E7D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fld id="{3C1EF214-A2F4-4BB1-A3DC-69933A723F5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意义与内容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思路与方法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重点与难点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成果与运用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建议与总结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 userDrawn="1"/>
        </p:nvSpPr>
        <p:spPr>
          <a:xfrm>
            <a:off x="0" y="954496"/>
            <a:ext cx="1268760" cy="591140"/>
          </a:xfrm>
          <a:prstGeom prst="rect">
            <a:avLst/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绪论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160748" y="1196060"/>
            <a:ext cx="108012" cy="10801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方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绪论</a:t>
                      </a:r>
                      <a:endParaRPr lang="zh-CN" altLang="en-US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研究方法与思路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重点与难点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成果与应用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成果与运用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建议与总结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组合 13"/>
          <p:cNvGrpSpPr/>
          <p:nvPr userDrawn="1"/>
        </p:nvGrpSpPr>
        <p:grpSpPr>
          <a:xfrm>
            <a:off x="0" y="1545636"/>
            <a:ext cx="1268760" cy="591140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3148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意义与内容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直角三角形 11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8" name="五边形 17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键技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绪论</a:t>
                      </a:r>
                      <a:endParaRPr lang="zh-CN" altLang="en-US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意义与内容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关键技术与难点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重点与难点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成果与运用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建议与总结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组合 13"/>
          <p:cNvGrpSpPr/>
          <p:nvPr userDrawn="1"/>
        </p:nvGrpSpPr>
        <p:grpSpPr>
          <a:xfrm>
            <a:off x="0" y="2140705"/>
            <a:ext cx="1268760" cy="591140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3148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kern="12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思路与方法</a:t>
              </a:r>
              <a:endParaRPr lang="zh-CN" altLang="en-US" sz="1400" kern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五边形 10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果与应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绪论</a:t>
                      </a:r>
                      <a:endParaRPr lang="zh-CN" altLang="en-US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意义与内容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思路与方法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成果与应用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成果与运用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建议与总结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2736195"/>
            <a:ext cx="1268760" cy="591140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3148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0" kern="12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重点与难点</a:t>
              </a:r>
              <a:endParaRPr lang="zh-CN" altLang="en-US" sz="1400" b="0" kern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直角三角形 13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5" name="五边形 14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关建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绪论</a:t>
                      </a:r>
                      <a:endParaRPr lang="zh-CN" altLang="en-US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意义与内容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思路与方法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重点与难点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相关建议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建议与总结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组合 13"/>
          <p:cNvGrpSpPr/>
          <p:nvPr userDrawn="1"/>
        </p:nvGrpSpPr>
        <p:grpSpPr>
          <a:xfrm>
            <a:off x="0" y="3329985"/>
            <a:ext cx="1268760" cy="591140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3148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kern="12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成果与运用</a:t>
              </a:r>
              <a:endParaRPr lang="zh-CN" altLang="en-US" sz="1400" kern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五边形 10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论文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6876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951570"/>
          <a:ext cx="1268760" cy="356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68760"/>
              </a:tblGrid>
              <a:tr h="59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绪论</a:t>
                      </a:r>
                      <a:endParaRPr lang="zh-CN" altLang="en-US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意义与内容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思路与方法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重点与难点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成果与运用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论文总结</a:t>
                      </a:r>
                      <a:endParaRPr lang="zh-CN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4" name="组合 13"/>
          <p:cNvGrpSpPr/>
          <p:nvPr userDrawn="1"/>
        </p:nvGrpSpPr>
        <p:grpSpPr>
          <a:xfrm>
            <a:off x="0" y="3923711"/>
            <a:ext cx="1268760" cy="591140"/>
            <a:chOff x="0" y="1272662"/>
            <a:chExt cx="1691680" cy="788186"/>
          </a:xfrm>
        </p:grpSpPr>
        <p:sp>
          <p:nvSpPr>
            <p:cNvPr id="15" name="矩形 14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3148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kern="1200" dirty="0">
                  <a:solidFill>
                    <a:schemeClr val="lt1"/>
                  </a:solidFill>
                  <a:latin typeface="微软雅黑" pitchFamily="34" charset="-122"/>
                  <a:ea typeface="微软雅黑" pitchFamily="34" charset="-122"/>
                  <a:cs typeface="+mn-cs"/>
                </a:rPr>
                <a:t>建议与总结</a:t>
              </a:r>
              <a:endParaRPr lang="zh-CN" altLang="en-US" sz="1400" kern="1200" dirty="0">
                <a:solidFill>
                  <a:schemeClr val="lt1"/>
                </a:solidFill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7" name="等腰三角形 16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直角三角形 9"/>
          <p:cNvSpPr/>
          <p:nvPr userDrawn="1"/>
        </p:nvSpPr>
        <p:spPr>
          <a:xfrm flipH="1">
            <a:off x="8458200" y="4514851"/>
            <a:ext cx="712721" cy="640070"/>
          </a:xfrm>
          <a:prstGeom prst="rtTriangle">
            <a:avLst/>
          </a:prstGeom>
          <a:solidFill>
            <a:srgbClr val="152F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五边形 10"/>
          <p:cNvSpPr/>
          <p:nvPr userDrawn="1"/>
        </p:nvSpPr>
        <p:spPr>
          <a:xfrm flipH="1">
            <a:off x="8536625" y="4776879"/>
            <a:ext cx="739955" cy="378042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4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4539"/>
            <a:ext cx="57912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7620000" cy="3280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B0C4986D-6BE9-4264-908F-02DB36FD8D6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69657"/>
            <a:ext cx="3429000" cy="2128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391843" y="4368483"/>
            <a:ext cx="9867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BA9B540C-44DA-4F69-89C9-7C84606640D3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028700"/>
          </a:xfrm>
          <a:prstGeom prst="rect">
            <a:avLst/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028700"/>
            <a:ext cx="142876" cy="4114800"/>
          </a:xfrm>
          <a:prstGeom prst="rect">
            <a:avLst/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圆角矩形 8"/>
          <p:cNvSpPr/>
          <p:nvPr userDrawn="1"/>
        </p:nvSpPr>
        <p:spPr>
          <a:xfrm>
            <a:off x="0" y="4867274"/>
            <a:ext cx="7048500" cy="276225"/>
          </a:xfrm>
          <a:prstGeom prst="roundRect">
            <a:avLst>
              <a:gd name="adj" fmla="val 0"/>
            </a:avLst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8124825" y="4867273"/>
            <a:ext cx="1019175" cy="276225"/>
          </a:xfrm>
          <a:prstGeom prst="roundRect">
            <a:avLst>
              <a:gd name="adj" fmla="val 0"/>
            </a:avLst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ea typeface="微软雅黑" pitchFamily="34" charset="-122"/>
            </a:endParaRPr>
          </a:p>
        </p:txBody>
      </p:sp>
      <p:sp>
        <p:nvSpPr>
          <p:cNvPr id="11" name="文本框 9"/>
          <p:cNvSpPr txBox="1"/>
          <p:nvPr userDrawn="1"/>
        </p:nvSpPr>
        <p:spPr>
          <a:xfrm>
            <a:off x="7143753" y="4843416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>
                <a:solidFill>
                  <a:srgbClr val="314865"/>
                </a:solidFill>
                <a:latin typeface="微软雅黑" pitchFamily="34" charset="-122"/>
                <a:ea typeface="微软雅黑" pitchFamily="34" charset="-122"/>
              </a:rPr>
              <a:t>复旦大学</a:t>
            </a:r>
            <a:endParaRPr lang="zh-CN" altLang="en-US" b="0" dirty="0">
              <a:solidFill>
                <a:srgbClr val="31486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       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933242" y="2139208"/>
            <a:ext cx="5496560" cy="7683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altLang="zh-CN" sz="4400" b="1" dirty="0">
                <a:ln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OceanBase</a:t>
            </a:r>
            <a:r>
              <a:rPr lang="zh-CN" altLang="en-US" sz="4400" b="1" dirty="0">
                <a:ln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事务</a:t>
            </a:r>
            <a:r>
              <a:rPr lang="zh-CN" altLang="en-US" sz="4400" b="1" dirty="0">
                <a:ln>
                  <a:prstDash val="solid"/>
                </a:ln>
                <a:solidFill>
                  <a:schemeClr val="bg1"/>
                </a:solidFill>
                <a:latin typeface="+mj-ea"/>
                <a:ea typeface="+mj-ea"/>
              </a:rPr>
              <a:t>研究</a:t>
            </a:r>
            <a:endParaRPr lang="zh-CN" altLang="en-US" sz="4400" b="1" dirty="0">
              <a:ln>
                <a:prstDash val="solid"/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163303" y="3179517"/>
            <a:ext cx="2914650" cy="3067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小组成员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李盛鹏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杨钦战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程亦诚</a:t>
            </a:r>
            <a:endParaRPr lang="zh-CN" altLang="en-US" sz="1400" b="1" dirty="0">
              <a:ln>
                <a:prstDash val="solid"/>
              </a:ln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16"/>
          <p:cNvSpPr txBox="1"/>
          <p:nvPr/>
        </p:nvSpPr>
        <p:spPr>
          <a:xfrm>
            <a:off x="7656889" y="4537243"/>
            <a:ext cx="112723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zh-CN" kern="0" dirty="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rPr>
              <a:t>Loading……</a:t>
            </a:r>
            <a:endParaRPr lang="zh-CN" altLang="en-US" kern="0" dirty="0">
              <a:solidFill>
                <a:schemeClr val="bg1"/>
              </a:solidFill>
              <a:latin typeface="时尚中黑简体" pitchFamily="2" charset="-122"/>
              <a:ea typeface="时尚中黑简体" pitchFamily="2" charset="-122"/>
            </a:endParaRPr>
          </a:p>
        </p:txBody>
      </p:sp>
      <p:pic>
        <p:nvPicPr>
          <p:cNvPr id="40" name="Picture 3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7883" y="4493803"/>
            <a:ext cx="450132" cy="45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 15"/>
          <p:cNvSpPr>
            <a:spLocks noEditPoints="1"/>
          </p:cNvSpPr>
          <p:nvPr/>
        </p:nvSpPr>
        <p:spPr bwMode="auto">
          <a:xfrm>
            <a:off x="4007644" y="971557"/>
            <a:ext cx="1132332" cy="1008011"/>
          </a:xfrm>
          <a:custGeom>
            <a:avLst/>
            <a:gdLst>
              <a:gd name="T0" fmla="*/ 1051 w 1910"/>
              <a:gd name="T1" fmla="*/ 1550 h 1774"/>
              <a:gd name="T2" fmla="*/ 788 w 1910"/>
              <a:gd name="T3" fmla="*/ 1668 h 1774"/>
              <a:gd name="T4" fmla="*/ 535 w 1910"/>
              <a:gd name="T5" fmla="*/ 59 h 1774"/>
              <a:gd name="T6" fmla="*/ 591 w 1910"/>
              <a:gd name="T7" fmla="*/ 95 h 1774"/>
              <a:gd name="T8" fmla="*/ 963 w 1910"/>
              <a:gd name="T9" fmla="*/ 4 h 1774"/>
              <a:gd name="T10" fmla="*/ 477 w 1910"/>
              <a:gd name="T11" fmla="*/ 72 h 1774"/>
              <a:gd name="T12" fmla="*/ 582 w 1910"/>
              <a:gd name="T13" fmla="*/ 175 h 1774"/>
              <a:gd name="T14" fmla="*/ 560 w 1910"/>
              <a:gd name="T15" fmla="*/ 959 h 1774"/>
              <a:gd name="T16" fmla="*/ 454 w 1910"/>
              <a:gd name="T17" fmla="*/ 856 h 1774"/>
              <a:gd name="T18" fmla="*/ 477 w 1910"/>
              <a:gd name="T19" fmla="*/ 72 h 1774"/>
              <a:gd name="T20" fmla="*/ 869 w 1910"/>
              <a:gd name="T21" fmla="*/ 340 h 1774"/>
              <a:gd name="T22" fmla="*/ 1316 w 1910"/>
              <a:gd name="T23" fmla="*/ 289 h 1774"/>
              <a:gd name="T24" fmla="*/ 820 w 1910"/>
              <a:gd name="T25" fmla="*/ 308 h 1774"/>
              <a:gd name="T26" fmla="*/ 845 w 1910"/>
              <a:gd name="T27" fmla="*/ 375 h 1774"/>
              <a:gd name="T28" fmla="*/ 867 w 1910"/>
              <a:gd name="T29" fmla="*/ 1187 h 1774"/>
              <a:gd name="T30" fmla="*/ 762 w 1910"/>
              <a:gd name="T31" fmla="*/ 1155 h 1774"/>
              <a:gd name="T32" fmla="*/ 740 w 1910"/>
              <a:gd name="T33" fmla="*/ 343 h 1774"/>
              <a:gd name="T34" fmla="*/ 908 w 1910"/>
              <a:gd name="T35" fmla="*/ 408 h 1774"/>
              <a:gd name="T36" fmla="*/ 1440 w 1910"/>
              <a:gd name="T37" fmla="*/ 408 h 1774"/>
              <a:gd name="T38" fmla="*/ 1368 w 1910"/>
              <a:gd name="T39" fmla="*/ 1142 h 1774"/>
              <a:gd name="T40" fmla="*/ 908 w 1910"/>
              <a:gd name="T41" fmla="*/ 408 h 1774"/>
              <a:gd name="T42" fmla="*/ 1356 w 1910"/>
              <a:gd name="T43" fmla="*/ 469 h 1774"/>
              <a:gd name="T44" fmla="*/ 996 w 1910"/>
              <a:gd name="T45" fmla="*/ 677 h 1774"/>
              <a:gd name="T46" fmla="*/ 622 w 1910"/>
              <a:gd name="T47" fmla="*/ 158 h 1774"/>
              <a:gd name="T48" fmla="*/ 1155 w 1910"/>
              <a:gd name="T49" fmla="*/ 158 h 1774"/>
              <a:gd name="T50" fmla="*/ 719 w 1910"/>
              <a:gd name="T51" fmla="*/ 233 h 1774"/>
              <a:gd name="T52" fmla="*/ 677 w 1910"/>
              <a:gd name="T53" fmla="*/ 944 h 1774"/>
              <a:gd name="T54" fmla="*/ 622 w 1910"/>
              <a:gd name="T55" fmla="*/ 158 h 1774"/>
              <a:gd name="T56" fmla="*/ 378 w 1910"/>
              <a:gd name="T57" fmla="*/ 530 h 1774"/>
              <a:gd name="T58" fmla="*/ 293 w 1910"/>
              <a:gd name="T59" fmla="*/ 381 h 1774"/>
              <a:gd name="T60" fmla="*/ 152 w 1910"/>
              <a:gd name="T61" fmla="*/ 1314 h 1774"/>
              <a:gd name="T62" fmla="*/ 254 w 1910"/>
              <a:gd name="T63" fmla="*/ 1450 h 1774"/>
              <a:gd name="T64" fmla="*/ 0 w 1910"/>
              <a:gd name="T65" fmla="*/ 1774 h 1774"/>
              <a:gd name="T66" fmla="*/ 1910 w 1910"/>
              <a:gd name="T67" fmla="*/ 1651 h 1774"/>
              <a:gd name="T68" fmla="*/ 1748 w 1910"/>
              <a:gd name="T69" fmla="*/ 1314 h 1774"/>
              <a:gd name="T70" fmla="*/ 1607 w 1910"/>
              <a:gd name="T71" fmla="*/ 381 h 1774"/>
              <a:gd name="T72" fmla="*/ 1523 w 1910"/>
              <a:gd name="T73" fmla="*/ 530 h 1774"/>
              <a:gd name="T74" fmla="*/ 1614 w 1910"/>
              <a:gd name="T75" fmla="*/ 1336 h 1774"/>
              <a:gd name="T76" fmla="*/ 286 w 1910"/>
              <a:gd name="T77" fmla="*/ 530 h 1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10" h="1774">
                <a:moveTo>
                  <a:pt x="848" y="1550"/>
                </a:moveTo>
                <a:lnTo>
                  <a:pt x="1051" y="1550"/>
                </a:lnTo>
                <a:lnTo>
                  <a:pt x="1122" y="1668"/>
                </a:lnTo>
                <a:lnTo>
                  <a:pt x="788" y="1668"/>
                </a:lnTo>
                <a:lnTo>
                  <a:pt x="848" y="1550"/>
                </a:lnTo>
                <a:close/>
                <a:moveTo>
                  <a:pt x="535" y="59"/>
                </a:moveTo>
                <a:lnTo>
                  <a:pt x="584" y="90"/>
                </a:lnTo>
                <a:cubicBezTo>
                  <a:pt x="587" y="92"/>
                  <a:pt x="589" y="93"/>
                  <a:pt x="591" y="95"/>
                </a:cubicBezTo>
                <a:lnTo>
                  <a:pt x="1031" y="39"/>
                </a:lnTo>
                <a:cubicBezTo>
                  <a:pt x="1020" y="15"/>
                  <a:pt x="994" y="0"/>
                  <a:pt x="963" y="4"/>
                </a:cubicBezTo>
                <a:lnTo>
                  <a:pt x="535" y="59"/>
                </a:lnTo>
                <a:close/>
                <a:moveTo>
                  <a:pt x="477" y="72"/>
                </a:moveTo>
                <a:lnTo>
                  <a:pt x="560" y="125"/>
                </a:lnTo>
                <a:cubicBezTo>
                  <a:pt x="572" y="133"/>
                  <a:pt x="582" y="155"/>
                  <a:pt x="582" y="175"/>
                </a:cubicBezTo>
                <a:lnTo>
                  <a:pt x="582" y="937"/>
                </a:lnTo>
                <a:cubicBezTo>
                  <a:pt x="582" y="957"/>
                  <a:pt x="572" y="966"/>
                  <a:pt x="560" y="959"/>
                </a:cubicBezTo>
                <a:lnTo>
                  <a:pt x="477" y="906"/>
                </a:lnTo>
                <a:cubicBezTo>
                  <a:pt x="464" y="898"/>
                  <a:pt x="454" y="875"/>
                  <a:pt x="454" y="856"/>
                </a:cubicBezTo>
                <a:lnTo>
                  <a:pt x="454" y="93"/>
                </a:lnTo>
                <a:cubicBezTo>
                  <a:pt x="454" y="74"/>
                  <a:pt x="464" y="64"/>
                  <a:pt x="477" y="72"/>
                </a:cubicBezTo>
                <a:close/>
                <a:moveTo>
                  <a:pt x="820" y="308"/>
                </a:moveTo>
                <a:lnTo>
                  <a:pt x="869" y="340"/>
                </a:lnTo>
                <a:cubicBezTo>
                  <a:pt x="872" y="341"/>
                  <a:pt x="874" y="343"/>
                  <a:pt x="877" y="345"/>
                </a:cubicBezTo>
                <a:lnTo>
                  <a:pt x="1316" y="289"/>
                </a:lnTo>
                <a:cubicBezTo>
                  <a:pt x="1305" y="264"/>
                  <a:pt x="1279" y="250"/>
                  <a:pt x="1249" y="253"/>
                </a:cubicBezTo>
                <a:lnTo>
                  <a:pt x="820" y="308"/>
                </a:lnTo>
                <a:close/>
                <a:moveTo>
                  <a:pt x="762" y="322"/>
                </a:moveTo>
                <a:lnTo>
                  <a:pt x="845" y="375"/>
                </a:lnTo>
                <a:cubicBezTo>
                  <a:pt x="857" y="382"/>
                  <a:pt x="867" y="405"/>
                  <a:pt x="867" y="424"/>
                </a:cubicBezTo>
                <a:lnTo>
                  <a:pt x="867" y="1187"/>
                </a:lnTo>
                <a:cubicBezTo>
                  <a:pt x="867" y="1206"/>
                  <a:pt x="857" y="1216"/>
                  <a:pt x="845" y="1208"/>
                </a:cubicBezTo>
                <a:lnTo>
                  <a:pt x="762" y="1155"/>
                </a:lnTo>
                <a:cubicBezTo>
                  <a:pt x="750" y="1147"/>
                  <a:pt x="740" y="1125"/>
                  <a:pt x="740" y="1105"/>
                </a:cubicBezTo>
                <a:lnTo>
                  <a:pt x="740" y="343"/>
                </a:lnTo>
                <a:cubicBezTo>
                  <a:pt x="740" y="323"/>
                  <a:pt x="750" y="314"/>
                  <a:pt x="762" y="322"/>
                </a:cubicBezTo>
                <a:close/>
                <a:moveTo>
                  <a:pt x="908" y="408"/>
                </a:moveTo>
                <a:lnTo>
                  <a:pt x="1368" y="349"/>
                </a:lnTo>
                <a:cubicBezTo>
                  <a:pt x="1407" y="344"/>
                  <a:pt x="1440" y="370"/>
                  <a:pt x="1440" y="408"/>
                </a:cubicBezTo>
                <a:lnTo>
                  <a:pt x="1440" y="1064"/>
                </a:lnTo>
                <a:cubicBezTo>
                  <a:pt x="1440" y="1102"/>
                  <a:pt x="1407" y="1137"/>
                  <a:pt x="1368" y="1142"/>
                </a:cubicBezTo>
                <a:lnTo>
                  <a:pt x="908" y="1201"/>
                </a:lnTo>
                <a:lnTo>
                  <a:pt x="908" y="408"/>
                </a:lnTo>
                <a:close/>
                <a:moveTo>
                  <a:pt x="996" y="515"/>
                </a:moveTo>
                <a:lnTo>
                  <a:pt x="1356" y="469"/>
                </a:lnTo>
                <a:lnTo>
                  <a:pt x="1356" y="631"/>
                </a:lnTo>
                <a:lnTo>
                  <a:pt x="996" y="677"/>
                </a:lnTo>
                <a:lnTo>
                  <a:pt x="996" y="515"/>
                </a:lnTo>
                <a:close/>
                <a:moveTo>
                  <a:pt x="622" y="158"/>
                </a:moveTo>
                <a:lnTo>
                  <a:pt x="1082" y="99"/>
                </a:lnTo>
                <a:cubicBezTo>
                  <a:pt x="1122" y="94"/>
                  <a:pt x="1155" y="121"/>
                  <a:pt x="1155" y="158"/>
                </a:cubicBezTo>
                <a:lnTo>
                  <a:pt x="1155" y="177"/>
                </a:lnTo>
                <a:lnTo>
                  <a:pt x="719" y="233"/>
                </a:lnTo>
                <a:cubicBezTo>
                  <a:pt x="688" y="242"/>
                  <a:pt x="676" y="262"/>
                  <a:pt x="677" y="303"/>
                </a:cubicBezTo>
                <a:lnTo>
                  <a:pt x="677" y="944"/>
                </a:lnTo>
                <a:lnTo>
                  <a:pt x="622" y="951"/>
                </a:lnTo>
                <a:lnTo>
                  <a:pt x="622" y="158"/>
                </a:lnTo>
                <a:close/>
                <a:moveTo>
                  <a:pt x="286" y="530"/>
                </a:moveTo>
                <a:lnTo>
                  <a:pt x="378" y="530"/>
                </a:lnTo>
                <a:lnTo>
                  <a:pt x="378" y="381"/>
                </a:lnTo>
                <a:lnTo>
                  <a:pt x="293" y="381"/>
                </a:lnTo>
                <a:cubicBezTo>
                  <a:pt x="215" y="381"/>
                  <a:pt x="152" y="445"/>
                  <a:pt x="152" y="523"/>
                </a:cubicBezTo>
                <a:lnTo>
                  <a:pt x="152" y="1314"/>
                </a:lnTo>
                <a:cubicBezTo>
                  <a:pt x="152" y="1378"/>
                  <a:pt x="195" y="1433"/>
                  <a:pt x="254" y="1450"/>
                </a:cubicBezTo>
                <a:lnTo>
                  <a:pt x="254" y="1450"/>
                </a:lnTo>
                <a:lnTo>
                  <a:pt x="0" y="1651"/>
                </a:lnTo>
                <a:lnTo>
                  <a:pt x="0" y="1774"/>
                </a:lnTo>
                <a:lnTo>
                  <a:pt x="1910" y="1774"/>
                </a:lnTo>
                <a:lnTo>
                  <a:pt x="1910" y="1651"/>
                </a:lnTo>
                <a:lnTo>
                  <a:pt x="1638" y="1452"/>
                </a:lnTo>
                <a:cubicBezTo>
                  <a:pt x="1701" y="1438"/>
                  <a:pt x="1748" y="1381"/>
                  <a:pt x="1748" y="1314"/>
                </a:cubicBezTo>
                <a:lnTo>
                  <a:pt x="1748" y="523"/>
                </a:lnTo>
                <a:cubicBezTo>
                  <a:pt x="1748" y="445"/>
                  <a:pt x="1685" y="381"/>
                  <a:pt x="1607" y="381"/>
                </a:cubicBezTo>
                <a:lnTo>
                  <a:pt x="1523" y="381"/>
                </a:lnTo>
                <a:lnTo>
                  <a:pt x="1523" y="530"/>
                </a:lnTo>
                <a:lnTo>
                  <a:pt x="1614" y="530"/>
                </a:lnTo>
                <a:lnTo>
                  <a:pt x="1614" y="1336"/>
                </a:lnTo>
                <a:lnTo>
                  <a:pt x="286" y="1336"/>
                </a:lnTo>
                <a:lnTo>
                  <a:pt x="286" y="5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 rot="5400000">
            <a:off x="4526683" y="-4700586"/>
            <a:ext cx="719786" cy="9144000"/>
            <a:chOff x="-11273" y="-594773"/>
            <a:chExt cx="719786" cy="7462505"/>
          </a:xfrm>
          <a:solidFill>
            <a:srgbClr val="F5F5F5"/>
          </a:solidFill>
        </p:grpSpPr>
        <p:sp>
          <p:nvSpPr>
            <p:cNvPr id="16" name="等腰三角形 15"/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等腰三角形 19"/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等腰三角形 20"/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等腰三角形 21"/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5400000">
            <a:off x="4203646" y="-4700585"/>
            <a:ext cx="719786" cy="9144000"/>
            <a:chOff x="-11273" y="-594773"/>
            <a:chExt cx="719786" cy="7462505"/>
          </a:xfrm>
          <a:solidFill>
            <a:srgbClr val="F5F5F5"/>
          </a:solidFill>
        </p:grpSpPr>
        <p:sp>
          <p:nvSpPr>
            <p:cNvPr id="29" name="等腰三角形 28"/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等腰三角形 41"/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等腰三角形 42"/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5400000">
            <a:off x="3880609" y="-4700584"/>
            <a:ext cx="719786" cy="9144000"/>
            <a:chOff x="-11273" y="-594773"/>
            <a:chExt cx="719786" cy="7462505"/>
          </a:xfrm>
          <a:solidFill>
            <a:srgbClr val="F5F5F5"/>
          </a:solidFill>
        </p:grpSpPr>
        <p:sp>
          <p:nvSpPr>
            <p:cNvPr id="45" name="等腰三角形 44"/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等腰三角形 45"/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等腰三角形 46"/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等腰三角形 47"/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等腰三角形 48"/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等腰三角形 49"/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等腰三角形 50"/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等腰三角形 51"/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等腰三角形 52"/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2" grpId="0"/>
      <p:bldP spid="36" grpId="0"/>
      <p:bldP spid="39" grpId="0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8247686" y="1357880"/>
            <a:ext cx="900230" cy="2094131"/>
          </a:xfrm>
          <a:prstGeom prst="rect">
            <a:avLst/>
          </a:prstGeom>
          <a:solidFill>
            <a:srgbClr val="314865"/>
          </a:solidFill>
          <a:ln>
            <a:noFill/>
          </a:ln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sp>
        <p:nvSpPr>
          <p:cNvPr id="21" name="Freeform 13"/>
          <p:cNvSpPr/>
          <p:nvPr/>
        </p:nvSpPr>
        <p:spPr bwMode="auto">
          <a:xfrm>
            <a:off x="0" y="1357881"/>
            <a:ext cx="1461752" cy="2094131"/>
          </a:xfrm>
          <a:custGeom>
            <a:avLst/>
            <a:gdLst>
              <a:gd name="T0" fmla="*/ 2055 w 2055"/>
              <a:gd name="T1" fmla="*/ 3548 h 3548"/>
              <a:gd name="T2" fmla="*/ 0 w 2055"/>
              <a:gd name="T3" fmla="*/ 3548 h 3548"/>
              <a:gd name="T4" fmla="*/ 0 w 2055"/>
              <a:gd name="T5" fmla="*/ 0 h 3548"/>
              <a:gd name="T6" fmla="*/ 2055 w 2055"/>
              <a:gd name="T7" fmla="*/ 0 h 3548"/>
              <a:gd name="T8" fmla="*/ 959 w 2055"/>
              <a:gd name="T9" fmla="*/ 1774 h 3548"/>
              <a:gd name="T10" fmla="*/ 2055 w 2055"/>
              <a:gd name="T11" fmla="*/ 3548 h 3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55" h="3548">
                <a:moveTo>
                  <a:pt x="2055" y="3548"/>
                </a:moveTo>
                <a:lnTo>
                  <a:pt x="0" y="3548"/>
                </a:lnTo>
                <a:lnTo>
                  <a:pt x="0" y="0"/>
                </a:lnTo>
                <a:lnTo>
                  <a:pt x="2055" y="0"/>
                </a:lnTo>
                <a:cubicBezTo>
                  <a:pt x="1407" y="317"/>
                  <a:pt x="959" y="992"/>
                  <a:pt x="959" y="1774"/>
                </a:cubicBezTo>
                <a:cubicBezTo>
                  <a:pt x="959" y="2555"/>
                  <a:pt x="1407" y="3231"/>
                  <a:pt x="2055" y="3548"/>
                </a:cubicBezTo>
                <a:close/>
              </a:path>
            </a:pathLst>
          </a:custGeom>
          <a:solidFill>
            <a:srgbClr val="314865"/>
          </a:solidFill>
          <a:ln>
            <a:noFill/>
          </a:ln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sp>
        <p:nvSpPr>
          <p:cNvPr id="28" name="Freeform 19"/>
          <p:cNvSpPr/>
          <p:nvPr/>
        </p:nvSpPr>
        <p:spPr bwMode="auto">
          <a:xfrm>
            <a:off x="2538945" y="-318655"/>
            <a:ext cx="1029373" cy="5188527"/>
          </a:xfrm>
          <a:custGeom>
            <a:avLst/>
            <a:gdLst>
              <a:gd name="T0" fmla="*/ 0 w 1703"/>
              <a:gd name="T1" fmla="*/ 0 h 9079"/>
              <a:gd name="T2" fmla="*/ 1703 w 1703"/>
              <a:gd name="T3" fmla="*/ 4539 h 9079"/>
              <a:gd name="T4" fmla="*/ 0 w 1703"/>
              <a:gd name="T5" fmla="*/ 9079 h 90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3" h="9079">
                <a:moveTo>
                  <a:pt x="0" y="0"/>
                </a:moveTo>
                <a:cubicBezTo>
                  <a:pt x="1060" y="1213"/>
                  <a:pt x="1703" y="2801"/>
                  <a:pt x="1703" y="4539"/>
                </a:cubicBezTo>
                <a:cubicBezTo>
                  <a:pt x="1703" y="6277"/>
                  <a:pt x="1060" y="7865"/>
                  <a:pt x="0" y="9079"/>
                </a:cubicBezTo>
              </a:path>
            </a:pathLst>
          </a:custGeom>
          <a:noFill/>
          <a:ln w="8" cap="flat">
            <a:solidFill>
              <a:srgbClr val="2E2C2C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sp>
        <p:nvSpPr>
          <p:cNvPr id="29" name="椭圆 28"/>
          <p:cNvSpPr>
            <a:spLocks noChangeAspect="1"/>
          </p:cNvSpPr>
          <p:nvPr/>
        </p:nvSpPr>
        <p:spPr bwMode="auto">
          <a:xfrm>
            <a:off x="2993223" y="585540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67" name="椭圆 66"/>
          <p:cNvSpPr>
            <a:spLocks noChangeAspect="1"/>
          </p:cNvSpPr>
          <p:nvPr/>
        </p:nvSpPr>
        <p:spPr bwMode="auto">
          <a:xfrm>
            <a:off x="3182155" y="1219014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68" name="椭圆 67"/>
          <p:cNvSpPr>
            <a:spLocks noChangeAspect="1"/>
          </p:cNvSpPr>
          <p:nvPr/>
        </p:nvSpPr>
        <p:spPr bwMode="auto">
          <a:xfrm>
            <a:off x="3252525" y="1849897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69" name="椭圆 68"/>
          <p:cNvSpPr>
            <a:spLocks noChangeAspect="1"/>
          </p:cNvSpPr>
          <p:nvPr/>
        </p:nvSpPr>
        <p:spPr bwMode="auto">
          <a:xfrm>
            <a:off x="3224943" y="2480779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0" name="椭圆 69"/>
          <p:cNvSpPr>
            <a:spLocks noChangeAspect="1"/>
          </p:cNvSpPr>
          <p:nvPr/>
        </p:nvSpPr>
        <p:spPr bwMode="auto">
          <a:xfrm>
            <a:off x="3101080" y="3112707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1" name="椭圆 70"/>
          <p:cNvSpPr>
            <a:spLocks noChangeAspect="1"/>
          </p:cNvSpPr>
          <p:nvPr/>
        </p:nvSpPr>
        <p:spPr bwMode="auto">
          <a:xfrm>
            <a:off x="2872688" y="3742402"/>
            <a:ext cx="575900" cy="547156"/>
          </a:xfrm>
          <a:prstGeom prst="ellipse">
            <a:avLst/>
          </a:prstGeom>
          <a:solidFill>
            <a:srgbClr val="31486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30" name="圆角矩形 29"/>
          <p:cNvSpPr/>
          <p:nvPr/>
        </p:nvSpPr>
        <p:spPr bwMode="auto">
          <a:xfrm>
            <a:off x="3664409" y="643679"/>
            <a:ext cx="3442946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3" name="圆角矩形 72"/>
          <p:cNvSpPr/>
          <p:nvPr/>
        </p:nvSpPr>
        <p:spPr bwMode="auto">
          <a:xfrm>
            <a:off x="3860454" y="1263645"/>
            <a:ext cx="3226119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4" name="圆角矩形 73"/>
          <p:cNvSpPr/>
          <p:nvPr/>
        </p:nvSpPr>
        <p:spPr bwMode="auto">
          <a:xfrm>
            <a:off x="3941455" y="1893624"/>
            <a:ext cx="3145117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5" name="圆角矩形 74"/>
          <p:cNvSpPr/>
          <p:nvPr/>
        </p:nvSpPr>
        <p:spPr bwMode="auto">
          <a:xfrm>
            <a:off x="3910522" y="2535768"/>
            <a:ext cx="3176049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6" name="圆角矩形 75"/>
          <p:cNvSpPr/>
          <p:nvPr/>
        </p:nvSpPr>
        <p:spPr bwMode="auto">
          <a:xfrm>
            <a:off x="3809220" y="3166794"/>
            <a:ext cx="3277351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/>
          </a:p>
        </p:txBody>
      </p:sp>
      <p:sp>
        <p:nvSpPr>
          <p:cNvPr id="77" name="圆角矩形 76"/>
          <p:cNvSpPr/>
          <p:nvPr/>
        </p:nvSpPr>
        <p:spPr bwMode="auto">
          <a:xfrm>
            <a:off x="3546197" y="3802653"/>
            <a:ext cx="3540374" cy="45637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1486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1614" tIns="40807" rIns="81614" bIns="40807" numCol="1" rtlCol="0" anchor="t" anchorCtr="0" compatLnSpc="1"/>
          <a:lstStyle/>
          <a:p>
            <a:pPr defTabSz="815975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11522" y="676003"/>
            <a:ext cx="1130935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引</a:t>
            </a:r>
            <a:r>
              <a:rPr lang="en-US" altLang="zh-CN" sz="21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     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言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5591" y="1293491"/>
            <a:ext cx="2562860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一致性机制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设计原理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25612" y="1915495"/>
            <a:ext cx="2829560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一致性和高可用性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协同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58320" y="2566660"/>
            <a:ext cx="3096260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与其他分布式数据库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对比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49403" y="3196639"/>
            <a:ext cx="2562860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实践表现与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案例分析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28899" y="3833545"/>
            <a:ext cx="1496060" cy="403860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总结与</a:t>
            </a:r>
            <a:r>
              <a:rPr lang="zh-CN" altLang="en-US" sz="21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收获</a:t>
            </a:r>
            <a:endParaRPr lang="zh-CN" altLang="en-US" sz="21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4907" y="609201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1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91104" y="1237944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2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68840" y="1867736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3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41610" y="2488694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4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219530" y="3127694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5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69878" y="3741725"/>
            <a:ext cx="339550" cy="497909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2700" b="1" dirty="0">
                <a:solidFill>
                  <a:srgbClr val="F8F8F8"/>
                </a:solidFill>
                <a:latin typeface="+mn-ea"/>
              </a:rPr>
              <a:t>6</a:t>
            </a:r>
            <a:endParaRPr lang="zh-CN" altLang="en-US" sz="27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22" name="Oval 14"/>
          <p:cNvSpPr>
            <a:spLocks noChangeArrowheads="1"/>
          </p:cNvSpPr>
          <p:nvPr/>
        </p:nvSpPr>
        <p:spPr bwMode="auto">
          <a:xfrm>
            <a:off x="943185" y="1496279"/>
            <a:ext cx="1853878" cy="1812622"/>
          </a:xfrm>
          <a:prstGeom prst="ellipse">
            <a:avLst/>
          </a:prstGeom>
          <a:solidFill>
            <a:srgbClr val="314865"/>
          </a:solidFill>
          <a:ln>
            <a:noFill/>
          </a:ln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sp>
        <p:nvSpPr>
          <p:cNvPr id="23" name="Freeform 15"/>
          <p:cNvSpPr>
            <a:spLocks noEditPoints="1"/>
          </p:cNvSpPr>
          <p:nvPr/>
        </p:nvSpPr>
        <p:spPr bwMode="auto">
          <a:xfrm>
            <a:off x="1375799" y="1717803"/>
            <a:ext cx="976939" cy="872172"/>
          </a:xfrm>
          <a:custGeom>
            <a:avLst/>
            <a:gdLst>
              <a:gd name="T0" fmla="*/ 1051 w 1910"/>
              <a:gd name="T1" fmla="*/ 1550 h 1774"/>
              <a:gd name="T2" fmla="*/ 788 w 1910"/>
              <a:gd name="T3" fmla="*/ 1668 h 1774"/>
              <a:gd name="T4" fmla="*/ 535 w 1910"/>
              <a:gd name="T5" fmla="*/ 59 h 1774"/>
              <a:gd name="T6" fmla="*/ 591 w 1910"/>
              <a:gd name="T7" fmla="*/ 95 h 1774"/>
              <a:gd name="T8" fmla="*/ 963 w 1910"/>
              <a:gd name="T9" fmla="*/ 4 h 1774"/>
              <a:gd name="T10" fmla="*/ 477 w 1910"/>
              <a:gd name="T11" fmla="*/ 72 h 1774"/>
              <a:gd name="T12" fmla="*/ 582 w 1910"/>
              <a:gd name="T13" fmla="*/ 175 h 1774"/>
              <a:gd name="T14" fmla="*/ 560 w 1910"/>
              <a:gd name="T15" fmla="*/ 959 h 1774"/>
              <a:gd name="T16" fmla="*/ 454 w 1910"/>
              <a:gd name="T17" fmla="*/ 856 h 1774"/>
              <a:gd name="T18" fmla="*/ 477 w 1910"/>
              <a:gd name="T19" fmla="*/ 72 h 1774"/>
              <a:gd name="T20" fmla="*/ 869 w 1910"/>
              <a:gd name="T21" fmla="*/ 340 h 1774"/>
              <a:gd name="T22" fmla="*/ 1316 w 1910"/>
              <a:gd name="T23" fmla="*/ 289 h 1774"/>
              <a:gd name="T24" fmla="*/ 820 w 1910"/>
              <a:gd name="T25" fmla="*/ 308 h 1774"/>
              <a:gd name="T26" fmla="*/ 845 w 1910"/>
              <a:gd name="T27" fmla="*/ 375 h 1774"/>
              <a:gd name="T28" fmla="*/ 867 w 1910"/>
              <a:gd name="T29" fmla="*/ 1187 h 1774"/>
              <a:gd name="T30" fmla="*/ 762 w 1910"/>
              <a:gd name="T31" fmla="*/ 1155 h 1774"/>
              <a:gd name="T32" fmla="*/ 740 w 1910"/>
              <a:gd name="T33" fmla="*/ 343 h 1774"/>
              <a:gd name="T34" fmla="*/ 908 w 1910"/>
              <a:gd name="T35" fmla="*/ 408 h 1774"/>
              <a:gd name="T36" fmla="*/ 1440 w 1910"/>
              <a:gd name="T37" fmla="*/ 408 h 1774"/>
              <a:gd name="T38" fmla="*/ 1368 w 1910"/>
              <a:gd name="T39" fmla="*/ 1142 h 1774"/>
              <a:gd name="T40" fmla="*/ 908 w 1910"/>
              <a:gd name="T41" fmla="*/ 408 h 1774"/>
              <a:gd name="T42" fmla="*/ 1356 w 1910"/>
              <a:gd name="T43" fmla="*/ 469 h 1774"/>
              <a:gd name="T44" fmla="*/ 996 w 1910"/>
              <a:gd name="T45" fmla="*/ 677 h 1774"/>
              <a:gd name="T46" fmla="*/ 622 w 1910"/>
              <a:gd name="T47" fmla="*/ 158 h 1774"/>
              <a:gd name="T48" fmla="*/ 1155 w 1910"/>
              <a:gd name="T49" fmla="*/ 158 h 1774"/>
              <a:gd name="T50" fmla="*/ 719 w 1910"/>
              <a:gd name="T51" fmla="*/ 233 h 1774"/>
              <a:gd name="T52" fmla="*/ 677 w 1910"/>
              <a:gd name="T53" fmla="*/ 944 h 1774"/>
              <a:gd name="T54" fmla="*/ 622 w 1910"/>
              <a:gd name="T55" fmla="*/ 158 h 1774"/>
              <a:gd name="T56" fmla="*/ 378 w 1910"/>
              <a:gd name="T57" fmla="*/ 530 h 1774"/>
              <a:gd name="T58" fmla="*/ 293 w 1910"/>
              <a:gd name="T59" fmla="*/ 381 h 1774"/>
              <a:gd name="T60" fmla="*/ 152 w 1910"/>
              <a:gd name="T61" fmla="*/ 1314 h 1774"/>
              <a:gd name="T62" fmla="*/ 254 w 1910"/>
              <a:gd name="T63" fmla="*/ 1450 h 1774"/>
              <a:gd name="T64" fmla="*/ 0 w 1910"/>
              <a:gd name="T65" fmla="*/ 1774 h 1774"/>
              <a:gd name="T66" fmla="*/ 1910 w 1910"/>
              <a:gd name="T67" fmla="*/ 1651 h 1774"/>
              <a:gd name="T68" fmla="*/ 1748 w 1910"/>
              <a:gd name="T69" fmla="*/ 1314 h 1774"/>
              <a:gd name="T70" fmla="*/ 1607 w 1910"/>
              <a:gd name="T71" fmla="*/ 381 h 1774"/>
              <a:gd name="T72" fmla="*/ 1523 w 1910"/>
              <a:gd name="T73" fmla="*/ 530 h 1774"/>
              <a:gd name="T74" fmla="*/ 1614 w 1910"/>
              <a:gd name="T75" fmla="*/ 1336 h 1774"/>
              <a:gd name="T76" fmla="*/ 286 w 1910"/>
              <a:gd name="T77" fmla="*/ 530 h 1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10" h="1774">
                <a:moveTo>
                  <a:pt x="848" y="1550"/>
                </a:moveTo>
                <a:lnTo>
                  <a:pt x="1051" y="1550"/>
                </a:lnTo>
                <a:lnTo>
                  <a:pt x="1122" y="1668"/>
                </a:lnTo>
                <a:lnTo>
                  <a:pt x="788" y="1668"/>
                </a:lnTo>
                <a:lnTo>
                  <a:pt x="848" y="1550"/>
                </a:lnTo>
                <a:close/>
                <a:moveTo>
                  <a:pt x="535" y="59"/>
                </a:moveTo>
                <a:lnTo>
                  <a:pt x="584" y="90"/>
                </a:lnTo>
                <a:cubicBezTo>
                  <a:pt x="587" y="92"/>
                  <a:pt x="589" y="93"/>
                  <a:pt x="591" y="95"/>
                </a:cubicBezTo>
                <a:lnTo>
                  <a:pt x="1031" y="39"/>
                </a:lnTo>
                <a:cubicBezTo>
                  <a:pt x="1020" y="15"/>
                  <a:pt x="994" y="0"/>
                  <a:pt x="963" y="4"/>
                </a:cubicBezTo>
                <a:lnTo>
                  <a:pt x="535" y="59"/>
                </a:lnTo>
                <a:close/>
                <a:moveTo>
                  <a:pt x="477" y="72"/>
                </a:moveTo>
                <a:lnTo>
                  <a:pt x="560" y="125"/>
                </a:lnTo>
                <a:cubicBezTo>
                  <a:pt x="572" y="133"/>
                  <a:pt x="582" y="155"/>
                  <a:pt x="582" y="175"/>
                </a:cubicBezTo>
                <a:lnTo>
                  <a:pt x="582" y="937"/>
                </a:lnTo>
                <a:cubicBezTo>
                  <a:pt x="582" y="957"/>
                  <a:pt x="572" y="966"/>
                  <a:pt x="560" y="959"/>
                </a:cubicBezTo>
                <a:lnTo>
                  <a:pt x="477" y="906"/>
                </a:lnTo>
                <a:cubicBezTo>
                  <a:pt x="464" y="898"/>
                  <a:pt x="454" y="875"/>
                  <a:pt x="454" y="856"/>
                </a:cubicBezTo>
                <a:lnTo>
                  <a:pt x="454" y="93"/>
                </a:lnTo>
                <a:cubicBezTo>
                  <a:pt x="454" y="74"/>
                  <a:pt x="464" y="64"/>
                  <a:pt x="477" y="72"/>
                </a:cubicBezTo>
                <a:close/>
                <a:moveTo>
                  <a:pt x="820" y="308"/>
                </a:moveTo>
                <a:lnTo>
                  <a:pt x="869" y="340"/>
                </a:lnTo>
                <a:cubicBezTo>
                  <a:pt x="872" y="341"/>
                  <a:pt x="874" y="343"/>
                  <a:pt x="877" y="345"/>
                </a:cubicBezTo>
                <a:lnTo>
                  <a:pt x="1316" y="289"/>
                </a:lnTo>
                <a:cubicBezTo>
                  <a:pt x="1305" y="264"/>
                  <a:pt x="1279" y="250"/>
                  <a:pt x="1249" y="253"/>
                </a:cubicBezTo>
                <a:lnTo>
                  <a:pt x="820" y="308"/>
                </a:lnTo>
                <a:close/>
                <a:moveTo>
                  <a:pt x="762" y="322"/>
                </a:moveTo>
                <a:lnTo>
                  <a:pt x="845" y="375"/>
                </a:lnTo>
                <a:cubicBezTo>
                  <a:pt x="857" y="382"/>
                  <a:pt x="867" y="405"/>
                  <a:pt x="867" y="424"/>
                </a:cubicBezTo>
                <a:lnTo>
                  <a:pt x="867" y="1187"/>
                </a:lnTo>
                <a:cubicBezTo>
                  <a:pt x="867" y="1206"/>
                  <a:pt x="857" y="1216"/>
                  <a:pt x="845" y="1208"/>
                </a:cubicBezTo>
                <a:lnTo>
                  <a:pt x="762" y="1155"/>
                </a:lnTo>
                <a:cubicBezTo>
                  <a:pt x="750" y="1147"/>
                  <a:pt x="740" y="1125"/>
                  <a:pt x="740" y="1105"/>
                </a:cubicBezTo>
                <a:lnTo>
                  <a:pt x="740" y="343"/>
                </a:lnTo>
                <a:cubicBezTo>
                  <a:pt x="740" y="323"/>
                  <a:pt x="750" y="314"/>
                  <a:pt x="762" y="322"/>
                </a:cubicBezTo>
                <a:close/>
                <a:moveTo>
                  <a:pt x="908" y="408"/>
                </a:moveTo>
                <a:lnTo>
                  <a:pt x="1368" y="349"/>
                </a:lnTo>
                <a:cubicBezTo>
                  <a:pt x="1407" y="344"/>
                  <a:pt x="1440" y="370"/>
                  <a:pt x="1440" y="408"/>
                </a:cubicBezTo>
                <a:lnTo>
                  <a:pt x="1440" y="1064"/>
                </a:lnTo>
                <a:cubicBezTo>
                  <a:pt x="1440" y="1102"/>
                  <a:pt x="1407" y="1137"/>
                  <a:pt x="1368" y="1142"/>
                </a:cubicBezTo>
                <a:lnTo>
                  <a:pt x="908" y="1201"/>
                </a:lnTo>
                <a:lnTo>
                  <a:pt x="908" y="408"/>
                </a:lnTo>
                <a:close/>
                <a:moveTo>
                  <a:pt x="996" y="515"/>
                </a:moveTo>
                <a:lnTo>
                  <a:pt x="1356" y="469"/>
                </a:lnTo>
                <a:lnTo>
                  <a:pt x="1356" y="631"/>
                </a:lnTo>
                <a:lnTo>
                  <a:pt x="996" y="677"/>
                </a:lnTo>
                <a:lnTo>
                  <a:pt x="996" y="515"/>
                </a:lnTo>
                <a:close/>
                <a:moveTo>
                  <a:pt x="622" y="158"/>
                </a:moveTo>
                <a:lnTo>
                  <a:pt x="1082" y="99"/>
                </a:lnTo>
                <a:cubicBezTo>
                  <a:pt x="1122" y="94"/>
                  <a:pt x="1155" y="121"/>
                  <a:pt x="1155" y="158"/>
                </a:cubicBezTo>
                <a:lnTo>
                  <a:pt x="1155" y="177"/>
                </a:lnTo>
                <a:lnTo>
                  <a:pt x="719" y="233"/>
                </a:lnTo>
                <a:cubicBezTo>
                  <a:pt x="688" y="242"/>
                  <a:pt x="676" y="262"/>
                  <a:pt x="677" y="303"/>
                </a:cubicBezTo>
                <a:lnTo>
                  <a:pt x="677" y="944"/>
                </a:lnTo>
                <a:lnTo>
                  <a:pt x="622" y="951"/>
                </a:lnTo>
                <a:lnTo>
                  <a:pt x="622" y="158"/>
                </a:lnTo>
                <a:close/>
                <a:moveTo>
                  <a:pt x="286" y="530"/>
                </a:moveTo>
                <a:lnTo>
                  <a:pt x="378" y="530"/>
                </a:lnTo>
                <a:lnTo>
                  <a:pt x="378" y="381"/>
                </a:lnTo>
                <a:lnTo>
                  <a:pt x="293" y="381"/>
                </a:lnTo>
                <a:cubicBezTo>
                  <a:pt x="215" y="381"/>
                  <a:pt x="152" y="445"/>
                  <a:pt x="152" y="523"/>
                </a:cubicBezTo>
                <a:lnTo>
                  <a:pt x="152" y="1314"/>
                </a:lnTo>
                <a:cubicBezTo>
                  <a:pt x="152" y="1378"/>
                  <a:pt x="195" y="1433"/>
                  <a:pt x="254" y="1450"/>
                </a:cubicBezTo>
                <a:lnTo>
                  <a:pt x="254" y="1450"/>
                </a:lnTo>
                <a:lnTo>
                  <a:pt x="0" y="1651"/>
                </a:lnTo>
                <a:lnTo>
                  <a:pt x="0" y="1774"/>
                </a:lnTo>
                <a:lnTo>
                  <a:pt x="1910" y="1774"/>
                </a:lnTo>
                <a:lnTo>
                  <a:pt x="1910" y="1651"/>
                </a:lnTo>
                <a:lnTo>
                  <a:pt x="1638" y="1452"/>
                </a:lnTo>
                <a:cubicBezTo>
                  <a:pt x="1701" y="1438"/>
                  <a:pt x="1748" y="1381"/>
                  <a:pt x="1748" y="1314"/>
                </a:cubicBezTo>
                <a:lnTo>
                  <a:pt x="1748" y="523"/>
                </a:lnTo>
                <a:cubicBezTo>
                  <a:pt x="1748" y="445"/>
                  <a:pt x="1685" y="381"/>
                  <a:pt x="1607" y="381"/>
                </a:cubicBezTo>
                <a:lnTo>
                  <a:pt x="1523" y="381"/>
                </a:lnTo>
                <a:lnTo>
                  <a:pt x="1523" y="530"/>
                </a:lnTo>
                <a:lnTo>
                  <a:pt x="1614" y="530"/>
                </a:lnTo>
                <a:lnTo>
                  <a:pt x="1614" y="1336"/>
                </a:lnTo>
                <a:lnTo>
                  <a:pt x="286" y="1336"/>
                </a:lnTo>
                <a:lnTo>
                  <a:pt x="286" y="53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81614" tIns="40807" rIns="81614" bIns="40807" numCol="1" anchor="t" anchorCtr="0" compatLnSpc="1"/>
          <a:lstStyle/>
          <a:p>
            <a:endParaRPr lang="zh-CN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1360465" y="2614951"/>
            <a:ext cx="913633" cy="405576"/>
          </a:xfrm>
          <a:prstGeom prst="rect">
            <a:avLst/>
          </a:prstGeom>
          <a:noFill/>
        </p:spPr>
        <p:txBody>
          <a:bodyPr wrap="square" lIns="81614" tIns="40807" rIns="81614" bIns="40807" rtlCol="0">
            <a:spAutoFit/>
          </a:bodyPr>
          <a:lstStyle/>
          <a:p>
            <a:pPr algn="dist"/>
            <a:r>
              <a:rPr lang="zh-CN" altLang="en-US" sz="2100" b="1" dirty="0">
                <a:solidFill>
                  <a:srgbClr val="F8F8F8"/>
                </a:solidFill>
                <a:latin typeface="+mn-ea"/>
              </a:rPr>
              <a:t>目录</a:t>
            </a:r>
            <a:endParaRPr lang="zh-CN" altLang="en-US" sz="2100" b="1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90087" y="2908017"/>
            <a:ext cx="882967" cy="297855"/>
          </a:xfrm>
          <a:prstGeom prst="rect">
            <a:avLst/>
          </a:prstGeom>
          <a:noFill/>
        </p:spPr>
        <p:txBody>
          <a:bodyPr wrap="none" lIns="81614" tIns="40807" rIns="81614" bIns="40807" rtlCol="0">
            <a:spAutoFit/>
          </a:bodyPr>
          <a:lstStyle/>
          <a:p>
            <a:r>
              <a:rPr lang="en-US" altLang="zh-CN" sz="1400" dirty="0">
                <a:solidFill>
                  <a:srgbClr val="F8F8F8"/>
                </a:solidFill>
                <a:latin typeface="+mn-ea"/>
              </a:rPr>
              <a:t>Contents</a:t>
            </a:r>
            <a:endParaRPr lang="zh-CN" altLang="en-US" sz="1400" dirty="0">
              <a:solidFill>
                <a:srgbClr val="F8F8F8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20" grpId="0" animBg="1"/>
      <p:bldP spid="21" grpId="0" animBg="1"/>
      <p:bldP spid="28" grpId="0" animBg="1"/>
      <p:bldP spid="29" grpId="0" animBg="1"/>
      <p:bldP spid="29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30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2" grpId="0"/>
      <p:bldP spid="25" grpId="0"/>
      <p:bldP spid="26" grpId="0"/>
      <p:bldP spid="27" grpId="0"/>
      <p:bldP spid="31" grpId="0"/>
      <p:bldP spid="32" grpId="0"/>
      <p:bldP spid="4" grpId="0"/>
      <p:bldP spid="33" grpId="0"/>
      <p:bldP spid="34" grpId="0"/>
      <p:bldP spid="35" grpId="0"/>
      <p:bldP spid="36" grpId="0"/>
      <p:bldP spid="37" grpId="0"/>
      <p:bldP spid="22" grpId="0" animBg="1"/>
      <p:bldP spid="23" grpId="0" animBg="1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1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1384243" y="2097909"/>
            <a:ext cx="4248471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引</a:t>
            </a:r>
            <a:r>
              <a:rPr lang="en-US" altLang="zh-CN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    </a:t>
            </a: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言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9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473200" y="1406525"/>
            <a:ext cx="4373245" cy="2606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latin typeface="+mn-lt"/>
              </a:rPr>
              <a:t>分布式数据库在互联网和金融领域的广泛应用</a:t>
            </a:r>
            <a:endParaRPr lang="zh-CN" altLang="en-US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latin typeface="+mn-lt"/>
              </a:rPr>
              <a:t>一致性与高可用性的天然矛盾（</a:t>
            </a:r>
            <a:r>
              <a:rPr lang="en-US" altLang="zh-CN" sz="1400" dirty="0">
                <a:solidFill>
                  <a:srgbClr val="314865"/>
                </a:solidFill>
                <a:latin typeface="+mn-lt"/>
              </a:rPr>
              <a:t>CAP </a:t>
            </a:r>
            <a:r>
              <a:rPr lang="zh-CN" altLang="en-US" sz="1400" dirty="0">
                <a:solidFill>
                  <a:srgbClr val="314865"/>
                </a:solidFill>
                <a:latin typeface="+mn-lt"/>
              </a:rPr>
              <a:t>定理）</a:t>
            </a:r>
            <a:endParaRPr lang="zh-CN" altLang="en-US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latin typeface="+mn-lt"/>
              </a:rPr>
              <a:t>OceanBase</a:t>
            </a:r>
            <a:r>
              <a:rPr lang="zh-CN" altLang="en-US" sz="1400" dirty="0">
                <a:solidFill>
                  <a:srgbClr val="314865"/>
                </a:solidFill>
                <a:latin typeface="+mn-lt"/>
              </a:rPr>
              <a:t>：国产领先的金融级分布式关系型数据库</a:t>
            </a:r>
            <a:endParaRPr lang="zh-CN" altLang="en-US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latin typeface="+mn-lt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latin typeface="+mn-lt"/>
              </a:rPr>
              <a:t>本研究关注其在极端压力下的一致性保障原理与实践表现</a:t>
            </a:r>
            <a:endParaRPr lang="zh-CN" altLang="en-US" sz="1400" dirty="0">
              <a:solidFill>
                <a:srgbClr val="314865"/>
              </a:solidFill>
              <a:latin typeface="+mn-lt"/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 idx="4294967295"/>
          </p:nvPr>
        </p:nvSpPr>
        <p:spPr>
          <a:xfrm>
            <a:off x="3237230" y="-13335"/>
            <a:ext cx="2451100" cy="586105"/>
          </a:xfrm>
        </p:spPr>
        <p:txBody>
          <a:bodyPr>
            <a:norm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</a:rPr>
              <a:t>研究背景与</a:t>
            </a:r>
            <a:r>
              <a:rPr lang="zh-CN" altLang="en-US" sz="2000" b="1" dirty="0">
                <a:solidFill>
                  <a:srgbClr val="314865"/>
                </a:solidFill>
              </a:rPr>
              <a:t>意义</a:t>
            </a:r>
            <a:endParaRPr lang="zh-CN" altLang="en-US" sz="2000" b="1" dirty="0">
              <a:solidFill>
                <a:srgbClr val="314865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9" name="组合 8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314865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引言</a:t>
                </a:r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5688330" y="1406525"/>
            <a:ext cx="3069590" cy="2513330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>
            <a:off x="-50736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68793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idx="4294967295"/>
          </p:nvPr>
        </p:nvSpPr>
        <p:spPr>
          <a:xfrm>
            <a:off x="3107690" y="35560"/>
            <a:ext cx="2580005" cy="586105"/>
          </a:xfrm>
        </p:spPr>
        <p:txBody>
          <a:bodyPr>
            <a:norm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</a:rPr>
              <a:t>事务与</a:t>
            </a:r>
            <a:r>
              <a:rPr lang="en-US" altLang="zh-CN" sz="2000" b="1" dirty="0">
                <a:solidFill>
                  <a:srgbClr val="314865"/>
                </a:solidFill>
              </a:rPr>
              <a:t>ACID</a:t>
            </a:r>
            <a:r>
              <a:rPr lang="zh-CN" altLang="en-US" sz="2000" b="1" dirty="0">
                <a:solidFill>
                  <a:srgbClr val="314865"/>
                </a:solidFill>
              </a:rPr>
              <a:t>特性</a:t>
            </a:r>
            <a:endParaRPr lang="zh-CN" altLang="en-US" sz="2000" b="1" dirty="0">
              <a:solidFill>
                <a:srgbClr val="314865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9" name="组合 8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314865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引言</a:t>
                </a:r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384300" y="1407160"/>
            <a:ext cx="467296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defTabSz="914400">
              <a:buClrTx/>
              <a:buSzTx/>
              <a:buFont typeface="Arial" panose="020B0704020202020204" pitchFamily="34" charset="0"/>
              <a:buNone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事务概念：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457200" algn="l" defTabSz="914400">
              <a:buClrTx/>
              <a:buSzTx/>
              <a:buFont typeface="Arial" panose="020B0704020202020204" pitchFamily="34" charset="0"/>
              <a:buNone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一个不可分割的操作集合 —— 全部成功或全部失败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 algn="l" defTabSz="914400"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0" algn="l" defTabSz="914400">
              <a:buClrTx/>
              <a:buSzTx/>
              <a:buFont typeface="Arial" panose="020B0704020202020204" pitchFamily="34" charset="0"/>
              <a:buNone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ACID 特性：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 algn="l" defTabSz="914400"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A：原子性 — 全做或全不做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C：一致性 — 状态转换合法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I：隔离性 — 并发访问不会互相干扰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 defTabSz="914400"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D：持久性 — 提交后永久保存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6511" t="10944" r="5719" b="14368"/>
          <a:stretch>
            <a:fillRect/>
          </a:stretch>
        </p:blipFill>
        <p:spPr>
          <a:xfrm>
            <a:off x="6075680" y="1407160"/>
            <a:ext cx="2816225" cy="2396490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>
            <a:off x="-50736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68793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2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1513840" y="2117090"/>
            <a:ext cx="5319395" cy="8121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  <a:buSzTx/>
              <a:buFontTx/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一致性机制设计原理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9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-50736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68793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00"/>
          <p:cNvSpPr txBox="1"/>
          <p:nvPr/>
        </p:nvSpPr>
        <p:spPr>
          <a:xfrm>
            <a:off x="3110865" y="155575"/>
            <a:ext cx="278320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Paxos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共识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协议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一致性机制设计原理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1435735" y="732790"/>
            <a:ext cx="2896235" cy="4044315"/>
          </a:xfrm>
          <a:prstGeom prst="rect">
            <a:avLst/>
          </a:prstGeom>
          <a:noFill/>
          <a:ln w="28575" cmpd="sng">
            <a:solidFill>
              <a:srgbClr val="314865"/>
            </a:solidFill>
            <a:prstDash val="sysDash"/>
          </a:ln>
        </p:spPr>
        <p:txBody>
          <a:bodyPr wrap="square" rtlCol="0">
            <a:noAutofit/>
          </a:bodyPr>
          <a:p>
            <a:pPr indent="0">
              <a:buFont typeface="Arial" panose="020B0704020202020204" pitchFamily="34" charset="0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Paxos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共识协议简介：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适用于分布式一致性场景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多数派确认机制：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2N+1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中至少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N+1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节点达成一致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indent="0">
              <a:buFont typeface="Arial" panose="020B0704020202020204" pitchFamily="34" charset="0"/>
              <a:buNone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0">
              <a:buFont typeface="Arial" panose="020B0704020202020204" pitchFamily="34" charset="0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OceanBase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的实现：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每个分区默认维护三副本（主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 +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两从）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日志复制必须在多数派副本写入后，事务才算提交成功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8185" y="732790"/>
            <a:ext cx="4061460" cy="404431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副本管理与选主：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主副本负责处理事务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副本可容错，Paxos自动进行 Leader 选举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提交日志包含事务决议，副本状态高度一致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优势：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容忍节点故障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确保每个提交的事务在副本中结果一致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保证 RPO=0，支持高可用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-50736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68793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00"/>
          <p:cNvSpPr txBox="1"/>
          <p:nvPr/>
        </p:nvSpPr>
        <p:spPr>
          <a:xfrm>
            <a:off x="3110865" y="155575"/>
            <a:ext cx="278320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2PC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协议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一致性机制设计原理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387475" y="817880"/>
            <a:ext cx="3562350" cy="3753485"/>
          </a:xfrm>
          <a:prstGeom prst="rect">
            <a:avLst/>
          </a:prstGeom>
          <a:ln w="28575" cmpd="sng">
            <a:solidFill>
              <a:srgbClr val="002060"/>
            </a:solidFill>
            <a:prstDash val="sysDash"/>
          </a:ln>
        </p:spPr>
        <p:txBody>
          <a:bodyPr wrap="square">
            <a:noAutofit/>
          </a:bodyPr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传统2PC问题：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协调者成为瓶颈与单点故障源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网络异常易导致参与者“悬而未决”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OceanBase优化设计：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每个参与分区各自写入提交决议日志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利用 Paxos 协议代替协调者决策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提交决议只需一次网络往返，效率大幅提升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5119370" y="811530"/>
            <a:ext cx="3632835" cy="3753485"/>
          </a:xfrm>
          <a:prstGeom prst="rect">
            <a:avLst/>
          </a:prstGeom>
          <a:noFill/>
          <a:ln w="28575" cmpd="sng">
            <a:solidFill>
              <a:srgbClr val="002060"/>
            </a:solidFill>
            <a:prstDash val="sysDash"/>
          </a:ln>
        </p:spPr>
        <p:txBody>
          <a:bodyPr wrap="square" rtlCol="0" anchor="t">
            <a:spAutoFit/>
          </a:bodyPr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OceanBase 2PC 提交流程：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预提交阶段完成后，参与者直接使用 Paxos 复制提交日志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主副本确认即可定性事务成功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协调者仅用于清理现场，不参与决策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  <a:p>
            <a:pPr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0" algn="l">
              <a:buClrTx/>
              <a:buSzTx/>
              <a:buFont typeface="Arial" panose="020B0704020202020204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优势：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减少两阶段通信时延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协调者故障不影响事务一致性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可扩展性与鲁棒性增强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-50736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68793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500"/>
          <p:cNvSpPr txBox="1"/>
          <p:nvPr/>
        </p:nvSpPr>
        <p:spPr>
          <a:xfrm>
            <a:off x="3110865" y="155575"/>
            <a:ext cx="278320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并发控制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技术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一致性机制设计原理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367155" y="703580"/>
            <a:ext cx="3204845" cy="397573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pPr lvl="0" indent="0" algn="l">
              <a:buClrTx/>
              <a:buSzTx/>
              <a:buFont typeface="Arial" panose="020B0704020202020204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并发控制模型：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采用 悲观事务模型（Two-Phase Locking，2PL）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保证事务隔离性（Snapshot Isolation/Serializable）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indent="0" algn="l">
              <a:buClrTx/>
              <a:buSzTx/>
              <a:buFont typeface="Arial" panose="020B0704020202020204"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indent="0" algn="l">
              <a:buClrTx/>
              <a:buSzTx/>
              <a:buFont typeface="Arial" panose="020B0704020202020204"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indent="0" algn="l">
              <a:buClrTx/>
              <a:buSzTx/>
              <a:buFont typeface="Arial" panose="020B0704020202020204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锁机制细节：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行级锁 + 间隙锁 / 谓词锁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持锁直到提交或回滚，防止写写冲突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跨分区支持全局锁管理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4882515" y="702945"/>
            <a:ext cx="3891280" cy="3973195"/>
          </a:xfrm>
          <a:prstGeom prst="rect">
            <a:avLst/>
          </a:prstGeom>
          <a:noFill/>
          <a:ln w="28575" cmpd="sng">
            <a:solidFill>
              <a:srgbClr val="314865"/>
            </a:solidFill>
            <a:prstDash val="sysDash"/>
          </a:ln>
        </p:spPr>
        <p:txBody>
          <a:bodyPr wrap="square" rtlCol="0" anchor="t">
            <a:noAutofit/>
          </a:bodyPr>
          <a:p>
            <a:pPr lvl="0" indent="0" algn="l">
              <a:buClrTx/>
              <a:buSzTx/>
              <a:buFont typeface="Arial" panose="020B0704020202020204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优化手段：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提前解锁（ELR）：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预提交后即可释放行锁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降低锁持有时间，提升并发性能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在高冲突场景如“热点行更新”效果显著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indent="0" algn="l">
              <a:buClrTx/>
              <a:buSzTx/>
              <a:buFont typeface="Arial" panose="020B0704020202020204"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隔离级别与动态调节：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0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默认快照隔离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可根据负载动态调整隔离策略、锁粒度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3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1812488" y="2127371"/>
            <a:ext cx="5319211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一致性和高可用性</a:t>
            </a: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协同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9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626110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81747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3110865" y="155575"/>
            <a:ext cx="278320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多副本架构下的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容错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24305" y="795655"/>
            <a:ext cx="3398520" cy="390207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pPr algn="l">
              <a:buClrTx/>
              <a:buSzTx/>
              <a:buFont typeface="Arial" panose="020B0704020202020204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容错挑战：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457200" algn="l">
              <a:buClrTx/>
              <a:buSzTx/>
              <a:buFont typeface="Arial" panose="020B0704020202020204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单节点故障不可避免，如何避免数据丢失？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457200"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解决方案：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默认采用 三副本架构（可配置奇数更多副本）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所有事务日志需写入多数副本（2/3）后方可提交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主从复制非异步，而是基于 Paxos 同步协议，保证一致性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89220" y="796925"/>
            <a:ext cx="3399155" cy="3900805"/>
          </a:xfrm>
          <a:prstGeom prst="rect">
            <a:avLst/>
          </a:prstGeom>
          <a:noFill/>
          <a:ln w="28575" cmpd="sng">
            <a:solidFill>
              <a:srgbClr val="314865"/>
            </a:solidFill>
            <a:prstDash val="sysDash"/>
          </a:ln>
        </p:spPr>
        <p:txBody>
          <a:bodyPr wrap="square" rtlCol="0" anchor="t">
            <a:noAutofit/>
          </a:bodyPr>
          <a:p>
            <a:pPr algn="l">
              <a:buClrTx/>
              <a:buSzTx/>
              <a:buFont typeface="Arial" panose="020B0704020202020204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优势：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任意一个副本故障，数据不丢，服务不中断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无需依赖共享存储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实现 RPO = 0，满足金融系统“零丢失”要求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  <a:p>
            <a:pPr lvl="1"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副本恢复机制：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后台自动补副本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 algn="l">
              <a:buClrTx/>
              <a:buSzTx/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  <a:sym typeface="+mn-ea"/>
              </a:rPr>
              <a:t>故障副本修复过程中，业务正常运行，无需人工干预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816610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81747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2889250" y="155575"/>
            <a:ext cx="307784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主副切换和快速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故障恢复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74825" y="902970"/>
            <a:ext cx="2908935" cy="3538220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问题背景：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主节点故障时如何保障事务不中断？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indent="0">
              <a:buFont typeface="Arial" panose="020B0704020202020204"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解决方案：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/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各副本节点定期发送心跳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一旦检测主节点失联，Paxos 多数派投票选出新主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副本同步日志可确保新主拥有最新状态，快速接管服务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85080" y="904240"/>
            <a:ext cx="3077845" cy="351980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恢复时间指标：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RTO（恢复时间目标） &lt; 8 秒（实际更快）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整个过程自动完成，无需人工介入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特性说明：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对应用层完全透明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客户端自动连接新主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故障节点修复后重新加入副本组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997585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54137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2768600" y="155575"/>
            <a:ext cx="3780155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异地容灾部署与一致性优先策略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45895" y="721360"/>
            <a:ext cx="3358515" cy="394271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部署模式：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同城多中心（三副本，部署于不同可用区）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跨城多活（五副本，分布在不同城市）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实现容灾级别从“可用区”到“城市级”再到“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省级”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应对网络分区：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只要存在多数副本通信正常 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→ 服务继续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若全网隔离无多数派 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→ 服务暂停以避免脑裂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85080" y="721360"/>
            <a:ext cx="3455670" cy="3942715"/>
          </a:xfrm>
          <a:prstGeom prst="rect">
            <a:avLst/>
          </a:prstGeom>
          <a:ln w="28575" cmpd="sng">
            <a:solidFill>
              <a:srgbClr val="314865"/>
            </a:solidFill>
            <a:prstDash val="sysDash"/>
          </a:ln>
        </p:spPr>
        <p:txBody>
          <a:bodyPr wrap="square">
            <a:noAutofit/>
          </a:bodyPr>
          <a:p>
            <a:pPr algn="l">
              <a:buClrTx/>
              <a:buSzTx/>
              <a:buNone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一致性优先原则：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OceanBase 在“可用性”和“一致性”之间选择 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一致性优先（CP）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面对极端网络异常，主动暂停而非冒险运行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优点：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满足监管要求（金融、电信等场景）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algn="l">
              <a:buClrTx/>
              <a:buSzTx/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即使发生区域性故障，也能快速恢复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4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1790700" y="2127250"/>
            <a:ext cx="6597015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与其他分布式数据库</a:t>
            </a: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对比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9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" grpId="0" animBg="1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/>
                    </a:solidFill>
                  </a:rPr>
                  <a:t>对比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121920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435208" y="34477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3345815" y="155575"/>
            <a:ext cx="245300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与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TiDB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对比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524000" y="851535"/>
          <a:ext cx="7340600" cy="3683000"/>
        </p:xfrm>
        <a:graphic>
          <a:graphicData uri="http://schemas.openxmlformats.org/drawingml/2006/table">
            <a:tbl>
              <a:tblPr/>
              <a:tblGrid>
                <a:gridCol w="1295400"/>
                <a:gridCol w="3256280"/>
                <a:gridCol w="2788920"/>
              </a:tblGrid>
              <a:tr h="30924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>
                          <a:latin typeface="微软雅黑" charset="0"/>
                          <a:ea typeface="微软雅黑" charset="0"/>
                        </a:rPr>
                        <a:t>对比维度</a:t>
                      </a:r>
                      <a:endParaRPr lang="en-US" altLang="en-US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OceanBase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TiDB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68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200" spc="120">
                          <a:latin typeface="微软雅黑" charset="0"/>
                          <a:ea typeface="微软雅黑" charset="0"/>
                        </a:rPr>
                        <a:t>共识协议</a:t>
                      </a:r>
                      <a:endParaRPr lang="en-US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Paxos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（自研优化，支持灵活部署与高性能）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Raft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（基于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etcd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，工程实现简单）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事务模型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悲观事务模型（加锁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死锁检测）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乐观事务模型（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Prewrite 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重试）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提交机制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改进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2PC + Paxos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多副本共识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Percolator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式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2PC + PD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分发时间戳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一致性模型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外部一致性（跨事务强顺序保障）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快照隔离（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Snapshot Isolation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时间机制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GTS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全局时间戳服务（逻辑时钟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Paxos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保序）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PD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提供单调递增的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TSO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（潜在瓶颈）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故障恢复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多副本自动补偿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主副快速切换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Region Leader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自动转移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异步补副本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660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适用场景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高冲突金融系统、强一致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OLTP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场景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高吞吐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OLTP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、互联网服务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/>
                    </a:solidFill>
                  </a:rPr>
                  <a:t>对比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402590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589748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3345815" y="155575"/>
            <a:ext cx="2654300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与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CockroachDB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对比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1524000" y="850900"/>
          <a:ext cx="7327900" cy="3820160"/>
        </p:xfrm>
        <a:graphic>
          <a:graphicData uri="http://schemas.openxmlformats.org/drawingml/2006/table">
            <a:tbl>
              <a:tblPr/>
              <a:tblGrid>
                <a:gridCol w="1155700"/>
                <a:gridCol w="2932430"/>
                <a:gridCol w="3239770"/>
              </a:tblGrid>
              <a:tr h="5245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>
                          <a:latin typeface="微软雅黑" charset="0"/>
                          <a:ea typeface="微软雅黑" charset="0"/>
                        </a:rPr>
                        <a:t>对比维度</a:t>
                      </a:r>
                      <a:endParaRPr lang="en-US" altLang="en-US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OceanBase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spc="120">
                          <a:latin typeface="微软雅黑" charset="0"/>
                          <a:ea typeface="微软雅黑" charset="0"/>
                        </a:rPr>
                        <a:t>CockroachDB</a:t>
                      </a:r>
                      <a:endParaRPr lang="en-US" altLang="zh-CN" sz="14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30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共识协议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Paxos（模块优化、融合事务）</a:t>
                      </a:r>
                      <a:endParaRPr lang="en-US" altLang="zh-CN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Raft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（每个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Range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内建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Raft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副本组）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30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事务模型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悲观事务（加锁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死锁检测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ELR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乐观事务（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MVCC 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自动冲突重试）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639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时间机制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中心化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GTS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提供全局有序逻辑时间戳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HLC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Hybrid Logical Clock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）本地生成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24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隔离级别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Snapshot Isolation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（支持串行化）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默认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Serializable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（串行化）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30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死锁处理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LCL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死锁检测，快速准确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不存在死锁，冲突自动回滚重试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9306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容错机制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Paxos 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多副本恢复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主从选举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Raft +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多副本 </a:t>
                      </a:r>
                      <a:r>
                        <a:rPr lang="en-US" altLang="zh-CN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Follower </a:t>
                      </a:r>
                      <a:r>
                        <a:rPr lang="zh-CN" altLang="en-US" sz="1200" spc="12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升主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5085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适用场景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金融级场景，强调确定性和事务稳定性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spc="120">
                          <a:latin typeface="微软雅黑" charset="0"/>
                          <a:ea typeface="微软雅黑" charset="0"/>
                        </a:rPr>
                        <a:t>通用中小规模应用，强调部署弹性</a:t>
                      </a:r>
                      <a:endParaRPr lang="zh-CN" altLang="en-US" sz="12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177800" marR="1778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2" name="组合 1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3" name="矩形 2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与其他分布式数据库</a:t>
                </a:r>
                <a:r>
                  <a:rPr lang="zh-CN" altLang="en-US">
                    <a:solidFill>
                      <a:schemeClr val="bg1"/>
                    </a:solidFill>
                  </a:rPr>
                  <a:t>对比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-595630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138788" y="32826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500"/>
          <p:cNvSpPr txBox="1"/>
          <p:nvPr/>
        </p:nvSpPr>
        <p:spPr>
          <a:xfrm>
            <a:off x="2791460" y="155575"/>
            <a:ext cx="3780155" cy="514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与</a:t>
            </a:r>
            <a:r>
              <a:rPr lang="en-US" altLang="zh-CN" sz="2000" b="1" dirty="0">
                <a:solidFill>
                  <a:srgbClr val="314865"/>
                </a:solidFill>
                <a:latin typeface="+mj-ea"/>
                <a:ea typeface="+mj-ea"/>
              </a:rPr>
              <a:t>Google Spanner</a:t>
            </a:r>
            <a:r>
              <a:rPr lang="zh-CN" altLang="en-US" sz="2000" b="1" dirty="0">
                <a:solidFill>
                  <a:srgbClr val="314865"/>
                </a:solidFill>
                <a:latin typeface="+mj-ea"/>
                <a:ea typeface="+mj-ea"/>
              </a:rPr>
              <a:t>对比</a:t>
            </a:r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  <a:p>
            <a:pPr algn="ctr"/>
            <a:endParaRPr lang="zh-CN" altLang="en-US" sz="2000" b="1" dirty="0">
              <a:solidFill>
                <a:srgbClr val="314865"/>
              </a:solidFill>
              <a:latin typeface="+mj-ea"/>
              <a:ea typeface="+mj-ea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1"/>
            </p:custDataLst>
          </p:nvPr>
        </p:nvGraphicFramePr>
        <p:xfrm>
          <a:off x="1524000" y="851535"/>
          <a:ext cx="7328535" cy="3809365"/>
        </p:xfrm>
        <a:graphic>
          <a:graphicData uri="http://schemas.openxmlformats.org/drawingml/2006/table">
            <a:tbl>
              <a:tblPr/>
              <a:tblGrid>
                <a:gridCol w="1019175"/>
                <a:gridCol w="3291840"/>
                <a:gridCol w="3017520"/>
              </a:tblGrid>
              <a:tr h="5461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300" spc="120">
                          <a:latin typeface="微软雅黑" charset="0"/>
                          <a:ea typeface="微软雅黑" charset="0"/>
                        </a:rPr>
                        <a:t>对比维度</a:t>
                      </a:r>
                      <a:endParaRPr lang="en-US" altLang="en-US" sz="13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spc="120">
                          <a:latin typeface="微软雅黑" charset="0"/>
                          <a:ea typeface="微软雅黑" charset="0"/>
                        </a:rPr>
                        <a:t>OceanBase</a:t>
                      </a:r>
                      <a:endParaRPr lang="en-US" altLang="zh-CN" sz="13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300" spc="120">
                          <a:latin typeface="微软雅黑" charset="0"/>
                          <a:ea typeface="微软雅黑" charset="0"/>
                        </a:rPr>
                        <a:t>Google Spanner</a:t>
                      </a:r>
                      <a:endParaRPr lang="en-US" altLang="zh-CN" sz="1300" spc="12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73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100" spc="60">
                          <a:latin typeface="微软雅黑" charset="0"/>
                          <a:ea typeface="微软雅黑" charset="0"/>
                        </a:rPr>
                        <a:t>共识协议</a:t>
                      </a:r>
                      <a:endParaRPr lang="en-US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Paxos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（软件优化实现）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Paxos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（全球分布式，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5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副本）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时间同步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GTS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（逻辑全局时间戳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 Paxos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协议保障）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TrueTime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GPS +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原子钟，硬件同步）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4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一致性模型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外部一致性（强事务顺序，无需专用硬件）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外部一致性（通过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TrueTime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实现）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736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部署成本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部署灵活（支持私有云、本地服务器）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高成本，仅支持在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Google Cloud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使用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事务模型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改进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2PC + Paxos +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锁机制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严格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2PC + Paxos +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全局时间戳控制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使用案例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支撑双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11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、支付宝、银行核心系统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Gmail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Ads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等全球服务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优劣分析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无需硬件依赖即可实现类 </a:t>
                      </a:r>
                      <a:r>
                        <a:rPr lang="en-US" altLang="zh-CN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Spanner </a:t>
                      </a:r>
                      <a:r>
                        <a:rPr lang="zh-CN" altLang="en-US" sz="1100" spc="6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能力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spc="60">
                          <a:latin typeface="微软雅黑" charset="0"/>
                          <a:ea typeface="微软雅黑" charset="0"/>
                        </a:rPr>
                        <a:t>精确时间驱动一致性，部署复杂</a:t>
                      </a:r>
                      <a:endParaRPr lang="zh-CN" altLang="en-US" sz="1100" spc="60">
                        <a:latin typeface="微软雅黑" charset="0"/>
                        <a:ea typeface="微软雅黑" charset="0"/>
                      </a:endParaRPr>
                    </a:p>
                  </a:txBody>
                  <a:tcPr marL="25400" marR="25400" marT="6350" marB="635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E2E9E9"/>
              </a:solidFill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2267744" y="2097909"/>
            <a:ext cx="4783137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实践表现与</a:t>
            </a: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案例分析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8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2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/>
          <p:cNvCxnSpPr/>
          <p:nvPr/>
        </p:nvCxnSpPr>
        <p:spPr>
          <a:xfrm>
            <a:off x="-421005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785093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500"/>
          <p:cNvSpPr txBox="1"/>
          <p:nvPr/>
        </p:nvSpPr>
        <p:spPr>
          <a:xfrm>
            <a:off x="3293110" y="191770"/>
            <a:ext cx="25825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双</a:t>
            </a:r>
            <a:r>
              <a:rPr lang="en-US" altLang="zh-CN" sz="2000" b="1" dirty="0">
                <a:solidFill>
                  <a:srgbClr val="314865"/>
                </a:solidFill>
                <a:ea typeface="微软雅黑" pitchFamily="34" charset="-122"/>
              </a:rPr>
              <a:t>11</a:t>
            </a:r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高并发交易</a:t>
            </a:r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保障</a:t>
            </a:r>
            <a:endParaRPr lang="zh-CN" altLang="en-US" sz="2000" b="1" dirty="0">
              <a:solidFill>
                <a:srgbClr val="314865"/>
              </a:solidFill>
              <a:ea typeface="微软雅黑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4" name="组合 3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实践表现与案例分析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593215" y="909955"/>
            <a:ext cx="3416935" cy="3538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背景数据（以 2017 年为例）：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支付峰值：25.6 万笔/秒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数据库处理峰值：4200 万次/秒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当日交易额：1682 亿元人民币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 indent="0">
              <a:buFont typeface="Arial" panose="020B0704020202020204"/>
              <a:buNone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OceanBase的表现：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零数据丢失、零不一致事件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所有交易确保原子性提交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lvl="1">
              <a:buFont typeface="Arial" panose="020B0704020202020204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整体事务延迟控制在毫秒级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/>
          <p:cNvCxnSpPr/>
          <p:nvPr/>
        </p:nvCxnSpPr>
        <p:spPr>
          <a:xfrm>
            <a:off x="-565785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893678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500"/>
          <p:cNvSpPr txBox="1"/>
          <p:nvPr/>
        </p:nvSpPr>
        <p:spPr>
          <a:xfrm>
            <a:off x="3160395" y="191770"/>
            <a:ext cx="2752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金融行业关键系统</a:t>
            </a:r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支撑</a:t>
            </a:r>
            <a:endParaRPr lang="zh-CN" altLang="en-US" sz="2000" b="1" dirty="0">
              <a:solidFill>
                <a:srgbClr val="314865"/>
              </a:solidFill>
              <a:ea typeface="微软雅黑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4" name="组合 3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实践表现与案例分析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总结与</a:t>
                </a:r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收获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" name="矩形 17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60500" y="590550"/>
            <a:ext cx="5336540" cy="45535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应用场景：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银行核心账务系统（替代传统主备数据库）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证券交易撮合引擎（更新高频、数据敏感）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面临挑战：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数据必须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“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零丢失、强一致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”</a:t>
            </a: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高频并发写入热点数据（如同一股票行）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容忍故障而不中断服务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解决方案与优势：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ELR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提前解锁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 </a:t>
            </a:r>
            <a:r>
              <a:rPr lang="en-US" altLang="en-US" sz="1400" dirty="0">
                <a:solidFill>
                  <a:srgbClr val="314865"/>
                </a:solidFill>
                <a:ea typeface="+mj-ea"/>
                <a:cs typeface="+mj-cs"/>
              </a:rPr>
              <a:t>→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解决热点锁竞争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pPr marL="628650" lvl="1" indent="-285750">
              <a:buFont typeface="Arial" panose="020B0704020202020204" pitchFamily="34" charset="0"/>
              <a:buChar char="•"/>
            </a:pP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分布式死锁检测（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LCL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算法）</a:t>
            </a:r>
            <a:r>
              <a:rPr lang="en-US" altLang="en-US" sz="1400" dirty="0">
                <a:solidFill>
                  <a:srgbClr val="314865"/>
                </a:solidFill>
                <a:ea typeface="+mj-ea"/>
                <a:cs typeface="+mj-cs"/>
              </a:rPr>
              <a:t>→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稳定高并发事务执行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  <a:p>
            <a:endParaRPr lang="en-US" altLang="zh-CN" sz="1400" dirty="0">
              <a:solidFill>
                <a:srgbClr val="314865"/>
              </a:solidFill>
              <a:ea typeface="+mj-ea"/>
              <a:cs typeface="+mj-cs"/>
            </a:endParaRPr>
          </a:p>
          <a:p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7</a:t>
            </a:r>
            <a:r>
              <a:rPr lang="en-US" altLang="en-US" sz="1400" dirty="0">
                <a:solidFill>
                  <a:srgbClr val="314865"/>
                </a:solidFill>
                <a:ea typeface="+mj-ea"/>
                <a:cs typeface="+mj-cs"/>
              </a:rPr>
              <a:t>×</a:t>
            </a:r>
            <a:r>
              <a:rPr lang="en-US" altLang="zh-CN" sz="1400" dirty="0">
                <a:solidFill>
                  <a:srgbClr val="314865"/>
                </a:solidFill>
                <a:ea typeface="+mj-ea"/>
                <a:cs typeface="+mj-cs"/>
              </a:rPr>
              <a:t>24 </a:t>
            </a:r>
            <a:r>
              <a:rPr lang="zh-CN" altLang="en-US" sz="1400" dirty="0">
                <a:solidFill>
                  <a:srgbClr val="314865"/>
                </a:solidFill>
                <a:ea typeface="+mj-ea"/>
                <a:cs typeface="+mj-cs"/>
              </a:rPr>
              <a:t>小时不中断服务架构</a:t>
            </a:r>
            <a:endParaRPr lang="zh-CN" altLang="en-US" sz="140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258"/>
          <p:cNvSpPr>
            <a:spLocks noChangeArrowheads="1"/>
          </p:cNvSpPr>
          <p:nvPr/>
        </p:nvSpPr>
        <p:spPr bwMode="auto">
          <a:xfrm>
            <a:off x="857551" y="2139704"/>
            <a:ext cx="7530876" cy="1039240"/>
          </a:xfrm>
          <a:prstGeom prst="roundRect">
            <a:avLst>
              <a:gd name="adj" fmla="val 50000"/>
            </a:avLst>
          </a:prstGeom>
          <a:solidFill>
            <a:srgbClr val="314865"/>
          </a:solidFill>
          <a:ln w="34925">
            <a:solidFill>
              <a:schemeClr val="bg1"/>
            </a:solidFill>
            <a:round/>
          </a:ln>
        </p:spPr>
        <p:txBody>
          <a:bodyPr anchor="ctr"/>
          <a:lstStyle/>
          <a:p>
            <a:pPr algn="ctr"/>
            <a:endParaRPr lang="zh-CN" altLang="zh-CN" sz="1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50884" y="2209253"/>
            <a:ext cx="893128" cy="865406"/>
            <a:chOff x="950884" y="2209253"/>
            <a:chExt cx="893128" cy="865406"/>
          </a:xfrm>
        </p:grpSpPr>
        <p:sp>
          <p:nvSpPr>
            <p:cNvPr id="4" name="椭圆 259"/>
            <p:cNvSpPr>
              <a:spLocks noChangeArrowheads="1"/>
            </p:cNvSpPr>
            <p:nvPr/>
          </p:nvSpPr>
          <p:spPr bwMode="auto">
            <a:xfrm rot="16200000">
              <a:off x="978485" y="2262247"/>
              <a:ext cx="812259" cy="81256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E2E9E9"/>
              </a:solidFill>
              <a:round/>
            </a:ln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</p:txBody>
        </p:sp>
        <p:sp>
          <p:nvSpPr>
            <p:cNvPr id="5" name="Text Box 39"/>
            <p:cNvSpPr>
              <a:spLocks noChangeArrowheads="1"/>
            </p:cNvSpPr>
            <p:nvPr/>
          </p:nvSpPr>
          <p:spPr bwMode="auto">
            <a:xfrm>
              <a:off x="950884" y="2209253"/>
              <a:ext cx="893128" cy="7431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314865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5</a:t>
              </a:r>
              <a:endParaRPr lang="zh-CN" altLang="en-US" dirty="0">
                <a:solidFill>
                  <a:srgbClr val="314865"/>
                </a:solidFill>
                <a:ea typeface="微软雅黑" pitchFamily="34" charset="-122"/>
              </a:endParaRPr>
            </a:p>
          </p:txBody>
        </p:sp>
      </p:grpSp>
      <p:sp>
        <p:nvSpPr>
          <p:cNvPr id="6" name="Text Box 39"/>
          <p:cNvSpPr>
            <a:spLocks noChangeArrowheads="1"/>
          </p:cNvSpPr>
          <p:nvPr/>
        </p:nvSpPr>
        <p:spPr bwMode="auto">
          <a:xfrm>
            <a:off x="2267743" y="2097909"/>
            <a:ext cx="4804569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Clr>
                <a:schemeClr val="tx1"/>
              </a:buClr>
            </a:pP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总结与</a:t>
            </a:r>
            <a:r>
              <a:rPr lang="zh-CN" altLang="en-US" sz="4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收获</a:t>
            </a:r>
            <a:endParaRPr lang="zh-CN" altLang="en-US" sz="4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264841"/>
            <a:ext cx="1790898" cy="449319"/>
            <a:chOff x="-1" y="588691"/>
            <a:chExt cx="3026771" cy="449319"/>
          </a:xfrm>
          <a:solidFill>
            <a:srgbClr val="314865"/>
          </a:solidFill>
        </p:grpSpPr>
        <p:sp>
          <p:nvSpPr>
            <p:cNvPr id="8" name="矩形 1"/>
            <p:cNvSpPr/>
            <p:nvPr/>
          </p:nvSpPr>
          <p:spPr>
            <a:xfrm>
              <a:off x="-1" y="588691"/>
              <a:ext cx="3026771" cy="449319"/>
            </a:xfrm>
            <a:custGeom>
              <a:avLst/>
              <a:gdLst>
                <a:gd name="connsiteX0" fmla="*/ 0 w 2411760"/>
                <a:gd name="connsiteY0" fmla="*/ 0 h 484751"/>
                <a:gd name="connsiteX1" fmla="*/ 2411760 w 2411760"/>
                <a:gd name="connsiteY1" fmla="*/ 0 h 484751"/>
                <a:gd name="connsiteX2" fmla="*/ 2411760 w 2411760"/>
                <a:gd name="connsiteY2" fmla="*/ 484751 h 484751"/>
                <a:gd name="connsiteX3" fmla="*/ 0 w 2411760"/>
                <a:gd name="connsiteY3" fmla="*/ 484751 h 484751"/>
                <a:gd name="connsiteX4" fmla="*/ 0 w 2411760"/>
                <a:gd name="connsiteY4" fmla="*/ 0 h 484751"/>
                <a:gd name="connsiteX0-1" fmla="*/ 0 w 2849910"/>
                <a:gd name="connsiteY0-2" fmla="*/ 0 h 484751"/>
                <a:gd name="connsiteX1-3" fmla="*/ 2411760 w 2849910"/>
                <a:gd name="connsiteY1-4" fmla="*/ 0 h 484751"/>
                <a:gd name="connsiteX2-5" fmla="*/ 2849910 w 2849910"/>
                <a:gd name="connsiteY2-6" fmla="*/ 484751 h 484751"/>
                <a:gd name="connsiteX3-7" fmla="*/ 0 w 2849910"/>
                <a:gd name="connsiteY3-8" fmla="*/ 484751 h 484751"/>
                <a:gd name="connsiteX4-9" fmla="*/ 0 w 2849910"/>
                <a:gd name="connsiteY4-10" fmla="*/ 0 h 48475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49910" h="484751">
                  <a:moveTo>
                    <a:pt x="0" y="0"/>
                  </a:moveTo>
                  <a:lnTo>
                    <a:pt x="2411760" y="0"/>
                  </a:lnTo>
                  <a:lnTo>
                    <a:pt x="2849910" y="484751"/>
                  </a:lnTo>
                  <a:lnTo>
                    <a:pt x="0" y="48475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10875" y="628375"/>
              <a:ext cx="1612523" cy="40011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zh-CN" altLang="en-US" sz="2000" b="1" kern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过渡页</a:t>
              </a:r>
              <a:endParaRPr lang="zh-CN" altLang="en-US" sz="2000" b="1" dirty="0">
                <a:solidFill>
                  <a:schemeClr val="bg1"/>
                </a:solidFill>
                <a:ea typeface="微软雅黑" pitchFamily="34" charset="-122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7095490" y="4851400"/>
            <a:ext cx="912495" cy="291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314865"/>
                </a:solidFill>
              </a:rPr>
              <a:t>同济大学</a:t>
            </a:r>
            <a:endParaRPr lang="zh-CN" altLang="en-US">
              <a:solidFill>
                <a:srgbClr val="31486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2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0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364088" y="371440"/>
            <a:ext cx="3779912" cy="0"/>
          </a:xfrm>
          <a:prstGeom prst="line">
            <a:avLst/>
          </a:prstGeom>
          <a:ln w="25400">
            <a:solidFill>
              <a:srgbClr val="3148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500"/>
          <p:cNvSpPr txBox="1"/>
          <p:nvPr/>
        </p:nvSpPr>
        <p:spPr>
          <a:xfrm>
            <a:off x="3779912" y="155416"/>
            <a:ext cx="158417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总结与</a:t>
            </a:r>
            <a:r>
              <a:rPr lang="zh-CN" altLang="en-US" sz="2000" b="1" dirty="0">
                <a:solidFill>
                  <a:srgbClr val="314865"/>
                </a:solidFill>
                <a:ea typeface="微软雅黑" pitchFamily="34" charset="-122"/>
              </a:rPr>
              <a:t>收获</a:t>
            </a:r>
            <a:endParaRPr lang="zh-CN" altLang="en-US" sz="2000" b="1" dirty="0">
              <a:solidFill>
                <a:srgbClr val="314865"/>
              </a:solidFill>
              <a:ea typeface="微软雅黑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2540" y="1113155"/>
            <a:ext cx="8009890" cy="4029075"/>
            <a:chOff x="-4" y="1753"/>
            <a:chExt cx="12614" cy="6345"/>
          </a:xfrm>
        </p:grpSpPr>
        <p:grpSp>
          <p:nvGrpSpPr>
            <p:cNvPr id="18" name="组合 17"/>
            <p:cNvGrpSpPr/>
            <p:nvPr/>
          </p:nvGrpSpPr>
          <p:grpSpPr>
            <a:xfrm>
              <a:off x="-4" y="1753"/>
              <a:ext cx="1990" cy="5138"/>
              <a:chOff x="-4" y="1753"/>
              <a:chExt cx="1990" cy="5138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483" y="1753"/>
                <a:ext cx="925" cy="462"/>
              </a:xfrm>
              <a:prstGeom prst="rect">
                <a:avLst/>
              </a:prstGeom>
              <a:solidFill>
                <a:srgbClr val="F2F2F2"/>
              </a:solidFill>
              <a:ln w="28575" cap="flat" cmpd="sng">
                <a:noFill/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引言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0" y="2703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一致性机制设计原理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0" y="3634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一致性与高可用性协同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-4" y="4569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与其他分布式数据库协同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26" y="5500"/>
                <a:ext cx="1956" cy="461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>
                        <a:lumMod val="50000"/>
                      </a:schemeClr>
                    </a:solidFill>
                  </a:rPr>
                  <a:t>实践表现与案例分析</a:t>
                </a:r>
                <a:endParaRPr lang="zh-CN" altLang="en-US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0" y="6431"/>
                <a:ext cx="1956" cy="461"/>
              </a:xfrm>
              <a:prstGeom prst="rect">
                <a:avLst/>
              </a:prstGeom>
              <a:solidFill>
                <a:srgbClr val="31486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>
                    <a:solidFill>
                      <a:schemeClr val="bg1"/>
                    </a:solidFill>
                  </a:rPr>
                  <a:t>总结与收获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11174" y="7640"/>
              <a:ext cx="1437" cy="4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rgbClr val="314865"/>
                  </a:solidFill>
                </a:rPr>
                <a:t>同济大学</a:t>
              </a:r>
              <a:endParaRPr lang="zh-CN" altLang="en-US">
                <a:solidFill>
                  <a:srgbClr val="314865"/>
                </a:solidFill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795145" y="1233805"/>
            <a:ext cx="5080000" cy="2461260"/>
          </a:xfrm>
          <a:prstGeom prst="rect">
            <a:avLst/>
          </a:prstGeom>
        </p:spPr>
        <p:txBody>
          <a:bodyPr>
            <a:spAutoFit/>
          </a:bodyPr>
          <a:p>
            <a:pPr marL="457200" lvl="1" indent="0" algn="l">
              <a:lnSpc>
                <a:spcPct val="100000"/>
              </a:lnSpc>
              <a:buClrTx/>
              <a:buSzTx/>
              <a:buFont typeface="Arial" panose="020B0704020202020204" pitchFamily="34" charset="0"/>
              <a:buNone/>
            </a:pPr>
            <a:r>
              <a:rPr lang="en-US" altLang="zh-CN" sz="1400" b="0" i="0" dirty="0">
                <a:solidFill>
                  <a:srgbClr val="314865"/>
                </a:solidFill>
                <a:ea typeface="+mj-ea"/>
                <a:cs typeface="+mj-cs"/>
              </a:rPr>
              <a:t>1. </a:t>
            </a: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OceanBase 构建了完整、实用的事务一致性解决方案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457200" lvl="1" indent="0" algn="l">
              <a:lnSpc>
                <a:spcPct val="100000"/>
              </a:lnSpc>
              <a:buClrTx/>
              <a:buSzTx/>
              <a:buFont typeface="Arial" panose="020B0704020202020204" pitchFamily="34" charset="0"/>
              <a:buNone/>
            </a:pPr>
            <a:r>
              <a:rPr lang="en-US" altLang="zh-CN" sz="1400" b="0" i="0" dirty="0">
                <a:solidFill>
                  <a:srgbClr val="314865"/>
                </a:solidFill>
                <a:ea typeface="+mj-ea"/>
                <a:cs typeface="+mj-cs"/>
              </a:rPr>
              <a:t>2. </a:t>
            </a: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将 Paxos、2PC、</a:t>
            </a: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MVCC 等经典理论工程化落地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457200" lvl="1" indent="0" algn="l">
              <a:lnSpc>
                <a:spcPct val="100000"/>
              </a:lnSpc>
              <a:buClrTx/>
              <a:buSzTx/>
              <a:buFont typeface="Arial" panose="020B0704020202020204" pitchFamily="34" charset="0"/>
              <a:buNone/>
            </a:pPr>
            <a:r>
              <a:rPr lang="en-US" altLang="zh-CN" sz="1400" b="0" i="0" dirty="0">
                <a:solidFill>
                  <a:srgbClr val="314865"/>
                </a:solidFill>
                <a:ea typeface="+mj-ea"/>
                <a:cs typeface="+mj-cs"/>
              </a:rPr>
              <a:t>3. </a:t>
            </a: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经历多年实践验证，适合关键业务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457200" lvl="1" indent="0" algn="l">
              <a:lnSpc>
                <a:spcPct val="100000"/>
              </a:lnSpc>
              <a:buClrTx/>
              <a:buSzTx/>
              <a:buFont typeface="Arial" panose="020B0704020202020204" pitchFamily="34" charset="0"/>
              <a:buNone/>
            </a:pPr>
            <a:r>
              <a:rPr lang="en-US" altLang="zh-CN" sz="1400" b="0" i="0" dirty="0">
                <a:solidFill>
                  <a:srgbClr val="314865"/>
                </a:solidFill>
                <a:ea typeface="+mj-ea"/>
                <a:cs typeface="+mj-cs"/>
              </a:rPr>
              <a:t>4. </a:t>
            </a: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启示：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742950" lvl="1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1200150" lvl="2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一致性 ≠ 牺牲性能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1200150" lvl="2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  <a:p>
            <a:pPr marL="1200150" lvl="2" indent="-285750" algn="l">
              <a:lnSpc>
                <a:spcPct val="100000"/>
              </a:lnSpc>
              <a:buClrTx/>
              <a:buSzTx/>
              <a:buFont typeface="Arial" panose="020B0704020202020204" pitchFamily="34" charset="0"/>
              <a:buChar char="•"/>
            </a:pPr>
            <a:r>
              <a:rPr lang="zh-CN" altLang="en-US" sz="1400" b="0" i="0" dirty="0">
                <a:solidFill>
                  <a:srgbClr val="314865"/>
                </a:solidFill>
                <a:ea typeface="+mj-ea"/>
                <a:cs typeface="+mj-cs"/>
              </a:rPr>
              <a:t>软件优化可替代部分硬件方案（如 TrueTime）</a:t>
            </a:r>
            <a:endParaRPr lang="zh-CN" altLang="en-US" sz="1400" b="0" i="0" dirty="0">
              <a:solidFill>
                <a:srgbClr val="314865"/>
              </a:solidFill>
              <a:ea typeface="+mj-ea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1"/>
          <p:cNvSpPr/>
          <p:nvPr/>
        </p:nvSpPr>
        <p:spPr>
          <a:xfrm>
            <a:off x="0" y="0"/>
            <a:ext cx="9144000" cy="5143501"/>
          </a:xfrm>
          <a:custGeom>
            <a:avLst/>
            <a:gdLst>
              <a:gd name="connsiteX0" fmla="*/ 0 w 12192000"/>
              <a:gd name="connsiteY0" fmla="*/ 0 h 5943600"/>
              <a:gd name="connsiteX1" fmla="*/ 12192000 w 12192000"/>
              <a:gd name="connsiteY1" fmla="*/ 0 h 5943600"/>
              <a:gd name="connsiteX2" fmla="*/ 12192000 w 12192000"/>
              <a:gd name="connsiteY2" fmla="*/ 5943600 h 5943600"/>
              <a:gd name="connsiteX3" fmla="*/ 0 w 12192000"/>
              <a:gd name="connsiteY3" fmla="*/ 5943600 h 5943600"/>
              <a:gd name="connsiteX4" fmla="*/ 0 w 12192000"/>
              <a:gd name="connsiteY4" fmla="*/ 0 h 5943600"/>
              <a:gd name="connsiteX0-1" fmla="*/ 0 w 12192000"/>
              <a:gd name="connsiteY0-2" fmla="*/ 0 h 5943600"/>
              <a:gd name="connsiteX1-3" fmla="*/ 10000343 w 12192000"/>
              <a:gd name="connsiteY1-4" fmla="*/ 1233714 h 5943600"/>
              <a:gd name="connsiteX2-5" fmla="*/ 12192000 w 12192000"/>
              <a:gd name="connsiteY2-6" fmla="*/ 5943600 h 5943600"/>
              <a:gd name="connsiteX3-7" fmla="*/ 0 w 12192000"/>
              <a:gd name="connsiteY3-8" fmla="*/ 5943600 h 5943600"/>
              <a:gd name="connsiteX4-9" fmla="*/ 0 w 12192000"/>
              <a:gd name="connsiteY4-10" fmla="*/ 0 h 5943600"/>
              <a:gd name="connsiteX0-11" fmla="*/ 0 w 12192000"/>
              <a:gd name="connsiteY0-12" fmla="*/ 0 h 5943600"/>
              <a:gd name="connsiteX1-13" fmla="*/ 10537372 w 12192000"/>
              <a:gd name="connsiteY1-14" fmla="*/ 1623664 h 5943600"/>
              <a:gd name="connsiteX2-15" fmla="*/ 12192000 w 12192000"/>
              <a:gd name="connsiteY2-16" fmla="*/ 5943600 h 5943600"/>
              <a:gd name="connsiteX3-17" fmla="*/ 0 w 12192000"/>
              <a:gd name="connsiteY3-18" fmla="*/ 5943600 h 5943600"/>
              <a:gd name="connsiteX4-19" fmla="*/ 0 w 12192000"/>
              <a:gd name="connsiteY4-20" fmla="*/ 0 h 5943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5943600">
                <a:moveTo>
                  <a:pt x="0" y="0"/>
                </a:moveTo>
                <a:lnTo>
                  <a:pt x="10537372" y="1623664"/>
                </a:lnTo>
                <a:lnTo>
                  <a:pt x="12192000" y="5943600"/>
                </a:lnTo>
                <a:lnTo>
                  <a:pt x="0" y="5943600"/>
                </a:lnTo>
                <a:lnTo>
                  <a:pt x="0" y="0"/>
                </a:lnTo>
                <a:close/>
              </a:path>
            </a:pathLst>
          </a:cu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ea typeface="微软雅黑" pitchFamily="34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>
            <a:off x="7037887" y="1400175"/>
            <a:ext cx="2111828" cy="3743326"/>
          </a:xfrm>
          <a:prstGeom prst="triangle">
            <a:avLst>
              <a:gd name="adj" fmla="val 41044"/>
            </a:avLst>
          </a:prstGeom>
          <a:solidFill>
            <a:srgbClr val="E2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ea typeface="微软雅黑" pitchFamily="34" charset="-122"/>
            </a:endParaRPr>
          </a:p>
        </p:txBody>
      </p:sp>
      <p:sp>
        <p:nvSpPr>
          <p:cNvPr id="6" name="矩形 6"/>
          <p:cNvSpPr/>
          <p:nvPr/>
        </p:nvSpPr>
        <p:spPr>
          <a:xfrm>
            <a:off x="7851337" y="1"/>
            <a:ext cx="1292663" cy="664028"/>
          </a:xfrm>
          <a:custGeom>
            <a:avLst/>
            <a:gdLst>
              <a:gd name="connsiteX0" fmla="*/ 0 w 1723550"/>
              <a:gd name="connsiteY0" fmla="*/ 0 h 885371"/>
              <a:gd name="connsiteX1" fmla="*/ 1723550 w 1723550"/>
              <a:gd name="connsiteY1" fmla="*/ 0 h 885371"/>
              <a:gd name="connsiteX2" fmla="*/ 1723550 w 1723550"/>
              <a:gd name="connsiteY2" fmla="*/ 885371 h 885371"/>
              <a:gd name="connsiteX3" fmla="*/ 0 w 1723550"/>
              <a:gd name="connsiteY3" fmla="*/ 885371 h 885371"/>
              <a:gd name="connsiteX4" fmla="*/ 0 w 1723550"/>
              <a:gd name="connsiteY4" fmla="*/ 0 h 885371"/>
              <a:gd name="connsiteX0-1" fmla="*/ 0 w 1723550"/>
              <a:gd name="connsiteY0-2" fmla="*/ 0 h 885371"/>
              <a:gd name="connsiteX1-3" fmla="*/ 1723550 w 1723550"/>
              <a:gd name="connsiteY1-4" fmla="*/ 0 h 885371"/>
              <a:gd name="connsiteX2-5" fmla="*/ 1723550 w 1723550"/>
              <a:gd name="connsiteY2-6" fmla="*/ 885371 h 885371"/>
              <a:gd name="connsiteX3-7" fmla="*/ 1451428 w 1723550"/>
              <a:gd name="connsiteY3-8" fmla="*/ 275771 h 885371"/>
              <a:gd name="connsiteX4-9" fmla="*/ 0 w 1723550"/>
              <a:gd name="connsiteY4-10" fmla="*/ 0 h 8853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723550" h="885371">
                <a:moveTo>
                  <a:pt x="0" y="0"/>
                </a:moveTo>
                <a:lnTo>
                  <a:pt x="1723550" y="0"/>
                </a:lnTo>
                <a:lnTo>
                  <a:pt x="1723550" y="885371"/>
                </a:lnTo>
                <a:lnTo>
                  <a:pt x="1451428" y="275771"/>
                </a:lnTo>
                <a:lnTo>
                  <a:pt x="0" y="0"/>
                </a:lnTo>
                <a:close/>
              </a:path>
            </a:pathLst>
          </a:custGeom>
          <a:solidFill>
            <a:srgbClr val="3148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2419" y="1556087"/>
            <a:ext cx="332014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altLang="zh-CN" sz="6000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THANKS</a:t>
            </a:r>
            <a:endParaRPr lang="zh-CN" altLang="en-US" sz="6000" dirty="0">
              <a:ln>
                <a:prstDash val="solid"/>
              </a:ln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2919" y="2571750"/>
            <a:ext cx="5964968" cy="67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704020202020204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rgbClr val="F5F5F5"/>
                </a:solidFill>
                <a:latin typeface="微软雅黑"/>
              </a:rPr>
              <a:t>感谢批评指正</a:t>
            </a:r>
            <a:endParaRPr lang="zh-CN" altLang="en-US" sz="4000" b="1" dirty="0">
              <a:solidFill>
                <a:srgbClr val="F5F5F5"/>
              </a:solidFill>
              <a:latin typeface="微软雅黑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618473" y="3443677"/>
            <a:ext cx="2914650" cy="3067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p>
            <a:pPr algn="ctr"/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小组成员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李盛鹏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杨钦战</a:t>
            </a:r>
            <a:r>
              <a:rPr lang="en-US" altLang="zh-CN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400" b="1" dirty="0">
                <a:ln>
                  <a:prstDash val="solid"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程亦诚</a:t>
            </a:r>
            <a:endParaRPr lang="zh-CN" altLang="en-US" sz="1400" b="1" dirty="0">
              <a:ln>
                <a:prstDash val="solid"/>
              </a:ln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7" grpId="0"/>
      <p:bldP spid="8" grpId="0"/>
    </p:bldLst>
  </p:timing>
</p:sld>
</file>

<file path=ppt/tags/tag1.xml><?xml version="1.0" encoding="utf-8"?>
<p:tagLst xmlns:p="http://schemas.openxmlformats.org/presentationml/2006/main">
  <p:tag name="TABLE_ENDDRAG_ORIGIN_RECT" val="577*290"/>
  <p:tag name="TABLE_ENDDRAG_RECT" val="120*75*578*290"/>
  <p:tag name="TABLE_AUTOADJUST_FLAG" val="1"/>
</p:tagLst>
</file>

<file path=ppt/tags/tag2.xml><?xml version="1.0" encoding="utf-8"?>
<p:tagLst xmlns:p="http://schemas.openxmlformats.org/presentationml/2006/main">
  <p:tag name="TABLE_ENDDRAG_ORIGIN_RECT" val="577*289"/>
  <p:tag name="TABLE_ENDDRAG_RECT" val="120*67*577*289"/>
  <p:tag name="TABLE_AUTOADJUST_FLAG" val="1"/>
</p:tagLst>
</file>

<file path=ppt/tags/tag3.xml><?xml version="1.0" encoding="utf-8"?>
<p:tagLst xmlns:p="http://schemas.openxmlformats.org/presentationml/2006/main">
  <p:tag name="TABLE_ENDDRAG_ORIGIN_RECT" val="577*299"/>
  <p:tag name="TABLE_ENDDRAG_RECT" val="120*67*577*299"/>
  <p:tag name="TABLE_AUTOADJUST_FLAG" val="1"/>
</p:tagLst>
</file>

<file path=ppt/tags/tag4.xml><?xml version="1.0" encoding="utf-8"?>
<p:tagLst xmlns:p="http://schemas.openxmlformats.org/presentationml/2006/main">
  <p:tag name="ISPRING_PRESENTATION_TITLE" val="6925.pptx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3856</Words>
  <Application>WPS 演示</Application>
  <PresentationFormat>全屏显示(16:9)</PresentationFormat>
  <Paragraphs>735</Paragraphs>
  <Slides>23</Slides>
  <Notes>38</Notes>
  <HiddenSlides>0</HiddenSlides>
  <MMClips>1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汉仪旗黑</vt:lpstr>
      <vt:lpstr>Arial Unicode MS</vt:lpstr>
      <vt:lpstr>Calibri</vt:lpstr>
      <vt:lpstr>宋体</vt:lpstr>
      <vt:lpstr>时尚中黑简体</vt:lpstr>
      <vt:lpstr>Source Sans Pro Light</vt:lpstr>
      <vt:lpstr>苹方-简</vt:lpstr>
      <vt:lpstr>Arial</vt:lpstr>
      <vt:lpstr>汉仪中黑KW</vt:lpstr>
      <vt:lpstr>宋体</vt:lpstr>
      <vt:lpstr>Arial Black</vt:lpstr>
      <vt:lpstr>Helvetica Neue</vt:lpstr>
      <vt:lpstr>微软雅黑</vt:lpstr>
      <vt:lpstr>微软雅黑</vt:lpstr>
      <vt:lpstr>黑体</vt:lpstr>
      <vt:lpstr>汉仪书宋二KW</vt:lpstr>
      <vt:lpstr>时尚中黑简体</vt:lpstr>
      <vt:lpstr>基本</vt:lpstr>
      <vt:lpstr>PowerPoint 演示文稿</vt:lpstr>
      <vt:lpstr>PowerPoint 演示文稿</vt:lpstr>
      <vt:lpstr>PowerPoint 演示文稿</vt:lpstr>
      <vt:lpstr>研究背景与意义</vt:lpstr>
      <vt:lpstr>事务与ACID特性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6925.pptx</dc:title>
  <dc:creator/>
  <cp:lastModifiedBy>WPS_1661508371</cp:lastModifiedBy>
  <cp:revision>5</cp:revision>
  <dcterms:created xsi:type="dcterms:W3CDTF">2025-05-29T16:10:51Z</dcterms:created>
  <dcterms:modified xsi:type="dcterms:W3CDTF">2025-05-29T16:10:51Z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7DC5540DBB77FE7976BC36689DDAE19E_42</vt:lpwstr>
  </property>
  <property fmtid="{D5CDD505-2E9C-101B-9397-08002B2CF9AE}" pid="3" name="KSOProductBuildVer">
    <vt:lpwstr>2052-7.3.1.8967</vt:lpwstr>
  </property>
</Properties>
</file>