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9"/>
        <p:guide pos="383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5367020" y="2506980"/>
            <a:ext cx="1436370" cy="1430655"/>
            <a:chOff x="8452" y="3948"/>
            <a:chExt cx="2262" cy="2253"/>
          </a:xfrm>
        </p:grpSpPr>
        <p:cxnSp>
          <p:nvCxnSpPr>
            <p:cNvPr id="16" name="直接箭头连接符 15"/>
            <p:cNvCxnSpPr>
              <a:stCxn id="9" idx="2"/>
              <a:endCxn id="17" idx="0"/>
            </p:cNvCxnSpPr>
            <p:nvPr/>
          </p:nvCxnSpPr>
          <p:spPr>
            <a:xfrm flipH="1">
              <a:off x="9583" y="3948"/>
              <a:ext cx="48" cy="57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7" name="流程图: 决策 16"/>
            <p:cNvSpPr/>
            <p:nvPr/>
          </p:nvSpPr>
          <p:spPr>
            <a:xfrm>
              <a:off x="8452" y="4527"/>
              <a:ext cx="2262" cy="975"/>
            </a:xfrm>
            <a:prstGeom prst="flowChartDecision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收集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1" name="直接箭头连接符 20"/>
            <p:cNvCxnSpPr>
              <a:stCxn id="17" idx="2"/>
              <a:endCxn id="10" idx="0"/>
            </p:cNvCxnSpPr>
            <p:nvPr/>
          </p:nvCxnSpPr>
          <p:spPr>
            <a:xfrm>
              <a:off x="9583" y="5502"/>
              <a:ext cx="17" cy="69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 rot="16200000">
            <a:off x="4131945" y="1196340"/>
            <a:ext cx="619125" cy="2171700"/>
            <a:chOff x="9096" y="3369"/>
            <a:chExt cx="975" cy="3420"/>
          </a:xfrm>
        </p:grpSpPr>
        <p:cxnSp>
          <p:nvCxnSpPr>
            <p:cNvPr id="30" name="直接箭头连接符 29"/>
            <p:cNvCxnSpPr/>
            <p:nvPr/>
          </p:nvCxnSpPr>
          <p:spPr>
            <a:xfrm>
              <a:off x="9600" y="3369"/>
              <a:ext cx="14" cy="57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1" name="流程图: 决策 30"/>
            <p:cNvSpPr/>
            <p:nvPr/>
          </p:nvSpPr>
          <p:spPr>
            <a:xfrm rot="5400000">
              <a:off x="8452" y="4592"/>
              <a:ext cx="2262" cy="975"/>
            </a:xfrm>
            <a:prstGeom prst="flowChartDecision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蕴含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32" name="直接箭头连接符 31"/>
            <p:cNvCxnSpPr>
              <a:stCxn id="31" idx="3"/>
              <a:endCxn id="9" idx="1"/>
            </p:cNvCxnSpPr>
            <p:nvPr/>
          </p:nvCxnSpPr>
          <p:spPr>
            <a:xfrm>
              <a:off x="9583" y="6211"/>
              <a:ext cx="0" cy="57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47" name="组合 46"/>
          <p:cNvGrpSpPr/>
          <p:nvPr/>
        </p:nvGrpSpPr>
        <p:grpSpPr>
          <a:xfrm>
            <a:off x="6704330" y="1972945"/>
            <a:ext cx="2153285" cy="619125"/>
            <a:chOff x="10558" y="3107"/>
            <a:chExt cx="3391" cy="975"/>
          </a:xfrm>
        </p:grpSpPr>
        <p:sp>
          <p:nvSpPr>
            <p:cNvPr id="27" name="流程图: 决策 26"/>
            <p:cNvSpPr/>
            <p:nvPr/>
          </p:nvSpPr>
          <p:spPr>
            <a:xfrm>
              <a:off x="11107" y="3107"/>
              <a:ext cx="2262" cy="975"/>
            </a:xfrm>
            <a:prstGeom prst="flowChartDecision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反映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33" name="直接箭头连接符 32"/>
            <p:cNvCxnSpPr>
              <a:stCxn id="13" idx="1"/>
              <a:endCxn id="27" idx="3"/>
            </p:cNvCxnSpPr>
            <p:nvPr/>
          </p:nvCxnSpPr>
          <p:spPr>
            <a:xfrm flipH="1">
              <a:off x="13369" y="3595"/>
              <a:ext cx="58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>
              <a:stCxn id="27" idx="1"/>
              <a:endCxn id="9" idx="3"/>
            </p:cNvCxnSpPr>
            <p:nvPr/>
          </p:nvCxnSpPr>
          <p:spPr>
            <a:xfrm flipH="1">
              <a:off x="10558" y="3595"/>
              <a:ext cx="54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35" name="组合 34"/>
          <p:cNvGrpSpPr/>
          <p:nvPr/>
        </p:nvGrpSpPr>
        <p:grpSpPr>
          <a:xfrm rot="19500000">
            <a:off x="3838520" y="3283139"/>
            <a:ext cx="1436370" cy="1391285"/>
            <a:chOff x="8452" y="3969"/>
            <a:chExt cx="2262" cy="2191"/>
          </a:xfrm>
        </p:grpSpPr>
        <p:cxnSp>
          <p:nvCxnSpPr>
            <p:cNvPr id="36" name="直接箭头连接符 35"/>
            <p:cNvCxnSpPr>
              <a:stCxn id="12" idx="3"/>
              <a:endCxn id="37" idx="0"/>
            </p:cNvCxnSpPr>
            <p:nvPr/>
          </p:nvCxnSpPr>
          <p:spPr>
            <a:xfrm>
              <a:off x="9526" y="3969"/>
              <a:ext cx="308" cy="62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7" name="流程图: 决策 36"/>
            <p:cNvSpPr/>
            <p:nvPr/>
          </p:nvSpPr>
          <p:spPr>
            <a:xfrm rot="1860000">
              <a:off x="8452" y="4527"/>
              <a:ext cx="2262" cy="975"/>
            </a:xfrm>
            <a:prstGeom prst="flowChartDecision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距离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38" name="直接箭头连接符 37"/>
            <p:cNvCxnSpPr>
              <a:stCxn id="37" idx="2"/>
              <a:endCxn id="10" idx="1"/>
            </p:cNvCxnSpPr>
            <p:nvPr/>
          </p:nvCxnSpPr>
          <p:spPr>
            <a:xfrm>
              <a:off x="9332" y="5432"/>
              <a:ext cx="1311" cy="72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43" name="组合 42"/>
          <p:cNvGrpSpPr/>
          <p:nvPr/>
        </p:nvGrpSpPr>
        <p:grpSpPr>
          <a:xfrm>
            <a:off x="5367020" y="713740"/>
            <a:ext cx="1436370" cy="1344295"/>
            <a:chOff x="8452" y="3948"/>
            <a:chExt cx="2262" cy="2117"/>
          </a:xfrm>
        </p:grpSpPr>
        <p:cxnSp>
          <p:nvCxnSpPr>
            <p:cNvPr id="44" name="直接箭头连接符 43"/>
            <p:cNvCxnSpPr>
              <a:stCxn id="15" idx="2"/>
              <a:endCxn id="45" idx="0"/>
            </p:cNvCxnSpPr>
            <p:nvPr/>
          </p:nvCxnSpPr>
          <p:spPr>
            <a:xfrm flipH="1">
              <a:off x="9583" y="3948"/>
              <a:ext cx="17" cy="57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5" name="流程图: 决策 44"/>
            <p:cNvSpPr/>
            <p:nvPr/>
          </p:nvSpPr>
          <p:spPr>
            <a:xfrm>
              <a:off x="8452" y="4527"/>
              <a:ext cx="2262" cy="975"/>
            </a:xfrm>
            <a:prstGeom prst="flowChartDecision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反映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46" name="直接箭头连接符 45"/>
            <p:cNvCxnSpPr>
              <a:stCxn id="45" idx="2"/>
              <a:endCxn id="9" idx="0"/>
            </p:cNvCxnSpPr>
            <p:nvPr/>
          </p:nvCxnSpPr>
          <p:spPr>
            <a:xfrm>
              <a:off x="9583" y="5502"/>
              <a:ext cx="48" cy="56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52" name="组合 51"/>
          <p:cNvGrpSpPr/>
          <p:nvPr/>
        </p:nvGrpSpPr>
        <p:grpSpPr>
          <a:xfrm rot="16200000">
            <a:off x="7452678" y="3118168"/>
            <a:ext cx="619125" cy="2154555"/>
            <a:chOff x="9096" y="3356"/>
            <a:chExt cx="975" cy="3393"/>
          </a:xfrm>
        </p:grpSpPr>
        <p:cxnSp>
          <p:nvCxnSpPr>
            <p:cNvPr id="53" name="直接箭头连接符 52"/>
            <p:cNvCxnSpPr>
              <a:stCxn id="10" idx="3"/>
              <a:endCxn id="54" idx="1"/>
            </p:cNvCxnSpPr>
            <p:nvPr/>
          </p:nvCxnSpPr>
          <p:spPr>
            <a:xfrm flipH="1">
              <a:off x="9582" y="3356"/>
              <a:ext cx="53" cy="59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4" name="流程图: 决策 53"/>
            <p:cNvSpPr/>
            <p:nvPr/>
          </p:nvSpPr>
          <p:spPr>
            <a:xfrm rot="5400000">
              <a:off x="8452" y="4592"/>
              <a:ext cx="2262" cy="975"/>
            </a:xfrm>
            <a:prstGeom prst="flowChartDecision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查找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55" name="直接箭头连接符 54"/>
            <p:cNvCxnSpPr>
              <a:stCxn id="54" idx="3"/>
              <a:endCxn id="8" idx="1"/>
            </p:cNvCxnSpPr>
            <p:nvPr/>
          </p:nvCxnSpPr>
          <p:spPr>
            <a:xfrm>
              <a:off x="9583" y="6211"/>
              <a:ext cx="40" cy="53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56" name="组合 55"/>
          <p:cNvGrpSpPr/>
          <p:nvPr/>
        </p:nvGrpSpPr>
        <p:grpSpPr>
          <a:xfrm>
            <a:off x="5367020" y="4386580"/>
            <a:ext cx="1436370" cy="1444625"/>
            <a:chOff x="8452" y="3877"/>
            <a:chExt cx="2262" cy="2275"/>
          </a:xfrm>
        </p:grpSpPr>
        <p:cxnSp>
          <p:nvCxnSpPr>
            <p:cNvPr id="57" name="直接箭头连接符 56"/>
            <p:cNvCxnSpPr>
              <a:stCxn id="58" idx="0"/>
              <a:endCxn id="10" idx="2"/>
            </p:cNvCxnSpPr>
            <p:nvPr/>
          </p:nvCxnSpPr>
          <p:spPr>
            <a:xfrm flipV="1">
              <a:off x="9583" y="3877"/>
              <a:ext cx="17" cy="65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8" name="流程图: 决策 57"/>
            <p:cNvSpPr/>
            <p:nvPr/>
          </p:nvSpPr>
          <p:spPr>
            <a:xfrm>
              <a:off x="8452" y="4527"/>
              <a:ext cx="2262" cy="975"/>
            </a:xfrm>
            <a:prstGeom prst="flowChartDecision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访问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59" name="直接箭头连接符 58"/>
            <p:cNvCxnSpPr>
              <a:stCxn id="14" idx="0"/>
              <a:endCxn id="58" idx="2"/>
            </p:cNvCxnSpPr>
            <p:nvPr/>
          </p:nvCxnSpPr>
          <p:spPr>
            <a:xfrm flipH="1" flipV="1">
              <a:off x="9583" y="5502"/>
              <a:ext cx="17" cy="65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10" name="组合 109"/>
          <p:cNvGrpSpPr/>
          <p:nvPr/>
        </p:nvGrpSpPr>
        <p:grpSpPr>
          <a:xfrm>
            <a:off x="111760" y="201295"/>
            <a:ext cx="3244850" cy="3227070"/>
            <a:chOff x="176" y="317"/>
            <a:chExt cx="5110" cy="5082"/>
          </a:xfrm>
        </p:grpSpPr>
        <p:sp>
          <p:nvSpPr>
            <p:cNvPr id="5" name="矩形 4"/>
            <p:cNvSpPr/>
            <p:nvPr/>
          </p:nvSpPr>
          <p:spPr>
            <a:xfrm>
              <a:off x="3432" y="3241"/>
              <a:ext cx="1854" cy="707"/>
            </a:xfrm>
            <a:prstGeom prst="rect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珊瑚种类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64" name="组合 63"/>
            <p:cNvGrpSpPr/>
            <p:nvPr/>
          </p:nvGrpSpPr>
          <p:grpSpPr>
            <a:xfrm>
              <a:off x="1982" y="317"/>
              <a:ext cx="1806" cy="3193"/>
              <a:chOff x="2246" y="2014"/>
              <a:chExt cx="1806" cy="3193"/>
            </a:xfrm>
          </p:grpSpPr>
          <p:cxnSp>
            <p:nvCxnSpPr>
              <p:cNvPr id="60" name="直接箭头连接符 59"/>
              <p:cNvCxnSpPr/>
              <p:nvPr/>
            </p:nvCxnSpPr>
            <p:spPr>
              <a:xfrm flipH="1" flipV="1">
                <a:off x="3188" y="2689"/>
                <a:ext cx="500" cy="251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1" name="圆角矩形 60"/>
              <p:cNvSpPr/>
              <p:nvPr/>
            </p:nvSpPr>
            <p:spPr>
              <a:xfrm>
                <a:off x="2246" y="2014"/>
                <a:ext cx="18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拉丁学</a:t>
                </a:r>
                <a:r>
                  <a:rPr lang="zh-CN" altLang="en-US">
                    <a:solidFill>
                      <a:schemeClr val="tx1"/>
                    </a:solidFill>
                  </a:rPr>
                  <a:t>名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451" y="1124"/>
              <a:ext cx="2981" cy="2471"/>
              <a:chOff x="1133" y="2271"/>
              <a:chExt cx="2981" cy="2471"/>
            </a:xfrm>
          </p:grpSpPr>
          <p:cxnSp>
            <p:nvCxnSpPr>
              <p:cNvPr id="69" name="直接箭头连接符 68"/>
              <p:cNvCxnSpPr>
                <a:stCxn id="5" idx="1"/>
              </p:cNvCxnSpPr>
              <p:nvPr/>
            </p:nvCxnSpPr>
            <p:spPr>
              <a:xfrm flipH="1" flipV="1">
                <a:off x="2939" y="2823"/>
                <a:ext cx="1175" cy="191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70" name="圆角矩形 69"/>
              <p:cNvSpPr/>
              <p:nvPr/>
            </p:nvSpPr>
            <p:spPr>
              <a:xfrm>
                <a:off x="1133" y="2271"/>
                <a:ext cx="18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种类</a:t>
                </a:r>
                <a:r>
                  <a:rPr lang="zh-CN" altLang="en-US">
                    <a:solidFill>
                      <a:schemeClr val="tx1"/>
                    </a:solidFill>
                  </a:rPr>
                  <a:t>编号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177" y="3667"/>
              <a:ext cx="3278" cy="1733"/>
              <a:chOff x="2246" y="956"/>
              <a:chExt cx="3278" cy="1733"/>
            </a:xfrm>
          </p:grpSpPr>
          <p:cxnSp>
            <p:nvCxnSpPr>
              <p:cNvPr id="75" name="直接箭头连接符 74"/>
              <p:cNvCxnSpPr/>
              <p:nvPr/>
            </p:nvCxnSpPr>
            <p:spPr>
              <a:xfrm flipH="1">
                <a:off x="4052" y="956"/>
                <a:ext cx="1472" cy="138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76" name="圆角矩形 75"/>
              <p:cNvSpPr/>
              <p:nvPr/>
            </p:nvSpPr>
            <p:spPr>
              <a:xfrm>
                <a:off x="2246" y="2014"/>
                <a:ext cx="18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适宜</a:t>
                </a:r>
                <a:r>
                  <a:rPr lang="zh-CN" altLang="en-US">
                    <a:solidFill>
                      <a:schemeClr val="tx1"/>
                    </a:solidFill>
                  </a:rPr>
                  <a:t>温度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7" name="组合 76"/>
            <p:cNvGrpSpPr/>
            <p:nvPr/>
          </p:nvGrpSpPr>
          <p:grpSpPr>
            <a:xfrm>
              <a:off x="176" y="3595"/>
              <a:ext cx="3256" cy="932"/>
              <a:chOff x="2246" y="1757"/>
              <a:chExt cx="3256" cy="932"/>
            </a:xfrm>
          </p:grpSpPr>
          <p:cxnSp>
            <p:nvCxnSpPr>
              <p:cNvPr id="78" name="直接箭头连接符 77"/>
              <p:cNvCxnSpPr>
                <a:stCxn id="5" idx="1"/>
              </p:cNvCxnSpPr>
              <p:nvPr/>
            </p:nvCxnSpPr>
            <p:spPr>
              <a:xfrm flipH="1">
                <a:off x="4052" y="1757"/>
                <a:ext cx="1450" cy="50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79" name="圆角矩形 78"/>
              <p:cNvSpPr/>
              <p:nvPr/>
            </p:nvSpPr>
            <p:spPr>
              <a:xfrm>
                <a:off x="2246" y="2014"/>
                <a:ext cx="18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类型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0" name="组合 79"/>
            <p:cNvGrpSpPr/>
            <p:nvPr/>
          </p:nvGrpSpPr>
          <p:grpSpPr>
            <a:xfrm>
              <a:off x="176" y="3033"/>
              <a:ext cx="3256" cy="675"/>
              <a:chOff x="2438" y="1845"/>
              <a:chExt cx="3256" cy="675"/>
            </a:xfrm>
          </p:grpSpPr>
          <p:cxnSp>
            <p:nvCxnSpPr>
              <p:cNvPr id="81" name="直接箭头连接符 80"/>
              <p:cNvCxnSpPr>
                <a:stCxn id="5" idx="1"/>
              </p:cNvCxnSpPr>
              <p:nvPr/>
            </p:nvCxnSpPr>
            <p:spPr>
              <a:xfrm flipH="1" flipV="1">
                <a:off x="4508" y="1910"/>
                <a:ext cx="1186" cy="49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82" name="圆角矩形 81"/>
              <p:cNvSpPr/>
              <p:nvPr/>
            </p:nvSpPr>
            <p:spPr>
              <a:xfrm>
                <a:off x="2438" y="1845"/>
                <a:ext cx="2070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适宜的</a:t>
                </a:r>
                <a:r>
                  <a:rPr lang="en-US" altLang="zh-CN">
                    <a:solidFill>
                      <a:schemeClr val="tx1"/>
                    </a:solidFill>
                  </a:rPr>
                  <a:t>PH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176" y="2052"/>
              <a:ext cx="3256" cy="1543"/>
              <a:chOff x="2246" y="2014"/>
              <a:chExt cx="3256" cy="1543"/>
            </a:xfrm>
          </p:grpSpPr>
          <p:cxnSp>
            <p:nvCxnSpPr>
              <p:cNvPr id="84" name="直接箭头连接符 83"/>
              <p:cNvCxnSpPr>
                <a:stCxn id="5" idx="1"/>
              </p:cNvCxnSpPr>
              <p:nvPr/>
            </p:nvCxnSpPr>
            <p:spPr>
              <a:xfrm flipH="1" flipV="1">
                <a:off x="4052" y="2337"/>
                <a:ext cx="1450" cy="122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85" name="圆角矩形 84"/>
              <p:cNvSpPr/>
              <p:nvPr/>
            </p:nvSpPr>
            <p:spPr>
              <a:xfrm>
                <a:off x="2246" y="2014"/>
                <a:ext cx="18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常用名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11" name="组合 110"/>
          <p:cNvGrpSpPr/>
          <p:nvPr/>
        </p:nvGrpSpPr>
        <p:grpSpPr>
          <a:xfrm>
            <a:off x="111760" y="3204845"/>
            <a:ext cx="4016375" cy="2990850"/>
            <a:chOff x="176" y="5047"/>
            <a:chExt cx="6325" cy="4710"/>
          </a:xfrm>
        </p:grpSpPr>
        <p:sp>
          <p:nvSpPr>
            <p:cNvPr id="12" name="矩形 11"/>
            <p:cNvSpPr/>
            <p:nvPr/>
          </p:nvSpPr>
          <p:spPr>
            <a:xfrm>
              <a:off x="4647" y="5047"/>
              <a:ext cx="1854" cy="707"/>
            </a:xfrm>
            <a:prstGeom prst="rect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复育区域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177" y="5401"/>
              <a:ext cx="4470" cy="1028"/>
              <a:chOff x="1139" y="1755"/>
              <a:chExt cx="4470" cy="1028"/>
            </a:xfrm>
          </p:grpSpPr>
          <p:cxnSp>
            <p:nvCxnSpPr>
              <p:cNvPr id="72" name="直接箭头连接符 71"/>
              <p:cNvCxnSpPr>
                <a:stCxn id="12" idx="1"/>
                <a:endCxn id="73" idx="3"/>
              </p:cNvCxnSpPr>
              <p:nvPr/>
            </p:nvCxnSpPr>
            <p:spPr>
              <a:xfrm flipH="1">
                <a:off x="3457" y="1755"/>
                <a:ext cx="2152" cy="69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73" name="圆角矩形 72"/>
              <p:cNvSpPr/>
              <p:nvPr/>
            </p:nvSpPr>
            <p:spPr>
              <a:xfrm>
                <a:off x="1139" y="2108"/>
                <a:ext cx="2318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复育区</a:t>
                </a:r>
                <a:r>
                  <a:rPr lang="zh-CN" altLang="en-US">
                    <a:solidFill>
                      <a:schemeClr val="tx1"/>
                    </a:solidFill>
                  </a:rPr>
                  <a:t>编号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0" name="组合 89"/>
            <p:cNvGrpSpPr/>
            <p:nvPr/>
          </p:nvGrpSpPr>
          <p:grpSpPr>
            <a:xfrm>
              <a:off x="177" y="5401"/>
              <a:ext cx="4470" cy="2664"/>
              <a:chOff x="2246" y="25"/>
              <a:chExt cx="4470" cy="2664"/>
            </a:xfrm>
          </p:grpSpPr>
          <p:cxnSp>
            <p:nvCxnSpPr>
              <p:cNvPr id="91" name="直接箭头连接符 90"/>
              <p:cNvCxnSpPr>
                <a:stCxn id="12" idx="1"/>
                <a:endCxn id="92" idx="3"/>
              </p:cNvCxnSpPr>
              <p:nvPr/>
            </p:nvCxnSpPr>
            <p:spPr>
              <a:xfrm flipH="1">
                <a:off x="4052" y="25"/>
                <a:ext cx="2664" cy="232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2" name="圆角矩形 91"/>
              <p:cNvSpPr/>
              <p:nvPr/>
            </p:nvSpPr>
            <p:spPr>
              <a:xfrm>
                <a:off x="2246" y="2014"/>
                <a:ext cx="18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区域</a:t>
                </a:r>
                <a:r>
                  <a:rPr lang="zh-CN" altLang="en-US">
                    <a:solidFill>
                      <a:schemeClr val="tx1"/>
                    </a:solidFill>
                  </a:rPr>
                  <a:t>名称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176" y="5423"/>
              <a:ext cx="4410" cy="1843"/>
              <a:chOff x="2246" y="846"/>
              <a:chExt cx="4410" cy="1843"/>
            </a:xfrm>
          </p:grpSpPr>
          <p:cxnSp>
            <p:nvCxnSpPr>
              <p:cNvPr id="94" name="直接箭头连接符 93"/>
              <p:cNvCxnSpPr/>
              <p:nvPr/>
            </p:nvCxnSpPr>
            <p:spPr>
              <a:xfrm flipH="1">
                <a:off x="4053" y="846"/>
                <a:ext cx="2603" cy="1485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5" name="圆角矩形 94"/>
              <p:cNvSpPr/>
              <p:nvPr/>
            </p:nvSpPr>
            <p:spPr>
              <a:xfrm>
                <a:off x="2246" y="2014"/>
                <a:ext cx="18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地点</a:t>
                </a:r>
                <a:r>
                  <a:rPr lang="zh-CN" altLang="en-US">
                    <a:solidFill>
                      <a:schemeClr val="tx1"/>
                    </a:solidFill>
                  </a:rPr>
                  <a:t>编号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6" name="组合 95"/>
            <p:cNvGrpSpPr/>
            <p:nvPr/>
          </p:nvGrpSpPr>
          <p:grpSpPr>
            <a:xfrm>
              <a:off x="176" y="5407"/>
              <a:ext cx="4458" cy="4350"/>
              <a:chOff x="2246" y="-1661"/>
              <a:chExt cx="4458" cy="4350"/>
            </a:xfrm>
          </p:grpSpPr>
          <p:cxnSp>
            <p:nvCxnSpPr>
              <p:cNvPr id="97" name="直接箭头连接符 96"/>
              <p:cNvCxnSpPr/>
              <p:nvPr/>
            </p:nvCxnSpPr>
            <p:spPr>
              <a:xfrm flipH="1">
                <a:off x="4053" y="-1661"/>
                <a:ext cx="2651" cy="400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8" name="圆角矩形 97"/>
              <p:cNvSpPr/>
              <p:nvPr/>
            </p:nvSpPr>
            <p:spPr>
              <a:xfrm>
                <a:off x="2246" y="2014"/>
                <a:ext cx="18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负责人</a:t>
                </a:r>
                <a:r>
                  <a:rPr lang="zh-CN" altLang="en-US">
                    <a:solidFill>
                      <a:schemeClr val="tx1"/>
                    </a:solidFill>
                  </a:rPr>
                  <a:t>名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9" name="组合 98"/>
            <p:cNvGrpSpPr/>
            <p:nvPr/>
          </p:nvGrpSpPr>
          <p:grpSpPr>
            <a:xfrm>
              <a:off x="177" y="5423"/>
              <a:ext cx="4472" cy="3459"/>
              <a:chOff x="2246" y="-770"/>
              <a:chExt cx="4472" cy="3459"/>
            </a:xfrm>
          </p:grpSpPr>
          <p:cxnSp>
            <p:nvCxnSpPr>
              <p:cNvPr id="100" name="直接箭头连接符 99"/>
              <p:cNvCxnSpPr/>
              <p:nvPr/>
            </p:nvCxnSpPr>
            <p:spPr>
              <a:xfrm flipH="1">
                <a:off x="4052" y="-770"/>
                <a:ext cx="2666" cy="311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01" name="圆角矩形 100"/>
              <p:cNvSpPr/>
              <p:nvPr/>
            </p:nvSpPr>
            <p:spPr>
              <a:xfrm>
                <a:off x="2246" y="2014"/>
                <a:ext cx="18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建立</a:t>
                </a:r>
                <a:r>
                  <a:rPr lang="zh-CN" altLang="en-US">
                    <a:solidFill>
                      <a:schemeClr val="tx1"/>
                    </a:solidFill>
                  </a:rPr>
                  <a:t>时间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44" name="组合 143"/>
          <p:cNvGrpSpPr/>
          <p:nvPr/>
        </p:nvGrpSpPr>
        <p:grpSpPr>
          <a:xfrm>
            <a:off x="3182620" y="-428625"/>
            <a:ext cx="5376545" cy="1141730"/>
            <a:chOff x="5012" y="-675"/>
            <a:chExt cx="8467" cy="1798"/>
          </a:xfrm>
        </p:grpSpPr>
        <p:sp>
          <p:nvSpPr>
            <p:cNvPr id="15" name="矩形 14"/>
            <p:cNvSpPr/>
            <p:nvPr/>
          </p:nvSpPr>
          <p:spPr>
            <a:xfrm>
              <a:off x="8673" y="417"/>
              <a:ext cx="1854" cy="707"/>
            </a:xfrm>
            <a:prstGeom prst="rect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干预记录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87" name="组合 86"/>
            <p:cNvGrpSpPr/>
            <p:nvPr/>
          </p:nvGrpSpPr>
          <p:grpSpPr>
            <a:xfrm>
              <a:off x="5150" y="417"/>
              <a:ext cx="3523" cy="675"/>
              <a:chOff x="1759" y="2014"/>
              <a:chExt cx="3523" cy="675"/>
            </a:xfrm>
          </p:grpSpPr>
          <p:cxnSp>
            <p:nvCxnSpPr>
              <p:cNvPr id="88" name="直接箭头连接符 87"/>
              <p:cNvCxnSpPr>
                <a:stCxn id="15" idx="1"/>
                <a:endCxn id="89" idx="3"/>
              </p:cNvCxnSpPr>
              <p:nvPr/>
            </p:nvCxnSpPr>
            <p:spPr>
              <a:xfrm flipH="1" flipV="1">
                <a:off x="3565" y="2352"/>
                <a:ext cx="1717" cy="1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89" name="圆角矩形 88"/>
              <p:cNvSpPr/>
              <p:nvPr/>
            </p:nvSpPr>
            <p:spPr>
              <a:xfrm>
                <a:off x="1759" y="2014"/>
                <a:ext cx="18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记录</a:t>
                </a:r>
                <a:r>
                  <a:rPr lang="zh-CN" altLang="en-US">
                    <a:solidFill>
                      <a:schemeClr val="tx1"/>
                    </a:solidFill>
                  </a:rPr>
                  <a:t>编号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2" name="组合 101"/>
            <p:cNvGrpSpPr/>
            <p:nvPr/>
          </p:nvGrpSpPr>
          <p:grpSpPr>
            <a:xfrm>
              <a:off x="10527" y="-523"/>
              <a:ext cx="2953" cy="1294"/>
              <a:chOff x="962" y="1676"/>
              <a:chExt cx="2953" cy="1294"/>
            </a:xfrm>
          </p:grpSpPr>
          <p:cxnSp>
            <p:nvCxnSpPr>
              <p:cNvPr id="103" name="直接箭头连接符 102"/>
              <p:cNvCxnSpPr>
                <a:stCxn id="15" idx="3"/>
                <a:endCxn id="104" idx="2"/>
              </p:cNvCxnSpPr>
              <p:nvPr/>
            </p:nvCxnSpPr>
            <p:spPr>
              <a:xfrm flipV="1">
                <a:off x="962" y="2351"/>
                <a:ext cx="2050" cy="61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04" name="圆角矩形 103"/>
              <p:cNvSpPr/>
              <p:nvPr/>
            </p:nvSpPr>
            <p:spPr>
              <a:xfrm>
                <a:off x="2109" y="1676"/>
                <a:ext cx="18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效果</a:t>
                </a:r>
                <a:r>
                  <a:rPr lang="zh-CN" altLang="en-US">
                    <a:solidFill>
                      <a:schemeClr val="tx1"/>
                    </a:solidFill>
                  </a:rPr>
                  <a:t>描述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5" name="组合 104"/>
            <p:cNvGrpSpPr/>
            <p:nvPr/>
          </p:nvGrpSpPr>
          <p:grpSpPr>
            <a:xfrm>
              <a:off x="5012" y="-523"/>
              <a:ext cx="3661" cy="1294"/>
              <a:chOff x="2246" y="2014"/>
              <a:chExt cx="3661" cy="1294"/>
            </a:xfrm>
          </p:grpSpPr>
          <p:cxnSp>
            <p:nvCxnSpPr>
              <p:cNvPr id="106" name="直接箭头连接符 105"/>
              <p:cNvCxnSpPr>
                <a:stCxn id="15" idx="1"/>
                <a:endCxn id="107" idx="3"/>
              </p:cNvCxnSpPr>
              <p:nvPr/>
            </p:nvCxnSpPr>
            <p:spPr>
              <a:xfrm flipH="1" flipV="1">
                <a:off x="4052" y="2352"/>
                <a:ext cx="1855" cy="95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07" name="圆角矩形 106"/>
              <p:cNvSpPr/>
              <p:nvPr/>
            </p:nvSpPr>
            <p:spPr>
              <a:xfrm>
                <a:off x="2246" y="2014"/>
                <a:ext cx="18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样品</a:t>
                </a:r>
                <a:r>
                  <a:rPr lang="zh-CN" altLang="en-US">
                    <a:solidFill>
                      <a:schemeClr val="tx1"/>
                    </a:solidFill>
                  </a:rPr>
                  <a:t>编号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2" name="组合 111"/>
            <p:cNvGrpSpPr/>
            <p:nvPr/>
          </p:nvGrpSpPr>
          <p:grpSpPr>
            <a:xfrm>
              <a:off x="9567" y="-675"/>
              <a:ext cx="1806" cy="1092"/>
              <a:chOff x="1286" y="2343"/>
              <a:chExt cx="1806" cy="1092"/>
            </a:xfrm>
          </p:grpSpPr>
          <p:cxnSp>
            <p:nvCxnSpPr>
              <p:cNvPr id="113" name="直接箭头连接符 112"/>
              <p:cNvCxnSpPr>
                <a:stCxn id="15" idx="0"/>
                <a:endCxn id="114" idx="2"/>
              </p:cNvCxnSpPr>
              <p:nvPr/>
            </p:nvCxnSpPr>
            <p:spPr>
              <a:xfrm flipV="1">
                <a:off x="1319" y="3018"/>
                <a:ext cx="870" cy="41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14" name="圆角矩形 113"/>
              <p:cNvSpPr/>
              <p:nvPr/>
            </p:nvSpPr>
            <p:spPr>
              <a:xfrm>
                <a:off x="1286" y="2343"/>
                <a:ext cx="18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干预</a:t>
                </a:r>
                <a:r>
                  <a:rPr lang="zh-CN" altLang="en-US">
                    <a:solidFill>
                      <a:schemeClr val="tx1"/>
                    </a:solidFill>
                  </a:rPr>
                  <a:t>时间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5" name="组合 114"/>
            <p:cNvGrpSpPr/>
            <p:nvPr/>
          </p:nvGrpSpPr>
          <p:grpSpPr>
            <a:xfrm>
              <a:off x="7393" y="-675"/>
              <a:ext cx="2207" cy="1092"/>
              <a:chOff x="1878" y="2014"/>
              <a:chExt cx="2207" cy="1092"/>
            </a:xfrm>
          </p:grpSpPr>
          <p:cxnSp>
            <p:nvCxnSpPr>
              <p:cNvPr id="116" name="直接箭头连接符 115"/>
              <p:cNvCxnSpPr>
                <a:stCxn id="15" idx="0"/>
                <a:endCxn id="117" idx="2"/>
              </p:cNvCxnSpPr>
              <p:nvPr/>
            </p:nvCxnSpPr>
            <p:spPr>
              <a:xfrm flipH="1" flipV="1">
                <a:off x="2781" y="2689"/>
                <a:ext cx="1304" cy="41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17" name="圆角矩形 116"/>
              <p:cNvSpPr/>
              <p:nvPr/>
            </p:nvSpPr>
            <p:spPr>
              <a:xfrm>
                <a:off x="1878" y="2014"/>
                <a:ext cx="18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干预</a:t>
                </a:r>
                <a:r>
                  <a:rPr lang="zh-CN" altLang="en-US">
                    <a:solidFill>
                      <a:schemeClr val="tx1"/>
                    </a:solidFill>
                  </a:rPr>
                  <a:t>类型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43" name="组合 142"/>
          <p:cNvGrpSpPr/>
          <p:nvPr/>
        </p:nvGrpSpPr>
        <p:grpSpPr>
          <a:xfrm>
            <a:off x="3413125" y="5767070"/>
            <a:ext cx="5210810" cy="1518920"/>
            <a:chOff x="5375" y="9082"/>
            <a:chExt cx="8206" cy="2392"/>
          </a:xfrm>
        </p:grpSpPr>
        <p:sp>
          <p:nvSpPr>
            <p:cNvPr id="14" name="矩形 13"/>
            <p:cNvSpPr/>
            <p:nvPr/>
          </p:nvSpPr>
          <p:spPr>
            <a:xfrm>
              <a:off x="8673" y="9183"/>
              <a:ext cx="1854" cy="707"/>
            </a:xfrm>
            <a:prstGeom prst="rect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系统用户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118" name="组合 117"/>
            <p:cNvGrpSpPr/>
            <p:nvPr/>
          </p:nvGrpSpPr>
          <p:grpSpPr>
            <a:xfrm>
              <a:off x="5375" y="9082"/>
              <a:ext cx="3298" cy="675"/>
              <a:chOff x="2109" y="1338"/>
              <a:chExt cx="3298" cy="675"/>
            </a:xfrm>
          </p:grpSpPr>
          <p:cxnSp>
            <p:nvCxnSpPr>
              <p:cNvPr id="119" name="直接箭头连接符 118"/>
              <p:cNvCxnSpPr>
                <a:stCxn id="14" idx="1"/>
                <a:endCxn id="120" idx="3"/>
              </p:cNvCxnSpPr>
              <p:nvPr/>
            </p:nvCxnSpPr>
            <p:spPr>
              <a:xfrm flipH="1" flipV="1">
                <a:off x="3915" y="1676"/>
                <a:ext cx="1492" cy="11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0" name="圆角矩形 119"/>
              <p:cNvSpPr/>
              <p:nvPr/>
            </p:nvSpPr>
            <p:spPr>
              <a:xfrm>
                <a:off x="2109" y="1338"/>
                <a:ext cx="18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用户</a:t>
                </a:r>
                <a:r>
                  <a:rPr lang="zh-CN" altLang="en-US">
                    <a:solidFill>
                      <a:schemeClr val="tx1"/>
                    </a:solidFill>
                  </a:rPr>
                  <a:t>名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1" name="组合 120"/>
            <p:cNvGrpSpPr/>
            <p:nvPr/>
          </p:nvGrpSpPr>
          <p:grpSpPr>
            <a:xfrm>
              <a:off x="10527" y="9537"/>
              <a:ext cx="2652" cy="1028"/>
              <a:chOff x="1073" y="1088"/>
              <a:chExt cx="2652" cy="1028"/>
            </a:xfrm>
          </p:grpSpPr>
          <p:cxnSp>
            <p:nvCxnSpPr>
              <p:cNvPr id="122" name="直接箭头连接符 121"/>
              <p:cNvCxnSpPr>
                <a:stCxn id="14" idx="3"/>
                <a:endCxn id="123" idx="1"/>
              </p:cNvCxnSpPr>
              <p:nvPr/>
            </p:nvCxnSpPr>
            <p:spPr>
              <a:xfrm>
                <a:off x="1073" y="1088"/>
                <a:ext cx="846" cy="69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3" name="圆角矩形 122"/>
              <p:cNvSpPr/>
              <p:nvPr/>
            </p:nvSpPr>
            <p:spPr>
              <a:xfrm>
                <a:off x="1919" y="1441"/>
                <a:ext cx="18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角色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4" name="组合 123"/>
            <p:cNvGrpSpPr/>
            <p:nvPr/>
          </p:nvGrpSpPr>
          <p:grpSpPr>
            <a:xfrm>
              <a:off x="10527" y="9082"/>
              <a:ext cx="3054" cy="675"/>
              <a:chOff x="562" y="2551"/>
              <a:chExt cx="3054" cy="675"/>
            </a:xfrm>
          </p:grpSpPr>
          <p:cxnSp>
            <p:nvCxnSpPr>
              <p:cNvPr id="125" name="直接箭头连接符 124"/>
              <p:cNvCxnSpPr>
                <a:stCxn id="14" idx="3"/>
                <a:endCxn id="126" idx="1"/>
              </p:cNvCxnSpPr>
              <p:nvPr/>
            </p:nvCxnSpPr>
            <p:spPr>
              <a:xfrm flipV="1">
                <a:off x="562" y="2889"/>
                <a:ext cx="1248" cy="11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6" name="圆角矩形 125"/>
              <p:cNvSpPr/>
              <p:nvPr/>
            </p:nvSpPr>
            <p:spPr>
              <a:xfrm>
                <a:off x="1810" y="2551"/>
                <a:ext cx="18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用户</a:t>
                </a:r>
                <a:r>
                  <a:rPr lang="zh-CN" altLang="en-US">
                    <a:solidFill>
                      <a:schemeClr val="tx1"/>
                    </a:solidFill>
                  </a:rPr>
                  <a:t>编号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8" name="组合 127"/>
            <p:cNvGrpSpPr/>
            <p:nvPr/>
          </p:nvGrpSpPr>
          <p:grpSpPr>
            <a:xfrm>
              <a:off x="5575" y="9537"/>
              <a:ext cx="3098" cy="1050"/>
              <a:chOff x="2109" y="963"/>
              <a:chExt cx="3098" cy="1050"/>
            </a:xfrm>
          </p:grpSpPr>
          <p:cxnSp>
            <p:nvCxnSpPr>
              <p:cNvPr id="129" name="直接箭头连接符 128"/>
              <p:cNvCxnSpPr>
                <a:stCxn id="14" idx="1"/>
                <a:endCxn id="130" idx="3"/>
              </p:cNvCxnSpPr>
              <p:nvPr/>
            </p:nvCxnSpPr>
            <p:spPr>
              <a:xfrm flipH="1">
                <a:off x="3915" y="963"/>
                <a:ext cx="1292" cy="71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0" name="圆角矩形 129"/>
              <p:cNvSpPr/>
              <p:nvPr/>
            </p:nvSpPr>
            <p:spPr>
              <a:xfrm>
                <a:off x="2109" y="1338"/>
                <a:ext cx="18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加密</a:t>
                </a:r>
                <a:r>
                  <a:rPr lang="zh-CN" altLang="en-US">
                    <a:solidFill>
                      <a:schemeClr val="tx1"/>
                    </a:solidFill>
                  </a:rPr>
                  <a:t>密码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1" name="组合 130"/>
            <p:cNvGrpSpPr/>
            <p:nvPr/>
          </p:nvGrpSpPr>
          <p:grpSpPr>
            <a:xfrm>
              <a:off x="6867" y="9890"/>
              <a:ext cx="2733" cy="1585"/>
              <a:chOff x="2875" y="53"/>
              <a:chExt cx="2733" cy="1585"/>
            </a:xfrm>
          </p:grpSpPr>
          <p:cxnSp>
            <p:nvCxnSpPr>
              <p:cNvPr id="132" name="直接箭头连接符 131"/>
              <p:cNvCxnSpPr>
                <a:stCxn id="14" idx="2"/>
                <a:endCxn id="133" idx="3"/>
              </p:cNvCxnSpPr>
              <p:nvPr/>
            </p:nvCxnSpPr>
            <p:spPr>
              <a:xfrm flipH="1">
                <a:off x="4681" y="53"/>
                <a:ext cx="927" cy="124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3" name="圆角矩形 132"/>
              <p:cNvSpPr/>
              <p:nvPr/>
            </p:nvSpPr>
            <p:spPr>
              <a:xfrm>
                <a:off x="2875" y="963"/>
                <a:ext cx="18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登录</a:t>
                </a:r>
                <a:r>
                  <a:rPr lang="zh-CN" altLang="en-US">
                    <a:solidFill>
                      <a:schemeClr val="tx1"/>
                    </a:solidFill>
                  </a:rPr>
                  <a:t>邮箱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4" name="组合 133"/>
            <p:cNvGrpSpPr/>
            <p:nvPr/>
          </p:nvGrpSpPr>
          <p:grpSpPr>
            <a:xfrm>
              <a:off x="9600" y="9890"/>
              <a:ext cx="2733" cy="1475"/>
              <a:chOff x="-54" y="641"/>
              <a:chExt cx="2733" cy="1475"/>
            </a:xfrm>
          </p:grpSpPr>
          <p:cxnSp>
            <p:nvCxnSpPr>
              <p:cNvPr id="135" name="直接箭头连接符 134"/>
              <p:cNvCxnSpPr>
                <a:stCxn id="14" idx="2"/>
                <a:endCxn id="136" idx="1"/>
              </p:cNvCxnSpPr>
              <p:nvPr/>
            </p:nvCxnSpPr>
            <p:spPr>
              <a:xfrm>
                <a:off x="-54" y="641"/>
                <a:ext cx="927" cy="113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6" name="圆角矩形 135"/>
              <p:cNvSpPr/>
              <p:nvPr/>
            </p:nvSpPr>
            <p:spPr>
              <a:xfrm>
                <a:off x="873" y="1441"/>
                <a:ext cx="18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所属</a:t>
                </a:r>
                <a:r>
                  <a:rPr lang="zh-CN" altLang="en-US">
                    <a:solidFill>
                      <a:schemeClr val="tx1"/>
                    </a:solidFill>
                  </a:rPr>
                  <a:t>站点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57" name="组合 156"/>
          <p:cNvGrpSpPr/>
          <p:nvPr/>
        </p:nvGrpSpPr>
        <p:grpSpPr>
          <a:xfrm>
            <a:off x="8857615" y="96520"/>
            <a:ext cx="3669030" cy="4079875"/>
            <a:chOff x="13949" y="152"/>
            <a:chExt cx="5778" cy="6425"/>
          </a:xfrm>
        </p:grpSpPr>
        <p:sp>
          <p:nvSpPr>
            <p:cNvPr id="13" name="矩形 12"/>
            <p:cNvSpPr/>
            <p:nvPr/>
          </p:nvSpPr>
          <p:spPr>
            <a:xfrm>
              <a:off x="13949" y="3241"/>
              <a:ext cx="2528" cy="707"/>
            </a:xfrm>
            <a:prstGeom prst="rect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健康检测结果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137" name="组合 136"/>
            <p:cNvGrpSpPr/>
            <p:nvPr/>
          </p:nvGrpSpPr>
          <p:grpSpPr>
            <a:xfrm>
              <a:off x="15492" y="152"/>
              <a:ext cx="2668" cy="3443"/>
              <a:chOff x="1605" y="125"/>
              <a:chExt cx="2668" cy="3443"/>
            </a:xfrm>
          </p:grpSpPr>
          <p:cxnSp>
            <p:nvCxnSpPr>
              <p:cNvPr id="138" name="直接箭头连接符 137"/>
              <p:cNvCxnSpPr>
                <a:stCxn id="13" idx="3"/>
                <a:endCxn id="139" idx="2"/>
              </p:cNvCxnSpPr>
              <p:nvPr/>
            </p:nvCxnSpPr>
            <p:spPr>
              <a:xfrm flipV="1">
                <a:off x="2590" y="800"/>
                <a:ext cx="349" cy="276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9" name="圆角矩形 138"/>
              <p:cNvSpPr/>
              <p:nvPr/>
            </p:nvSpPr>
            <p:spPr>
              <a:xfrm>
                <a:off x="1605" y="125"/>
                <a:ext cx="2668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健康检测</a:t>
                </a:r>
                <a:r>
                  <a:rPr lang="zh-CN" altLang="en-US">
                    <a:solidFill>
                      <a:schemeClr val="tx1"/>
                    </a:solidFill>
                  </a:rPr>
                  <a:t>编号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0" name="组合 139"/>
            <p:cNvGrpSpPr/>
            <p:nvPr/>
          </p:nvGrpSpPr>
          <p:grpSpPr>
            <a:xfrm>
              <a:off x="16477" y="1230"/>
              <a:ext cx="2890" cy="2365"/>
              <a:chOff x="1383" y="125"/>
              <a:chExt cx="2890" cy="2365"/>
            </a:xfrm>
          </p:grpSpPr>
          <p:cxnSp>
            <p:nvCxnSpPr>
              <p:cNvPr id="141" name="直接箭头连接符 140"/>
              <p:cNvCxnSpPr>
                <a:stCxn id="13" idx="3"/>
                <a:endCxn id="142" idx="2"/>
              </p:cNvCxnSpPr>
              <p:nvPr/>
            </p:nvCxnSpPr>
            <p:spPr>
              <a:xfrm flipV="1">
                <a:off x="1383" y="800"/>
                <a:ext cx="1724" cy="169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42" name="圆角矩形 141"/>
              <p:cNvSpPr/>
              <p:nvPr/>
            </p:nvSpPr>
            <p:spPr>
              <a:xfrm>
                <a:off x="1940" y="125"/>
                <a:ext cx="2333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样品</a:t>
                </a:r>
                <a:r>
                  <a:rPr lang="zh-CN" altLang="en-US">
                    <a:solidFill>
                      <a:schemeClr val="tx1"/>
                    </a:solidFill>
                  </a:rPr>
                  <a:t>编号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5" name="组合 144"/>
            <p:cNvGrpSpPr/>
            <p:nvPr/>
          </p:nvGrpSpPr>
          <p:grpSpPr>
            <a:xfrm>
              <a:off x="16477" y="2631"/>
              <a:ext cx="3250" cy="964"/>
              <a:chOff x="896" y="125"/>
              <a:chExt cx="3250" cy="964"/>
            </a:xfrm>
          </p:grpSpPr>
          <p:cxnSp>
            <p:nvCxnSpPr>
              <p:cNvPr id="146" name="直接箭头连接符 145"/>
              <p:cNvCxnSpPr>
                <a:stCxn id="13" idx="3"/>
                <a:endCxn id="147" idx="2"/>
              </p:cNvCxnSpPr>
              <p:nvPr/>
            </p:nvCxnSpPr>
            <p:spPr>
              <a:xfrm flipV="1">
                <a:off x="896" y="800"/>
                <a:ext cx="2147" cy="28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47" name="圆角矩形 146"/>
              <p:cNvSpPr/>
              <p:nvPr/>
            </p:nvSpPr>
            <p:spPr>
              <a:xfrm>
                <a:off x="1940" y="125"/>
                <a:ext cx="22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检测</a:t>
                </a:r>
                <a:r>
                  <a:rPr lang="zh-CN" altLang="en-US">
                    <a:solidFill>
                      <a:schemeClr val="tx1"/>
                    </a:solidFill>
                  </a:rPr>
                  <a:t>时间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8" name="组合 147"/>
            <p:cNvGrpSpPr/>
            <p:nvPr/>
          </p:nvGrpSpPr>
          <p:grpSpPr>
            <a:xfrm>
              <a:off x="16477" y="3595"/>
              <a:ext cx="3250" cy="747"/>
              <a:chOff x="696" y="889"/>
              <a:chExt cx="3250" cy="747"/>
            </a:xfrm>
          </p:grpSpPr>
          <p:cxnSp>
            <p:nvCxnSpPr>
              <p:cNvPr id="149" name="直接箭头连接符 148"/>
              <p:cNvCxnSpPr>
                <a:stCxn id="13" idx="3"/>
                <a:endCxn id="150" idx="1"/>
              </p:cNvCxnSpPr>
              <p:nvPr/>
            </p:nvCxnSpPr>
            <p:spPr>
              <a:xfrm>
                <a:off x="696" y="889"/>
                <a:ext cx="710" cy="41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50" name="圆角矩形 149"/>
              <p:cNvSpPr/>
              <p:nvPr/>
            </p:nvSpPr>
            <p:spPr>
              <a:xfrm>
                <a:off x="1406" y="961"/>
                <a:ext cx="2540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检测人员</a:t>
                </a:r>
                <a:r>
                  <a:rPr lang="zh-CN" altLang="en-US">
                    <a:solidFill>
                      <a:schemeClr val="tx1"/>
                    </a:solidFill>
                  </a:rPr>
                  <a:t>姓名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1" name="组合 150"/>
            <p:cNvGrpSpPr/>
            <p:nvPr/>
          </p:nvGrpSpPr>
          <p:grpSpPr>
            <a:xfrm>
              <a:off x="16477" y="3595"/>
              <a:ext cx="2890" cy="1907"/>
              <a:chOff x="696" y="-1005"/>
              <a:chExt cx="2890" cy="1907"/>
            </a:xfrm>
          </p:grpSpPr>
          <p:cxnSp>
            <p:nvCxnSpPr>
              <p:cNvPr id="152" name="直接箭头连接符 151"/>
              <p:cNvCxnSpPr>
                <a:stCxn id="13" idx="3"/>
                <a:endCxn id="153" idx="1"/>
              </p:cNvCxnSpPr>
              <p:nvPr/>
            </p:nvCxnSpPr>
            <p:spPr>
              <a:xfrm>
                <a:off x="696" y="-1005"/>
                <a:ext cx="684" cy="157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53" name="圆角矩形 152"/>
              <p:cNvSpPr/>
              <p:nvPr/>
            </p:nvSpPr>
            <p:spPr>
              <a:xfrm>
                <a:off x="1380" y="227"/>
                <a:ext cx="22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白化</a:t>
                </a:r>
                <a:r>
                  <a:rPr lang="zh-CN" altLang="en-US">
                    <a:solidFill>
                      <a:schemeClr val="tx1"/>
                    </a:solidFill>
                  </a:rPr>
                  <a:t>评分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4" name="组合 153"/>
            <p:cNvGrpSpPr/>
            <p:nvPr/>
          </p:nvGrpSpPr>
          <p:grpSpPr>
            <a:xfrm>
              <a:off x="16477" y="3595"/>
              <a:ext cx="2916" cy="2982"/>
              <a:chOff x="696" y="-3670"/>
              <a:chExt cx="2916" cy="2982"/>
            </a:xfrm>
          </p:grpSpPr>
          <p:cxnSp>
            <p:nvCxnSpPr>
              <p:cNvPr id="155" name="直接箭头连接符 154"/>
              <p:cNvCxnSpPr>
                <a:stCxn id="13" idx="3"/>
                <a:endCxn id="156" idx="1"/>
              </p:cNvCxnSpPr>
              <p:nvPr/>
            </p:nvCxnSpPr>
            <p:spPr>
              <a:xfrm>
                <a:off x="696" y="-3670"/>
                <a:ext cx="710" cy="2645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56" name="圆角矩形 155"/>
              <p:cNvSpPr/>
              <p:nvPr/>
            </p:nvSpPr>
            <p:spPr>
              <a:xfrm>
                <a:off x="1406" y="-1363"/>
                <a:ext cx="22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疾病</a:t>
                </a:r>
                <a:r>
                  <a:rPr lang="zh-CN" altLang="en-US">
                    <a:solidFill>
                      <a:schemeClr val="tx1"/>
                    </a:solidFill>
                  </a:rPr>
                  <a:t>现象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79" name="组合 178"/>
          <p:cNvGrpSpPr/>
          <p:nvPr/>
        </p:nvGrpSpPr>
        <p:grpSpPr>
          <a:xfrm>
            <a:off x="8497570" y="3945890"/>
            <a:ext cx="3719830" cy="3126105"/>
            <a:chOff x="13382" y="6214"/>
            <a:chExt cx="5858" cy="4923"/>
          </a:xfrm>
        </p:grpSpPr>
        <p:sp>
          <p:nvSpPr>
            <p:cNvPr id="8" name="矩形 7"/>
            <p:cNvSpPr/>
            <p:nvPr/>
          </p:nvSpPr>
          <p:spPr>
            <a:xfrm>
              <a:off x="13920" y="6214"/>
              <a:ext cx="2528" cy="707"/>
            </a:xfrm>
            <a:prstGeom prst="rect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水质监测记录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160" name="组合 159"/>
            <p:cNvGrpSpPr/>
            <p:nvPr/>
          </p:nvGrpSpPr>
          <p:grpSpPr>
            <a:xfrm>
              <a:off x="16448" y="6568"/>
              <a:ext cx="2792" cy="896"/>
              <a:chOff x="16448" y="6568"/>
              <a:chExt cx="2792" cy="896"/>
            </a:xfrm>
          </p:grpSpPr>
          <p:cxnSp>
            <p:nvCxnSpPr>
              <p:cNvPr id="158" name="直接箭头连接符 157"/>
              <p:cNvCxnSpPr>
                <a:stCxn id="8" idx="3"/>
                <a:endCxn id="159" idx="1"/>
              </p:cNvCxnSpPr>
              <p:nvPr/>
            </p:nvCxnSpPr>
            <p:spPr>
              <a:xfrm>
                <a:off x="16448" y="6568"/>
                <a:ext cx="586" cy="56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59" name="圆角矩形 158"/>
              <p:cNvSpPr/>
              <p:nvPr/>
            </p:nvSpPr>
            <p:spPr>
              <a:xfrm>
                <a:off x="17034" y="6790"/>
                <a:ext cx="22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检测</a:t>
                </a:r>
                <a:r>
                  <a:rPr lang="zh-CN" altLang="en-US">
                    <a:solidFill>
                      <a:schemeClr val="tx1"/>
                    </a:solidFill>
                  </a:rPr>
                  <a:t>编号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1" name="组合 160"/>
            <p:cNvGrpSpPr/>
            <p:nvPr/>
          </p:nvGrpSpPr>
          <p:grpSpPr>
            <a:xfrm>
              <a:off x="16448" y="6568"/>
              <a:ext cx="2792" cy="1839"/>
              <a:chOff x="16070" y="4729"/>
              <a:chExt cx="2792" cy="1839"/>
            </a:xfrm>
          </p:grpSpPr>
          <p:cxnSp>
            <p:nvCxnSpPr>
              <p:cNvPr id="162" name="直接箭头连接符 161"/>
              <p:cNvCxnSpPr>
                <a:stCxn id="8" idx="3"/>
                <a:endCxn id="163" idx="1"/>
              </p:cNvCxnSpPr>
              <p:nvPr/>
            </p:nvCxnSpPr>
            <p:spPr>
              <a:xfrm>
                <a:off x="16070" y="4729"/>
                <a:ext cx="586" cy="150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63" name="圆角矩形 162"/>
              <p:cNvSpPr/>
              <p:nvPr/>
            </p:nvSpPr>
            <p:spPr>
              <a:xfrm>
                <a:off x="16656" y="5893"/>
                <a:ext cx="22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地区</a:t>
                </a:r>
                <a:r>
                  <a:rPr lang="zh-CN" altLang="en-US">
                    <a:solidFill>
                      <a:schemeClr val="tx1"/>
                    </a:solidFill>
                  </a:rPr>
                  <a:t>编号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4" name="组合 163"/>
            <p:cNvGrpSpPr/>
            <p:nvPr/>
          </p:nvGrpSpPr>
          <p:grpSpPr>
            <a:xfrm>
              <a:off x="15184" y="6921"/>
              <a:ext cx="2976" cy="3330"/>
              <a:chOff x="16264" y="4135"/>
              <a:chExt cx="2976" cy="3330"/>
            </a:xfrm>
          </p:grpSpPr>
          <p:cxnSp>
            <p:nvCxnSpPr>
              <p:cNvPr id="165" name="直接箭头连接符 164"/>
              <p:cNvCxnSpPr>
                <a:stCxn id="8" idx="2"/>
                <a:endCxn id="166" idx="1"/>
              </p:cNvCxnSpPr>
              <p:nvPr/>
            </p:nvCxnSpPr>
            <p:spPr>
              <a:xfrm>
                <a:off x="16264" y="4135"/>
                <a:ext cx="770" cy="299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66" name="圆角矩形 165"/>
              <p:cNvSpPr/>
              <p:nvPr/>
            </p:nvSpPr>
            <p:spPr>
              <a:xfrm>
                <a:off x="17034" y="6790"/>
                <a:ext cx="22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水温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7" name="组合 166"/>
            <p:cNvGrpSpPr/>
            <p:nvPr/>
          </p:nvGrpSpPr>
          <p:grpSpPr>
            <a:xfrm>
              <a:off x="16448" y="6568"/>
              <a:ext cx="2792" cy="2843"/>
              <a:chOff x="16448" y="4622"/>
              <a:chExt cx="2792" cy="2843"/>
            </a:xfrm>
          </p:grpSpPr>
          <p:cxnSp>
            <p:nvCxnSpPr>
              <p:cNvPr id="168" name="直接箭头连接符 167"/>
              <p:cNvCxnSpPr>
                <a:stCxn id="8" idx="3"/>
                <a:endCxn id="169" idx="1"/>
              </p:cNvCxnSpPr>
              <p:nvPr/>
            </p:nvCxnSpPr>
            <p:spPr>
              <a:xfrm>
                <a:off x="16448" y="4622"/>
                <a:ext cx="586" cy="250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69" name="圆角矩形 168"/>
              <p:cNvSpPr/>
              <p:nvPr/>
            </p:nvSpPr>
            <p:spPr>
              <a:xfrm>
                <a:off x="17034" y="6790"/>
                <a:ext cx="22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检测</a:t>
                </a:r>
                <a:r>
                  <a:rPr lang="zh-CN" altLang="en-US">
                    <a:solidFill>
                      <a:schemeClr val="tx1"/>
                    </a:solidFill>
                  </a:rPr>
                  <a:t>时间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73" name="组合 172"/>
            <p:cNvGrpSpPr/>
            <p:nvPr/>
          </p:nvGrpSpPr>
          <p:grpSpPr>
            <a:xfrm>
              <a:off x="15184" y="6921"/>
              <a:ext cx="2751" cy="4217"/>
              <a:chOff x="18269" y="3248"/>
              <a:chExt cx="2751" cy="4217"/>
            </a:xfrm>
          </p:grpSpPr>
          <p:cxnSp>
            <p:nvCxnSpPr>
              <p:cNvPr id="174" name="直接箭头连接符 173"/>
              <p:cNvCxnSpPr>
                <a:stCxn id="8" idx="2"/>
                <a:endCxn id="175" idx="1"/>
              </p:cNvCxnSpPr>
              <p:nvPr/>
            </p:nvCxnSpPr>
            <p:spPr>
              <a:xfrm>
                <a:off x="18269" y="3248"/>
                <a:ext cx="545" cy="388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75" name="圆角矩形 174"/>
              <p:cNvSpPr/>
              <p:nvPr/>
            </p:nvSpPr>
            <p:spPr>
              <a:xfrm>
                <a:off x="18814" y="6790"/>
                <a:ext cx="22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PH</a:t>
                </a:r>
                <a:r>
                  <a:rPr lang="zh-CN" altLang="en-US">
                    <a:solidFill>
                      <a:schemeClr val="tx1"/>
                    </a:solidFill>
                  </a:rPr>
                  <a:t>值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76" name="组合 175"/>
            <p:cNvGrpSpPr/>
            <p:nvPr/>
          </p:nvGrpSpPr>
          <p:grpSpPr>
            <a:xfrm>
              <a:off x="13382" y="6921"/>
              <a:ext cx="2206" cy="3769"/>
              <a:chOff x="17130" y="3328"/>
              <a:chExt cx="2206" cy="3769"/>
            </a:xfrm>
          </p:grpSpPr>
          <p:cxnSp>
            <p:nvCxnSpPr>
              <p:cNvPr id="177" name="直接箭头连接符 176"/>
              <p:cNvCxnSpPr>
                <a:stCxn id="8" idx="2"/>
                <a:endCxn id="178" idx="0"/>
              </p:cNvCxnSpPr>
              <p:nvPr/>
            </p:nvCxnSpPr>
            <p:spPr>
              <a:xfrm flipH="1">
                <a:off x="18233" y="3328"/>
                <a:ext cx="699" cy="309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78" name="圆角矩形 177"/>
              <p:cNvSpPr/>
              <p:nvPr/>
            </p:nvSpPr>
            <p:spPr>
              <a:xfrm>
                <a:off x="17130" y="6422"/>
                <a:ext cx="22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盐</a:t>
                </a:r>
                <a:r>
                  <a:rPr lang="zh-CN" altLang="en-US">
                    <a:solidFill>
                      <a:schemeClr val="tx1"/>
                    </a:solidFill>
                  </a:rPr>
                  <a:t>度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98" name="组合 197"/>
          <p:cNvGrpSpPr/>
          <p:nvPr/>
        </p:nvGrpSpPr>
        <p:grpSpPr>
          <a:xfrm>
            <a:off x="2494280" y="445770"/>
            <a:ext cx="7550150" cy="2834005"/>
            <a:chOff x="3897" y="702"/>
            <a:chExt cx="11890" cy="4463"/>
          </a:xfrm>
        </p:grpSpPr>
        <p:sp>
          <p:nvSpPr>
            <p:cNvPr id="9" name="矩形 8"/>
            <p:cNvSpPr/>
            <p:nvPr/>
          </p:nvSpPr>
          <p:spPr>
            <a:xfrm>
              <a:off x="8673" y="3241"/>
              <a:ext cx="1854" cy="707"/>
            </a:xfrm>
            <a:prstGeom prst="rect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珊瑚</a:t>
              </a:r>
              <a:r>
                <a:rPr lang="zh-CN" altLang="en-US">
                  <a:solidFill>
                    <a:schemeClr val="tx1"/>
                  </a:solidFill>
                </a:rPr>
                <a:t>样本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170" name="组合 169"/>
            <p:cNvGrpSpPr/>
            <p:nvPr/>
          </p:nvGrpSpPr>
          <p:grpSpPr>
            <a:xfrm>
              <a:off x="10527" y="702"/>
              <a:ext cx="3958" cy="2893"/>
              <a:chOff x="15378" y="6262"/>
              <a:chExt cx="3958" cy="2893"/>
            </a:xfrm>
          </p:grpSpPr>
          <p:cxnSp>
            <p:nvCxnSpPr>
              <p:cNvPr id="171" name="直接箭头连接符 170"/>
              <p:cNvCxnSpPr>
                <a:stCxn id="9" idx="3"/>
                <a:endCxn id="172" idx="1"/>
              </p:cNvCxnSpPr>
              <p:nvPr/>
            </p:nvCxnSpPr>
            <p:spPr>
              <a:xfrm flipV="1">
                <a:off x="15378" y="6600"/>
                <a:ext cx="1752" cy="2555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72" name="圆角矩形 171"/>
              <p:cNvSpPr/>
              <p:nvPr/>
            </p:nvSpPr>
            <p:spPr>
              <a:xfrm>
                <a:off x="17130" y="6262"/>
                <a:ext cx="22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采样</a:t>
                </a:r>
                <a:r>
                  <a:rPr lang="zh-CN" altLang="en-US">
                    <a:solidFill>
                      <a:schemeClr val="tx1"/>
                    </a:solidFill>
                  </a:rPr>
                  <a:t>点位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80" name="组合 179"/>
            <p:cNvGrpSpPr/>
            <p:nvPr/>
          </p:nvGrpSpPr>
          <p:grpSpPr>
            <a:xfrm>
              <a:off x="4143" y="2160"/>
              <a:ext cx="4561" cy="1451"/>
              <a:chOff x="7420" y="7192"/>
              <a:chExt cx="4561" cy="1451"/>
            </a:xfrm>
          </p:grpSpPr>
          <p:cxnSp>
            <p:nvCxnSpPr>
              <p:cNvPr id="181" name="直接箭头连接符 180"/>
              <p:cNvCxnSpPr>
                <a:endCxn id="182" idx="3"/>
              </p:cNvCxnSpPr>
              <p:nvPr/>
            </p:nvCxnSpPr>
            <p:spPr>
              <a:xfrm flipH="1" flipV="1">
                <a:off x="9626" y="7530"/>
                <a:ext cx="2355" cy="111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82" name="圆角矩形 181"/>
              <p:cNvSpPr/>
              <p:nvPr/>
            </p:nvSpPr>
            <p:spPr>
              <a:xfrm>
                <a:off x="7420" y="7192"/>
                <a:ext cx="22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种类</a:t>
                </a:r>
                <a:r>
                  <a:rPr lang="zh-CN" altLang="en-US">
                    <a:solidFill>
                      <a:schemeClr val="tx1"/>
                    </a:solidFill>
                  </a:rPr>
                  <a:t>编号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83" name="组合 182"/>
            <p:cNvGrpSpPr/>
            <p:nvPr/>
          </p:nvGrpSpPr>
          <p:grpSpPr>
            <a:xfrm>
              <a:off x="5375" y="1377"/>
              <a:ext cx="3298" cy="2218"/>
              <a:chOff x="15254" y="7074"/>
              <a:chExt cx="3298" cy="2218"/>
            </a:xfrm>
          </p:grpSpPr>
          <p:cxnSp>
            <p:nvCxnSpPr>
              <p:cNvPr id="184" name="直接箭头连接符 183"/>
              <p:cNvCxnSpPr>
                <a:stCxn id="9" idx="1"/>
                <a:endCxn id="185" idx="2"/>
              </p:cNvCxnSpPr>
              <p:nvPr/>
            </p:nvCxnSpPr>
            <p:spPr>
              <a:xfrm flipH="1" flipV="1">
                <a:off x="16357" y="7749"/>
                <a:ext cx="2195" cy="154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85" name="圆角矩形 184"/>
              <p:cNvSpPr/>
              <p:nvPr/>
            </p:nvSpPr>
            <p:spPr>
              <a:xfrm>
                <a:off x="15254" y="7074"/>
                <a:ext cx="22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样本</a:t>
                </a:r>
                <a:r>
                  <a:rPr lang="zh-CN" altLang="en-US">
                    <a:solidFill>
                      <a:schemeClr val="tx1"/>
                    </a:solidFill>
                  </a:rPr>
                  <a:t>编号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89" name="组合 188"/>
            <p:cNvGrpSpPr/>
            <p:nvPr/>
          </p:nvGrpSpPr>
          <p:grpSpPr>
            <a:xfrm>
              <a:off x="10527" y="1915"/>
              <a:ext cx="4369" cy="1680"/>
              <a:chOff x="14679" y="6600"/>
              <a:chExt cx="4369" cy="1680"/>
            </a:xfrm>
          </p:grpSpPr>
          <p:cxnSp>
            <p:nvCxnSpPr>
              <p:cNvPr id="190" name="直接箭头连接符 189"/>
              <p:cNvCxnSpPr>
                <a:stCxn id="9" idx="3"/>
                <a:endCxn id="191" idx="1"/>
              </p:cNvCxnSpPr>
              <p:nvPr/>
            </p:nvCxnSpPr>
            <p:spPr>
              <a:xfrm flipV="1">
                <a:off x="14679" y="6938"/>
                <a:ext cx="2163" cy="134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91" name="圆角矩形 190"/>
              <p:cNvSpPr/>
              <p:nvPr/>
            </p:nvSpPr>
            <p:spPr>
              <a:xfrm>
                <a:off x="16842" y="6600"/>
                <a:ext cx="22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体积</a:t>
                </a:r>
                <a:r>
                  <a:rPr lang="zh-CN" altLang="en-US">
                    <a:solidFill>
                      <a:schemeClr val="tx1"/>
                    </a:solidFill>
                  </a:rPr>
                  <a:t>估计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2" name="组合 191"/>
            <p:cNvGrpSpPr/>
            <p:nvPr/>
          </p:nvGrpSpPr>
          <p:grpSpPr>
            <a:xfrm>
              <a:off x="3897" y="3595"/>
              <a:ext cx="4776" cy="1233"/>
              <a:chOff x="16842" y="6042"/>
              <a:chExt cx="4776" cy="1233"/>
            </a:xfrm>
          </p:grpSpPr>
          <p:cxnSp>
            <p:nvCxnSpPr>
              <p:cNvPr id="193" name="直接箭头连接符 192"/>
              <p:cNvCxnSpPr>
                <a:stCxn id="9" idx="1"/>
                <a:endCxn id="194" idx="3"/>
              </p:cNvCxnSpPr>
              <p:nvPr/>
            </p:nvCxnSpPr>
            <p:spPr>
              <a:xfrm flipH="1">
                <a:off x="19048" y="6042"/>
                <a:ext cx="2570" cy="89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94" name="圆角矩形 193"/>
              <p:cNvSpPr/>
              <p:nvPr/>
            </p:nvSpPr>
            <p:spPr>
              <a:xfrm>
                <a:off x="16842" y="6600"/>
                <a:ext cx="22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采样</a:t>
                </a:r>
                <a:r>
                  <a:rPr lang="zh-CN" altLang="en-US">
                    <a:solidFill>
                      <a:schemeClr val="tx1"/>
                    </a:solidFill>
                  </a:rPr>
                  <a:t>时间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5" name="组合 194"/>
            <p:cNvGrpSpPr/>
            <p:nvPr/>
          </p:nvGrpSpPr>
          <p:grpSpPr>
            <a:xfrm>
              <a:off x="10527" y="3595"/>
              <a:ext cx="5260" cy="1570"/>
              <a:chOff x="13846" y="5646"/>
              <a:chExt cx="5260" cy="1570"/>
            </a:xfrm>
          </p:grpSpPr>
          <p:cxnSp>
            <p:nvCxnSpPr>
              <p:cNvPr id="196" name="直接箭头连接符 195"/>
              <p:cNvCxnSpPr>
                <a:stCxn id="9" idx="3"/>
                <a:endCxn id="197" idx="1"/>
              </p:cNvCxnSpPr>
              <p:nvPr/>
            </p:nvCxnSpPr>
            <p:spPr>
              <a:xfrm>
                <a:off x="13846" y="5646"/>
                <a:ext cx="3054" cy="123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97" name="圆角矩形 196"/>
              <p:cNvSpPr/>
              <p:nvPr/>
            </p:nvSpPr>
            <p:spPr>
              <a:xfrm>
                <a:off x="16900" y="6541"/>
                <a:ext cx="22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白化</a:t>
                </a:r>
                <a:r>
                  <a:rPr lang="zh-CN" altLang="en-US">
                    <a:solidFill>
                      <a:schemeClr val="tx1"/>
                    </a:solidFill>
                  </a:rPr>
                  <a:t>程度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19" name="组合 218"/>
          <p:cNvGrpSpPr/>
          <p:nvPr/>
        </p:nvGrpSpPr>
        <p:grpSpPr>
          <a:xfrm>
            <a:off x="2562225" y="3937635"/>
            <a:ext cx="6670040" cy="1678940"/>
            <a:chOff x="4035" y="6201"/>
            <a:chExt cx="10504" cy="2644"/>
          </a:xfrm>
        </p:grpSpPr>
        <p:sp>
          <p:nvSpPr>
            <p:cNvPr id="10" name="矩形 9"/>
            <p:cNvSpPr/>
            <p:nvPr/>
          </p:nvSpPr>
          <p:spPr>
            <a:xfrm>
              <a:off x="8673" y="6201"/>
              <a:ext cx="1854" cy="707"/>
            </a:xfrm>
            <a:prstGeom prst="rect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检测</a:t>
              </a:r>
              <a:r>
                <a:rPr lang="zh-CN" altLang="en-US">
                  <a:solidFill>
                    <a:schemeClr val="tx1"/>
                  </a:solidFill>
                </a:rPr>
                <a:t>站点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186" name="组合 185"/>
            <p:cNvGrpSpPr/>
            <p:nvPr/>
          </p:nvGrpSpPr>
          <p:grpSpPr>
            <a:xfrm>
              <a:off x="4035" y="6555"/>
              <a:ext cx="4638" cy="836"/>
              <a:chOff x="16113" y="6702"/>
              <a:chExt cx="4638" cy="836"/>
            </a:xfrm>
          </p:grpSpPr>
          <p:cxnSp>
            <p:nvCxnSpPr>
              <p:cNvPr id="187" name="直接箭头连接符 186"/>
              <p:cNvCxnSpPr>
                <a:stCxn id="10" idx="1"/>
                <a:endCxn id="188" idx="3"/>
              </p:cNvCxnSpPr>
              <p:nvPr/>
            </p:nvCxnSpPr>
            <p:spPr>
              <a:xfrm flipH="1">
                <a:off x="18458" y="6702"/>
                <a:ext cx="2293" cy="53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88" name="圆角矩形 187"/>
              <p:cNvSpPr/>
              <p:nvPr/>
            </p:nvSpPr>
            <p:spPr>
              <a:xfrm>
                <a:off x="16113" y="6937"/>
                <a:ext cx="2345" cy="601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站点</a:t>
                </a:r>
                <a:r>
                  <a:rPr lang="zh-CN" altLang="en-US">
                    <a:solidFill>
                      <a:schemeClr val="tx1"/>
                    </a:solidFill>
                  </a:rPr>
                  <a:t>编号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9" name="组合 208"/>
            <p:cNvGrpSpPr/>
            <p:nvPr/>
          </p:nvGrpSpPr>
          <p:grpSpPr>
            <a:xfrm>
              <a:off x="10527" y="6555"/>
              <a:ext cx="4012" cy="1386"/>
              <a:chOff x="10571" y="3084"/>
              <a:chExt cx="4012" cy="1386"/>
            </a:xfrm>
          </p:grpSpPr>
          <p:cxnSp>
            <p:nvCxnSpPr>
              <p:cNvPr id="207" name="直接箭头连接符 206"/>
              <p:cNvCxnSpPr>
                <a:stCxn id="10" idx="3"/>
                <a:endCxn id="208" idx="1"/>
              </p:cNvCxnSpPr>
              <p:nvPr/>
            </p:nvCxnSpPr>
            <p:spPr>
              <a:xfrm>
                <a:off x="10571" y="3084"/>
                <a:ext cx="1806" cy="104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08" name="圆角矩形 207"/>
              <p:cNvSpPr/>
              <p:nvPr/>
            </p:nvSpPr>
            <p:spPr>
              <a:xfrm>
                <a:off x="12377" y="3795"/>
                <a:ext cx="22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经纬度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10" name="组合 209"/>
            <p:cNvGrpSpPr/>
            <p:nvPr/>
          </p:nvGrpSpPr>
          <p:grpSpPr>
            <a:xfrm>
              <a:off x="4932" y="6555"/>
              <a:ext cx="3741" cy="1672"/>
              <a:chOff x="17118" y="5866"/>
              <a:chExt cx="3741" cy="1672"/>
            </a:xfrm>
          </p:grpSpPr>
          <p:cxnSp>
            <p:nvCxnSpPr>
              <p:cNvPr id="211" name="直接箭头连接符 210"/>
              <p:cNvCxnSpPr>
                <a:stCxn id="10" idx="1"/>
                <a:endCxn id="212" idx="3"/>
              </p:cNvCxnSpPr>
              <p:nvPr/>
            </p:nvCxnSpPr>
            <p:spPr>
              <a:xfrm flipH="1">
                <a:off x="19463" y="5866"/>
                <a:ext cx="1396" cy="137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12" name="圆角矩形 211"/>
              <p:cNvSpPr/>
              <p:nvPr/>
            </p:nvSpPr>
            <p:spPr>
              <a:xfrm>
                <a:off x="17118" y="6937"/>
                <a:ext cx="2345" cy="601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站点</a:t>
                </a:r>
                <a:r>
                  <a:rPr lang="zh-CN" altLang="en-US">
                    <a:solidFill>
                      <a:schemeClr val="tx1"/>
                    </a:solidFill>
                  </a:rPr>
                  <a:t>名称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16" name="组合 215"/>
            <p:cNvGrpSpPr/>
            <p:nvPr/>
          </p:nvGrpSpPr>
          <p:grpSpPr>
            <a:xfrm>
              <a:off x="10527" y="6555"/>
              <a:ext cx="3567" cy="2291"/>
              <a:chOff x="10371" y="2374"/>
              <a:chExt cx="3567" cy="2291"/>
            </a:xfrm>
          </p:grpSpPr>
          <p:cxnSp>
            <p:nvCxnSpPr>
              <p:cNvPr id="217" name="直接箭头连接符 216"/>
              <p:cNvCxnSpPr>
                <a:stCxn id="10" idx="3"/>
                <a:endCxn id="218" idx="1"/>
              </p:cNvCxnSpPr>
              <p:nvPr/>
            </p:nvCxnSpPr>
            <p:spPr>
              <a:xfrm>
                <a:off x="10371" y="2374"/>
                <a:ext cx="1361" cy="195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18" name="圆角矩形 217"/>
              <p:cNvSpPr/>
              <p:nvPr/>
            </p:nvSpPr>
            <p:spPr>
              <a:xfrm>
                <a:off x="11732" y="3990"/>
                <a:ext cx="2206" cy="67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tx1"/>
                    </a:solidFill>
                  </a:rPr>
                  <a:t>深度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</Words>
  <Application>WPS 演示</Application>
  <PresentationFormat>宽屏</PresentationFormat>
  <Paragraphs>118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SC</vt:lpstr>
      <vt:lpstr>Noto Sans SC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寅时请叫醒我.</cp:lastModifiedBy>
  <cp:revision>155</cp:revision>
  <dcterms:created xsi:type="dcterms:W3CDTF">2019-06-19T02:08:00Z</dcterms:created>
  <dcterms:modified xsi:type="dcterms:W3CDTF">2025-05-17T15:50:17Z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6992EC2E5F5A478D855D764CC36DAE58_11</vt:lpwstr>
  </property>
</Properties>
</file>