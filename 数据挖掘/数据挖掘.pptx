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657" r:id="rId3"/>
    <p:sldId id="348" r:id="rId5"/>
    <p:sldId id="347" r:id="rId6"/>
    <p:sldId id="5144" r:id="rId7"/>
    <p:sldId id="5150" r:id="rId8"/>
    <p:sldId id="5151" r:id="rId9"/>
    <p:sldId id="5145" r:id="rId10"/>
    <p:sldId id="5170" r:id="rId11"/>
    <p:sldId id="5154" r:id="rId12"/>
    <p:sldId id="5169" r:id="rId13"/>
    <p:sldId id="5152" r:id="rId14"/>
    <p:sldId id="5164" r:id="rId15"/>
    <p:sldId id="5165" r:id="rId16"/>
    <p:sldId id="5166" r:id="rId17"/>
    <p:sldId id="5167" r:id="rId18"/>
    <p:sldId id="5159" r:id="rId19"/>
    <p:sldId id="5161" r:id="rId20"/>
    <p:sldId id="5160" r:id="rId21"/>
    <p:sldId id="5153" r:id="rId22"/>
    <p:sldId id="5162" r:id="rId23"/>
    <p:sldId id="5163" r:id="rId24"/>
    <p:sldId id="5157" r:id="rId25"/>
    <p:sldId id="5146" r:id="rId26"/>
    <p:sldId id="5168" r:id="rId27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1pPr>
    <a:lvl2pPr marL="4559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2pPr>
    <a:lvl3pPr marL="9131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3pPr>
    <a:lvl4pPr marL="13703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4pPr>
    <a:lvl5pPr marL="18275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657"/>
            <p14:sldId id="348"/>
            <p14:sldId id="347"/>
            <p14:sldId id="5144"/>
            <p14:sldId id="5150"/>
            <p14:sldId id="5151"/>
            <p14:sldId id="5145"/>
            <p14:sldId id="5170"/>
            <p14:sldId id="5154"/>
            <p14:sldId id="5169"/>
            <p14:sldId id="5152"/>
            <p14:sldId id="5164"/>
            <p14:sldId id="5165"/>
            <p14:sldId id="5166"/>
            <p14:sldId id="5167"/>
            <p14:sldId id="5159"/>
            <p14:sldId id="5161"/>
            <p14:sldId id="5160"/>
            <p14:sldId id="5153"/>
            <p14:sldId id="5162"/>
            <p14:sldId id="5163"/>
            <p14:sldId id="5157"/>
            <p14:sldId id="5146"/>
            <p14:sldId id="51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319" userDrawn="1">
          <p15:clr>
            <a:srgbClr val="A4A3A4"/>
          </p15:clr>
        </p15:guide>
        <p15:guide id="4" pos="5228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5208" autoAdjust="0"/>
  </p:normalViewPr>
  <p:slideViewPr>
    <p:cSldViewPr showGuides="1">
      <p:cViewPr>
        <p:scale>
          <a:sx n="100" d="100"/>
          <a:sy n="100" d="100"/>
        </p:scale>
        <p:origin x="1262" y="192"/>
      </p:cViewPr>
      <p:guideLst>
        <p:guide orient="horz" pos="3838"/>
        <p:guide pos="319"/>
        <p:guide pos="5228"/>
        <p:guide pos="3152"/>
        <p:guide orient="horz" pos="2908"/>
      </p:guideLst>
    </p:cSldViewPr>
  </p:slideViewPr>
  <p:outlineViewPr>
    <p:cViewPr>
      <p:scale>
        <a:sx n="33" d="100"/>
        <a:sy n="33" d="100"/>
      </p:scale>
      <p:origin x="0" y="-14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i-FI" noProof="0"/>
              <a:t>Muokkaa tekstin perustyylejä napsauttamalla</a:t>
            </a:r>
            <a:endParaRPr lang="fi-FI" noProof="0"/>
          </a:p>
          <a:p>
            <a:pPr lvl="1"/>
            <a:r>
              <a:rPr lang="fi-FI" noProof="0"/>
              <a:t>toinen taso</a:t>
            </a:r>
            <a:endParaRPr lang="fi-FI" noProof="0"/>
          </a:p>
          <a:p>
            <a:pPr lvl="2"/>
            <a:r>
              <a:rPr lang="fi-FI" noProof="0"/>
              <a:t>kolmas taso</a:t>
            </a:r>
            <a:endParaRPr lang="fi-FI" noProof="0"/>
          </a:p>
          <a:p>
            <a:pPr lvl="3"/>
            <a:r>
              <a:rPr lang="fi-FI" noProof="0"/>
              <a:t>neljäs taso</a:t>
            </a:r>
            <a:endParaRPr lang="fi-FI" noProof="0"/>
          </a:p>
          <a:p>
            <a:pPr lvl="4"/>
            <a:r>
              <a:rPr lang="fi-FI" noProof="0"/>
              <a:t>viides taso</a:t>
            </a:r>
            <a:endParaRPr lang="fi-FI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</a:fld>
            <a:endParaRPr lang="fi-FI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赛题任务：基于用户关联关系的欺诈识别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图结构视角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出发，识别潜在欺诈用户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推动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GNN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等前沿技术在金融风控中的创新与落地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9C11C-D04B-4B83-A5E8-D873315BDD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1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图形 3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2726" y="201457"/>
            <a:ext cx="1587734" cy="386697"/>
          </a:xfrm>
          <a:prstGeom prst="rect">
            <a:avLst/>
          </a:prstGeom>
        </p:spPr>
      </p:pic>
      <p:cxnSp>
        <p:nvCxnSpPr>
          <p:cNvPr id="5" name="PA-102211"/>
          <p:cNvCxnSpPr/>
          <p:nvPr userDrawn="1">
            <p:custDataLst>
              <p:tags r:id="rId4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/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1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31775" y="772160"/>
            <a:ext cx="871156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信也科技</a:t>
            </a:r>
            <a:r>
              <a:rPr kumimoji="0" lang="en-US" altLang="zh-CN" sz="2800" b="1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DGraph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金融反欺诈图算法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综合实践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152128" y="1343053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1"/>
          <p:cNvSpPr txBox="1">
            <a:spLocks noChangeArrowheads="1"/>
          </p:cNvSpPr>
          <p:nvPr/>
        </p:nvSpPr>
        <p:spPr bwMode="auto">
          <a:xfrm>
            <a:off x="1789889" y="4201081"/>
            <a:ext cx="5715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Dec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, 2025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sp>
        <p:nvSpPr>
          <p:cNvPr id="17" name="副标题 3074"/>
          <p:cNvSpPr txBox="1">
            <a:spLocks noChangeArrowheads="1"/>
          </p:cNvSpPr>
          <p:nvPr/>
        </p:nvSpPr>
        <p:spPr bwMode="auto">
          <a:xfrm>
            <a:off x="1764030" y="1431925"/>
            <a:ext cx="5950585" cy="51181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队伍：</a:t>
            </a:r>
            <a:r>
              <a:rPr kumimoji="0" lang="zh-CN" altLang="en-US" sz="16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大展宏图鹏程万里明察秋毫健功立业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79855" y="1938020"/>
            <a:ext cx="6535420" cy="2129790"/>
          </a:xfrm>
          <a:prstGeom prst="rect">
            <a:avLst/>
          </a:prstGeom>
          <a:noFill/>
          <a:ln w="15875" cmpd="sng">
            <a:solidFill>
              <a:schemeClr val="tx1"/>
            </a:solidFill>
            <a:prstDash val="solid"/>
          </a:ln>
        </p:spPr>
        <p:txBody>
          <a:bodyPr wrap="square" rtlCol="0">
            <a:noAutofit/>
          </a:bodyPr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小组成员与分工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2351582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程亦诚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大数据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：数据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清洗，算法实现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(GraphSAGE)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2351295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胡桥健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计科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：算法实现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(CARE-GNN)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模型评估与测试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2351584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胡捷鸣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信安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：可视化，算法实现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GAT)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2352027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张宏斌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计科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：赛题分析，模型分析，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数据整理与汇报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2351136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李盛鹏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大数据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：算法实现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dirty="0">
                <a:sym typeface="+mn-ea"/>
              </a:rPr>
              <a:t>Deviation network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，资料整理与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制作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7200" y="0"/>
            <a:ext cx="3510494" cy="514350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17746" y="540633"/>
            <a:ext cx="22965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srgbClr val="005A8A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CONTENTS</a:t>
            </a:r>
            <a:endParaRPr lang="zh-CN" altLang="en-US" sz="2700" b="1" dirty="0">
              <a:solidFill>
                <a:srgbClr val="005A8A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717745" y="1434670"/>
            <a:ext cx="1767673" cy="461665"/>
            <a:chOff x="6588037" y="2227220"/>
            <a:chExt cx="2356897" cy="615553"/>
          </a:xfrm>
        </p:grpSpPr>
        <p:grpSp>
          <p:nvGrpSpPr>
            <p:cNvPr id="10" name="组合 9"/>
            <p:cNvGrpSpPr/>
            <p:nvPr/>
          </p:nvGrpSpPr>
          <p:grpSpPr>
            <a:xfrm>
              <a:off x="6588037" y="2227220"/>
              <a:ext cx="2356897" cy="615553"/>
              <a:chOff x="6588037" y="2227220"/>
              <a:chExt cx="2356897" cy="615553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01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7467606" y="2278143"/>
                <a:ext cx="1477328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赛题背景</a:t>
                </a:r>
                <a:endParaRPr lang="zh-CN" altLang="en-US" sz="1800" b="1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4717745" y="2075349"/>
            <a:ext cx="1767673" cy="461665"/>
            <a:chOff x="6588037" y="2227220"/>
            <a:chExt cx="2356897" cy="615553"/>
          </a:xfrm>
        </p:grpSpPr>
        <p:grpSp>
          <p:nvGrpSpPr>
            <p:cNvPr id="22" name="组合 21"/>
            <p:cNvGrpSpPr/>
            <p:nvPr/>
          </p:nvGrpSpPr>
          <p:grpSpPr>
            <a:xfrm>
              <a:off x="6588037" y="2227220"/>
              <a:ext cx="2356897" cy="615553"/>
              <a:chOff x="6588037" y="2227220"/>
              <a:chExt cx="2356897" cy="615553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02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7467606" y="2278143"/>
                <a:ext cx="1477328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模型介绍</a:t>
                </a:r>
                <a:endParaRPr lang="en-US" altLang="zh-CN" sz="1800" b="1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3" name="直接连接符 22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4717745" y="2700081"/>
            <a:ext cx="1767673" cy="461665"/>
            <a:chOff x="6588037" y="2227220"/>
            <a:chExt cx="2356897" cy="615553"/>
          </a:xfrm>
        </p:grpSpPr>
        <p:grpSp>
          <p:nvGrpSpPr>
            <p:cNvPr id="27" name="组合 26"/>
            <p:cNvGrpSpPr/>
            <p:nvPr/>
          </p:nvGrpSpPr>
          <p:grpSpPr>
            <a:xfrm>
              <a:off x="6588037" y="2227220"/>
              <a:ext cx="2356897" cy="615553"/>
              <a:chOff x="6588037" y="2227220"/>
              <a:chExt cx="2356897" cy="615553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03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7467606" y="2278143"/>
                <a:ext cx="1477328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模型详解</a:t>
                </a:r>
                <a:endParaRPr lang="zh-CN" altLang="en-US" sz="1800" b="1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28" name="直接连接符 27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4717745" y="3324812"/>
            <a:ext cx="2460170" cy="461665"/>
            <a:chOff x="6588037" y="2227220"/>
            <a:chExt cx="3280226" cy="615553"/>
          </a:xfrm>
        </p:grpSpPr>
        <p:grpSp>
          <p:nvGrpSpPr>
            <p:cNvPr id="32" name="组合 31"/>
            <p:cNvGrpSpPr/>
            <p:nvPr/>
          </p:nvGrpSpPr>
          <p:grpSpPr>
            <a:xfrm>
              <a:off x="6588037" y="2227220"/>
              <a:ext cx="3280226" cy="615553"/>
              <a:chOff x="6588037" y="2227220"/>
              <a:chExt cx="3280226" cy="615553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04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7467606" y="2278143"/>
                <a:ext cx="2400657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实验结果与分析</a:t>
                </a:r>
                <a:endParaRPr lang="zh-CN" altLang="en-US" sz="1800" b="1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71" y="2196323"/>
            <a:ext cx="1428750" cy="14287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47" y="1399168"/>
            <a:ext cx="1512998" cy="52218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353" y="540632"/>
            <a:ext cx="737387" cy="737387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4731133" y="3910285"/>
            <a:ext cx="1998505" cy="461665"/>
            <a:chOff x="6588037" y="2227220"/>
            <a:chExt cx="2664673" cy="615553"/>
          </a:xfrm>
        </p:grpSpPr>
        <p:grpSp>
          <p:nvGrpSpPr>
            <p:cNvPr id="5" name="组合 4"/>
            <p:cNvGrpSpPr/>
            <p:nvPr/>
          </p:nvGrpSpPr>
          <p:grpSpPr>
            <a:xfrm>
              <a:off x="6588037" y="2227220"/>
              <a:ext cx="2664673" cy="615553"/>
              <a:chOff x="6588037" y="2227220"/>
              <a:chExt cx="2664673" cy="615553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6588037" y="2227220"/>
                <a:ext cx="1020724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05A8A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05</a:t>
                </a:r>
                <a:endParaRPr lang="zh-CN" altLang="en-US" sz="2400" b="1" dirty="0">
                  <a:solidFill>
                    <a:srgbClr val="005A8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7467606" y="2278143"/>
                <a:ext cx="1785104" cy="492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zh-CN" altLang="en-US" sz="1800" b="1" dirty="0">
                    <a:solidFill>
                      <a:prstClr val="black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收获与展望</a:t>
                </a:r>
                <a:endParaRPr lang="zh-CN" altLang="en-US" sz="1800" b="1" dirty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cxnSp>
          <p:nvCxnSpPr>
            <p:cNvPr id="6" name="直接连接符 5"/>
            <p:cNvCxnSpPr/>
            <p:nvPr/>
          </p:nvCxnSpPr>
          <p:spPr>
            <a:xfrm>
              <a:off x="7446341" y="2310042"/>
              <a:ext cx="0" cy="39600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7201" y="0"/>
            <a:ext cx="9161201" cy="27127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223880" y="2191744"/>
            <a:ext cx="4696241" cy="1011473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25857" y="2453798"/>
            <a:ext cx="188224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1.</a:t>
            </a:r>
            <a:r>
              <a:rPr lang="zh-CN" altLang="en-US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赛题背景</a:t>
            </a:r>
            <a:endParaRPr lang="zh-CN" altLang="en-US" sz="2700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2" y="565590"/>
            <a:ext cx="981608" cy="981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65" y="726292"/>
            <a:ext cx="1825583" cy="630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3"/>
          <p:cNvSpPr/>
          <p:nvPr/>
        </p:nvSpPr>
        <p:spPr>
          <a:xfrm>
            <a:off x="524321" y="2423534"/>
            <a:ext cx="2355215" cy="2576293"/>
          </a:xfrm>
          <a:prstGeom prst="roundRect">
            <a:avLst>
              <a:gd name="adj" fmla="val 768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l"/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赛题背景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824" y="887241"/>
            <a:ext cx="7740352" cy="1536294"/>
          </a:xfrm>
          <a:prstGeom prst="rect">
            <a:avLst/>
          </a:prstGeom>
        </p:spPr>
      </p:pic>
      <p:sp>
        <p:nvSpPr>
          <p:cNvPr id="31" name="Shape 3"/>
          <p:cNvSpPr/>
          <p:nvPr/>
        </p:nvSpPr>
        <p:spPr>
          <a:xfrm>
            <a:off x="6108353" y="2430759"/>
            <a:ext cx="2355215" cy="2576293"/>
          </a:xfrm>
          <a:prstGeom prst="roundRect">
            <a:avLst>
              <a:gd name="adj" fmla="val 768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2" name="Shape 3"/>
          <p:cNvSpPr/>
          <p:nvPr/>
        </p:nvSpPr>
        <p:spPr>
          <a:xfrm>
            <a:off x="3305640" y="2443729"/>
            <a:ext cx="2355215" cy="2576293"/>
          </a:xfrm>
          <a:prstGeom prst="roundRect">
            <a:avLst>
              <a:gd name="adj" fmla="val 768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81467" y="2931790"/>
            <a:ext cx="2355215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zh-CN" altLang="en-US" sz="120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线上信贷欺诈日益严峻</a:t>
            </a:r>
            <a:endParaRPr lang="en-US" altLang="zh-CN" sz="12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i="0" dirty="0">
                <a:solidFill>
                  <a:srgbClr val="0F1115"/>
                </a:solidFill>
                <a:effectLst/>
                <a:latin typeface="quote-cjk-patch"/>
              </a:rPr>
              <a:t>欺诈行为呈现：隐蔽化、专业化、规模化</a:t>
            </a:r>
            <a:endParaRPr lang="zh-CN" altLang="en-US" sz="120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i="0" dirty="0">
                <a:solidFill>
                  <a:srgbClr val="0F1115"/>
                </a:solidFill>
                <a:effectLst/>
                <a:latin typeface="quote-cjk-patch"/>
              </a:rPr>
              <a:t>亟需更有效的识别、预测与预防技术</a:t>
            </a:r>
            <a:endParaRPr lang="zh-CN" altLang="en-US" sz="120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 sz="1200" dirty="0"/>
          </a:p>
        </p:txBody>
      </p:sp>
      <p:sp>
        <p:nvSpPr>
          <p:cNvPr id="34" name="文本框 33"/>
          <p:cNvSpPr txBox="1"/>
          <p:nvPr/>
        </p:nvSpPr>
        <p:spPr>
          <a:xfrm>
            <a:off x="3394392" y="3443279"/>
            <a:ext cx="2355215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图神经网络（</a:t>
            </a:r>
            <a:r>
              <a:rPr lang="en-US" altLang="zh-CN" sz="1200" b="1" i="0" dirty="0">
                <a:solidFill>
                  <a:srgbClr val="0F1115"/>
                </a:solidFill>
                <a:effectLst/>
                <a:latin typeface="quote-cjk-patch"/>
              </a:rPr>
              <a:t>GNN</a:t>
            </a:r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）的优势</a:t>
            </a:r>
            <a:endParaRPr lang="zh-CN" alt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可建模复杂关联关系</a:t>
            </a:r>
            <a:endParaRPr lang="zh-CN" alt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在风险识别中表现出独特优势</a:t>
            </a:r>
            <a:endParaRPr lang="zh-CN" altLang="en-US" sz="1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 sz="1200" dirty="0"/>
          </a:p>
        </p:txBody>
      </p:sp>
      <p:sp>
        <p:nvSpPr>
          <p:cNvPr id="35" name="文本框 34"/>
          <p:cNvSpPr txBox="1"/>
          <p:nvPr/>
        </p:nvSpPr>
        <p:spPr>
          <a:xfrm>
            <a:off x="6160142" y="3075806"/>
            <a:ext cx="2445481" cy="14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F1115"/>
                </a:solidFill>
                <a:effectLst/>
                <a:latin typeface="quote-cjk-patch"/>
              </a:rPr>
              <a:t>赛题任务：基于用户关联关系的欺诈识别</a:t>
            </a:r>
            <a:endParaRPr lang="zh-CN" altLang="en-US" sz="1200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i="0" dirty="0">
                <a:solidFill>
                  <a:srgbClr val="0F1115"/>
                </a:solidFill>
                <a:effectLst/>
                <a:latin typeface="quote-cjk-patch"/>
              </a:rPr>
              <a:t>从图结构视角出发，识别潜在欺诈用户</a:t>
            </a:r>
            <a:endParaRPr lang="zh-CN" altLang="en-US" sz="120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i="0" dirty="0">
                <a:solidFill>
                  <a:srgbClr val="0F1115"/>
                </a:solidFill>
                <a:effectLst/>
                <a:latin typeface="quote-cjk-patch"/>
              </a:rPr>
              <a:t>推动</a:t>
            </a:r>
            <a:r>
              <a:rPr lang="en-US" altLang="zh-CN" sz="1200" i="0" dirty="0">
                <a:solidFill>
                  <a:srgbClr val="0F1115"/>
                </a:solidFill>
                <a:effectLst/>
                <a:latin typeface="quote-cjk-patch"/>
              </a:rPr>
              <a:t>GNN</a:t>
            </a:r>
            <a:r>
              <a:rPr lang="zh-CN" altLang="en-US" sz="1200" i="0" dirty="0">
                <a:solidFill>
                  <a:srgbClr val="0F1115"/>
                </a:solidFill>
                <a:effectLst/>
                <a:latin typeface="quote-cjk-patch"/>
              </a:rPr>
              <a:t>等前沿技术在金融风控中的创新与落地</a:t>
            </a:r>
            <a:endParaRPr lang="zh-CN" altLang="en-US" sz="120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zh-CN" altLang="en-US" sz="1200" dirty="0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648" y="2423534"/>
            <a:ext cx="1380484" cy="941797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948" y="2423533"/>
            <a:ext cx="1380484" cy="941796"/>
          </a:xfrm>
          <a:prstGeom prst="rect">
            <a:avLst/>
          </a:prstGeom>
        </p:spPr>
      </p:pic>
      <p:sp>
        <p:nvSpPr>
          <p:cNvPr id="40" name="矩形: 圆顶角 39"/>
          <p:cNvSpPr/>
          <p:nvPr/>
        </p:nvSpPr>
        <p:spPr>
          <a:xfrm>
            <a:off x="524321" y="2443729"/>
            <a:ext cx="2355215" cy="389631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顶角 40"/>
          <p:cNvSpPr/>
          <p:nvPr/>
        </p:nvSpPr>
        <p:spPr>
          <a:xfrm>
            <a:off x="6108353" y="2430759"/>
            <a:ext cx="2355215" cy="389631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赛题背景</a:t>
            </a:r>
            <a:endParaRPr lang="zh-CN" altLang="en-US" dirty="0"/>
          </a:p>
        </p:txBody>
      </p:sp>
      <p:pic>
        <p:nvPicPr>
          <p:cNvPr id="8" name="图片 7" descr="图表, 箱线图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850" y="818675"/>
            <a:ext cx="3658075" cy="1320007"/>
          </a:xfrm>
          <a:prstGeom prst="rect">
            <a:avLst/>
          </a:prstGeom>
        </p:spPr>
      </p:pic>
      <p:pic>
        <p:nvPicPr>
          <p:cNvPr id="10" name="图片 9" descr="图表, 条形图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495" y="2267843"/>
            <a:ext cx="3829861" cy="1361442"/>
          </a:xfrm>
          <a:prstGeom prst="rect">
            <a:avLst/>
          </a:prstGeom>
        </p:spPr>
      </p:pic>
      <p:pic>
        <p:nvPicPr>
          <p:cNvPr id="12" name="图片 11" descr="图表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8446"/>
            <a:ext cx="3845263" cy="136144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965432" y="816534"/>
            <a:ext cx="2969326" cy="1035103"/>
            <a:chOff x="-1165433" y="-771363"/>
            <a:chExt cx="3806657" cy="1086335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085494" y="-422898"/>
              <a:ext cx="2489628" cy="737870"/>
            </a:xfrm>
            <a:prstGeom prst="rect">
              <a:avLst/>
            </a:prstGeom>
          </p:spPr>
        </p:pic>
        <p:sp>
          <p:nvSpPr>
            <p:cNvPr id="6" name="Text 1"/>
            <p:cNvSpPr/>
            <p:nvPr/>
          </p:nvSpPr>
          <p:spPr>
            <a:xfrm>
              <a:off x="-771207" y="-771363"/>
              <a:ext cx="3221990" cy="29070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fi-FI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1pPr>
              <a:lvl2pPr marL="4559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2pPr>
              <a:lvl3pPr marL="9131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3pPr>
              <a:lvl4pPr marL="13703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4pPr>
              <a:lvl5pPr marL="18275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/>
              <a:r>
                <a:rPr lang="zh-CN" altLang="en-US" sz="1200" b="1" dirty="0">
                  <a:solidFill>
                    <a:srgbClr val="015DB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节点特征</a:t>
              </a:r>
              <a:endParaRPr lang="en-US" altLang="zh-CN" sz="1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7" name="Text 2"/>
            <p:cNvSpPr/>
            <p:nvPr/>
          </p:nvSpPr>
          <p:spPr>
            <a:xfrm>
              <a:off x="-1165433" y="-388365"/>
              <a:ext cx="3806657" cy="63404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fi-FI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1pPr>
              <a:lvl2pPr marL="4559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2pPr>
              <a:lvl3pPr marL="9131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3pPr>
              <a:lvl4pPr marL="13703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4pPr>
              <a:lvl5pPr marL="18275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N_node,17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形状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: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每个节点拥有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17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个特征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965432" y="2206741"/>
            <a:ext cx="2820775" cy="1256847"/>
            <a:chOff x="-1165433" y="-771363"/>
            <a:chExt cx="3616216" cy="1319054"/>
          </a:xfrm>
        </p:grpSpPr>
        <p:pic>
          <p:nvPicPr>
            <p:cNvPr id="11" name="Imag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085494" y="-422898"/>
              <a:ext cx="2438346" cy="970589"/>
            </a:xfrm>
            <a:prstGeom prst="rect">
              <a:avLst/>
            </a:prstGeom>
          </p:spPr>
        </p:pic>
        <p:sp>
          <p:nvSpPr>
            <p:cNvPr id="13" name="Text 1"/>
            <p:cNvSpPr/>
            <p:nvPr/>
          </p:nvSpPr>
          <p:spPr>
            <a:xfrm>
              <a:off x="-771207" y="-771363"/>
              <a:ext cx="3221990" cy="29070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fi-FI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1pPr>
              <a:lvl2pPr marL="4559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2pPr>
              <a:lvl3pPr marL="9131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3pPr>
              <a:lvl4pPr marL="13703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4pPr>
              <a:lvl5pPr marL="18275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/>
              <a:r>
                <a:rPr lang="zh-CN" altLang="en-US" sz="1200" b="1" dirty="0">
                  <a:solidFill>
                    <a:srgbClr val="015DB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标签分布</a:t>
              </a:r>
              <a:endParaRPr lang="en-US" altLang="zh-CN" sz="1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4" name="Text 2"/>
            <p:cNvSpPr/>
            <p:nvPr/>
          </p:nvSpPr>
          <p:spPr>
            <a:xfrm>
              <a:off x="-1165433" y="-388365"/>
              <a:ext cx="2425130" cy="93605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fi-FI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1pPr>
              <a:lvl2pPr marL="4559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2pPr>
              <a:lvl3pPr marL="9131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3pPr>
              <a:lvl4pPr marL="13703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4pPr>
              <a:lvl5pPr marL="18275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：正常用户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：欺诈用户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-100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：测试样本标签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999788" y="3618259"/>
            <a:ext cx="2820775" cy="1256846"/>
            <a:chOff x="-1165433" y="-771363"/>
            <a:chExt cx="3616216" cy="1319053"/>
          </a:xfrm>
        </p:grpSpPr>
        <p:pic>
          <p:nvPicPr>
            <p:cNvPr id="16" name="Imag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085493" y="-422899"/>
              <a:ext cx="2419484" cy="936056"/>
            </a:xfrm>
            <a:prstGeom prst="rect">
              <a:avLst/>
            </a:prstGeom>
          </p:spPr>
        </p:pic>
        <p:sp>
          <p:nvSpPr>
            <p:cNvPr id="17" name="Text 1"/>
            <p:cNvSpPr/>
            <p:nvPr/>
          </p:nvSpPr>
          <p:spPr>
            <a:xfrm>
              <a:off x="-771207" y="-771363"/>
              <a:ext cx="3221990" cy="29070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fi-FI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1pPr>
              <a:lvl2pPr marL="4559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2pPr>
              <a:lvl3pPr marL="9131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3pPr>
              <a:lvl4pPr marL="13703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4pPr>
              <a:lvl5pPr marL="18275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/>
              <a:r>
                <a:rPr lang="zh-CN" altLang="en-US" sz="1200" b="1" dirty="0">
                  <a:solidFill>
                    <a:srgbClr val="015DB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图结构</a:t>
              </a:r>
              <a:endParaRPr lang="en-US" altLang="zh-CN" sz="1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endParaRPr>
            </a:p>
          </p:txBody>
        </p:sp>
        <p:sp>
          <p:nvSpPr>
            <p:cNvPr id="18" name="Text 2"/>
            <p:cNvSpPr/>
            <p:nvPr/>
          </p:nvSpPr>
          <p:spPr>
            <a:xfrm>
              <a:off x="-1165433" y="-388365"/>
              <a:ext cx="2635484" cy="93605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fi-FI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1pPr>
              <a:lvl2pPr marL="4559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2pPr>
              <a:lvl3pPr marL="9131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3pPr>
              <a:lvl4pPr marL="13703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4pPr>
              <a:lvl5pPr marL="1827530" indent="1905" algn="l" rtl="0"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1400" kern="120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>
                <a:lnSpc>
                  <a:spcPct val="150000"/>
                </a:lnSpc>
              </a:pPr>
              <a:r>
                <a:rPr lang="zh-CN" altLang="en-US" sz="11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Sans" pitchFamily="34" charset="-120"/>
                </a:rPr>
                <a:t>边类型：</a:t>
              </a:r>
              <a:r>
                <a:rPr lang="en-US" altLang="zh-CN" sz="11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Sans" pitchFamily="34" charset="-120"/>
                </a:rPr>
                <a:t>11</a:t>
              </a:r>
              <a:r>
                <a:rPr lang="zh-CN" altLang="en-US" sz="11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Sans" pitchFamily="34" charset="-120"/>
                </a:rPr>
                <a:t>类</a:t>
              </a:r>
              <a:endPara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1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时间特征：边连接日期</a:t>
              </a:r>
              <a:endParaRPr lang="en-US" altLang="zh-CN" sz="11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1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边数量：</a:t>
              </a:r>
              <a:r>
                <a:rPr lang="en-US" altLang="zh-CN" sz="1100" dirty="0" err="1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N_edge</a:t>
              </a:r>
              <a:r>
                <a:rPr lang="zh-CN" altLang="en-US" sz="1100" dirty="0">
                  <a:solidFill>
                    <a:srgbClr val="26262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条有向边</a:t>
              </a:r>
              <a:endPara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3724980"/>
            <a:ext cx="3133572" cy="1391509"/>
          </a:xfrm>
          <a:prstGeom prst="rect">
            <a:avLst/>
          </a:prstGeom>
        </p:spPr>
      </p:pic>
      <p:pic>
        <p:nvPicPr>
          <p:cNvPr id="23" name="图片 22" descr="图片包含 图示&#10;&#10;AI 生成的内容可能不正确。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2" y="1086343"/>
            <a:ext cx="3155427" cy="2363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7201" y="0"/>
            <a:ext cx="9161201" cy="27127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223880" y="2191744"/>
            <a:ext cx="4696241" cy="1011473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25857" y="2453798"/>
            <a:ext cx="188224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2.</a:t>
            </a:r>
            <a:r>
              <a:rPr lang="zh-CN" altLang="en-US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模型介绍</a:t>
            </a:r>
            <a:endParaRPr lang="zh-CN" altLang="en-US" sz="2700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2" y="565590"/>
            <a:ext cx="981608" cy="981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65" y="726292"/>
            <a:ext cx="1825583" cy="630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GraphSage</a:t>
            </a:r>
            <a:endParaRPr lang="zh-CN" altLang="en-US" dirty="0"/>
          </a:p>
        </p:txBody>
      </p:sp>
      <p:sp>
        <p:nvSpPr>
          <p:cNvPr id="7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208" y="917526"/>
            <a:ext cx="4692832" cy="1751214"/>
          </a:xfrm>
          <a:prstGeom prst="rect">
            <a:avLst/>
          </a:prstGeom>
        </p:spPr>
      </p:pic>
      <p:sp>
        <p:nvSpPr>
          <p:cNvPr id="54" name="矩形: 圆角 53"/>
          <p:cNvSpPr/>
          <p:nvPr/>
        </p:nvSpPr>
        <p:spPr>
          <a:xfrm>
            <a:off x="546242" y="2763484"/>
            <a:ext cx="4635339" cy="1430236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核心思想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：学习生成规则，而非固定嵌入</a:t>
            </a:r>
            <a:endParaRPr lang="en-US" altLang="zh-CN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模型原理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：采样邻居与特征融合</a:t>
            </a:r>
            <a:endParaRPr lang="en-US" altLang="zh-CN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应用优势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：支持动态与大规模场景</a:t>
            </a:r>
            <a:endParaRPr lang="zh-CN" altLang="en-US" dirty="0"/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785612"/>
            <a:ext cx="2824750" cy="4115214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61" y="4353704"/>
            <a:ext cx="4392488" cy="41663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99718" y="2652665"/>
            <a:ext cx="1841115" cy="3077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5256" y="2668740"/>
            <a:ext cx="1735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 err="1">
                <a:solidFill>
                  <a:schemeClr val="bg1"/>
                </a:solidFill>
                <a:effectLst/>
                <a:latin typeface="quote-cjk-patch"/>
              </a:rPr>
              <a:t>GraphSage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GAT</a:t>
            </a:r>
            <a:endParaRPr lang="zh-CN" altLang="en-US" dirty="0"/>
          </a:p>
        </p:txBody>
      </p:sp>
      <p:sp>
        <p:nvSpPr>
          <p:cNvPr id="7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361" y="825443"/>
            <a:ext cx="2372538" cy="2807133"/>
          </a:xfrm>
          <a:prstGeom prst="rect">
            <a:avLst/>
          </a:prstGeom>
        </p:spPr>
      </p:pic>
      <p:sp>
        <p:nvSpPr>
          <p:cNvPr id="5" name="AutoShape 2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523" y="1205790"/>
            <a:ext cx="5308494" cy="1774671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625760" y="3743535"/>
            <a:ext cx="2952328" cy="11260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06022" y="3655964"/>
            <a:ext cx="1944216" cy="3793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11560" y="3685229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i="0" dirty="0">
                <a:solidFill>
                  <a:schemeClr val="bg1"/>
                </a:solidFill>
                <a:effectLst/>
                <a:latin typeface="quote-cjk-patch"/>
              </a:rPr>
              <a:t>图注意力网络（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quote-cjk-patch"/>
              </a:rPr>
              <a:t>GAT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quote-cjk-patch"/>
              </a:rPr>
              <a:t>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2286" y="4038612"/>
            <a:ext cx="2647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0F1115"/>
                </a:solidFill>
                <a:effectLst/>
                <a:latin typeface="quote-cjk-patch"/>
              </a:rPr>
              <a:t>GAT</a:t>
            </a:r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为图中的每个节点动态计算其邻居的重要性权重，让模型能自主决定“该听谁的话”，再通过加权聚合更新节点特征。</a:t>
            </a:r>
            <a:endParaRPr lang="zh-CN" altLang="en-US" sz="1200" dirty="0"/>
          </a:p>
        </p:txBody>
      </p:sp>
      <p:sp>
        <p:nvSpPr>
          <p:cNvPr id="27" name="左大括号 26"/>
          <p:cNvSpPr/>
          <p:nvPr/>
        </p:nvSpPr>
        <p:spPr>
          <a:xfrm>
            <a:off x="3831332" y="2996355"/>
            <a:ext cx="360040" cy="188914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329670" y="2980461"/>
            <a:ext cx="3969969" cy="207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核心优势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自适应邻居注意力</a:t>
            </a: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适合大规模图结构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采用掩码注意力与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GPU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并行特征工程</a:t>
            </a: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适配赛题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Focal Loss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和多尺度时序特征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创新架构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渐进多头与残差连接</a:t>
            </a:r>
            <a:endParaRPr lang="zh-CN" altLang="en-US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3" name="图片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5" t="-29584" r="23908"/>
          <a:stretch>
            <a:fillRect/>
          </a:stretch>
        </p:blipFill>
        <p:spPr>
          <a:xfrm>
            <a:off x="3491880" y="699542"/>
            <a:ext cx="4839630" cy="39605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Deviation network</a:t>
            </a:r>
            <a:endParaRPr lang="zh-CN" altLang="en-US" dirty="0"/>
          </a:p>
        </p:txBody>
      </p:sp>
      <p:sp>
        <p:nvSpPr>
          <p:cNvPr id="7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矩形: 圆角 53"/>
          <p:cNvSpPr/>
          <p:nvPr/>
        </p:nvSpPr>
        <p:spPr>
          <a:xfrm>
            <a:off x="345463" y="3083327"/>
            <a:ext cx="4635339" cy="143993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核心思想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：基于先验分布的异常评分学习</a:t>
            </a:r>
            <a:endParaRPr lang="en-US" altLang="zh-CN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数据均衡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：平衡批次采样，缓解异常数据失衡</a:t>
            </a:r>
            <a:endParaRPr lang="en-US" altLang="zh-CN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应用优势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：通过可解释性的先验知识排除噪声干扰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251" y="828670"/>
            <a:ext cx="2844117" cy="219629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304" y="752595"/>
            <a:ext cx="3558577" cy="233073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08" y="4639992"/>
            <a:ext cx="4762172" cy="47683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471" y="3168045"/>
            <a:ext cx="3207047" cy="173318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10605" y="3008886"/>
            <a:ext cx="1841115" cy="307777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6143" y="3024961"/>
            <a:ext cx="1735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solidFill>
                  <a:schemeClr val="bg1"/>
                </a:solidFill>
                <a:effectLst/>
                <a:latin typeface="quote-cjk-patch"/>
              </a:rPr>
              <a:t>Deviation network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CARE-GNN</a:t>
            </a:r>
            <a:endParaRPr lang="zh-CN" altLang="en-US" dirty="0"/>
          </a:p>
        </p:txBody>
      </p:sp>
      <p:sp>
        <p:nvSpPr>
          <p:cNvPr id="7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AutoShape 2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25760" y="3743535"/>
            <a:ext cx="2952328" cy="131074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06022" y="3655964"/>
            <a:ext cx="1944216" cy="379334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11560" y="3685229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0" dirty="0">
                <a:solidFill>
                  <a:schemeClr val="bg1"/>
                </a:solidFill>
                <a:effectLst/>
                <a:latin typeface="quote-cjk-patch"/>
              </a:rPr>
              <a:t>CARE-GNN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2286" y="4038612"/>
            <a:ext cx="2647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F1115"/>
                </a:solidFill>
                <a:latin typeface="quote-cjk-patch"/>
              </a:rPr>
              <a:t>CARE-GNN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的核心在于“</a:t>
            </a:r>
            <a:r>
              <a:rPr lang="zh-CN" altLang="en-US" sz="1200" dirty="0">
                <a:solidFill>
                  <a:srgbClr val="FF0000"/>
                </a:solidFill>
                <a:latin typeface="quote-cjk-patch"/>
              </a:rPr>
              <a:t>先过滤，后聚合</a:t>
            </a:r>
            <a:r>
              <a:rPr lang="zh-CN" altLang="en-US" sz="1200" dirty="0">
                <a:solidFill>
                  <a:srgbClr val="0F1115"/>
                </a:solidFill>
                <a:latin typeface="quote-cjk-patch"/>
              </a:rPr>
              <a:t>”，通过计算节点与邻居的相似度，利用强化学习动态筛选掉欺诈者用于伪装的虚假连接，从而净化邻居信息。</a:t>
            </a:r>
            <a:endParaRPr lang="zh-CN" altLang="en-US" sz="1200" dirty="0">
              <a:solidFill>
                <a:srgbClr val="0F1115"/>
              </a:solidFill>
              <a:latin typeface="quote-cjk-patch"/>
            </a:endParaRPr>
          </a:p>
        </p:txBody>
      </p:sp>
      <p:sp>
        <p:nvSpPr>
          <p:cNvPr id="27" name="左大括号 26"/>
          <p:cNvSpPr/>
          <p:nvPr/>
        </p:nvSpPr>
        <p:spPr>
          <a:xfrm>
            <a:off x="3807993" y="3533809"/>
            <a:ext cx="360040" cy="133580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257941" y="3383082"/>
            <a:ext cx="4706547" cy="155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核心优势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反伪装 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+ 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时序结构感知</a:t>
            </a: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多策略应对极端类别不平衡：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下采样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+ Focal Loss 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+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辅助标签任务</a:t>
            </a: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创新点：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自适应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2-hop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扩展与边方向校正</a:t>
            </a:r>
            <a:endParaRPr lang="zh-CN" altLang="en-US" dirty="0">
              <a:solidFill>
                <a:srgbClr val="0F1115"/>
              </a:solidFill>
              <a:latin typeface="quote-cjk-patch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915566"/>
            <a:ext cx="7344816" cy="25042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627534"/>
            <a:ext cx="4488102" cy="3750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7201" y="0"/>
            <a:ext cx="9161201" cy="27127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223880" y="2191744"/>
            <a:ext cx="4696241" cy="1011473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25857" y="2453798"/>
            <a:ext cx="19335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3.</a:t>
            </a:r>
            <a:r>
              <a:rPr lang="zh-CN" altLang="en-US" sz="28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模型详解</a:t>
            </a:r>
            <a:endParaRPr lang="zh-CN" altLang="en-US" sz="2800" b="1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2" y="565590"/>
            <a:ext cx="981608" cy="981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65" y="726292"/>
            <a:ext cx="1825583" cy="630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  <a:endParaRPr lang="zh-CN" altLang="en-US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323528" y="917526"/>
            <a:ext cx="3763622" cy="4174504"/>
            <a:chOff x="506022" y="3655964"/>
            <a:chExt cx="3763622" cy="4225974"/>
          </a:xfrm>
        </p:grpSpPr>
        <p:sp>
          <p:nvSpPr>
            <p:cNvPr id="18" name="矩形 17"/>
            <p:cNvSpPr/>
            <p:nvPr/>
          </p:nvSpPr>
          <p:spPr>
            <a:xfrm>
              <a:off x="625760" y="3743534"/>
              <a:ext cx="3643884" cy="4138404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06022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11560" y="3685229"/>
              <a:ext cx="1944216" cy="311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基础清洗与属性对齐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22521" y="6822356"/>
              <a:ext cx="3471137" cy="1052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缺失值处理：将缺失值（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-1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）填充为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0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，标准化数据格式。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意义：模型无法处理</a:t>
              </a:r>
              <a:r>
                <a:rPr lang="en-US" altLang="zh-CN" sz="1200" dirty="0" err="1">
                  <a:solidFill>
                    <a:srgbClr val="0F1115"/>
                  </a:solidFill>
                  <a:latin typeface="quote-cjk-patch"/>
                </a:rPr>
                <a:t>NaN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值；归一化保证不同维度的特征（如金额、次数）在同一数量级，加速收敛。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7" y="1395621"/>
            <a:ext cx="1511217" cy="99958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331" y="1135705"/>
            <a:ext cx="1184539" cy="1633339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30" y="2441367"/>
            <a:ext cx="1624200" cy="109057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560" y="2935842"/>
            <a:ext cx="1624200" cy="1166599"/>
          </a:xfrm>
          <a:prstGeom prst="rect">
            <a:avLst/>
          </a:prstGeom>
        </p:spPr>
      </p:pic>
      <p:grpSp>
        <p:nvGrpSpPr>
          <p:cNvPr id="50" name="组合 49"/>
          <p:cNvGrpSpPr/>
          <p:nvPr/>
        </p:nvGrpSpPr>
        <p:grpSpPr>
          <a:xfrm>
            <a:off x="4283968" y="899401"/>
            <a:ext cx="4320005" cy="4174504"/>
            <a:chOff x="400739" y="3655964"/>
            <a:chExt cx="4320005" cy="4225974"/>
          </a:xfrm>
        </p:grpSpPr>
        <p:sp>
          <p:nvSpPr>
            <p:cNvPr id="51" name="矩形 50"/>
            <p:cNvSpPr/>
            <p:nvPr/>
          </p:nvSpPr>
          <p:spPr>
            <a:xfrm>
              <a:off x="539222" y="3743534"/>
              <a:ext cx="4181522" cy="4138404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00739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11560" y="3685229"/>
              <a:ext cx="1944216" cy="311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时间窗口特征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22521" y="7322645"/>
              <a:ext cx="3471137" cy="504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计算节点在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3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天、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7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天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...180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天内的活跃边数。</a:t>
              </a:r>
              <a:endParaRPr lang="en-US" altLang="zh-CN" sz="1200" dirty="0">
                <a:solidFill>
                  <a:srgbClr val="0F1115"/>
                </a:solidFill>
                <a:latin typeface="quote-cjk-patch"/>
              </a:endParaRPr>
            </a:p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意义：捕捉行为的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突发性与周期性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pic>
        <p:nvPicPr>
          <p:cNvPr id="61" name="图片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4520" y="1470411"/>
            <a:ext cx="2209343" cy="1430641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7152" y="2974555"/>
            <a:ext cx="2014391" cy="1430641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8334" y="3056646"/>
            <a:ext cx="1848847" cy="122738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  <a:endParaRPr lang="zh-CN" altLang="en-US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5508104" y="1707654"/>
            <a:ext cx="3020542" cy="1368399"/>
            <a:chOff x="357873" y="3655964"/>
            <a:chExt cx="3672984" cy="1555047"/>
          </a:xfrm>
        </p:grpSpPr>
        <p:sp>
          <p:nvSpPr>
            <p:cNvPr id="22" name="矩形 21"/>
            <p:cNvSpPr/>
            <p:nvPr/>
          </p:nvSpPr>
          <p:spPr>
            <a:xfrm>
              <a:off x="506022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11560" y="3685229"/>
              <a:ext cx="1944216" cy="311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图结构特征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57873" y="4294991"/>
              <a:ext cx="3672984" cy="916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计算入度、出度、度之差、活跃时间跨度。</a:t>
              </a:r>
              <a:endParaRPr lang="en-US" altLang="zh-CN" sz="1200" dirty="0">
                <a:solidFill>
                  <a:srgbClr val="0F1115"/>
                </a:solidFill>
                <a:latin typeface="quote-cjk-patch"/>
              </a:endParaRPr>
            </a:p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意义：高出度低入度可能是垃圾邮件发送者；高入度低出度可能是受害者或汇聚点。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短期存活的账号风险更高（“日抛型”账号）。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958066"/>
            <a:ext cx="4943625" cy="19762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3" y="3076053"/>
            <a:ext cx="4630471" cy="18531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  <a:endParaRPr lang="zh-CN" altLang="en-US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50" name="组合 49"/>
          <p:cNvGrpSpPr/>
          <p:nvPr/>
        </p:nvGrpSpPr>
        <p:grpSpPr>
          <a:xfrm>
            <a:off x="4644008" y="899401"/>
            <a:ext cx="4392488" cy="4174504"/>
            <a:chOff x="392062" y="3655964"/>
            <a:chExt cx="4392488" cy="4225974"/>
          </a:xfrm>
        </p:grpSpPr>
        <p:sp>
          <p:nvSpPr>
            <p:cNvPr id="51" name="矩形 50"/>
            <p:cNvSpPr/>
            <p:nvPr/>
          </p:nvSpPr>
          <p:spPr>
            <a:xfrm>
              <a:off x="445577" y="3743534"/>
              <a:ext cx="4338973" cy="4138404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400739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392062" y="3685229"/>
              <a:ext cx="1944216" cy="311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高阶邻居特征</a:t>
              </a:r>
              <a:r>
                <a:rPr lang="en-US" altLang="zh-CN" b="1" i="0" dirty="0">
                  <a:solidFill>
                    <a:schemeClr val="bg1"/>
                  </a:solidFill>
                  <a:effectLst/>
                  <a:latin typeface="quote-cjk-patch"/>
                </a:rPr>
                <a:t>(2-hop)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722521" y="7322645"/>
              <a:ext cx="3773997" cy="467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如果一个节点的邻居都是高风险节点，那么它自己的风险也极高。</a:t>
              </a:r>
              <a:r>
                <a:rPr lang="en-US" altLang="zh-CN" sz="1200" b="1" dirty="0">
                  <a:solidFill>
                    <a:srgbClr val="FF0000"/>
                  </a:solidFill>
                  <a:latin typeface="quote-cjk-patch"/>
                </a:rPr>
                <a:t>2-hop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特征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能扩大感受野，发现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间接关联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7504" y="899401"/>
            <a:ext cx="4401165" cy="4174503"/>
            <a:chOff x="400739" y="3655964"/>
            <a:chExt cx="4401165" cy="4225974"/>
          </a:xfrm>
        </p:grpSpPr>
        <p:sp>
          <p:nvSpPr>
            <p:cNvPr id="4" name="矩形 3"/>
            <p:cNvSpPr/>
            <p:nvPr/>
          </p:nvSpPr>
          <p:spPr>
            <a:xfrm>
              <a:off x="509655" y="3743534"/>
              <a:ext cx="4230059" cy="4138404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400739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11560" y="3685229"/>
              <a:ext cx="1944216" cy="311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0" dirty="0">
                  <a:solidFill>
                    <a:schemeClr val="bg1"/>
                  </a:solidFill>
                  <a:effectLst/>
                  <a:latin typeface="quote-cjk-patch"/>
                </a:rPr>
                <a:t>1-hop </a:t>
              </a:r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邻居特征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15865" y="7389916"/>
              <a:ext cx="4286039" cy="467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统计一阶和二阶邻居的数量、平均活跃度、特征均值。利用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“同质性”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 原理。欺诈者往往成团出现。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12" y="1360618"/>
            <a:ext cx="2308314" cy="155084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2" y="2925607"/>
            <a:ext cx="2164510" cy="147610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941" y="3010938"/>
            <a:ext cx="2056334" cy="139077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169" y="1382858"/>
            <a:ext cx="2320884" cy="16102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046" y="3000820"/>
            <a:ext cx="2120489" cy="149951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7095" y="3101856"/>
            <a:ext cx="2139058" cy="135420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  <a:endParaRPr lang="zh-CN" altLang="en-US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4801782" y="1377794"/>
            <a:ext cx="3763622" cy="2224392"/>
            <a:chOff x="506022" y="3655964"/>
            <a:chExt cx="3763622" cy="2251818"/>
          </a:xfrm>
        </p:grpSpPr>
        <p:sp>
          <p:nvSpPr>
            <p:cNvPr id="18" name="矩形 17"/>
            <p:cNvSpPr/>
            <p:nvPr/>
          </p:nvSpPr>
          <p:spPr>
            <a:xfrm>
              <a:off x="625760" y="3743534"/>
              <a:ext cx="3643884" cy="2164248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06022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11560" y="3685229"/>
              <a:ext cx="1944216" cy="311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0" dirty="0">
                  <a:solidFill>
                    <a:schemeClr val="bg1"/>
                  </a:solidFill>
                  <a:effectLst/>
                  <a:latin typeface="quote-cjk-patch"/>
                </a:rPr>
                <a:t>Motif (</a:t>
              </a:r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局部子图</a:t>
              </a:r>
              <a:r>
                <a:rPr lang="en-US" altLang="zh-CN" b="1" i="0" dirty="0">
                  <a:solidFill>
                    <a:schemeClr val="bg1"/>
                  </a:solidFill>
                  <a:effectLst/>
                  <a:latin typeface="quote-cjk-patch"/>
                </a:rPr>
                <a:t>) 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11880" y="4347575"/>
              <a:ext cx="3471137" cy="1252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solidFill>
                    <a:srgbClr val="0F1115"/>
                  </a:solidFill>
                  <a:latin typeface="quote-cjk-patch"/>
                </a:rPr>
                <a:t>操作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：统计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三角形（闭环）数量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solidFill>
                    <a:srgbClr val="0F1115"/>
                  </a:solidFill>
                  <a:latin typeface="quote-cjk-patch"/>
                </a:rPr>
                <a:t>意义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：识别团伙结构。正常的社交网络通常有较高的聚集系数（朋友的朋友也是朋友），而某些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僵尸网络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或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随机攻击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可能缺乏这种紧密结构，或者形成特定的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“星型”结构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而非“三角”结构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43" y="1188255"/>
            <a:ext cx="4190473" cy="260347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模型详解</a:t>
            </a:r>
            <a:endParaRPr lang="zh-CN" altLang="en-US" dirty="0"/>
          </a:p>
        </p:txBody>
      </p:sp>
      <p:sp>
        <p:nvSpPr>
          <p:cNvPr id="7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8" name="组合 7"/>
          <p:cNvGrpSpPr/>
          <p:nvPr/>
        </p:nvGrpSpPr>
        <p:grpSpPr>
          <a:xfrm>
            <a:off x="4139952" y="851569"/>
            <a:ext cx="4392487" cy="1144117"/>
            <a:chOff x="506022" y="3655964"/>
            <a:chExt cx="3447222" cy="1398311"/>
          </a:xfrm>
        </p:grpSpPr>
        <p:sp>
          <p:nvSpPr>
            <p:cNvPr id="18" name="矩形 17"/>
            <p:cNvSpPr/>
            <p:nvPr/>
          </p:nvSpPr>
          <p:spPr>
            <a:xfrm>
              <a:off x="625759" y="3743535"/>
              <a:ext cx="3327485" cy="131074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506022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11560" y="3685229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相似度计算模块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75558" y="4131201"/>
              <a:ext cx="3230959" cy="835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作用：计算中心节点与邻居节点的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特征相似度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，用于识别伪装邻居。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关键点：使用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余弦相似度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而非内积，避免特征尺度影响。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pic>
        <p:nvPicPr>
          <p:cNvPr id="4" name="图片 3" descr="图示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38" y="764269"/>
            <a:ext cx="3213566" cy="4295209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4139952" y="2075705"/>
            <a:ext cx="4495246" cy="1144117"/>
            <a:chOff x="506022" y="3655964"/>
            <a:chExt cx="3527868" cy="1398311"/>
          </a:xfrm>
        </p:grpSpPr>
        <p:sp>
          <p:nvSpPr>
            <p:cNvPr id="12" name="矩形 11"/>
            <p:cNvSpPr/>
            <p:nvPr/>
          </p:nvSpPr>
          <p:spPr>
            <a:xfrm>
              <a:off x="625759" y="3743535"/>
              <a:ext cx="3327485" cy="131074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06022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11560" y="3685229"/>
              <a:ext cx="1944216" cy="376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强化学习邻居选择器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41642" y="4140296"/>
              <a:ext cx="3392248" cy="835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作用：动态学习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最优的邻居过滤阈值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关键点：阈值不是固定的超参数，而是由策略网络根据节点特征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动态生成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39952" y="3322185"/>
            <a:ext cx="4392488" cy="833741"/>
            <a:chOff x="506022" y="3655964"/>
            <a:chExt cx="3447223" cy="1018977"/>
          </a:xfrm>
        </p:grpSpPr>
        <p:sp>
          <p:nvSpPr>
            <p:cNvPr id="30" name="矩形 29"/>
            <p:cNvSpPr/>
            <p:nvPr/>
          </p:nvSpPr>
          <p:spPr>
            <a:xfrm>
              <a:off x="625759" y="3743535"/>
              <a:ext cx="3327485" cy="931406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506022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11560" y="3685229"/>
              <a:ext cx="1944216" cy="376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分关系聚合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722286" y="4038612"/>
              <a:ext cx="3230959" cy="564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作用：对</a:t>
              </a:r>
              <a:r>
                <a:rPr lang="en-US" altLang="zh-CN" sz="1200" b="1" dirty="0">
                  <a:solidFill>
                    <a:srgbClr val="FF0000"/>
                  </a:solidFill>
                  <a:latin typeface="quote-cjk-patch"/>
                </a:rPr>
                <a:t>11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种不同类型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的边分别进行邻居聚合，保留异构信息。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139950" y="4225737"/>
            <a:ext cx="4392488" cy="833741"/>
            <a:chOff x="506022" y="3655964"/>
            <a:chExt cx="3447223" cy="1018977"/>
          </a:xfrm>
        </p:grpSpPr>
        <p:sp>
          <p:nvSpPr>
            <p:cNvPr id="47" name="矩形 46"/>
            <p:cNvSpPr/>
            <p:nvPr/>
          </p:nvSpPr>
          <p:spPr>
            <a:xfrm>
              <a:off x="625759" y="3743535"/>
              <a:ext cx="3327485" cy="931406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506022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11560" y="3685229"/>
              <a:ext cx="1944216" cy="376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跨关系注意力聚合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22286" y="4038612"/>
              <a:ext cx="3230959" cy="564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将</a:t>
              </a:r>
              <a:r>
                <a:rPr lang="en-US" altLang="zh-CN" sz="1200" b="1" dirty="0">
                  <a:solidFill>
                    <a:srgbClr val="FF0000"/>
                  </a:solidFill>
                  <a:latin typeface="quote-cjk-patch"/>
                </a:rPr>
                <a:t>11</a:t>
              </a:r>
              <a:r>
                <a:rPr lang="zh-CN" altLang="en-US" sz="1200" b="1" dirty="0">
                  <a:solidFill>
                    <a:srgbClr val="FF0000"/>
                  </a:solidFill>
                  <a:latin typeface="quote-cjk-patch"/>
                </a:rPr>
                <a:t>种关系的嵌入融合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为最终表示，使用注意力机制学习各关系的重要性。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训练问题与解决</a:t>
            </a:r>
            <a:endParaRPr lang="zh-CN" altLang="en-US" dirty="0"/>
          </a:p>
        </p:txBody>
      </p:sp>
      <p:sp>
        <p:nvSpPr>
          <p:cNvPr id="20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49" y="6387542"/>
            <a:ext cx="938700" cy="31290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5434528" y="912865"/>
            <a:ext cx="2809360" cy="4107157"/>
            <a:chOff x="3216297" y="958067"/>
            <a:chExt cx="2541357" cy="3762586"/>
          </a:xfrm>
        </p:grpSpPr>
        <p:sp>
          <p:nvSpPr>
            <p:cNvPr id="47" name="矩形 79"/>
            <p:cNvSpPr>
              <a:spLocks noChangeArrowheads="1"/>
            </p:cNvSpPr>
            <p:nvPr/>
          </p:nvSpPr>
          <p:spPr bwMode="auto">
            <a:xfrm>
              <a:off x="3229718" y="958067"/>
              <a:ext cx="2514528" cy="376258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005A8A"/>
              </a:solidFill>
              <a:beve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8" name="矩形 82"/>
            <p:cNvSpPr>
              <a:spLocks noChangeArrowheads="1"/>
            </p:cNvSpPr>
            <p:nvPr/>
          </p:nvSpPr>
          <p:spPr bwMode="auto">
            <a:xfrm>
              <a:off x="3216297" y="962558"/>
              <a:ext cx="2514528" cy="442910"/>
            </a:xfrm>
            <a:prstGeom prst="rect">
              <a:avLst/>
            </a:prstGeom>
            <a:solidFill>
              <a:srgbClr val="005A8A"/>
            </a:solidFill>
            <a:ln>
              <a:noFil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9" name="矩形 85"/>
            <p:cNvSpPr>
              <a:spLocks noChangeArrowheads="1"/>
            </p:cNvSpPr>
            <p:nvPr/>
          </p:nvSpPr>
          <p:spPr bwMode="auto">
            <a:xfrm>
              <a:off x="3243126" y="1063817"/>
              <a:ext cx="2514528" cy="290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1096645"/>
              <a:r>
                <a:rPr lang="zh-CN" altLang="en-US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核心创新点</a:t>
              </a:r>
              <a:r>
                <a:rPr lang="en-US" altLang="zh-CN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\</a:t>
              </a:r>
              <a:r>
                <a:rPr lang="zh-CN" altLang="en-US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痛点解决</a:t>
              </a:r>
              <a:endParaRPr lang="en-US" altLang="zh-CN" b="1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27100" y="777553"/>
            <a:ext cx="3816424" cy="2520537"/>
            <a:chOff x="395536" y="958066"/>
            <a:chExt cx="3816424" cy="2520537"/>
          </a:xfrm>
        </p:grpSpPr>
        <p:grpSp>
          <p:nvGrpSpPr>
            <p:cNvPr id="42" name="组合 41"/>
            <p:cNvGrpSpPr/>
            <p:nvPr/>
          </p:nvGrpSpPr>
          <p:grpSpPr>
            <a:xfrm>
              <a:off x="395536" y="958066"/>
              <a:ext cx="3816424" cy="2520537"/>
              <a:chOff x="3169905" y="958064"/>
              <a:chExt cx="2619975" cy="3989949"/>
            </a:xfrm>
          </p:grpSpPr>
          <p:sp>
            <p:nvSpPr>
              <p:cNvPr id="43" name="矩形 79"/>
              <p:cNvSpPr>
                <a:spLocks noChangeArrowheads="1"/>
              </p:cNvSpPr>
              <p:nvPr/>
            </p:nvSpPr>
            <p:spPr bwMode="auto">
              <a:xfrm>
                <a:off x="3229718" y="958066"/>
                <a:ext cx="2514528" cy="3989947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005A8A"/>
                </a:solidFill>
                <a:bevel/>
              </a:ln>
            </p:spPr>
            <p:txBody>
              <a:bodyPr anchor="ctr"/>
              <a:lstStyle/>
              <a:p>
                <a:pPr algn="ctr" defTabSz="1096645"/>
                <a:endParaRPr lang="zh-CN" altLang="zh-CN" sz="2160">
                  <a:solidFill>
                    <a:srgbClr val="FFFFFF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4" name="矩形 82"/>
              <p:cNvSpPr>
                <a:spLocks noChangeArrowheads="1"/>
              </p:cNvSpPr>
              <p:nvPr/>
            </p:nvSpPr>
            <p:spPr bwMode="auto">
              <a:xfrm>
                <a:off x="3229718" y="958064"/>
                <a:ext cx="2514528" cy="569806"/>
              </a:xfrm>
              <a:prstGeom prst="rect">
                <a:avLst/>
              </a:prstGeom>
              <a:solidFill>
                <a:srgbClr val="005A8A"/>
              </a:solidFill>
              <a:ln>
                <a:noFill/>
              </a:ln>
            </p:spPr>
            <p:txBody>
              <a:bodyPr anchor="ctr"/>
              <a:lstStyle/>
              <a:p>
                <a:pPr algn="ctr" defTabSz="1096645"/>
                <a:endParaRPr lang="zh-CN" altLang="zh-CN" sz="2160">
                  <a:solidFill>
                    <a:srgbClr val="FFFFFF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45" name="矩形 85"/>
              <p:cNvSpPr>
                <a:spLocks noChangeArrowheads="1"/>
              </p:cNvSpPr>
              <p:nvPr/>
            </p:nvSpPr>
            <p:spPr bwMode="auto">
              <a:xfrm>
                <a:off x="3169905" y="1039837"/>
                <a:ext cx="2619975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defTabSz="1096645"/>
                <a:r>
                  <a:rPr lang="zh-CN" altLang="en-US" b="1" dirty="0">
                    <a:solidFill>
                      <a:prstClr val="white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模型超参数设置</a:t>
                </a:r>
                <a:endParaRPr lang="en-US" altLang="zh-CN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pic>
          <p:nvPicPr>
            <p:cNvPr id="60" name="图片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872" y="1492190"/>
              <a:ext cx="3522840" cy="1908754"/>
            </a:xfrm>
            <a:prstGeom prst="rect">
              <a:avLst/>
            </a:prstGeom>
          </p:spPr>
        </p:pic>
      </p:grpSp>
      <p:sp>
        <p:nvSpPr>
          <p:cNvPr id="61" name="箭头: 右 60"/>
          <p:cNvSpPr/>
          <p:nvPr/>
        </p:nvSpPr>
        <p:spPr>
          <a:xfrm>
            <a:off x="4651885" y="2734331"/>
            <a:ext cx="432048" cy="3473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2" name="组合 61"/>
          <p:cNvGrpSpPr/>
          <p:nvPr/>
        </p:nvGrpSpPr>
        <p:grpSpPr>
          <a:xfrm>
            <a:off x="427100" y="3471516"/>
            <a:ext cx="4258007" cy="1628322"/>
            <a:chOff x="625759" y="3743536"/>
            <a:chExt cx="3341683" cy="1990093"/>
          </a:xfrm>
        </p:grpSpPr>
        <p:sp>
          <p:nvSpPr>
            <p:cNvPr id="63" name="矩形 62"/>
            <p:cNvSpPr/>
            <p:nvPr/>
          </p:nvSpPr>
          <p:spPr>
            <a:xfrm>
              <a:off x="625759" y="3743536"/>
              <a:ext cx="3327485" cy="1990093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675558" y="4131201"/>
              <a:ext cx="3291884" cy="16024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问题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1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：模型区分能力差</a:t>
              </a:r>
              <a:endParaRPr lang="en-US" altLang="zh-CN" sz="1200" dirty="0">
                <a:solidFill>
                  <a:srgbClr val="0F1115"/>
                </a:solidFill>
                <a:latin typeface="quote-cjk-patch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早期版本模型训练后，验证集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AUC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始终在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0.5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左右徘徊，说明模型几乎没有学到有效的区分特征，预测接近随机猜测。</a:t>
              </a:r>
              <a:endParaRPr lang="en-US" altLang="zh-CN" sz="1200" dirty="0">
                <a:solidFill>
                  <a:srgbClr val="0F1115"/>
                </a:solidFill>
                <a:latin typeface="quote-cjk-patch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问题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2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2-hop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邻居构建内存溢出</a:t>
              </a:r>
              <a:endParaRPr lang="en-US" altLang="zh-CN" sz="1200" dirty="0">
                <a:solidFill>
                  <a:srgbClr val="0F1115"/>
                </a:solidFill>
                <a:latin typeface="quote-cjk-patch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现象：为所有节点构建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2-hop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邻居时，内存占用超过可用内存，程序崩溃。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sp>
        <p:nvSpPr>
          <p:cNvPr id="72" name="矩形 82"/>
          <p:cNvSpPr>
            <a:spLocks noChangeArrowheads="1"/>
          </p:cNvSpPr>
          <p:nvPr/>
        </p:nvSpPr>
        <p:spPr bwMode="auto">
          <a:xfrm>
            <a:off x="345985" y="3357644"/>
            <a:ext cx="2514529" cy="359959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txBody>
          <a:bodyPr anchor="ctr"/>
          <a:lstStyle/>
          <a:p>
            <a:pPr algn="ctr" defTabSz="1096645"/>
            <a:endParaRPr lang="zh-CN" altLang="zh-CN" sz="2160">
              <a:solidFill>
                <a:srgbClr val="FFFFFF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73" name="矩形 85"/>
          <p:cNvSpPr>
            <a:spLocks noChangeArrowheads="1"/>
          </p:cNvSpPr>
          <p:nvPr/>
        </p:nvSpPr>
        <p:spPr bwMode="auto">
          <a:xfrm>
            <a:off x="258858" y="3409302"/>
            <a:ext cx="26199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096645"/>
            <a:r>
              <a:rPr lang="zh-CN" altLang="en-US" b="1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训练问题</a:t>
            </a:r>
            <a:endParaRPr lang="en-US" altLang="zh-CN" b="1" dirty="0">
              <a:solidFill>
                <a:prstClr val="white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5492642" y="1485367"/>
            <a:ext cx="2622587" cy="942368"/>
            <a:chOff x="5167215" y="2197845"/>
            <a:chExt cx="4451432" cy="1490808"/>
          </a:xfrm>
        </p:grpSpPr>
        <p:sp>
          <p:nvSpPr>
            <p:cNvPr id="79" name="矩形 78"/>
            <p:cNvSpPr/>
            <p:nvPr/>
          </p:nvSpPr>
          <p:spPr>
            <a:xfrm>
              <a:off x="5378731" y="2369504"/>
              <a:ext cx="4239916" cy="1319149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zh-CN" sz="1000" dirty="0">
                <a:solidFill>
                  <a:schemeClr val="tx1"/>
                </a:solidFill>
                <a:latin typeface="Trebuchet MS" panose="020B0603020202020204" pitchFamily="96" charset="0"/>
                <a:ea typeface="宋体" panose="02010600030101010101" pitchFamily="2" charset="-122"/>
              </a:endParaRPr>
            </a:p>
            <a:p>
              <a:r>
                <a:rPr lang="zh-CN" altLang="en-US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针对金融图中大量低度数节点的特点，通过</a:t>
              </a:r>
              <a:r>
                <a:rPr lang="en-US" altLang="zh-CN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2-hop</a:t>
              </a:r>
              <a:r>
                <a:rPr lang="zh-CN" altLang="en-US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邻居扩展解决信息稀疏问题</a:t>
              </a:r>
              <a:endParaRPr lang="zh-CN" altLang="en-US" sz="1000" dirty="0">
                <a:solidFill>
                  <a:schemeClr val="tx1"/>
                </a:solidFill>
                <a:latin typeface="Trebuchet MS" panose="020B0603020202020204" pitchFamily="96" charset="0"/>
                <a:ea typeface="宋体" panose="02010600030101010101" pitchFamily="2" charset="-122"/>
              </a:endParaRPr>
            </a:p>
          </p:txBody>
        </p:sp>
        <p:sp>
          <p:nvSpPr>
            <p:cNvPr id="81" name="矩形 82"/>
            <p:cNvSpPr>
              <a:spLocks noChangeArrowheads="1"/>
            </p:cNvSpPr>
            <p:nvPr/>
          </p:nvSpPr>
          <p:spPr bwMode="auto">
            <a:xfrm>
              <a:off x="5254341" y="2197845"/>
              <a:ext cx="2514528" cy="555985"/>
            </a:xfrm>
            <a:prstGeom prst="rect">
              <a:avLst/>
            </a:prstGeom>
            <a:solidFill>
              <a:srgbClr val="005A8A"/>
            </a:solidFill>
            <a:ln>
              <a:noFil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2" name="矩形 85"/>
            <p:cNvSpPr>
              <a:spLocks noChangeArrowheads="1"/>
            </p:cNvSpPr>
            <p:nvPr/>
          </p:nvSpPr>
          <p:spPr bwMode="auto">
            <a:xfrm>
              <a:off x="5167215" y="2249503"/>
              <a:ext cx="2715136" cy="438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defTabSz="1096645"/>
              <a:r>
                <a:rPr lang="zh-CN" altLang="en-US" sz="1200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自适应</a:t>
              </a:r>
              <a:r>
                <a:rPr lang="en-US" altLang="zh-CN" sz="1200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2-hop</a:t>
              </a:r>
              <a:r>
                <a:rPr lang="zh-CN" altLang="en-US" sz="1200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扩展</a:t>
              </a:r>
              <a:endParaRPr lang="en-US" altLang="zh-CN" sz="1200" b="1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5477805" y="2637494"/>
            <a:ext cx="2622587" cy="942368"/>
            <a:chOff x="5167215" y="2197845"/>
            <a:chExt cx="4451432" cy="1490808"/>
          </a:xfrm>
        </p:grpSpPr>
        <p:sp>
          <p:nvSpPr>
            <p:cNvPr id="103" name="矩形 102"/>
            <p:cNvSpPr/>
            <p:nvPr/>
          </p:nvSpPr>
          <p:spPr>
            <a:xfrm>
              <a:off x="5378731" y="2369504"/>
              <a:ext cx="4239916" cy="1319149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zh-CN" sz="1000" dirty="0">
                <a:solidFill>
                  <a:schemeClr val="tx1"/>
                </a:solidFill>
                <a:latin typeface="Trebuchet MS" panose="020B0603020202020204" pitchFamily="96" charset="0"/>
                <a:ea typeface="宋体" panose="02010600030101010101" pitchFamily="2" charset="-122"/>
              </a:endParaRPr>
            </a:p>
            <a:p>
              <a:r>
                <a:rPr lang="zh-CN" altLang="en-US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发现并修正原始数据边方向与欺诈传播逻辑的不一致，带来显著性能提升</a:t>
              </a:r>
              <a:endParaRPr lang="zh-CN" altLang="en-US" sz="1000" dirty="0">
                <a:solidFill>
                  <a:schemeClr val="tx1"/>
                </a:solidFill>
                <a:latin typeface="Trebuchet MS" panose="020B0603020202020204" pitchFamily="96" charset="0"/>
                <a:ea typeface="宋体" panose="02010600030101010101" pitchFamily="2" charset="-122"/>
              </a:endParaRPr>
            </a:p>
          </p:txBody>
        </p:sp>
        <p:sp>
          <p:nvSpPr>
            <p:cNvPr id="104" name="矩形 82"/>
            <p:cNvSpPr>
              <a:spLocks noChangeArrowheads="1"/>
            </p:cNvSpPr>
            <p:nvPr/>
          </p:nvSpPr>
          <p:spPr bwMode="auto">
            <a:xfrm>
              <a:off x="5254341" y="2197845"/>
              <a:ext cx="2514528" cy="555985"/>
            </a:xfrm>
            <a:prstGeom prst="rect">
              <a:avLst/>
            </a:prstGeom>
            <a:solidFill>
              <a:srgbClr val="005A8A"/>
            </a:solidFill>
            <a:ln>
              <a:noFil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5" name="矩形 85"/>
            <p:cNvSpPr>
              <a:spLocks noChangeArrowheads="1"/>
            </p:cNvSpPr>
            <p:nvPr/>
          </p:nvSpPr>
          <p:spPr bwMode="auto">
            <a:xfrm>
              <a:off x="5167215" y="2249503"/>
              <a:ext cx="2715136" cy="438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defTabSz="1096645"/>
              <a:r>
                <a:rPr lang="zh-CN" altLang="en-US" sz="1200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边方向校正</a:t>
              </a:r>
              <a:endParaRPr lang="en-US" altLang="zh-CN" sz="1200" b="1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5477805" y="3789622"/>
            <a:ext cx="2622587" cy="942368"/>
            <a:chOff x="5167215" y="2197845"/>
            <a:chExt cx="4451432" cy="1490808"/>
          </a:xfrm>
        </p:grpSpPr>
        <p:sp>
          <p:nvSpPr>
            <p:cNvPr id="107" name="矩形 106"/>
            <p:cNvSpPr/>
            <p:nvPr/>
          </p:nvSpPr>
          <p:spPr>
            <a:xfrm>
              <a:off x="5378731" y="2369504"/>
              <a:ext cx="4239916" cy="1319149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zh-CN" sz="1000" dirty="0">
                <a:solidFill>
                  <a:schemeClr val="tx1"/>
                </a:solidFill>
                <a:latin typeface="Trebuchet MS" panose="020B0603020202020204" pitchFamily="96" charset="0"/>
                <a:ea typeface="宋体" panose="02010600030101010101" pitchFamily="2" charset="-122"/>
              </a:endParaRPr>
            </a:p>
            <a:p>
              <a:r>
                <a:rPr lang="zh-CN" altLang="en-US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组合</a:t>
              </a:r>
              <a:r>
                <a:rPr lang="zh-CN" altLang="en-US" sz="1000" b="1" dirty="0">
                  <a:solidFill>
                    <a:srgbClr val="FF0000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下采样</a:t>
              </a:r>
              <a:r>
                <a:rPr lang="zh-CN" altLang="en-US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、</a:t>
              </a:r>
              <a:r>
                <a:rPr lang="en-US" altLang="zh-CN" sz="1000" b="1" dirty="0">
                  <a:solidFill>
                    <a:srgbClr val="FF0000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Focal Loss</a:t>
              </a:r>
              <a:r>
                <a:rPr lang="zh-CN" altLang="en-US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和</a:t>
              </a:r>
              <a:r>
                <a:rPr lang="zh-CN" altLang="en-US" sz="1000" b="1" dirty="0">
                  <a:solidFill>
                    <a:srgbClr val="FF0000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辅助任务</a:t>
              </a:r>
              <a:r>
                <a:rPr lang="zh-CN" altLang="en-US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，有效应对</a:t>
              </a:r>
              <a:r>
                <a:rPr lang="en-US" altLang="zh-CN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1.18%</a:t>
              </a:r>
              <a:r>
                <a:rPr lang="zh-CN" altLang="en-US" sz="1000" dirty="0">
                  <a:solidFill>
                    <a:schemeClr val="tx1"/>
                  </a:solidFill>
                  <a:latin typeface="Trebuchet MS" panose="020B0603020202020204" pitchFamily="96" charset="0"/>
                  <a:ea typeface="宋体" panose="02010600030101010101" pitchFamily="2" charset="-122"/>
                </a:rPr>
                <a:t>的极端类别不平衡</a:t>
              </a:r>
              <a:endParaRPr lang="zh-CN" altLang="en-US" sz="1000" dirty="0">
                <a:solidFill>
                  <a:schemeClr val="tx1"/>
                </a:solidFill>
                <a:latin typeface="Trebuchet MS" panose="020B0603020202020204" pitchFamily="96" charset="0"/>
                <a:ea typeface="宋体" panose="02010600030101010101" pitchFamily="2" charset="-122"/>
              </a:endParaRPr>
            </a:p>
          </p:txBody>
        </p:sp>
        <p:sp>
          <p:nvSpPr>
            <p:cNvPr id="108" name="矩形 82"/>
            <p:cNvSpPr>
              <a:spLocks noChangeArrowheads="1"/>
            </p:cNvSpPr>
            <p:nvPr/>
          </p:nvSpPr>
          <p:spPr bwMode="auto">
            <a:xfrm>
              <a:off x="5254341" y="2197845"/>
              <a:ext cx="2514528" cy="555985"/>
            </a:xfrm>
            <a:prstGeom prst="rect">
              <a:avLst/>
            </a:prstGeom>
            <a:solidFill>
              <a:srgbClr val="005A8A"/>
            </a:solidFill>
            <a:ln>
              <a:noFil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9" name="矩形 85"/>
            <p:cNvSpPr>
              <a:spLocks noChangeArrowheads="1"/>
            </p:cNvSpPr>
            <p:nvPr/>
          </p:nvSpPr>
          <p:spPr bwMode="auto">
            <a:xfrm>
              <a:off x="5167215" y="2249503"/>
              <a:ext cx="2715136" cy="438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defTabSz="1096645"/>
              <a:r>
                <a:rPr lang="zh-CN" altLang="en-US" sz="1200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多策略类别平衡</a:t>
              </a:r>
              <a:endParaRPr lang="en-US" altLang="zh-CN" sz="1200" b="1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针对比赛的适配与增强</a:t>
            </a:r>
            <a:endParaRPr lang="zh-CN" altLang="en-US" dirty="0"/>
          </a:p>
        </p:txBody>
      </p:sp>
      <p:sp>
        <p:nvSpPr>
          <p:cNvPr id="7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49" y="6387542"/>
            <a:ext cx="938700" cy="312900"/>
          </a:xfrm>
          <a:prstGeom prst="rect">
            <a:avLst/>
          </a:prstGeom>
        </p:spPr>
      </p:pic>
      <p:grpSp>
        <p:nvGrpSpPr>
          <p:cNvPr id="72" name="组合 71"/>
          <p:cNvGrpSpPr/>
          <p:nvPr/>
        </p:nvGrpSpPr>
        <p:grpSpPr>
          <a:xfrm>
            <a:off x="3229718" y="958066"/>
            <a:ext cx="2527936" cy="3989947"/>
            <a:chOff x="3229718" y="958066"/>
            <a:chExt cx="2527936" cy="3762587"/>
          </a:xfrm>
        </p:grpSpPr>
        <p:sp>
          <p:nvSpPr>
            <p:cNvPr id="67" name="矩形 79"/>
            <p:cNvSpPr>
              <a:spLocks noChangeArrowheads="1"/>
            </p:cNvSpPr>
            <p:nvPr/>
          </p:nvSpPr>
          <p:spPr bwMode="auto">
            <a:xfrm>
              <a:off x="3229718" y="958067"/>
              <a:ext cx="2514528" cy="376258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005A8A"/>
              </a:solidFill>
              <a:beve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8" name="矩形 82"/>
            <p:cNvSpPr>
              <a:spLocks noChangeArrowheads="1"/>
            </p:cNvSpPr>
            <p:nvPr/>
          </p:nvSpPr>
          <p:spPr bwMode="auto">
            <a:xfrm>
              <a:off x="3229718" y="958066"/>
              <a:ext cx="2514528" cy="448011"/>
            </a:xfrm>
            <a:prstGeom prst="rect">
              <a:avLst/>
            </a:prstGeom>
            <a:solidFill>
              <a:srgbClr val="005A8A"/>
            </a:solidFill>
            <a:ln>
              <a:noFil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69" name="矩形 85"/>
            <p:cNvSpPr>
              <a:spLocks noChangeArrowheads="1"/>
            </p:cNvSpPr>
            <p:nvPr/>
          </p:nvSpPr>
          <p:spPr bwMode="auto">
            <a:xfrm>
              <a:off x="3243126" y="1063817"/>
              <a:ext cx="2514528" cy="290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1096645"/>
              <a:r>
                <a:rPr lang="zh-CN" altLang="en-US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类别不平衡处理</a:t>
              </a:r>
              <a:endParaRPr lang="en-US" altLang="zh-CN" b="1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395536" y="958066"/>
            <a:ext cx="2619975" cy="3989947"/>
            <a:chOff x="3169905" y="958066"/>
            <a:chExt cx="2619975" cy="3989947"/>
          </a:xfrm>
        </p:grpSpPr>
        <p:sp>
          <p:nvSpPr>
            <p:cNvPr id="79" name="矩形 79"/>
            <p:cNvSpPr>
              <a:spLocks noChangeArrowheads="1"/>
            </p:cNvSpPr>
            <p:nvPr/>
          </p:nvSpPr>
          <p:spPr bwMode="auto">
            <a:xfrm>
              <a:off x="3229718" y="958066"/>
              <a:ext cx="2514528" cy="3989947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005A8A"/>
              </a:solidFill>
              <a:beve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0" name="矩形 82"/>
            <p:cNvSpPr>
              <a:spLocks noChangeArrowheads="1"/>
            </p:cNvSpPr>
            <p:nvPr/>
          </p:nvSpPr>
          <p:spPr bwMode="auto">
            <a:xfrm>
              <a:off x="3229718" y="958066"/>
              <a:ext cx="2514528" cy="475083"/>
            </a:xfrm>
            <a:prstGeom prst="rect">
              <a:avLst/>
            </a:prstGeom>
            <a:solidFill>
              <a:srgbClr val="005A8A"/>
            </a:solidFill>
            <a:ln>
              <a:noFil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1" name="矩形 85"/>
            <p:cNvSpPr>
              <a:spLocks noChangeArrowheads="1"/>
            </p:cNvSpPr>
            <p:nvPr/>
          </p:nvSpPr>
          <p:spPr bwMode="auto">
            <a:xfrm>
              <a:off x="3169905" y="1039837"/>
              <a:ext cx="26199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defTabSz="1096645"/>
              <a:r>
                <a:rPr lang="zh-CN" altLang="en-US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自适应采样 </a:t>
              </a:r>
              <a:r>
                <a:rPr lang="en-US" altLang="zh-CN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+ 2-hop</a:t>
              </a:r>
              <a:r>
                <a:rPr lang="zh-CN" altLang="en-US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邻居扩展</a:t>
              </a:r>
              <a:endParaRPr lang="en-US" altLang="zh-CN" b="1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6063600" y="964198"/>
            <a:ext cx="2527936" cy="3983815"/>
            <a:chOff x="3229718" y="958067"/>
            <a:chExt cx="2527936" cy="3762586"/>
          </a:xfrm>
        </p:grpSpPr>
        <p:sp>
          <p:nvSpPr>
            <p:cNvPr id="85" name="矩形 79"/>
            <p:cNvSpPr>
              <a:spLocks noChangeArrowheads="1"/>
            </p:cNvSpPr>
            <p:nvPr/>
          </p:nvSpPr>
          <p:spPr bwMode="auto">
            <a:xfrm>
              <a:off x="3229718" y="958067"/>
              <a:ext cx="2514528" cy="3762586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rgbClr val="005A8A"/>
              </a:solidFill>
              <a:beve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6" name="矩形 82"/>
            <p:cNvSpPr>
              <a:spLocks noChangeArrowheads="1"/>
            </p:cNvSpPr>
            <p:nvPr/>
          </p:nvSpPr>
          <p:spPr bwMode="auto">
            <a:xfrm>
              <a:off x="3229718" y="958067"/>
              <a:ext cx="2514528" cy="442910"/>
            </a:xfrm>
            <a:prstGeom prst="rect">
              <a:avLst/>
            </a:prstGeom>
            <a:solidFill>
              <a:srgbClr val="005A8A"/>
            </a:solidFill>
            <a:ln>
              <a:noFill/>
            </a:ln>
          </p:spPr>
          <p:txBody>
            <a:bodyPr anchor="ctr"/>
            <a:lstStyle/>
            <a:p>
              <a:pPr algn="ctr" defTabSz="1096645"/>
              <a:endParaRPr lang="zh-CN" altLang="zh-CN" sz="2160">
                <a:solidFill>
                  <a:srgbClr val="FFFFFF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7" name="矩形 85"/>
            <p:cNvSpPr>
              <a:spLocks noChangeArrowheads="1"/>
            </p:cNvSpPr>
            <p:nvPr/>
          </p:nvSpPr>
          <p:spPr bwMode="auto">
            <a:xfrm>
              <a:off x="3243126" y="1063817"/>
              <a:ext cx="2514528" cy="290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defTabSz="1096645"/>
              <a:r>
                <a:rPr lang="zh-CN" altLang="en-US" b="1" dirty="0">
                  <a:solidFill>
                    <a:prstClr val="white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边方向校正</a:t>
              </a:r>
              <a:endParaRPr lang="en-US" altLang="zh-CN" b="1" dirty="0">
                <a:solidFill>
                  <a:prstClr val="white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pic>
        <p:nvPicPr>
          <p:cNvPr id="91" name="图片 90" descr="图示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87" y="1538899"/>
            <a:ext cx="2048561" cy="2353175"/>
          </a:xfrm>
          <a:prstGeom prst="rect">
            <a:avLst/>
          </a:prstGeom>
        </p:spPr>
      </p:pic>
      <p:sp>
        <p:nvSpPr>
          <p:cNvPr id="92" name="矩形 79"/>
          <p:cNvSpPr>
            <a:spLocks noChangeArrowheads="1"/>
          </p:cNvSpPr>
          <p:nvPr/>
        </p:nvSpPr>
        <p:spPr bwMode="auto">
          <a:xfrm>
            <a:off x="514579" y="3980131"/>
            <a:ext cx="2395776" cy="87982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5A8A"/>
            </a:solidFill>
            <a:bevel/>
          </a:ln>
        </p:spPr>
        <p:txBody>
          <a:bodyPr anchor="ctr"/>
          <a:lstStyle/>
          <a:p>
            <a:pPr defTabSz="1096645"/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问题：数据分析发现</a:t>
            </a:r>
            <a:r>
              <a:rPr lang="en-US" altLang="zh-CN" sz="1000" b="1" dirty="0">
                <a:solidFill>
                  <a:srgbClr val="FF0000"/>
                </a:solidFill>
                <a:ea typeface="字魂105号-简雅黑" panose="00000500000000000000" pitchFamily="2" charset="-122"/>
              </a:rPr>
              <a:t>70%+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节点度数≤</a:t>
            </a:r>
            <a:r>
              <a:rPr lang="en-US" altLang="zh-CN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2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，传统</a:t>
            </a:r>
            <a:r>
              <a:rPr lang="en-US" altLang="zh-CN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1-hop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聚合信息有限。</a:t>
            </a:r>
            <a:endParaRPr lang="en-US" altLang="zh-CN" sz="1000" dirty="0">
              <a:solidFill>
                <a:srgbClr val="000000"/>
              </a:solidFill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defTabSz="1096645"/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效果：低度数节点从几乎无邻居信息 → 可利用</a:t>
            </a:r>
            <a:r>
              <a:rPr lang="en-US" altLang="zh-CN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2-hop</a:t>
            </a:r>
            <a:r>
              <a:rPr lang="zh-CN" altLang="en-US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扩展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的邻居信息，显著提升这部分节点的表示质量。</a:t>
            </a:r>
            <a:endParaRPr lang="zh-CN" altLang="en-US" sz="1000" dirty="0">
              <a:solidFill>
                <a:srgbClr val="000000"/>
              </a:solidFill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94" name="图片 93" descr="图示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317" y="1458882"/>
            <a:ext cx="2016223" cy="2470242"/>
          </a:xfrm>
          <a:prstGeom prst="rect">
            <a:avLst/>
          </a:prstGeom>
        </p:spPr>
      </p:pic>
      <p:sp>
        <p:nvSpPr>
          <p:cNvPr id="95" name="矩形 79"/>
          <p:cNvSpPr>
            <a:spLocks noChangeArrowheads="1"/>
          </p:cNvSpPr>
          <p:nvPr/>
        </p:nvSpPr>
        <p:spPr bwMode="auto">
          <a:xfrm>
            <a:off x="3275856" y="3939902"/>
            <a:ext cx="2395776" cy="95183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5A8A"/>
            </a:solidFill>
            <a:bevel/>
          </a:ln>
        </p:spPr>
        <p:txBody>
          <a:bodyPr anchor="ctr"/>
          <a:lstStyle/>
          <a:p>
            <a:pPr defTabSz="1096645"/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问题：欺诈样本</a:t>
            </a:r>
            <a:r>
              <a:rPr lang="zh-CN" altLang="en-US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仅占</a:t>
            </a:r>
            <a:r>
              <a:rPr lang="en-US" altLang="zh-CN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1.18%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，模型容易学到“全预测正常”的捷径。</a:t>
            </a:r>
            <a:endParaRPr lang="en-US" altLang="zh-CN" sz="1000" dirty="0">
              <a:solidFill>
                <a:srgbClr val="000000"/>
              </a:solidFill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defTabSz="1096645"/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效果：采用</a:t>
            </a:r>
            <a:r>
              <a:rPr lang="zh-CN" altLang="en-US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下采样、</a:t>
            </a:r>
            <a:r>
              <a:rPr lang="en-US" altLang="zh-CN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Focal Loss</a:t>
            </a:r>
            <a:r>
              <a:rPr lang="en-US" altLang="zh-CN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与</a:t>
            </a:r>
            <a:r>
              <a:rPr lang="zh-CN" altLang="en-US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辅助标签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任务三重策略，使模型有效聚焦于欺诈样本，显著增强了对少数类的识别能力</a:t>
            </a:r>
            <a:endParaRPr lang="zh-CN" altLang="en-US" sz="1000" dirty="0">
              <a:solidFill>
                <a:srgbClr val="000000"/>
              </a:solidFill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192" y="1695600"/>
            <a:ext cx="2513808" cy="888860"/>
          </a:xfrm>
          <a:prstGeom prst="rect">
            <a:avLst/>
          </a:prstGeom>
        </p:spPr>
      </p:pic>
      <p:sp>
        <p:nvSpPr>
          <p:cNvPr id="98" name="矩形 79"/>
          <p:cNvSpPr>
            <a:spLocks noChangeArrowheads="1"/>
          </p:cNvSpPr>
          <p:nvPr/>
        </p:nvSpPr>
        <p:spPr bwMode="auto">
          <a:xfrm>
            <a:off x="6122976" y="3115502"/>
            <a:ext cx="2395776" cy="95183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5A8A"/>
            </a:solidFill>
            <a:bevel/>
          </a:ln>
        </p:spPr>
        <p:txBody>
          <a:bodyPr anchor="ctr"/>
          <a:lstStyle/>
          <a:p>
            <a:pPr defTabSz="1096645"/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问题：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原始数据的边方向可能是“</a:t>
            </a:r>
            <a:r>
              <a:rPr lang="zh-CN" altLang="en-US" sz="1000" b="1" dirty="0">
                <a:solidFill>
                  <a:srgbClr val="FF0000"/>
                </a:solidFill>
                <a:ea typeface="字魂105号-简雅黑" panose="00000500000000000000" pitchFamily="2" charset="-122"/>
              </a:rPr>
              <a:t>受害者→欺诈者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”，导致</a:t>
            </a:r>
            <a:r>
              <a:rPr lang="en-US" altLang="zh-CN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GNN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聚合的是“谁被骗了”而非“骗了谁”， 这与欺诈传播的逻辑相悖。</a:t>
            </a:r>
            <a:endParaRPr lang="en-US" altLang="zh-CN" sz="1000" dirty="0">
              <a:solidFill>
                <a:srgbClr val="000000"/>
              </a:solidFill>
              <a:ea typeface="字魂105号-简雅黑" panose="00000500000000000000" pitchFamily="2" charset="-122"/>
            </a:endParaRPr>
          </a:p>
          <a:p>
            <a:pPr defTabSz="1096645"/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解决方案：</a:t>
            </a:r>
            <a:r>
              <a:rPr lang="zh-CN" altLang="en-US" sz="1000" b="1" dirty="0">
                <a:solidFill>
                  <a:srgbClr val="FF0000"/>
                </a:solidFill>
                <a:ea typeface="字魂105号-简雅黑" panose="00000500000000000000" pitchFamily="2" charset="-122"/>
              </a:rPr>
              <a:t>边方向反转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</a:rPr>
              <a:t>。</a:t>
            </a:r>
            <a:endParaRPr lang="zh-CN" altLang="en-US" sz="1000" dirty="0">
              <a:solidFill>
                <a:srgbClr val="000000"/>
              </a:solidFill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9" name="矩形 79"/>
          <p:cNvSpPr>
            <a:spLocks noChangeArrowheads="1"/>
          </p:cNvSpPr>
          <p:nvPr/>
        </p:nvSpPr>
        <p:spPr bwMode="auto">
          <a:xfrm>
            <a:off x="6122976" y="4257982"/>
            <a:ext cx="2395776" cy="63375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5A8A"/>
            </a:solidFill>
            <a:bevel/>
          </a:ln>
        </p:spPr>
        <p:txBody>
          <a:bodyPr anchor="ctr"/>
          <a:lstStyle/>
          <a:p>
            <a:pPr defTabSz="1096645"/>
            <a:r>
              <a:rPr lang="en-US" altLang="zh-CN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0.80926 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反转后</a:t>
            </a:r>
            <a:r>
              <a:rPr lang="en-US" altLang="zh-CN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:0.82563</a:t>
            </a:r>
            <a:endParaRPr lang="en-US" altLang="zh-CN" sz="1000" dirty="0">
              <a:solidFill>
                <a:srgbClr val="000000"/>
              </a:solidFill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defTabSz="1096645"/>
            <a:r>
              <a:rPr lang="en-US" altLang="zh-CN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AUC</a:t>
            </a:r>
            <a:r>
              <a:rPr lang="zh-CN" altLang="en-US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提升约 </a:t>
            </a:r>
            <a:r>
              <a:rPr lang="en-US" altLang="zh-CN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1.6%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，证明</a:t>
            </a:r>
            <a:r>
              <a:rPr lang="zh-CN" altLang="en-US" sz="1000" b="1" dirty="0">
                <a:solidFill>
                  <a:srgbClr val="FF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边方向校正</a:t>
            </a:r>
            <a:r>
              <a:rPr lang="zh-CN" altLang="en-US" sz="1000" dirty="0">
                <a:solidFill>
                  <a:srgbClr val="000000"/>
                </a:solidFill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对模型理解欺诈传播模式至关重要。</a:t>
            </a:r>
            <a:endParaRPr lang="zh-CN" altLang="en-US" sz="1000" dirty="0">
              <a:solidFill>
                <a:srgbClr val="000000"/>
              </a:solidFill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7201" y="0"/>
            <a:ext cx="9161201" cy="27127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223880" y="2191744"/>
            <a:ext cx="4696241" cy="1011473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131840" y="2453798"/>
            <a:ext cx="30107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4.</a:t>
            </a:r>
            <a:r>
              <a:rPr lang="zh-CN" altLang="en-US" sz="28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实验结果与分析</a:t>
            </a:r>
            <a:endParaRPr lang="zh-CN" altLang="en-US" sz="2800" b="1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2" y="565590"/>
            <a:ext cx="981608" cy="981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65" y="726292"/>
            <a:ext cx="1825583" cy="630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273526" y="998604"/>
            <a:ext cx="5167062" cy="1645920"/>
          </a:xfrm>
          <a:prstGeom prst="rect">
            <a:avLst/>
          </a:prstGeom>
          <a:solidFill>
            <a:schemeClr val="bg1"/>
          </a:solidFill>
          <a:ln>
            <a:solidFill>
              <a:srgbClr val="005A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实验结果与分析</a:t>
            </a:r>
            <a:endParaRPr lang="zh-CN" altLang="en-US" dirty="0"/>
          </a:p>
        </p:txBody>
      </p:sp>
      <p:sp>
        <p:nvSpPr>
          <p:cNvPr id="7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49" y="6387542"/>
            <a:ext cx="938700" cy="3129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29145" y="1028557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榜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03412" y="2597354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r>
              <a:rPr lang="zh-CN" altLang="en-US" dirty="0"/>
              <a:t>榜</a:t>
            </a:r>
            <a:endParaRPr lang="zh-CN" altLang="en-US" dirty="0"/>
          </a:p>
        </p:txBody>
      </p:sp>
      <p:pic>
        <p:nvPicPr>
          <p:cNvPr id="5" name="图片 4" descr="图表, 折线图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22" y="856392"/>
            <a:ext cx="2766797" cy="2065010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83" y="2780242"/>
            <a:ext cx="2814362" cy="210051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7668174" y="998711"/>
            <a:ext cx="775700" cy="16459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19872" y="1023956"/>
            <a:ext cx="4000561" cy="161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训练初期 </a:t>
            </a:r>
            <a:r>
              <a:rPr lang="en-US" altLang="zh-CN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AUC 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迅速攀升，并在 第 </a:t>
            </a:r>
            <a:r>
              <a:rPr lang="en-US" altLang="zh-CN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10 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个 </a:t>
            </a:r>
            <a:r>
              <a:rPr lang="en-US" altLang="zh-CN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Epoch 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达到最佳值 </a:t>
            </a:r>
            <a:r>
              <a:rPr lang="en-US" altLang="zh-CN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0.8300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（红色五角星所示）。这表明 </a:t>
            </a:r>
            <a:r>
              <a:rPr lang="en-US" altLang="zh-CN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CARE-GNN 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能够快速从复杂的图结构中提取出有效的欺诈特征。</a:t>
            </a:r>
            <a:endParaRPr lang="en-US" altLang="zh-CN" sz="11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验证集的最优表现</a:t>
            </a:r>
            <a:r>
              <a:rPr lang="zh-CN" altLang="en-US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（</a:t>
            </a:r>
            <a:r>
              <a:rPr lang="en-US" altLang="zh-CN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0.8300</a:t>
            </a:r>
            <a:r>
              <a:rPr lang="zh-CN" altLang="en-US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）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与最终测试集的成绩</a:t>
            </a:r>
            <a:r>
              <a:rPr lang="zh-CN" altLang="en-US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（</a:t>
            </a:r>
            <a:r>
              <a:rPr lang="en-US" altLang="zh-CN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0.82563</a:t>
            </a:r>
            <a:r>
              <a:rPr lang="zh-CN" altLang="en-US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）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高度一致，证明模型未出现严重的过拟合现象，具备良好的泛化能力</a:t>
            </a:r>
            <a:endParaRPr lang="zh-CN" altLang="en-US" sz="11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59733" y="3063507"/>
            <a:ext cx="5167062" cy="1645920"/>
          </a:xfrm>
          <a:prstGeom prst="rect">
            <a:avLst/>
          </a:prstGeom>
          <a:solidFill>
            <a:schemeClr val="bg1"/>
          </a:solidFill>
          <a:ln>
            <a:solidFill>
              <a:srgbClr val="005A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64336" y="3063507"/>
            <a:ext cx="775700" cy="16459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654011" y="3089625"/>
            <a:ext cx="4000561" cy="136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图表中</a:t>
            </a:r>
            <a:r>
              <a:rPr lang="en-US" altLang="zh-CN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 </a:t>
            </a:r>
            <a:r>
              <a:rPr lang="en-US" altLang="zh-CN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GNN Loss 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与 </a:t>
            </a:r>
            <a:r>
              <a:rPr lang="en-US" altLang="zh-CN" sz="1100" b="1" dirty="0">
                <a:solidFill>
                  <a:srgbClr val="FF000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Label Loss 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同步收敛。</a:t>
            </a:r>
            <a:endParaRPr lang="en-US" altLang="zh-CN" sz="1100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红色虚线（</a:t>
            </a:r>
            <a:r>
              <a:rPr lang="en-US" altLang="zh-CN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Label Loss</a:t>
            </a:r>
            <a:r>
              <a:rPr lang="zh-CN" altLang="en-US" sz="11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）的下降证实了“引入标签相似度辅助任务”策略正在生效</a:t>
            </a:r>
            <a:r>
              <a:rPr lang="zh-CN" altLang="en-US" sz="1100" dirty="0"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。</a:t>
            </a:r>
            <a:r>
              <a:rPr lang="zh-CN" altLang="en-US" sz="1100" dirty="0">
                <a:ea typeface="字魂105号-简雅黑" panose="00000500000000000000" pitchFamily="2" charset="-122"/>
              </a:rPr>
              <a:t>该机制通过增强监督信号，帮助模型在欺诈样本稀缺的情况下（仅占 </a:t>
            </a:r>
            <a:r>
              <a:rPr lang="en-US" altLang="zh-CN" sz="1100" b="1" dirty="0">
                <a:solidFill>
                  <a:srgbClr val="FF0000"/>
                </a:solidFill>
                <a:ea typeface="字魂105号-简雅黑" panose="00000500000000000000" pitchFamily="2" charset="-122"/>
              </a:rPr>
              <a:t>1.18%</a:t>
            </a:r>
            <a:r>
              <a:rPr lang="zh-CN" altLang="en-US" sz="1100" dirty="0">
                <a:ea typeface="字魂105号-简雅黑" panose="00000500000000000000" pitchFamily="2" charset="-122"/>
              </a:rPr>
              <a:t>），依然能够学到</a:t>
            </a:r>
            <a:r>
              <a:rPr lang="zh-CN" altLang="en-US" sz="1100" b="1" dirty="0">
                <a:solidFill>
                  <a:srgbClr val="FF0000"/>
                </a:solidFill>
                <a:ea typeface="字魂105号-简雅黑" panose="00000500000000000000" pitchFamily="2" charset="-122"/>
              </a:rPr>
              <a:t>鲁棒的节点表示</a:t>
            </a:r>
            <a:r>
              <a:rPr lang="zh-CN" altLang="en-US" sz="1100" dirty="0">
                <a:ea typeface="字魂105号-简雅黑" panose="00000500000000000000" pitchFamily="2" charset="-122"/>
              </a:rPr>
              <a:t>。</a:t>
            </a:r>
            <a:endParaRPr lang="zh-CN" altLang="en-US" sz="1100" dirty="0"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5239323" y="1402725"/>
            <a:ext cx="3617273" cy="3096344"/>
          </a:xfrm>
          <a:prstGeom prst="rect">
            <a:avLst/>
          </a:prstGeom>
          <a:solidFill>
            <a:schemeClr val="bg1"/>
          </a:solidFill>
          <a:ln>
            <a:solidFill>
              <a:srgbClr val="005A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实验结果与分析</a:t>
            </a:r>
            <a:endParaRPr lang="zh-CN" altLang="en-US" dirty="0"/>
          </a:p>
        </p:txBody>
      </p:sp>
      <p:sp>
        <p:nvSpPr>
          <p:cNvPr id="7" name="Text 1"/>
          <p:cNvSpPr/>
          <p:nvPr/>
        </p:nvSpPr>
        <p:spPr>
          <a:xfrm>
            <a:off x="6128051" y="-822754"/>
            <a:ext cx="300155" cy="678900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-123169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-1031672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-831647" y="-47775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-1435059" y="262770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-1435059" y="62744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-1435059" y="-137281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-1435059" y="-337305"/>
            <a:ext cx="133350" cy="137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-1400782" y="3187952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-1324383" y="3228490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6628808" y="74507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4"/>
          <p:cNvSpPr/>
          <p:nvPr/>
        </p:nvSpPr>
        <p:spPr>
          <a:xfrm>
            <a:off x="6628808" y="745074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6705207" y="785612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6569192" y="33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8"/>
          <p:cNvSpPr/>
          <p:nvPr/>
        </p:nvSpPr>
        <p:spPr>
          <a:xfrm>
            <a:off x="6569192" y="3306150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645591" y="3346688"/>
            <a:ext cx="137562" cy="13191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Text 32"/>
          <p:cNvSpPr/>
          <p:nvPr/>
        </p:nvSpPr>
        <p:spPr>
          <a:xfrm>
            <a:off x="-1397216" y="4405196"/>
            <a:ext cx="228803" cy="21299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249" y="6387542"/>
            <a:ext cx="938700" cy="312900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" y="1236167"/>
            <a:ext cx="5025575" cy="3318139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239323" y="1788876"/>
            <a:ext cx="3545024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1A1C1E"/>
                </a:solidFill>
                <a:effectLst/>
                <a:latin typeface="Inter"/>
              </a:rPr>
              <a:t>多维指标健康：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altLang="zh-CN" sz="1200" b="0" i="0" dirty="0">
                <a:solidFill>
                  <a:srgbClr val="1A1C1E"/>
                </a:solidFill>
                <a:effectLst/>
                <a:latin typeface="Inter"/>
              </a:rPr>
              <a:t>Loss 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平稳下降，</a:t>
            </a:r>
            <a:r>
              <a:rPr lang="en-US" altLang="zh-CN" sz="1200" b="0" i="0" dirty="0">
                <a:solidFill>
                  <a:srgbClr val="1A1C1E"/>
                </a:solidFill>
                <a:effectLst/>
                <a:latin typeface="Inter"/>
              </a:rPr>
              <a:t>AUC 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快速收敛至 </a:t>
            </a:r>
            <a:r>
              <a:rPr lang="en-US" altLang="zh-CN" sz="1200" b="0" i="0" dirty="0">
                <a:solidFill>
                  <a:srgbClr val="1A1C1E"/>
                </a:solidFill>
                <a:effectLst/>
                <a:latin typeface="Inter"/>
              </a:rPr>
              <a:t>0.83+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，模型训练状态稳定且具备良好的泛化能力。</a:t>
            </a:r>
            <a:endParaRPr lang="en-US" altLang="zh-CN" sz="1200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1200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1A1C1E"/>
                </a:solidFill>
                <a:effectLst/>
                <a:latin typeface="Inter"/>
              </a:rPr>
              <a:t>攻克样本稀缺：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 监控数据显示，模型预测的欺诈类比例（</a:t>
            </a:r>
            <a:r>
              <a:rPr lang="en-US" altLang="zh-CN" sz="1200" b="0" i="0" dirty="0">
                <a:solidFill>
                  <a:srgbClr val="1A1C1E"/>
                </a:solidFill>
                <a:effectLst/>
                <a:latin typeface="Inter"/>
              </a:rPr>
              <a:t>Predicted Ratio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）逐步逼近真实比例（</a:t>
            </a:r>
            <a:r>
              <a:rPr lang="en-US" altLang="zh-CN" sz="1200" b="0" i="0" dirty="0">
                <a:solidFill>
                  <a:srgbClr val="1A1C1E"/>
                </a:solidFill>
                <a:effectLst/>
                <a:latin typeface="Inter"/>
              </a:rPr>
              <a:t>1.18%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），证明模型没有忽略仅占 </a:t>
            </a:r>
            <a:r>
              <a:rPr lang="en-US" altLang="zh-CN" sz="1200" b="0" i="0" dirty="0">
                <a:solidFill>
                  <a:srgbClr val="1A1C1E"/>
                </a:solidFill>
                <a:effectLst/>
                <a:latin typeface="Inter"/>
              </a:rPr>
              <a:t>1% 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的少数类。</a:t>
            </a:r>
            <a:endParaRPr lang="zh-CN" altLang="en-US" sz="1200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sz="1200" b="1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1A1C1E"/>
                </a:solidFill>
                <a:effectLst/>
                <a:latin typeface="Inter"/>
              </a:rPr>
              <a:t>策略有效落地：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altLang="zh-CN" sz="1200" b="0" i="0" dirty="0">
                <a:solidFill>
                  <a:srgbClr val="1A1C1E"/>
                </a:solidFill>
                <a:effectLst/>
                <a:latin typeface="Inter"/>
              </a:rPr>
              <a:t>F1 </a:t>
            </a:r>
            <a:r>
              <a:rPr lang="zh-CN" altLang="en-US" sz="1200" b="0" i="0" dirty="0">
                <a:solidFill>
                  <a:srgbClr val="1A1C1E"/>
                </a:solidFill>
                <a:effectLst/>
                <a:latin typeface="Inter"/>
              </a:rPr>
              <a:t>分数与召回率的提升，直接印证了“标签辅助任务”与“度数分层采样”机制在解决特征稀疏问题上的成功。</a:t>
            </a:r>
            <a:endParaRPr lang="zh-CN" altLang="en-US" sz="1200" b="0" i="0" dirty="0">
              <a:solidFill>
                <a:srgbClr val="1A1C1E"/>
              </a:solidFill>
              <a:effectLst/>
              <a:latin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7201" y="0"/>
            <a:ext cx="9161201" cy="2712720"/>
          </a:xfrm>
          <a:prstGeom prst="rect">
            <a:avLst/>
          </a:prstGeom>
          <a:solidFill>
            <a:srgbClr val="00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2223880" y="2191744"/>
            <a:ext cx="4696241" cy="1011473"/>
          </a:xfrm>
          <a:custGeom>
            <a:avLst/>
            <a:gdLst>
              <a:gd name="connsiteX0" fmla="*/ 674315 w 6261654"/>
              <a:gd name="connsiteY0" fmla="*/ 0 h 1348631"/>
              <a:gd name="connsiteX1" fmla="*/ 674325 w 6261654"/>
              <a:gd name="connsiteY1" fmla="*/ 1 h 1348631"/>
              <a:gd name="connsiteX2" fmla="*/ 5558735 w 6261654"/>
              <a:gd name="connsiteY2" fmla="*/ 1 h 1348631"/>
              <a:gd name="connsiteX3" fmla="*/ 5558735 w 6261654"/>
              <a:gd name="connsiteY3" fmla="*/ 2885 h 1348631"/>
              <a:gd name="connsiteX4" fmla="*/ 5587339 w 6261654"/>
              <a:gd name="connsiteY4" fmla="*/ 1 h 1348631"/>
              <a:gd name="connsiteX5" fmla="*/ 6261654 w 6261654"/>
              <a:gd name="connsiteY5" fmla="*/ 674316 h 1348631"/>
              <a:gd name="connsiteX6" fmla="*/ 5587339 w 6261654"/>
              <a:gd name="connsiteY6" fmla="*/ 1348631 h 1348631"/>
              <a:gd name="connsiteX7" fmla="*/ 5558735 w 6261654"/>
              <a:gd name="connsiteY7" fmla="*/ 1345748 h 1348631"/>
              <a:gd name="connsiteX8" fmla="*/ 5558735 w 6261654"/>
              <a:gd name="connsiteY8" fmla="*/ 1348630 h 1348631"/>
              <a:gd name="connsiteX9" fmla="*/ 674315 w 6261654"/>
              <a:gd name="connsiteY9" fmla="*/ 1348630 h 1348631"/>
              <a:gd name="connsiteX10" fmla="*/ 0 w 6261654"/>
              <a:gd name="connsiteY10" fmla="*/ 674315 h 1348631"/>
              <a:gd name="connsiteX11" fmla="*/ 674315 w 6261654"/>
              <a:gd name="connsiteY11" fmla="*/ 0 h 134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61654" h="1348631">
                <a:moveTo>
                  <a:pt x="674315" y="0"/>
                </a:moveTo>
                <a:lnTo>
                  <a:pt x="674325" y="1"/>
                </a:lnTo>
                <a:lnTo>
                  <a:pt x="5558735" y="1"/>
                </a:lnTo>
                <a:lnTo>
                  <a:pt x="5558735" y="2885"/>
                </a:lnTo>
                <a:lnTo>
                  <a:pt x="5587339" y="1"/>
                </a:lnTo>
                <a:cubicBezTo>
                  <a:pt x="5959753" y="1"/>
                  <a:pt x="6261654" y="301902"/>
                  <a:pt x="6261654" y="674316"/>
                </a:cubicBezTo>
                <a:cubicBezTo>
                  <a:pt x="6261654" y="1046730"/>
                  <a:pt x="5959753" y="1348631"/>
                  <a:pt x="5587339" y="1348631"/>
                </a:cubicBezTo>
                <a:lnTo>
                  <a:pt x="5558735" y="1345748"/>
                </a:lnTo>
                <a:lnTo>
                  <a:pt x="5558735" y="1348630"/>
                </a:lnTo>
                <a:lnTo>
                  <a:pt x="674315" y="1348630"/>
                </a:lnTo>
                <a:cubicBezTo>
                  <a:pt x="301901" y="1348630"/>
                  <a:pt x="0" y="1046729"/>
                  <a:pt x="0" y="674315"/>
                </a:cubicBezTo>
                <a:cubicBezTo>
                  <a:pt x="0" y="301901"/>
                  <a:pt x="301901" y="0"/>
                  <a:pt x="674315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5A8A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19872" y="2453798"/>
            <a:ext cx="22926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7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5.</a:t>
            </a:r>
            <a:r>
              <a:rPr lang="zh-CN" altLang="en-US" sz="28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收获与展望</a:t>
            </a:r>
            <a:endParaRPr lang="zh-CN" altLang="en-US" sz="2800" b="1" dirty="0">
              <a:solidFill>
                <a:prstClr val="black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22" y="565590"/>
            <a:ext cx="981608" cy="9816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065" y="726292"/>
            <a:ext cx="1825583" cy="6300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b="1" dirty="0">
                <a:solidFill>
                  <a:prstClr val="black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收获与展望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02422" y="843559"/>
            <a:ext cx="8018549" cy="1418000"/>
            <a:chOff x="506022" y="3655964"/>
            <a:chExt cx="6292954" cy="1733043"/>
          </a:xfrm>
        </p:grpSpPr>
        <p:sp>
          <p:nvSpPr>
            <p:cNvPr id="6" name="矩形 5"/>
            <p:cNvSpPr/>
            <p:nvPr/>
          </p:nvSpPr>
          <p:spPr>
            <a:xfrm>
              <a:off x="625759" y="3743534"/>
              <a:ext cx="6162331" cy="1645473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6022" y="3655964"/>
              <a:ext cx="1944216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11560" y="3685229"/>
              <a:ext cx="1944216" cy="376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技术层面的学习与成长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75558" y="4179315"/>
              <a:ext cx="6123418" cy="1060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solidFill>
                    <a:srgbClr val="0F1115"/>
                  </a:solidFill>
                  <a:latin typeface="quote-cjk-patch"/>
                </a:rPr>
                <a:t>深入理解了图神经网络的实战应用场景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：从理论上的图卷积、注意力机制到真实金融图数据中的伪装攻击、时序特征，完成了从论文到代码的完整落地过程。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solidFill>
                    <a:srgbClr val="0F1115"/>
                  </a:solidFill>
                  <a:latin typeface="quote-cjk-patch"/>
                </a:rPr>
                <a:t>掌握了处理极端类别不平衡的系统方法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：通过下采样、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Focal Loss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、辅助任务等多策略组合，有效缓解了欺诈样本仅占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1.18%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带来的模型偏置问题。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8312" y="2799259"/>
            <a:ext cx="8034568" cy="2076747"/>
            <a:chOff x="506021" y="3655964"/>
            <a:chExt cx="6305527" cy="2538148"/>
          </a:xfrm>
        </p:grpSpPr>
        <p:sp>
          <p:nvSpPr>
            <p:cNvPr id="11" name="矩形 10"/>
            <p:cNvSpPr/>
            <p:nvPr/>
          </p:nvSpPr>
          <p:spPr>
            <a:xfrm>
              <a:off x="625759" y="3743535"/>
              <a:ext cx="6185789" cy="2125938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06021" y="3655964"/>
              <a:ext cx="2259871" cy="37933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11559" y="3685229"/>
              <a:ext cx="2170215" cy="376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quote-cjk-patch"/>
                </a:rPr>
                <a:t>团队协作与项目管理的实践经验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41642" y="4140296"/>
              <a:ext cx="6159019" cy="2053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solidFill>
                    <a:srgbClr val="0F1115"/>
                  </a:solidFill>
                  <a:latin typeface="quote-cjk-patch"/>
                </a:rPr>
                <a:t>多模型并行探索与快速迭代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：小组分工测试不同模型架构（</a:t>
              </a:r>
              <a:r>
                <a:rPr lang="en-US" altLang="zh-CN" sz="1200" dirty="0" err="1">
                  <a:solidFill>
                    <a:srgbClr val="0F1115"/>
                  </a:solidFill>
                  <a:latin typeface="quote-cjk-patch"/>
                </a:rPr>
                <a:t>GraphSAGE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、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GAT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、</a:t>
              </a:r>
              <a:r>
                <a:rPr lang="en-US" altLang="zh-CN" sz="1200" dirty="0" err="1">
                  <a:solidFill>
                    <a:srgbClr val="0F1115"/>
                  </a:solidFill>
                  <a:latin typeface="quote-cjk-patch"/>
                </a:rPr>
                <a:t>DevNet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、</a:t>
              </a:r>
              <a:r>
                <a:rPr lang="en-US" altLang="zh-CN" sz="1200" dirty="0">
                  <a:solidFill>
                    <a:srgbClr val="0F1115"/>
                  </a:solidFill>
                  <a:latin typeface="quote-cjk-patch"/>
                </a:rPr>
                <a:t>CARE-GNN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），在有限时间内高效完成了技术方案的比较与选择。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solidFill>
                    <a:srgbClr val="0F1115"/>
                  </a:solidFill>
                  <a:latin typeface="quote-cjk-patch"/>
                </a:rPr>
                <a:t>从学术论文到工程实现的转化能力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：基于论文核心思想，结合具体数据特点进行了多项适应性改进，实现了理论研究与工程实践的结合。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zh-CN" altLang="en-US" sz="1200" b="1" dirty="0">
                  <a:solidFill>
                    <a:srgbClr val="0F1115"/>
                  </a:solidFill>
                  <a:latin typeface="quote-cjk-patch"/>
                </a:rPr>
                <a:t>完整技术报告的撰写与展示能力</a:t>
              </a:r>
              <a: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  <a:t>：系统整理了从问题背景、技术方案到实验结果的全过程，形成了逻辑清晰、论据充分的技术汇报材料。</a:t>
              </a: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  <a:p>
              <a:br>
                <a:rPr lang="zh-CN" altLang="en-US" sz="1200" dirty="0">
                  <a:solidFill>
                    <a:srgbClr val="0F1115"/>
                  </a:solidFill>
                  <a:latin typeface="quote-cjk-patch"/>
                </a:rPr>
              </a:br>
              <a:endParaRPr lang="zh-CN" altLang="en-US" sz="1200" dirty="0">
                <a:solidFill>
                  <a:srgbClr val="0F1115"/>
                </a:solidFill>
                <a:latin typeface="quote-cjk-patch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49174"/>
            <a:ext cx="1943199" cy="534777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52127" y="2120538"/>
            <a:ext cx="69847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恳请老师批评指正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1"/>
          <p:cNvSpPr txBox="1">
            <a:spLocks noChangeArrowheads="1"/>
          </p:cNvSpPr>
          <p:nvPr/>
        </p:nvSpPr>
        <p:spPr bwMode="auto">
          <a:xfrm>
            <a:off x="1835696" y="4578682"/>
            <a:ext cx="5715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Dec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 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, 2025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sp>
        <p:nvSpPr>
          <p:cNvPr id="17" name="副标题 3074"/>
          <p:cNvSpPr txBox="1">
            <a:spLocks noChangeArrowheads="1"/>
          </p:cNvSpPr>
          <p:nvPr/>
        </p:nvSpPr>
        <p:spPr bwMode="auto">
          <a:xfrm>
            <a:off x="251520" y="2801629"/>
            <a:ext cx="8892479" cy="16423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分工：程亦诚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GraphSage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，胡桥健（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CARE-GNN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），胡捷鸣（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），李盛鹏（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DevNet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PPT: 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李盛鹏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汇报：张宏斌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ctr" defTabSz="914400" rtl="0" eaLnBrk="1" fontAlgn="base" latinLnBrk="0" hangingPunct="1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队伍：大展宏图鹏程万里明察秋毫健功立业  队长：程亦诚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PA" val="v5.2.5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3284</Words>
  <Application>WPS 演示</Application>
  <PresentationFormat>全屏显示(16:9)</PresentationFormat>
  <Paragraphs>270</Paragraphs>
  <Slides>24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4" baseType="lpstr">
      <vt:lpstr>Arial</vt:lpstr>
      <vt:lpstr>宋体</vt:lpstr>
      <vt:lpstr>Wingdings</vt:lpstr>
      <vt:lpstr>Trebuchet MS</vt:lpstr>
      <vt:lpstr>Times New Roman</vt:lpstr>
      <vt:lpstr>微软雅黑</vt:lpstr>
      <vt:lpstr>Arial</vt:lpstr>
      <vt:lpstr>Heiti SC Medium</vt:lpstr>
      <vt:lpstr>黑体</vt:lpstr>
      <vt:lpstr>字魂105号-简雅黑</vt:lpstr>
      <vt:lpstr>等线</vt:lpstr>
      <vt:lpstr>quote-cjk-patch</vt:lpstr>
      <vt:lpstr>Segoe Print</vt:lpstr>
      <vt:lpstr>MiSans</vt:lpstr>
      <vt:lpstr>MiSans Semibold</vt:lpstr>
      <vt:lpstr>MiSans</vt:lpstr>
      <vt:lpstr>MiSans</vt:lpstr>
      <vt:lpstr>Arial Unicode MS</vt:lpstr>
      <vt:lpstr>Inter</vt:lpstr>
      <vt:lpstr>默认设计模板</vt:lpstr>
      <vt:lpstr>PowerPoint 演示文稿</vt:lpstr>
      <vt:lpstr>PowerPoint 演示文稿</vt:lpstr>
      <vt:lpstr>PowerPoint 演示文稿</vt:lpstr>
      <vt:lpstr>赛题背景</vt:lpstr>
      <vt:lpstr>赛题背景</vt:lpstr>
      <vt:lpstr>PowerPoint 演示文稿</vt:lpstr>
      <vt:lpstr>GraphSage</vt:lpstr>
      <vt:lpstr>GAT</vt:lpstr>
      <vt:lpstr>Deviation network</vt:lpstr>
      <vt:lpstr>CARE-GNN</vt:lpstr>
      <vt:lpstr>PowerPoint 演示文稿</vt:lpstr>
      <vt:lpstr>数据预处理</vt:lpstr>
      <vt:lpstr>数据预处理</vt:lpstr>
      <vt:lpstr>数据预处理</vt:lpstr>
      <vt:lpstr>数据预处理</vt:lpstr>
      <vt:lpstr>模型详解</vt:lpstr>
      <vt:lpstr>训练问题与解决</vt:lpstr>
      <vt:lpstr>针对比赛的适配与增强</vt:lpstr>
      <vt:lpstr>PowerPoint 演示文稿</vt:lpstr>
      <vt:lpstr>实验结果与分析</vt:lpstr>
      <vt:lpstr>实验结果与分析</vt:lpstr>
      <vt:lpstr>PowerPoint 演示文稿</vt:lpstr>
      <vt:lpstr>收获与展望</vt:lpstr>
      <vt:lpstr>PowerPoint 演示文稿</vt:lpstr>
    </vt:vector>
  </TitlesOfParts>
  <Company>Global Intelligence Alliance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WPS_1661508371</cp:lastModifiedBy>
  <cp:revision>1970</cp:revision>
  <dcterms:created xsi:type="dcterms:W3CDTF">2007-09-26T12:04:00Z</dcterms:created>
  <dcterms:modified xsi:type="dcterms:W3CDTF">2025-12-19T16:44:19Z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C546D30A892C4BF38CEEE8772FD0F94F_12</vt:lpwstr>
  </property>
</Properties>
</file>