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3"/>
    <p:sldId id="256" r:id="rId4"/>
    <p:sldId id="257" r:id="rId5"/>
    <p:sldId id="258" r:id="rId6"/>
    <p:sldId id="259" r:id="rId7"/>
    <p:sldId id="262" r:id="rId8"/>
    <p:sldId id="269" r:id="rId9"/>
    <p:sldId id="260" r:id="rId10"/>
    <p:sldId id="267" r:id="rId11"/>
    <p:sldId id="268" r:id="rId12"/>
    <p:sldId id="261" r:id="rId13"/>
    <p:sldId id="263" r:id="rId14"/>
    <p:sldId id="264" r:id="rId15"/>
    <p:sldId id="265" r:id="rId16"/>
    <p:sldId id="266" r:id="rId17"/>
    <p:sldId id="270" r:id="rId18"/>
    <p:sldId id="271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D5535-FD5A-4E61-8F3D-ADB0556791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8990E-7A45-4815-AC19-A28D671AFC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69590" y="2313305"/>
            <a:ext cx="5292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VS2022</a:t>
            </a:r>
            <a:r>
              <a:rPr lang="zh-CN" altLang="en-US" sz="2800" spc="1000" dirty="0"/>
              <a:t>中</a:t>
            </a:r>
            <a:r>
              <a:rPr lang="en-US" altLang="zh-CN" sz="2800" dirty="0"/>
              <a:t>Debug</a:t>
            </a:r>
            <a:r>
              <a:rPr lang="zh-CN" altLang="en-US" sz="2800" spc="1000" dirty="0"/>
              <a:t>的学习</a:t>
            </a:r>
            <a:endParaRPr lang="zh-CN" altLang="en-US" sz="2800" spc="1000" dirty="0"/>
          </a:p>
        </p:txBody>
      </p:sp>
      <p:sp>
        <p:nvSpPr>
          <p:cNvPr id="5" name="文本框 4"/>
          <p:cNvSpPr txBox="1"/>
          <p:nvPr/>
        </p:nvSpPr>
        <p:spPr>
          <a:xfrm>
            <a:off x="1810512" y="3730752"/>
            <a:ext cx="2093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班级：信</a:t>
            </a:r>
            <a:r>
              <a:rPr lang="en-US" altLang="zh-CN" sz="2400" dirty="0"/>
              <a:t>03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416552" y="3730752"/>
            <a:ext cx="2093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姓名：李盛鹏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7269480" y="3730752"/>
            <a:ext cx="2651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学号：</a:t>
            </a:r>
            <a:r>
              <a:rPr lang="en-US" altLang="zh-CN" sz="2400" dirty="0"/>
              <a:t>2351136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510528" y="4754880"/>
            <a:ext cx="3300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完成日期：</a:t>
            </a:r>
            <a:r>
              <a:rPr lang="en-US" altLang="zh-CN" sz="2400" dirty="0"/>
              <a:t>2024.6.9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3" y="1806139"/>
            <a:ext cx="4656223" cy="278916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2648" y="448056"/>
            <a:ext cx="238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1.1</a:t>
            </a:r>
            <a:endParaRPr lang="zh-CN" altLang="en-US" dirty="0"/>
          </a:p>
        </p:txBody>
      </p:sp>
      <p:sp>
        <p:nvSpPr>
          <p:cNvPr id="10" name="箭头: 下 9"/>
          <p:cNvSpPr/>
          <p:nvPr/>
        </p:nvSpPr>
        <p:spPr>
          <a:xfrm rot="1660267">
            <a:off x="1088029" y="1534430"/>
            <a:ext cx="210312" cy="8595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 flipH="1">
            <a:off x="612643" y="5312663"/>
            <a:ext cx="42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法一：选中一行，按</a:t>
            </a:r>
            <a:r>
              <a:rPr lang="en-US" altLang="zh-CN" dirty="0"/>
              <a:t>F9</a:t>
            </a:r>
            <a:r>
              <a:rPr lang="zh-CN" altLang="en-US" dirty="0"/>
              <a:t>，设置断点。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12775" y="5681980"/>
            <a:ext cx="457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</a:t>
            </a:r>
            <a:r>
              <a:rPr lang="en-US" altLang="zh-CN" dirty="0"/>
              <a:t>F5</a:t>
            </a:r>
            <a:r>
              <a:rPr lang="zh-CN" altLang="en-US" dirty="0"/>
              <a:t>开始调试，按</a:t>
            </a:r>
            <a:r>
              <a:rPr lang="en-US" altLang="zh-CN" dirty="0"/>
              <a:t>F10\F11</a:t>
            </a:r>
            <a:r>
              <a:rPr lang="zh-CN" altLang="en-US" dirty="0"/>
              <a:t>，一步步移动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306056" y="1806139"/>
            <a:ext cx="3191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法二：输出</a:t>
            </a:r>
            <a:r>
              <a:rPr lang="en-US" altLang="zh-CN" dirty="0"/>
              <a:t>x1</a:t>
            </a:r>
            <a:r>
              <a:rPr lang="zh-CN" altLang="en-US" dirty="0"/>
              <a:t>，</a:t>
            </a:r>
            <a:r>
              <a:rPr lang="en-US" altLang="zh-CN" dirty="0"/>
              <a:t>x2</a:t>
            </a:r>
            <a:r>
              <a:rPr lang="zh-CN" altLang="en-US" dirty="0"/>
              <a:t>的瞬时值，观察是否交换</a:t>
            </a:r>
            <a:endParaRPr lang="zh-CN" altLang="en-US" dirty="0"/>
          </a:p>
        </p:txBody>
      </p:sp>
      <p:sp>
        <p:nvSpPr>
          <p:cNvPr id="17" name="箭头: 下 16"/>
          <p:cNvSpPr/>
          <p:nvPr/>
        </p:nvSpPr>
        <p:spPr>
          <a:xfrm rot="2914155">
            <a:off x="5799798" y="1826929"/>
            <a:ext cx="305462" cy="295231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460" y="4205627"/>
            <a:ext cx="3459780" cy="2583404"/>
          </a:xfrm>
          <a:prstGeom prst="rect">
            <a:avLst/>
          </a:prstGeom>
        </p:spPr>
      </p:pic>
      <p:sp>
        <p:nvSpPr>
          <p:cNvPr id="20" name="箭头: 右 19"/>
          <p:cNvSpPr/>
          <p:nvPr/>
        </p:nvSpPr>
        <p:spPr>
          <a:xfrm rot="20195308">
            <a:off x="5034165" y="5360303"/>
            <a:ext cx="1836728" cy="5138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>
            <a:off x="7680128" y="4440390"/>
            <a:ext cx="467181" cy="506514"/>
          </a:xfrm>
          <a:custGeom>
            <a:avLst/>
            <a:gdLst>
              <a:gd name="connsiteX0" fmla="*/ 37408 w 467181"/>
              <a:gd name="connsiteY0" fmla="*/ 131610 h 506514"/>
              <a:gd name="connsiteX1" fmla="*/ 28264 w 467181"/>
              <a:gd name="connsiteY1" fmla="*/ 387642 h 506514"/>
              <a:gd name="connsiteX2" fmla="*/ 73984 w 467181"/>
              <a:gd name="connsiteY2" fmla="*/ 488226 h 506514"/>
              <a:gd name="connsiteX3" fmla="*/ 119704 w 467181"/>
              <a:gd name="connsiteY3" fmla="*/ 497370 h 506514"/>
              <a:gd name="connsiteX4" fmla="*/ 202000 w 467181"/>
              <a:gd name="connsiteY4" fmla="*/ 506514 h 506514"/>
              <a:gd name="connsiteX5" fmla="*/ 293440 w 467181"/>
              <a:gd name="connsiteY5" fmla="*/ 497370 h 506514"/>
              <a:gd name="connsiteX6" fmla="*/ 430600 w 467181"/>
              <a:gd name="connsiteY6" fmla="*/ 396786 h 506514"/>
              <a:gd name="connsiteX7" fmla="*/ 467176 w 467181"/>
              <a:gd name="connsiteY7" fmla="*/ 259626 h 506514"/>
              <a:gd name="connsiteX8" fmla="*/ 439744 w 467181"/>
              <a:gd name="connsiteY8" fmla="*/ 149898 h 506514"/>
              <a:gd name="connsiteX9" fmla="*/ 275152 w 467181"/>
              <a:gd name="connsiteY9" fmla="*/ 31026 h 506514"/>
              <a:gd name="connsiteX10" fmla="*/ 247720 w 467181"/>
              <a:gd name="connsiteY10" fmla="*/ 12738 h 506514"/>
              <a:gd name="connsiteX11" fmla="*/ 202000 w 467181"/>
              <a:gd name="connsiteY11" fmla="*/ 3594 h 506514"/>
              <a:gd name="connsiteX12" fmla="*/ 37408 w 467181"/>
              <a:gd name="connsiteY12" fmla="*/ 40170 h 50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7181" h="506514">
                <a:moveTo>
                  <a:pt x="37408" y="131610"/>
                </a:moveTo>
                <a:cubicBezTo>
                  <a:pt x="-25242" y="236027"/>
                  <a:pt x="4531" y="166133"/>
                  <a:pt x="28264" y="387642"/>
                </a:cubicBezTo>
                <a:cubicBezTo>
                  <a:pt x="32206" y="424434"/>
                  <a:pt x="42240" y="463536"/>
                  <a:pt x="73984" y="488226"/>
                </a:cubicBezTo>
                <a:cubicBezTo>
                  <a:pt x="86252" y="497768"/>
                  <a:pt x="104318" y="495172"/>
                  <a:pt x="119704" y="497370"/>
                </a:cubicBezTo>
                <a:cubicBezTo>
                  <a:pt x="147027" y="501273"/>
                  <a:pt x="174568" y="503466"/>
                  <a:pt x="202000" y="506514"/>
                </a:cubicBezTo>
                <a:cubicBezTo>
                  <a:pt x="232480" y="503466"/>
                  <a:pt x="264230" y="506594"/>
                  <a:pt x="293440" y="497370"/>
                </a:cubicBezTo>
                <a:cubicBezTo>
                  <a:pt x="361583" y="475851"/>
                  <a:pt x="383844" y="443542"/>
                  <a:pt x="430600" y="396786"/>
                </a:cubicBezTo>
                <a:cubicBezTo>
                  <a:pt x="434452" y="383305"/>
                  <a:pt x="467680" y="269698"/>
                  <a:pt x="467176" y="259626"/>
                </a:cubicBezTo>
                <a:cubicBezTo>
                  <a:pt x="465293" y="221971"/>
                  <a:pt x="460657" y="181268"/>
                  <a:pt x="439744" y="149898"/>
                </a:cubicBezTo>
                <a:cubicBezTo>
                  <a:pt x="405062" y="97875"/>
                  <a:pt x="328600" y="63095"/>
                  <a:pt x="275152" y="31026"/>
                </a:cubicBezTo>
                <a:cubicBezTo>
                  <a:pt x="265728" y="25372"/>
                  <a:pt x="258010" y="16597"/>
                  <a:pt x="247720" y="12738"/>
                </a:cubicBezTo>
                <a:cubicBezTo>
                  <a:pt x="233168" y="7281"/>
                  <a:pt x="217240" y="6642"/>
                  <a:pt x="202000" y="3594"/>
                </a:cubicBezTo>
                <a:cubicBezTo>
                  <a:pt x="44728" y="13424"/>
                  <a:pt x="82800" y="-27919"/>
                  <a:pt x="37408" y="4017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12064" y="6051327"/>
            <a:ext cx="380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红色方块可以结束调试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2648" y="448056"/>
            <a:ext cx="330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1.2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 flipH="1">
            <a:off x="2999227" y="4491048"/>
            <a:ext cx="42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选中一行，按</a:t>
            </a:r>
            <a:r>
              <a:rPr lang="en-US" altLang="zh-CN" dirty="0"/>
              <a:t>F9</a:t>
            </a:r>
            <a:r>
              <a:rPr lang="zh-CN" altLang="en-US" dirty="0"/>
              <a:t>，设置断点。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468880" y="5065395"/>
            <a:ext cx="653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</a:t>
            </a:r>
            <a:r>
              <a:rPr lang="en-US" altLang="zh-CN" dirty="0"/>
              <a:t>F5</a:t>
            </a:r>
            <a:r>
              <a:rPr lang="zh-CN" altLang="en-US" dirty="0"/>
              <a:t>开始调试，按</a:t>
            </a:r>
            <a:r>
              <a:rPr lang="en-US" altLang="zh-CN" dirty="0"/>
              <a:t>F11</a:t>
            </a:r>
            <a:r>
              <a:rPr lang="zh-CN" altLang="en-US" dirty="0"/>
              <a:t>，单步执行。按</a:t>
            </a:r>
            <a:r>
              <a:rPr lang="en-US" altLang="zh-CN" dirty="0"/>
              <a:t>F10</a:t>
            </a:r>
            <a:r>
              <a:rPr lang="zh-CN" altLang="en-US" dirty="0"/>
              <a:t>逐过程进行。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3" y="914295"/>
            <a:ext cx="7565937" cy="3371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801" y="2154092"/>
            <a:ext cx="5765601" cy="34877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7" y="1658704"/>
            <a:ext cx="4625741" cy="3924640"/>
          </a:xfrm>
          <a:prstGeom prst="rect">
            <a:avLst/>
          </a:prstGeom>
        </p:spPr>
      </p:pic>
      <p:sp>
        <p:nvSpPr>
          <p:cNvPr id="6" name="箭头: 右 5"/>
          <p:cNvSpPr/>
          <p:nvPr/>
        </p:nvSpPr>
        <p:spPr>
          <a:xfrm rot="18744093" flipV="1">
            <a:off x="1322840" y="1963124"/>
            <a:ext cx="576072" cy="4441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5216" y="365760"/>
            <a:ext cx="330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1.3 ,1.4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22376" y="1161288"/>
            <a:ext cx="366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点击“调试”</a:t>
            </a:r>
            <a:r>
              <a:rPr lang="en-US" altLang="zh-CN" dirty="0"/>
              <a:t>-</a:t>
            </a:r>
            <a:r>
              <a:rPr lang="zh-CN" altLang="en-US" dirty="0"/>
              <a:t>“选项”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419088" y="1161288"/>
            <a:ext cx="39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在常规中把启用“仅我的代码”打开，就可以不进入系统函数内部</a:t>
            </a:r>
            <a:endParaRPr lang="zh-CN" altLang="en-US" dirty="0"/>
          </a:p>
        </p:txBody>
      </p:sp>
      <p:sp>
        <p:nvSpPr>
          <p:cNvPr id="18" name="任意多边形: 形状 17"/>
          <p:cNvSpPr/>
          <p:nvPr/>
        </p:nvSpPr>
        <p:spPr>
          <a:xfrm>
            <a:off x="7531244" y="3538728"/>
            <a:ext cx="2435804" cy="374904"/>
          </a:xfrm>
          <a:custGeom>
            <a:avLst/>
            <a:gdLst>
              <a:gd name="connsiteX0" fmla="*/ 1228708 w 2435804"/>
              <a:gd name="connsiteY0" fmla="*/ 82296 h 374904"/>
              <a:gd name="connsiteX1" fmla="*/ 1128124 w 2435804"/>
              <a:gd name="connsiteY1" fmla="*/ 27432 h 374904"/>
              <a:gd name="connsiteX2" fmla="*/ 1082404 w 2435804"/>
              <a:gd name="connsiteY2" fmla="*/ 18288 h 374904"/>
              <a:gd name="connsiteX3" fmla="*/ 1018396 w 2435804"/>
              <a:gd name="connsiteY3" fmla="*/ 0 h 374904"/>
              <a:gd name="connsiteX4" fmla="*/ 314308 w 2435804"/>
              <a:gd name="connsiteY4" fmla="*/ 9144 h 374904"/>
              <a:gd name="connsiteX5" fmla="*/ 204580 w 2435804"/>
              <a:gd name="connsiteY5" fmla="*/ 27432 h 374904"/>
              <a:gd name="connsiteX6" fmla="*/ 140572 w 2435804"/>
              <a:gd name="connsiteY6" fmla="*/ 36576 h 374904"/>
              <a:gd name="connsiteX7" fmla="*/ 76564 w 2435804"/>
              <a:gd name="connsiteY7" fmla="*/ 73152 h 374904"/>
              <a:gd name="connsiteX8" fmla="*/ 12556 w 2435804"/>
              <a:gd name="connsiteY8" fmla="*/ 146304 h 374904"/>
              <a:gd name="connsiteX9" fmla="*/ 21700 w 2435804"/>
              <a:gd name="connsiteY9" fmla="*/ 274320 h 374904"/>
              <a:gd name="connsiteX10" fmla="*/ 49132 w 2435804"/>
              <a:gd name="connsiteY10" fmla="*/ 320040 h 374904"/>
              <a:gd name="connsiteX11" fmla="*/ 113140 w 2435804"/>
              <a:gd name="connsiteY11" fmla="*/ 347472 h 374904"/>
              <a:gd name="connsiteX12" fmla="*/ 213724 w 2435804"/>
              <a:gd name="connsiteY12" fmla="*/ 374904 h 374904"/>
              <a:gd name="connsiteX13" fmla="*/ 350884 w 2435804"/>
              <a:gd name="connsiteY13" fmla="*/ 356616 h 374904"/>
              <a:gd name="connsiteX14" fmla="*/ 433180 w 2435804"/>
              <a:gd name="connsiteY14" fmla="*/ 347472 h 374904"/>
              <a:gd name="connsiteX15" fmla="*/ 899524 w 2435804"/>
              <a:gd name="connsiteY15" fmla="*/ 338328 h 374904"/>
              <a:gd name="connsiteX16" fmla="*/ 2124820 w 2435804"/>
              <a:gd name="connsiteY16" fmla="*/ 310896 h 374904"/>
              <a:gd name="connsiteX17" fmla="*/ 2197972 w 2435804"/>
              <a:gd name="connsiteY17" fmla="*/ 301752 h 374904"/>
              <a:gd name="connsiteX18" fmla="*/ 2335132 w 2435804"/>
              <a:gd name="connsiteY18" fmla="*/ 256032 h 374904"/>
              <a:gd name="connsiteX19" fmla="*/ 2408284 w 2435804"/>
              <a:gd name="connsiteY19" fmla="*/ 219456 h 374904"/>
              <a:gd name="connsiteX20" fmla="*/ 2417428 w 2435804"/>
              <a:gd name="connsiteY20" fmla="*/ 192024 h 374904"/>
              <a:gd name="connsiteX21" fmla="*/ 2435716 w 2435804"/>
              <a:gd name="connsiteY21" fmla="*/ 164592 h 374904"/>
              <a:gd name="connsiteX22" fmla="*/ 2408284 w 2435804"/>
              <a:gd name="connsiteY22" fmla="*/ 118872 h 374904"/>
              <a:gd name="connsiteX23" fmla="*/ 2371708 w 2435804"/>
              <a:gd name="connsiteY23" fmla="*/ 100584 h 374904"/>
              <a:gd name="connsiteX24" fmla="*/ 2197972 w 2435804"/>
              <a:gd name="connsiteY24" fmla="*/ 91440 h 374904"/>
              <a:gd name="connsiteX25" fmla="*/ 2152252 w 2435804"/>
              <a:gd name="connsiteY25" fmla="*/ 82296 h 374904"/>
              <a:gd name="connsiteX26" fmla="*/ 2051668 w 2435804"/>
              <a:gd name="connsiteY26" fmla="*/ 54864 h 374904"/>
              <a:gd name="connsiteX27" fmla="*/ 1603612 w 2435804"/>
              <a:gd name="connsiteY27" fmla="*/ 45720 h 374904"/>
              <a:gd name="connsiteX28" fmla="*/ 1201276 w 2435804"/>
              <a:gd name="connsiteY28" fmla="*/ 36576 h 37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435804" h="374904">
                <a:moveTo>
                  <a:pt x="1228708" y="82296"/>
                </a:moveTo>
                <a:cubicBezTo>
                  <a:pt x="1200940" y="65635"/>
                  <a:pt x="1158061" y="38318"/>
                  <a:pt x="1128124" y="27432"/>
                </a:cubicBezTo>
                <a:cubicBezTo>
                  <a:pt x="1113518" y="22121"/>
                  <a:pt x="1097482" y="22057"/>
                  <a:pt x="1082404" y="18288"/>
                </a:cubicBezTo>
                <a:cubicBezTo>
                  <a:pt x="1060877" y="12906"/>
                  <a:pt x="1039732" y="6096"/>
                  <a:pt x="1018396" y="0"/>
                </a:cubicBezTo>
                <a:lnTo>
                  <a:pt x="314308" y="9144"/>
                </a:lnTo>
                <a:cubicBezTo>
                  <a:pt x="232687" y="11064"/>
                  <a:pt x="262950" y="16819"/>
                  <a:pt x="204580" y="27432"/>
                </a:cubicBezTo>
                <a:cubicBezTo>
                  <a:pt x="183375" y="31287"/>
                  <a:pt x="161908" y="33528"/>
                  <a:pt x="140572" y="36576"/>
                </a:cubicBezTo>
                <a:cubicBezTo>
                  <a:pt x="119816" y="46954"/>
                  <a:pt x="94658" y="57643"/>
                  <a:pt x="76564" y="73152"/>
                </a:cubicBezTo>
                <a:cubicBezTo>
                  <a:pt x="43417" y="101563"/>
                  <a:pt x="37777" y="112676"/>
                  <a:pt x="12556" y="146304"/>
                </a:cubicBezTo>
                <a:cubicBezTo>
                  <a:pt x="-5265" y="199766"/>
                  <a:pt x="-5736" y="186525"/>
                  <a:pt x="21700" y="274320"/>
                </a:cubicBezTo>
                <a:cubicBezTo>
                  <a:pt x="27001" y="291284"/>
                  <a:pt x="35254" y="308937"/>
                  <a:pt x="49132" y="320040"/>
                </a:cubicBezTo>
                <a:cubicBezTo>
                  <a:pt x="67258" y="334541"/>
                  <a:pt x="91474" y="339139"/>
                  <a:pt x="113140" y="347472"/>
                </a:cubicBezTo>
                <a:cubicBezTo>
                  <a:pt x="163413" y="366808"/>
                  <a:pt x="164690" y="365097"/>
                  <a:pt x="213724" y="374904"/>
                </a:cubicBezTo>
                <a:lnTo>
                  <a:pt x="350884" y="356616"/>
                </a:lnTo>
                <a:cubicBezTo>
                  <a:pt x="378272" y="353193"/>
                  <a:pt x="405595" y="348392"/>
                  <a:pt x="433180" y="347472"/>
                </a:cubicBezTo>
                <a:cubicBezTo>
                  <a:pt x="588572" y="342292"/>
                  <a:pt x="744069" y="340985"/>
                  <a:pt x="899524" y="338328"/>
                </a:cubicBezTo>
                <a:cubicBezTo>
                  <a:pt x="1838226" y="322282"/>
                  <a:pt x="1170139" y="338975"/>
                  <a:pt x="2124820" y="310896"/>
                </a:cubicBezTo>
                <a:cubicBezTo>
                  <a:pt x="2149204" y="307848"/>
                  <a:pt x="2173875" y="306571"/>
                  <a:pt x="2197972" y="301752"/>
                </a:cubicBezTo>
                <a:cubicBezTo>
                  <a:pt x="2233821" y="294582"/>
                  <a:pt x="2303638" y="269811"/>
                  <a:pt x="2335132" y="256032"/>
                </a:cubicBezTo>
                <a:cubicBezTo>
                  <a:pt x="2360108" y="245105"/>
                  <a:pt x="2408284" y="219456"/>
                  <a:pt x="2408284" y="219456"/>
                </a:cubicBezTo>
                <a:cubicBezTo>
                  <a:pt x="2411332" y="210312"/>
                  <a:pt x="2413117" y="200645"/>
                  <a:pt x="2417428" y="192024"/>
                </a:cubicBezTo>
                <a:cubicBezTo>
                  <a:pt x="2422343" y="182194"/>
                  <a:pt x="2437079" y="175497"/>
                  <a:pt x="2435716" y="164592"/>
                </a:cubicBezTo>
                <a:cubicBezTo>
                  <a:pt x="2433512" y="146957"/>
                  <a:pt x="2420851" y="131439"/>
                  <a:pt x="2408284" y="118872"/>
                </a:cubicBezTo>
                <a:cubicBezTo>
                  <a:pt x="2398645" y="109233"/>
                  <a:pt x="2385225" y="102347"/>
                  <a:pt x="2371708" y="100584"/>
                </a:cubicBezTo>
                <a:cubicBezTo>
                  <a:pt x="2314203" y="93083"/>
                  <a:pt x="2255884" y="94488"/>
                  <a:pt x="2197972" y="91440"/>
                </a:cubicBezTo>
                <a:cubicBezTo>
                  <a:pt x="2182732" y="88392"/>
                  <a:pt x="2167138" y="86762"/>
                  <a:pt x="2152252" y="82296"/>
                </a:cubicBezTo>
                <a:cubicBezTo>
                  <a:pt x="2096538" y="65582"/>
                  <a:pt x="2114568" y="57151"/>
                  <a:pt x="2051668" y="54864"/>
                </a:cubicBezTo>
                <a:cubicBezTo>
                  <a:pt x="1902384" y="49435"/>
                  <a:pt x="1752956" y="49153"/>
                  <a:pt x="1603612" y="45720"/>
                </a:cubicBezTo>
                <a:cubicBezTo>
                  <a:pt x="1184920" y="36095"/>
                  <a:pt x="1380360" y="36576"/>
                  <a:pt x="1201276" y="36576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5216" y="365760"/>
            <a:ext cx="330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1.3,1.4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46" y="1499414"/>
            <a:ext cx="4663844" cy="2331922"/>
          </a:xfrm>
          <a:prstGeom prst="rect">
            <a:avLst/>
          </a:prstGeom>
        </p:spPr>
      </p:pic>
      <p:sp>
        <p:nvSpPr>
          <p:cNvPr id="9" name="任意多边形: 形状 8"/>
          <p:cNvSpPr/>
          <p:nvPr/>
        </p:nvSpPr>
        <p:spPr>
          <a:xfrm>
            <a:off x="3758118" y="1682496"/>
            <a:ext cx="795594" cy="466344"/>
          </a:xfrm>
          <a:custGeom>
            <a:avLst/>
            <a:gdLst>
              <a:gd name="connsiteX0" fmla="*/ 786450 w 795594"/>
              <a:gd name="connsiteY0" fmla="*/ 173736 h 466344"/>
              <a:gd name="connsiteX1" fmla="*/ 740730 w 795594"/>
              <a:gd name="connsiteY1" fmla="*/ 155448 h 466344"/>
              <a:gd name="connsiteX2" fmla="*/ 576138 w 795594"/>
              <a:gd name="connsiteY2" fmla="*/ 45720 h 466344"/>
              <a:gd name="connsiteX3" fmla="*/ 438978 w 795594"/>
              <a:gd name="connsiteY3" fmla="*/ 9144 h 466344"/>
              <a:gd name="connsiteX4" fmla="*/ 384114 w 795594"/>
              <a:gd name="connsiteY4" fmla="*/ 0 h 466344"/>
              <a:gd name="connsiteX5" fmla="*/ 164658 w 795594"/>
              <a:gd name="connsiteY5" fmla="*/ 9144 h 466344"/>
              <a:gd name="connsiteX6" fmla="*/ 137226 w 795594"/>
              <a:gd name="connsiteY6" fmla="*/ 18288 h 466344"/>
              <a:gd name="connsiteX7" fmla="*/ 82362 w 795594"/>
              <a:gd name="connsiteY7" fmla="*/ 64008 h 466344"/>
              <a:gd name="connsiteX8" fmla="*/ 9210 w 795594"/>
              <a:gd name="connsiteY8" fmla="*/ 155448 h 466344"/>
              <a:gd name="connsiteX9" fmla="*/ 66 w 795594"/>
              <a:gd name="connsiteY9" fmla="*/ 201168 h 466344"/>
              <a:gd name="connsiteX10" fmla="*/ 18354 w 795594"/>
              <a:gd name="connsiteY10" fmla="*/ 329184 h 466344"/>
              <a:gd name="connsiteX11" fmla="*/ 128082 w 795594"/>
              <a:gd name="connsiteY11" fmla="*/ 438912 h 466344"/>
              <a:gd name="connsiteX12" fmla="*/ 192090 w 795594"/>
              <a:gd name="connsiteY12" fmla="*/ 448056 h 466344"/>
              <a:gd name="connsiteX13" fmla="*/ 265242 w 795594"/>
              <a:gd name="connsiteY13" fmla="*/ 466344 h 466344"/>
              <a:gd name="connsiteX14" fmla="*/ 548706 w 795594"/>
              <a:gd name="connsiteY14" fmla="*/ 457200 h 466344"/>
              <a:gd name="connsiteX15" fmla="*/ 658434 w 795594"/>
              <a:gd name="connsiteY15" fmla="*/ 438912 h 466344"/>
              <a:gd name="connsiteX16" fmla="*/ 731586 w 795594"/>
              <a:gd name="connsiteY16" fmla="*/ 402336 h 466344"/>
              <a:gd name="connsiteX17" fmla="*/ 759018 w 795594"/>
              <a:gd name="connsiteY17" fmla="*/ 347472 h 466344"/>
              <a:gd name="connsiteX18" fmla="*/ 795594 w 795594"/>
              <a:gd name="connsiteY18" fmla="*/ 274320 h 466344"/>
              <a:gd name="connsiteX19" fmla="*/ 786450 w 795594"/>
              <a:gd name="connsiteY19" fmla="*/ 155448 h 466344"/>
              <a:gd name="connsiteX20" fmla="*/ 777306 w 795594"/>
              <a:gd name="connsiteY20" fmla="*/ 118872 h 46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5594" h="466344">
                <a:moveTo>
                  <a:pt x="786450" y="173736"/>
                </a:moveTo>
                <a:cubicBezTo>
                  <a:pt x="771210" y="167640"/>
                  <a:pt x="754751" y="163982"/>
                  <a:pt x="740730" y="155448"/>
                </a:cubicBezTo>
                <a:cubicBezTo>
                  <a:pt x="684406" y="121164"/>
                  <a:pt x="639539" y="63835"/>
                  <a:pt x="576138" y="45720"/>
                </a:cubicBezTo>
                <a:cubicBezTo>
                  <a:pt x="529756" y="32468"/>
                  <a:pt x="486318" y="19288"/>
                  <a:pt x="438978" y="9144"/>
                </a:cubicBezTo>
                <a:cubicBezTo>
                  <a:pt x="420849" y="5259"/>
                  <a:pt x="402402" y="3048"/>
                  <a:pt x="384114" y="0"/>
                </a:cubicBezTo>
                <a:cubicBezTo>
                  <a:pt x="310962" y="3048"/>
                  <a:pt x="237673" y="3735"/>
                  <a:pt x="164658" y="9144"/>
                </a:cubicBezTo>
                <a:cubicBezTo>
                  <a:pt x="155046" y="9856"/>
                  <a:pt x="145246" y="12941"/>
                  <a:pt x="137226" y="18288"/>
                </a:cubicBezTo>
                <a:cubicBezTo>
                  <a:pt x="117419" y="31493"/>
                  <a:pt x="98605" y="46605"/>
                  <a:pt x="82362" y="64008"/>
                </a:cubicBezTo>
                <a:cubicBezTo>
                  <a:pt x="55729" y="92544"/>
                  <a:pt x="9210" y="155448"/>
                  <a:pt x="9210" y="155448"/>
                </a:cubicBezTo>
                <a:cubicBezTo>
                  <a:pt x="6162" y="170688"/>
                  <a:pt x="-751" y="185648"/>
                  <a:pt x="66" y="201168"/>
                </a:cubicBezTo>
                <a:cubicBezTo>
                  <a:pt x="2332" y="244214"/>
                  <a:pt x="2646" y="289043"/>
                  <a:pt x="18354" y="329184"/>
                </a:cubicBezTo>
                <a:cubicBezTo>
                  <a:pt x="32742" y="365953"/>
                  <a:pt x="83518" y="424057"/>
                  <a:pt x="128082" y="438912"/>
                </a:cubicBezTo>
                <a:cubicBezTo>
                  <a:pt x="148529" y="445728"/>
                  <a:pt x="170956" y="443829"/>
                  <a:pt x="192090" y="448056"/>
                </a:cubicBezTo>
                <a:cubicBezTo>
                  <a:pt x="216736" y="452985"/>
                  <a:pt x="240858" y="460248"/>
                  <a:pt x="265242" y="466344"/>
                </a:cubicBezTo>
                <a:cubicBezTo>
                  <a:pt x="359730" y="463296"/>
                  <a:pt x="454300" y="462169"/>
                  <a:pt x="548706" y="457200"/>
                </a:cubicBezTo>
                <a:cubicBezTo>
                  <a:pt x="579491" y="455580"/>
                  <a:pt x="626632" y="445272"/>
                  <a:pt x="658434" y="438912"/>
                </a:cubicBezTo>
                <a:cubicBezTo>
                  <a:pt x="682818" y="426720"/>
                  <a:pt x="716464" y="425019"/>
                  <a:pt x="731586" y="402336"/>
                </a:cubicBezTo>
                <a:cubicBezTo>
                  <a:pt x="783997" y="323720"/>
                  <a:pt x="721160" y="423188"/>
                  <a:pt x="759018" y="347472"/>
                </a:cubicBezTo>
                <a:cubicBezTo>
                  <a:pt x="802206" y="261096"/>
                  <a:pt x="774974" y="336179"/>
                  <a:pt x="795594" y="274320"/>
                </a:cubicBezTo>
                <a:cubicBezTo>
                  <a:pt x="792546" y="234696"/>
                  <a:pt x="791093" y="194917"/>
                  <a:pt x="786450" y="155448"/>
                </a:cubicBezTo>
                <a:cubicBezTo>
                  <a:pt x="784982" y="142967"/>
                  <a:pt x="777306" y="118872"/>
                  <a:pt x="777306" y="118872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/>
          <p:cNvSpPr/>
          <p:nvPr/>
        </p:nvSpPr>
        <p:spPr>
          <a:xfrm rot="18864659">
            <a:off x="3298828" y="2436773"/>
            <a:ext cx="81631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2960" y="4251960"/>
            <a:ext cx="701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在上方的键，从左到右分别是</a:t>
            </a:r>
            <a:r>
              <a:rPr lang="en-US" altLang="zh-CN" dirty="0"/>
              <a:t>F11</a:t>
            </a:r>
            <a:r>
              <a:rPr lang="zh-CN" altLang="en-US" dirty="0"/>
              <a:t>（逐语句），</a:t>
            </a:r>
            <a:r>
              <a:rPr lang="en-US" altLang="zh-CN" dirty="0"/>
              <a:t>F10</a:t>
            </a:r>
            <a:r>
              <a:rPr lang="zh-CN" altLang="en-US" dirty="0"/>
              <a:t>（逐过程），</a:t>
            </a:r>
            <a:r>
              <a:rPr lang="en-US" altLang="zh-CN" dirty="0"/>
              <a:t>shift+f11</a:t>
            </a:r>
            <a:r>
              <a:rPr lang="zh-CN" altLang="en-US" dirty="0"/>
              <a:t>（跳出），在键盘上也可以点击这三个键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93446" y="968071"/>
            <a:ext cx="6943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设置好断点，按</a:t>
            </a:r>
            <a:r>
              <a:rPr lang="en-US" altLang="zh-CN" dirty="0"/>
              <a:t>f5</a:t>
            </a:r>
            <a:r>
              <a:rPr lang="zh-CN" altLang="en-US" dirty="0"/>
              <a:t>后观察“帮助”下方的三个按键，或者在键盘上操作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161288" y="5239512"/>
            <a:ext cx="5623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摁</a:t>
            </a:r>
            <a:r>
              <a:rPr lang="en-US" altLang="zh-CN" dirty="0"/>
              <a:t>f11</a:t>
            </a:r>
            <a:r>
              <a:rPr lang="zh-CN" altLang="en-US" dirty="0"/>
              <a:t>时，能够进入系统函数内部单步进行。摁</a:t>
            </a:r>
            <a:r>
              <a:rPr lang="en-US" altLang="zh-CN" dirty="0"/>
              <a:t>f10</a:t>
            </a:r>
            <a:r>
              <a:rPr lang="zh-CN" altLang="en-US" dirty="0"/>
              <a:t>时，能一步完成系统函数。按</a:t>
            </a:r>
            <a:r>
              <a:rPr lang="en-US" altLang="zh-CN" dirty="0"/>
              <a:t>shift+f11</a:t>
            </a:r>
            <a:r>
              <a:rPr lang="zh-CN" altLang="en-US" dirty="0"/>
              <a:t>时，能从系统函数中跳出，回到自己的函数。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281" y="1535266"/>
            <a:ext cx="4023709" cy="37874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71" y="1535266"/>
            <a:ext cx="4663844" cy="2331922"/>
          </a:xfrm>
          <a:prstGeom prst="rect">
            <a:avLst/>
          </a:prstGeom>
        </p:spPr>
      </p:pic>
      <p:sp>
        <p:nvSpPr>
          <p:cNvPr id="8" name="任意多边形: 形状 7"/>
          <p:cNvSpPr/>
          <p:nvPr/>
        </p:nvSpPr>
        <p:spPr>
          <a:xfrm>
            <a:off x="7607943" y="1718348"/>
            <a:ext cx="795594" cy="466344"/>
          </a:xfrm>
          <a:custGeom>
            <a:avLst/>
            <a:gdLst>
              <a:gd name="connsiteX0" fmla="*/ 786450 w 795594"/>
              <a:gd name="connsiteY0" fmla="*/ 173736 h 466344"/>
              <a:gd name="connsiteX1" fmla="*/ 740730 w 795594"/>
              <a:gd name="connsiteY1" fmla="*/ 155448 h 466344"/>
              <a:gd name="connsiteX2" fmla="*/ 576138 w 795594"/>
              <a:gd name="connsiteY2" fmla="*/ 45720 h 466344"/>
              <a:gd name="connsiteX3" fmla="*/ 438978 w 795594"/>
              <a:gd name="connsiteY3" fmla="*/ 9144 h 466344"/>
              <a:gd name="connsiteX4" fmla="*/ 384114 w 795594"/>
              <a:gd name="connsiteY4" fmla="*/ 0 h 466344"/>
              <a:gd name="connsiteX5" fmla="*/ 164658 w 795594"/>
              <a:gd name="connsiteY5" fmla="*/ 9144 h 466344"/>
              <a:gd name="connsiteX6" fmla="*/ 137226 w 795594"/>
              <a:gd name="connsiteY6" fmla="*/ 18288 h 466344"/>
              <a:gd name="connsiteX7" fmla="*/ 82362 w 795594"/>
              <a:gd name="connsiteY7" fmla="*/ 64008 h 466344"/>
              <a:gd name="connsiteX8" fmla="*/ 9210 w 795594"/>
              <a:gd name="connsiteY8" fmla="*/ 155448 h 466344"/>
              <a:gd name="connsiteX9" fmla="*/ 66 w 795594"/>
              <a:gd name="connsiteY9" fmla="*/ 201168 h 466344"/>
              <a:gd name="connsiteX10" fmla="*/ 18354 w 795594"/>
              <a:gd name="connsiteY10" fmla="*/ 329184 h 466344"/>
              <a:gd name="connsiteX11" fmla="*/ 128082 w 795594"/>
              <a:gd name="connsiteY11" fmla="*/ 438912 h 466344"/>
              <a:gd name="connsiteX12" fmla="*/ 192090 w 795594"/>
              <a:gd name="connsiteY12" fmla="*/ 448056 h 466344"/>
              <a:gd name="connsiteX13" fmla="*/ 265242 w 795594"/>
              <a:gd name="connsiteY13" fmla="*/ 466344 h 466344"/>
              <a:gd name="connsiteX14" fmla="*/ 548706 w 795594"/>
              <a:gd name="connsiteY14" fmla="*/ 457200 h 466344"/>
              <a:gd name="connsiteX15" fmla="*/ 658434 w 795594"/>
              <a:gd name="connsiteY15" fmla="*/ 438912 h 466344"/>
              <a:gd name="connsiteX16" fmla="*/ 731586 w 795594"/>
              <a:gd name="connsiteY16" fmla="*/ 402336 h 466344"/>
              <a:gd name="connsiteX17" fmla="*/ 759018 w 795594"/>
              <a:gd name="connsiteY17" fmla="*/ 347472 h 466344"/>
              <a:gd name="connsiteX18" fmla="*/ 795594 w 795594"/>
              <a:gd name="connsiteY18" fmla="*/ 274320 h 466344"/>
              <a:gd name="connsiteX19" fmla="*/ 786450 w 795594"/>
              <a:gd name="connsiteY19" fmla="*/ 155448 h 466344"/>
              <a:gd name="connsiteX20" fmla="*/ 777306 w 795594"/>
              <a:gd name="connsiteY20" fmla="*/ 118872 h 46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5594" h="466344">
                <a:moveTo>
                  <a:pt x="786450" y="173736"/>
                </a:moveTo>
                <a:cubicBezTo>
                  <a:pt x="771210" y="167640"/>
                  <a:pt x="754751" y="163982"/>
                  <a:pt x="740730" y="155448"/>
                </a:cubicBezTo>
                <a:cubicBezTo>
                  <a:pt x="684406" y="121164"/>
                  <a:pt x="639539" y="63835"/>
                  <a:pt x="576138" y="45720"/>
                </a:cubicBezTo>
                <a:cubicBezTo>
                  <a:pt x="529756" y="32468"/>
                  <a:pt x="486318" y="19288"/>
                  <a:pt x="438978" y="9144"/>
                </a:cubicBezTo>
                <a:cubicBezTo>
                  <a:pt x="420849" y="5259"/>
                  <a:pt x="402402" y="3048"/>
                  <a:pt x="384114" y="0"/>
                </a:cubicBezTo>
                <a:cubicBezTo>
                  <a:pt x="310962" y="3048"/>
                  <a:pt x="237673" y="3735"/>
                  <a:pt x="164658" y="9144"/>
                </a:cubicBezTo>
                <a:cubicBezTo>
                  <a:pt x="155046" y="9856"/>
                  <a:pt x="145246" y="12941"/>
                  <a:pt x="137226" y="18288"/>
                </a:cubicBezTo>
                <a:cubicBezTo>
                  <a:pt x="117419" y="31493"/>
                  <a:pt x="98605" y="46605"/>
                  <a:pt x="82362" y="64008"/>
                </a:cubicBezTo>
                <a:cubicBezTo>
                  <a:pt x="55729" y="92544"/>
                  <a:pt x="9210" y="155448"/>
                  <a:pt x="9210" y="155448"/>
                </a:cubicBezTo>
                <a:cubicBezTo>
                  <a:pt x="6162" y="170688"/>
                  <a:pt x="-751" y="185648"/>
                  <a:pt x="66" y="201168"/>
                </a:cubicBezTo>
                <a:cubicBezTo>
                  <a:pt x="2332" y="244214"/>
                  <a:pt x="2646" y="289043"/>
                  <a:pt x="18354" y="329184"/>
                </a:cubicBezTo>
                <a:cubicBezTo>
                  <a:pt x="32742" y="365953"/>
                  <a:pt x="83518" y="424057"/>
                  <a:pt x="128082" y="438912"/>
                </a:cubicBezTo>
                <a:cubicBezTo>
                  <a:pt x="148529" y="445728"/>
                  <a:pt x="170956" y="443829"/>
                  <a:pt x="192090" y="448056"/>
                </a:cubicBezTo>
                <a:cubicBezTo>
                  <a:pt x="216736" y="452985"/>
                  <a:pt x="240858" y="460248"/>
                  <a:pt x="265242" y="466344"/>
                </a:cubicBezTo>
                <a:cubicBezTo>
                  <a:pt x="359730" y="463296"/>
                  <a:pt x="454300" y="462169"/>
                  <a:pt x="548706" y="457200"/>
                </a:cubicBezTo>
                <a:cubicBezTo>
                  <a:pt x="579491" y="455580"/>
                  <a:pt x="626632" y="445272"/>
                  <a:pt x="658434" y="438912"/>
                </a:cubicBezTo>
                <a:cubicBezTo>
                  <a:pt x="682818" y="426720"/>
                  <a:pt x="716464" y="425019"/>
                  <a:pt x="731586" y="402336"/>
                </a:cubicBezTo>
                <a:cubicBezTo>
                  <a:pt x="783997" y="323720"/>
                  <a:pt x="721160" y="423188"/>
                  <a:pt x="759018" y="347472"/>
                </a:cubicBezTo>
                <a:cubicBezTo>
                  <a:pt x="802206" y="261096"/>
                  <a:pt x="774974" y="336179"/>
                  <a:pt x="795594" y="274320"/>
                </a:cubicBezTo>
                <a:cubicBezTo>
                  <a:pt x="792546" y="234696"/>
                  <a:pt x="791093" y="194917"/>
                  <a:pt x="786450" y="155448"/>
                </a:cubicBezTo>
                <a:cubicBezTo>
                  <a:pt x="784982" y="142967"/>
                  <a:pt x="777306" y="118872"/>
                  <a:pt x="777306" y="118872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/>
          <p:cNvSpPr/>
          <p:nvPr/>
        </p:nvSpPr>
        <p:spPr>
          <a:xfrm rot="18864659">
            <a:off x="6965772" y="2354947"/>
            <a:ext cx="81631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85216" y="365760"/>
            <a:ext cx="330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1.5, 1.6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80999" y="888935"/>
            <a:ext cx="4462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例如此函数，在调用该函数的语句处摁</a:t>
            </a:r>
            <a:r>
              <a:rPr lang="en-US" altLang="zh-CN" dirty="0"/>
              <a:t>f11</a:t>
            </a:r>
            <a:r>
              <a:rPr lang="zh-CN" altLang="en-US" dirty="0"/>
              <a:t>可以进入到该函数中逐步进行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394960" y="882471"/>
            <a:ext cx="332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或者摁此处的“逐语句（</a:t>
            </a:r>
            <a:r>
              <a:rPr lang="en-US" altLang="zh-CN" dirty="0"/>
              <a:t>f11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370" y="4050270"/>
            <a:ext cx="4839119" cy="215664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875520" y="4050270"/>
            <a:ext cx="210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摁</a:t>
            </a:r>
            <a:r>
              <a:rPr lang="en-US" altLang="zh-CN" dirty="0"/>
              <a:t>f10</a:t>
            </a:r>
            <a:r>
              <a:rPr lang="zh-CN" altLang="en-US" dirty="0"/>
              <a:t>可以一步完成自定义函数的执行而不进入函数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445" y="1797359"/>
            <a:ext cx="6256251" cy="387206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6344" y="237744"/>
            <a:ext cx="407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监视窗口的学习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390015" y="5962015"/>
            <a:ext cx="7156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再点击“调试”</a:t>
            </a:r>
            <a:r>
              <a:rPr lang="en-US" altLang="zh-CN" dirty="0"/>
              <a:t>-</a:t>
            </a:r>
            <a:r>
              <a:rPr lang="zh-CN" altLang="en-US" dirty="0"/>
              <a:t>“窗口”</a:t>
            </a:r>
            <a:r>
              <a:rPr lang="en-US" altLang="zh-CN" dirty="0"/>
              <a:t>-</a:t>
            </a:r>
            <a:r>
              <a:rPr lang="zh-CN" altLang="en-US" dirty="0"/>
              <a:t>“监视”</a:t>
            </a:r>
            <a:r>
              <a:rPr lang="en-US" altLang="zh-CN" dirty="0"/>
              <a:t>-</a:t>
            </a:r>
            <a:r>
              <a:rPr lang="zh-CN" altLang="en-US" dirty="0"/>
              <a:t>“监视</a:t>
            </a:r>
            <a:r>
              <a:rPr lang="en-US" altLang="zh-CN" dirty="0"/>
              <a:t>1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）”，打开监视窗口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79582" y="1320227"/>
            <a:ext cx="20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先点击</a:t>
            </a:r>
            <a:r>
              <a:rPr lang="en-US" altLang="zh-CN" dirty="0"/>
              <a:t>f5</a:t>
            </a:r>
            <a:r>
              <a:rPr lang="zh-CN" altLang="en-US" dirty="0"/>
              <a:t>进行调试 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68680" y="374904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</a:t>
            </a:r>
            <a:r>
              <a:rPr lang="en-US" altLang="zh-CN" dirty="0"/>
              <a:t>2.2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415" y="5145040"/>
            <a:ext cx="4460133" cy="156355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44236"/>
            <a:ext cx="7772400" cy="347061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99" y="4214850"/>
            <a:ext cx="7079593" cy="830652"/>
          </a:xfrm>
          <a:prstGeom prst="rect">
            <a:avLst/>
          </a:prstGeom>
        </p:spPr>
      </p:pic>
      <p:sp>
        <p:nvSpPr>
          <p:cNvPr id="15" name="任意多边形: 形状 14"/>
          <p:cNvSpPr/>
          <p:nvPr/>
        </p:nvSpPr>
        <p:spPr>
          <a:xfrm>
            <a:off x="1123721" y="4651269"/>
            <a:ext cx="1226287" cy="394233"/>
          </a:xfrm>
          <a:custGeom>
            <a:avLst/>
            <a:gdLst>
              <a:gd name="connsiteX0" fmla="*/ 1015714 w 1226287"/>
              <a:gd name="connsiteY0" fmla="*/ 347472 h 394233"/>
              <a:gd name="connsiteX1" fmla="*/ 476218 w 1226287"/>
              <a:gd name="connsiteY1" fmla="*/ 338328 h 394233"/>
              <a:gd name="connsiteX2" fmla="*/ 293338 w 1226287"/>
              <a:gd name="connsiteY2" fmla="*/ 329184 h 394233"/>
              <a:gd name="connsiteX3" fmla="*/ 55594 w 1226287"/>
              <a:gd name="connsiteY3" fmla="*/ 265176 h 394233"/>
              <a:gd name="connsiteX4" fmla="*/ 9874 w 1226287"/>
              <a:gd name="connsiteY4" fmla="*/ 237744 h 394233"/>
              <a:gd name="connsiteX5" fmla="*/ 730 w 1226287"/>
              <a:gd name="connsiteY5" fmla="*/ 182880 h 394233"/>
              <a:gd name="connsiteX6" fmla="*/ 92170 w 1226287"/>
              <a:gd name="connsiteY6" fmla="*/ 18288 h 394233"/>
              <a:gd name="connsiteX7" fmla="*/ 174466 w 1226287"/>
              <a:gd name="connsiteY7" fmla="*/ 0 h 394233"/>
              <a:gd name="connsiteX8" fmla="*/ 521938 w 1226287"/>
              <a:gd name="connsiteY8" fmla="*/ 18288 h 394233"/>
              <a:gd name="connsiteX9" fmla="*/ 613378 w 1226287"/>
              <a:gd name="connsiteY9" fmla="*/ 45720 h 394233"/>
              <a:gd name="connsiteX10" fmla="*/ 695674 w 1226287"/>
              <a:gd name="connsiteY10" fmla="*/ 54864 h 394233"/>
              <a:gd name="connsiteX11" fmla="*/ 915130 w 1226287"/>
              <a:gd name="connsiteY11" fmla="*/ 73152 h 394233"/>
              <a:gd name="connsiteX12" fmla="*/ 1152874 w 1226287"/>
              <a:gd name="connsiteY12" fmla="*/ 192024 h 394233"/>
              <a:gd name="connsiteX13" fmla="*/ 1216882 w 1226287"/>
              <a:gd name="connsiteY13" fmla="*/ 274320 h 394233"/>
              <a:gd name="connsiteX14" fmla="*/ 1226026 w 1226287"/>
              <a:gd name="connsiteY14" fmla="*/ 338328 h 394233"/>
              <a:gd name="connsiteX15" fmla="*/ 1207738 w 1226287"/>
              <a:gd name="connsiteY15" fmla="*/ 384048 h 394233"/>
              <a:gd name="connsiteX16" fmla="*/ 1152874 w 1226287"/>
              <a:gd name="connsiteY16" fmla="*/ 393192 h 394233"/>
              <a:gd name="connsiteX17" fmla="*/ 969994 w 1226287"/>
              <a:gd name="connsiteY17" fmla="*/ 393192 h 39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26287" h="394233">
                <a:moveTo>
                  <a:pt x="1015714" y="347472"/>
                </a:moveTo>
                <a:lnTo>
                  <a:pt x="476218" y="338328"/>
                </a:lnTo>
                <a:cubicBezTo>
                  <a:pt x="415201" y="336783"/>
                  <a:pt x="353824" y="337358"/>
                  <a:pt x="293338" y="329184"/>
                </a:cubicBezTo>
                <a:cubicBezTo>
                  <a:pt x="251753" y="323564"/>
                  <a:pt x="111248" y="289028"/>
                  <a:pt x="55594" y="265176"/>
                </a:cubicBezTo>
                <a:cubicBezTo>
                  <a:pt x="39258" y="258175"/>
                  <a:pt x="25114" y="246888"/>
                  <a:pt x="9874" y="237744"/>
                </a:cubicBezTo>
                <a:cubicBezTo>
                  <a:pt x="6826" y="219456"/>
                  <a:pt x="-2687" y="201103"/>
                  <a:pt x="730" y="182880"/>
                </a:cubicBezTo>
                <a:cubicBezTo>
                  <a:pt x="8074" y="143711"/>
                  <a:pt x="55261" y="42894"/>
                  <a:pt x="92170" y="18288"/>
                </a:cubicBezTo>
                <a:cubicBezTo>
                  <a:pt x="115552" y="2700"/>
                  <a:pt x="147034" y="6096"/>
                  <a:pt x="174466" y="0"/>
                </a:cubicBezTo>
                <a:cubicBezTo>
                  <a:pt x="290290" y="6096"/>
                  <a:pt x="406578" y="6271"/>
                  <a:pt x="521938" y="18288"/>
                </a:cubicBezTo>
                <a:cubicBezTo>
                  <a:pt x="553589" y="21585"/>
                  <a:pt x="582239" y="39164"/>
                  <a:pt x="613378" y="45720"/>
                </a:cubicBezTo>
                <a:cubicBezTo>
                  <a:pt x="640387" y="51406"/>
                  <a:pt x="668187" y="52365"/>
                  <a:pt x="695674" y="54864"/>
                </a:cubicBezTo>
                <a:lnTo>
                  <a:pt x="915130" y="73152"/>
                </a:lnTo>
                <a:cubicBezTo>
                  <a:pt x="1013125" y="111261"/>
                  <a:pt x="1081820" y="120970"/>
                  <a:pt x="1152874" y="192024"/>
                </a:cubicBezTo>
                <a:cubicBezTo>
                  <a:pt x="1177448" y="216598"/>
                  <a:pt x="1216882" y="274320"/>
                  <a:pt x="1216882" y="274320"/>
                </a:cubicBezTo>
                <a:cubicBezTo>
                  <a:pt x="1219930" y="295656"/>
                  <a:pt x="1227816" y="316850"/>
                  <a:pt x="1226026" y="338328"/>
                </a:cubicBezTo>
                <a:cubicBezTo>
                  <a:pt x="1224663" y="354685"/>
                  <a:pt x="1220869" y="374200"/>
                  <a:pt x="1207738" y="384048"/>
                </a:cubicBezTo>
                <a:cubicBezTo>
                  <a:pt x="1192906" y="395172"/>
                  <a:pt x="1171401" y="392479"/>
                  <a:pt x="1152874" y="393192"/>
                </a:cubicBezTo>
                <a:cubicBezTo>
                  <a:pt x="1091959" y="395535"/>
                  <a:pt x="1030954" y="393192"/>
                  <a:pt x="969994" y="393192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/>
          <p:cNvSpPr/>
          <p:nvPr/>
        </p:nvSpPr>
        <p:spPr>
          <a:xfrm>
            <a:off x="1335024" y="5145040"/>
            <a:ext cx="384048" cy="835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74320" y="6153912"/>
            <a:ext cx="28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添加要监视的变量</a:t>
            </a:r>
            <a:r>
              <a:rPr lang="en-US" altLang="zh-CN" dirty="0" err="1"/>
              <a:t>a,t</a:t>
            </a:r>
            <a:endParaRPr lang="zh-CN" altLang="en-US" dirty="0"/>
          </a:p>
        </p:txBody>
      </p:sp>
      <p:sp>
        <p:nvSpPr>
          <p:cNvPr id="19" name="箭头: 右 18"/>
          <p:cNvSpPr/>
          <p:nvPr/>
        </p:nvSpPr>
        <p:spPr>
          <a:xfrm>
            <a:off x="7626096" y="4517136"/>
            <a:ext cx="813816" cy="394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906256" y="4517136"/>
            <a:ext cx="224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从值上对比静态和自动变量的区别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9244584" y="5797296"/>
            <a:ext cx="224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中间变量输出法，监视静态局部变量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258" y="855995"/>
            <a:ext cx="5138518" cy="33903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049" y="466998"/>
            <a:ext cx="4635543" cy="38156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0352" y="164592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</a:t>
            </a:r>
            <a:r>
              <a:rPr lang="en-US" altLang="zh-CN" dirty="0"/>
              <a:t>2.3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72745" y="282332"/>
            <a:ext cx="401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在监视窗口中，输入监控的变量名</a:t>
            </a:r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12" name="箭头: 下 11"/>
          <p:cNvSpPr/>
          <p:nvPr/>
        </p:nvSpPr>
        <p:spPr>
          <a:xfrm>
            <a:off x="2505456" y="4160520"/>
            <a:ext cx="347472" cy="63093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252855" y="4809490"/>
            <a:ext cx="3660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Main</a:t>
            </a:r>
            <a:r>
              <a:rPr lang="zh-CN" altLang="en-US" dirty="0"/>
              <a:t>所在源程序中</a:t>
            </a:r>
            <a:r>
              <a:rPr lang="en-US" altLang="zh-CN" dirty="0"/>
              <a:t>t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348855" y="4681855"/>
            <a:ext cx="3916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Fun</a:t>
            </a:r>
            <a:r>
              <a:rPr lang="zh-CN" altLang="en-US" dirty="0"/>
              <a:t>（）所在源程序中</a:t>
            </a:r>
            <a:r>
              <a:rPr lang="en-US" altLang="zh-CN" dirty="0"/>
              <a:t>t</a:t>
            </a:r>
            <a:r>
              <a:rPr lang="zh-CN" altLang="en-US" dirty="0"/>
              <a:t>的值为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箭头: 下 16"/>
          <p:cNvSpPr/>
          <p:nvPr/>
        </p:nvSpPr>
        <p:spPr>
          <a:xfrm>
            <a:off x="8586216" y="4050792"/>
            <a:ext cx="347472" cy="63093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926" y="5354843"/>
            <a:ext cx="5921290" cy="90229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759952" y="5757179"/>
            <a:ext cx="267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输出中间变量法监测</a:t>
            </a:r>
            <a:r>
              <a:rPr lang="en-US" altLang="zh-CN" dirty="0"/>
              <a:t>t</a:t>
            </a:r>
            <a:r>
              <a:rPr lang="zh-CN" altLang="en-US" dirty="0"/>
              <a:t>值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660" y="686280"/>
            <a:ext cx="4861100" cy="35966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662" y="5449825"/>
            <a:ext cx="5122338" cy="8082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59952" y="5757179"/>
            <a:ext cx="267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输出中间变量法监测</a:t>
            </a:r>
            <a:r>
              <a:rPr lang="en-US" altLang="zh-CN" dirty="0"/>
              <a:t>t</a:t>
            </a:r>
            <a:r>
              <a:rPr lang="zh-CN" altLang="en-US" dirty="0"/>
              <a:t>值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0352" y="164592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</a:t>
            </a:r>
            <a:r>
              <a:rPr lang="en-US" altLang="zh-CN" dirty="0"/>
              <a:t>2.4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72745" y="282332"/>
            <a:ext cx="401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在监视窗口中，输入监控的变量名</a:t>
            </a:r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252855" y="4809490"/>
            <a:ext cx="346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Main</a:t>
            </a:r>
            <a:r>
              <a:rPr lang="zh-CN" altLang="en-US" dirty="0"/>
              <a:t>所在源程序中</a:t>
            </a:r>
            <a:r>
              <a:rPr lang="en-US" altLang="zh-CN" dirty="0"/>
              <a:t>t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348855" y="4681855"/>
            <a:ext cx="3706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Fun</a:t>
            </a:r>
            <a:r>
              <a:rPr lang="zh-CN" altLang="en-US" dirty="0"/>
              <a:t>（）所在源程序中</a:t>
            </a:r>
            <a:r>
              <a:rPr lang="en-US" altLang="zh-CN" dirty="0"/>
              <a:t>t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71" y="651664"/>
            <a:ext cx="4739930" cy="3759626"/>
          </a:xfrm>
          <a:prstGeom prst="rect">
            <a:avLst/>
          </a:prstGeom>
        </p:spPr>
      </p:pic>
      <p:sp>
        <p:nvSpPr>
          <p:cNvPr id="13" name="箭头: 下 12"/>
          <p:cNvSpPr/>
          <p:nvPr/>
        </p:nvSpPr>
        <p:spPr>
          <a:xfrm>
            <a:off x="2441448" y="4306824"/>
            <a:ext cx="320040" cy="50292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/>
          <p:cNvSpPr/>
          <p:nvPr/>
        </p:nvSpPr>
        <p:spPr>
          <a:xfrm>
            <a:off x="8599932" y="4178808"/>
            <a:ext cx="320040" cy="50292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66928" y="512064"/>
            <a:ext cx="215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</a:t>
            </a:r>
            <a:r>
              <a:rPr lang="en-US" altLang="zh-CN" dirty="0"/>
              <a:t>2.1</a:t>
            </a:r>
            <a:r>
              <a:rPr lang="zh-CN" altLang="en-US" dirty="0"/>
              <a:t>，</a:t>
            </a:r>
            <a:r>
              <a:rPr lang="en-US" altLang="zh-CN" dirty="0"/>
              <a:t>3.2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06060"/>
            <a:ext cx="4718304" cy="16229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589" y="1912004"/>
            <a:ext cx="6190019" cy="1081683"/>
          </a:xfrm>
          <a:prstGeom prst="rect">
            <a:avLst/>
          </a:prstGeom>
        </p:spPr>
      </p:pic>
      <p:sp>
        <p:nvSpPr>
          <p:cNvPr id="7" name="箭头: 下 6"/>
          <p:cNvSpPr/>
          <p:nvPr/>
        </p:nvSpPr>
        <p:spPr>
          <a:xfrm>
            <a:off x="8029433" y="2649880"/>
            <a:ext cx="438912" cy="8595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66560" y="3706450"/>
            <a:ext cx="3931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在程序下方的栏目，可以看见形参</a:t>
            </a:r>
            <a:r>
              <a:rPr lang="en-US" altLang="zh-CN" dirty="0"/>
              <a:t>/</a:t>
            </a:r>
            <a:r>
              <a:rPr lang="zh-CN" altLang="en-US" dirty="0"/>
              <a:t>自动变量</a:t>
            </a:r>
            <a:r>
              <a:rPr lang="en-US" altLang="zh-CN" dirty="0"/>
              <a:t>t</a:t>
            </a:r>
            <a:r>
              <a:rPr lang="zh-CN" altLang="en-US" dirty="0"/>
              <a:t>的变换，现在被赋值</a:t>
            </a: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181344" y="4636008"/>
            <a:ext cx="5102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P1</a:t>
            </a:r>
            <a:r>
              <a:rPr lang="zh-CN" altLang="en-US" dirty="0"/>
              <a:t>，</a:t>
            </a:r>
            <a:r>
              <a:rPr lang="en-US" altLang="zh-CN" dirty="0"/>
              <a:t>p2</a:t>
            </a:r>
            <a:r>
              <a:rPr lang="zh-CN" altLang="en-US" dirty="0"/>
              <a:t>为指向普通变量的指针，可以在这看见地址和值（大括号内的值）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8680" y="374904"/>
            <a:ext cx="152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</a:t>
            </a:r>
            <a:r>
              <a:rPr lang="en-US" altLang="zh-CN" dirty="0"/>
              <a:t>3.1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401438"/>
            <a:ext cx="3766909" cy="12078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85" y="1851575"/>
            <a:ext cx="7399661" cy="24309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748" y="4734528"/>
            <a:ext cx="7049111" cy="65537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66760" y="3105834"/>
            <a:ext cx="314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进行调试后，可以看见被赋值的</a:t>
            </a:r>
            <a:r>
              <a:rPr lang="en-US" altLang="zh-CN" dirty="0" err="1"/>
              <a:t>char,int,float</a:t>
            </a:r>
            <a:r>
              <a:rPr lang="zh-CN" altLang="en-US" dirty="0"/>
              <a:t>型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96" y="1137428"/>
            <a:ext cx="7125317" cy="5113463"/>
          </a:xfrm>
          <a:prstGeom prst="rect">
            <a:avLst/>
          </a:prstGeom>
        </p:spPr>
      </p:pic>
      <p:sp>
        <p:nvSpPr>
          <p:cNvPr id="7" name="任意多边形: 形状 6"/>
          <p:cNvSpPr/>
          <p:nvPr/>
        </p:nvSpPr>
        <p:spPr>
          <a:xfrm>
            <a:off x="450796" y="5202936"/>
            <a:ext cx="3044952" cy="237744"/>
          </a:xfrm>
          <a:custGeom>
            <a:avLst/>
            <a:gdLst>
              <a:gd name="connsiteX0" fmla="*/ 448056 w 3044952"/>
              <a:gd name="connsiteY0" fmla="*/ 36576 h 237744"/>
              <a:gd name="connsiteX1" fmla="*/ 228600 w 3044952"/>
              <a:gd name="connsiteY1" fmla="*/ 0 h 237744"/>
              <a:gd name="connsiteX2" fmla="*/ 118872 w 3044952"/>
              <a:gd name="connsiteY2" fmla="*/ 9144 h 237744"/>
              <a:gd name="connsiteX3" fmla="*/ 73152 w 3044952"/>
              <a:gd name="connsiteY3" fmla="*/ 45720 h 237744"/>
              <a:gd name="connsiteX4" fmla="*/ 18288 w 3044952"/>
              <a:gd name="connsiteY4" fmla="*/ 82296 h 237744"/>
              <a:gd name="connsiteX5" fmla="*/ 0 w 3044952"/>
              <a:gd name="connsiteY5" fmla="*/ 118872 h 237744"/>
              <a:gd name="connsiteX6" fmla="*/ 9144 w 3044952"/>
              <a:gd name="connsiteY6" fmla="*/ 155448 h 237744"/>
              <a:gd name="connsiteX7" fmla="*/ 146304 w 3044952"/>
              <a:gd name="connsiteY7" fmla="*/ 228600 h 237744"/>
              <a:gd name="connsiteX8" fmla="*/ 301752 w 3044952"/>
              <a:gd name="connsiteY8" fmla="*/ 237744 h 237744"/>
              <a:gd name="connsiteX9" fmla="*/ 868680 w 3044952"/>
              <a:gd name="connsiteY9" fmla="*/ 219456 h 237744"/>
              <a:gd name="connsiteX10" fmla="*/ 1472184 w 3044952"/>
              <a:gd name="connsiteY10" fmla="*/ 210312 h 237744"/>
              <a:gd name="connsiteX11" fmla="*/ 1819656 w 3044952"/>
              <a:gd name="connsiteY11" fmla="*/ 201168 h 237744"/>
              <a:gd name="connsiteX12" fmla="*/ 3026664 w 3044952"/>
              <a:gd name="connsiteY12" fmla="*/ 192024 h 237744"/>
              <a:gd name="connsiteX13" fmla="*/ 3044952 w 3044952"/>
              <a:gd name="connsiteY13" fmla="*/ 146304 h 237744"/>
              <a:gd name="connsiteX14" fmla="*/ 3017520 w 3044952"/>
              <a:gd name="connsiteY14" fmla="*/ 91440 h 237744"/>
              <a:gd name="connsiteX15" fmla="*/ 2971800 w 3044952"/>
              <a:gd name="connsiteY15" fmla="*/ 64008 h 237744"/>
              <a:gd name="connsiteX16" fmla="*/ 2816352 w 3044952"/>
              <a:gd name="connsiteY16" fmla="*/ 27432 h 237744"/>
              <a:gd name="connsiteX17" fmla="*/ 621792 w 3044952"/>
              <a:gd name="connsiteY17" fmla="*/ 27432 h 23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44952" h="237744">
                <a:moveTo>
                  <a:pt x="448056" y="36576"/>
                </a:moveTo>
                <a:cubicBezTo>
                  <a:pt x="404555" y="27876"/>
                  <a:pt x="285772" y="0"/>
                  <a:pt x="228600" y="0"/>
                </a:cubicBezTo>
                <a:cubicBezTo>
                  <a:pt x="191897" y="0"/>
                  <a:pt x="155448" y="6096"/>
                  <a:pt x="118872" y="9144"/>
                </a:cubicBezTo>
                <a:cubicBezTo>
                  <a:pt x="103632" y="21336"/>
                  <a:pt x="88936" y="34241"/>
                  <a:pt x="73152" y="45720"/>
                </a:cubicBezTo>
                <a:cubicBezTo>
                  <a:pt x="55376" y="58648"/>
                  <a:pt x="33830" y="66754"/>
                  <a:pt x="18288" y="82296"/>
                </a:cubicBezTo>
                <a:cubicBezTo>
                  <a:pt x="8649" y="91935"/>
                  <a:pt x="6096" y="106680"/>
                  <a:pt x="0" y="118872"/>
                </a:cubicBezTo>
                <a:cubicBezTo>
                  <a:pt x="3048" y="131064"/>
                  <a:pt x="1428" y="145528"/>
                  <a:pt x="9144" y="155448"/>
                </a:cubicBezTo>
                <a:cubicBezTo>
                  <a:pt x="41723" y="197336"/>
                  <a:pt x="95475" y="220780"/>
                  <a:pt x="146304" y="228600"/>
                </a:cubicBezTo>
                <a:cubicBezTo>
                  <a:pt x="197606" y="236493"/>
                  <a:pt x="249936" y="234696"/>
                  <a:pt x="301752" y="237744"/>
                </a:cubicBezTo>
                <a:lnTo>
                  <a:pt x="868680" y="219456"/>
                </a:lnTo>
                <a:lnTo>
                  <a:pt x="1472184" y="210312"/>
                </a:lnTo>
                <a:lnTo>
                  <a:pt x="1819656" y="201168"/>
                </a:lnTo>
                <a:cubicBezTo>
                  <a:pt x="2045059" y="204134"/>
                  <a:pt x="2755157" y="224792"/>
                  <a:pt x="3026664" y="192024"/>
                </a:cubicBezTo>
                <a:cubicBezTo>
                  <a:pt x="3042960" y="190057"/>
                  <a:pt x="3038856" y="161544"/>
                  <a:pt x="3044952" y="146304"/>
                </a:cubicBezTo>
                <a:cubicBezTo>
                  <a:pt x="3035808" y="128016"/>
                  <a:pt x="3031104" y="106722"/>
                  <a:pt x="3017520" y="91440"/>
                </a:cubicBezTo>
                <a:cubicBezTo>
                  <a:pt x="3005712" y="78156"/>
                  <a:pt x="2987696" y="71956"/>
                  <a:pt x="2971800" y="64008"/>
                </a:cubicBezTo>
                <a:cubicBezTo>
                  <a:pt x="2926261" y="41238"/>
                  <a:pt x="2864085" y="27432"/>
                  <a:pt x="2816352" y="27432"/>
                </a:cubicBezTo>
                <a:lnTo>
                  <a:pt x="621792" y="27432"/>
                </a:ln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0796" y="283464"/>
            <a:ext cx="340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3.3, 3.5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284464" y="1655064"/>
            <a:ext cx="250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橙圈表示一维数组的首地址，大括号内为值</a:t>
            </a:r>
            <a:endParaRPr lang="zh-CN" altLang="en-US" dirty="0"/>
          </a:p>
        </p:txBody>
      </p:sp>
      <p:sp>
        <p:nvSpPr>
          <p:cNvPr id="14" name="箭头: 右 13"/>
          <p:cNvSpPr/>
          <p:nvPr/>
        </p:nvSpPr>
        <p:spPr>
          <a:xfrm rot="10800000">
            <a:off x="7576113" y="5980176"/>
            <a:ext cx="402336" cy="2707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202168" y="5980176"/>
            <a:ext cx="276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只带一个下标的二维数组的地址和值</a:t>
            </a:r>
            <a:endParaRPr lang="zh-CN" altLang="en-US" dirty="0"/>
          </a:p>
        </p:txBody>
      </p:sp>
      <p:sp>
        <p:nvSpPr>
          <p:cNvPr id="16" name="箭头: 右 15"/>
          <p:cNvSpPr/>
          <p:nvPr/>
        </p:nvSpPr>
        <p:spPr>
          <a:xfrm rot="10800000">
            <a:off x="7576113" y="5510784"/>
            <a:ext cx="402336" cy="2707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02168" y="5230368"/>
            <a:ext cx="276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带两个下标的二维数组的地址和值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7884568" y="3282696"/>
            <a:ext cx="330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编写程序，定义数组和断点，然后摁</a:t>
            </a:r>
            <a:r>
              <a:rPr lang="en-US" altLang="zh-CN" dirty="0"/>
              <a:t>F5</a:t>
            </a:r>
            <a:r>
              <a:rPr lang="zh-CN" altLang="en-US" dirty="0"/>
              <a:t>调试，观察自动窗口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710274"/>
            <a:ext cx="6309813" cy="528930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3232" y="274320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3.4</a:t>
            </a:r>
            <a:r>
              <a:rPr lang="zh-CN" altLang="en-US" dirty="0"/>
              <a:t>，</a:t>
            </a:r>
            <a:r>
              <a:rPr lang="en-US" altLang="zh-CN" dirty="0"/>
              <a:t>3.6</a:t>
            </a:r>
            <a:endParaRPr lang="zh-CN" altLang="en-US" dirty="0"/>
          </a:p>
        </p:txBody>
      </p:sp>
      <p:sp>
        <p:nvSpPr>
          <p:cNvPr id="7" name="箭头: 右 6"/>
          <p:cNvSpPr/>
          <p:nvPr/>
        </p:nvSpPr>
        <p:spPr>
          <a:xfrm rot="1845651">
            <a:off x="4700015" y="5452613"/>
            <a:ext cx="758952" cy="61264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86020" y="6184265"/>
            <a:ext cx="456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指向一维数组的指针的地址</a:t>
            </a:r>
            <a:r>
              <a:rPr lang="en-US" altLang="zh-CN" dirty="0"/>
              <a:t>{</a:t>
            </a:r>
            <a:r>
              <a:rPr lang="zh-CN" altLang="en-US" dirty="0"/>
              <a:t>值</a:t>
            </a:r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34" y="762567"/>
            <a:ext cx="2632781" cy="180008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964424" y="135820"/>
            <a:ext cx="2980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通过中间变量输出法，可以得到实参数组的地址和值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324725" y="5193665"/>
            <a:ext cx="3282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也可以用</a:t>
            </a:r>
            <a:r>
              <a:rPr lang="en-US" altLang="zh-CN" dirty="0"/>
              <a:t>debug</a:t>
            </a:r>
            <a:r>
              <a:rPr lang="zh-CN" altLang="en-US" dirty="0"/>
              <a:t>工具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13232" y="274320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本图涉及知识点</a:t>
            </a:r>
            <a:r>
              <a:rPr lang="en-US" altLang="zh-CN" dirty="0"/>
              <a:t>3.7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183880" y="3639312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无名字符串常量的地址和值</a:t>
            </a:r>
            <a:endParaRPr lang="zh-CN" altLang="en-US" dirty="0"/>
          </a:p>
        </p:txBody>
      </p:sp>
      <p:sp>
        <p:nvSpPr>
          <p:cNvPr id="10" name="箭头: 下 9"/>
          <p:cNvSpPr/>
          <p:nvPr/>
        </p:nvSpPr>
        <p:spPr>
          <a:xfrm rot="13844132">
            <a:off x="8517682" y="3765387"/>
            <a:ext cx="777240" cy="264726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/>
          <p:cNvSpPr/>
          <p:nvPr/>
        </p:nvSpPr>
        <p:spPr>
          <a:xfrm>
            <a:off x="9552432" y="2255555"/>
            <a:ext cx="777240" cy="120697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839" y="617249"/>
            <a:ext cx="3951128" cy="120697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67" y="1688383"/>
            <a:ext cx="7117697" cy="48162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233" y="716820"/>
            <a:ext cx="6904318" cy="511346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3464" y="182880"/>
            <a:ext cx="139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此图涉及</a:t>
            </a:r>
            <a:r>
              <a:rPr lang="en-US" altLang="zh-CN" dirty="0"/>
              <a:t>3.8</a:t>
            </a:r>
            <a:endParaRPr lang="zh-CN" altLang="en-US" dirty="0"/>
          </a:p>
        </p:txBody>
      </p:sp>
      <p:sp>
        <p:nvSpPr>
          <p:cNvPr id="7" name="任意多边形: 形状 6"/>
          <p:cNvSpPr/>
          <p:nvPr/>
        </p:nvSpPr>
        <p:spPr>
          <a:xfrm>
            <a:off x="3566160" y="5043804"/>
            <a:ext cx="735748" cy="378588"/>
          </a:xfrm>
          <a:custGeom>
            <a:avLst/>
            <a:gdLst>
              <a:gd name="connsiteX0" fmla="*/ 704088 w 735748"/>
              <a:gd name="connsiteY0" fmla="*/ 378588 h 378588"/>
              <a:gd name="connsiteX1" fmla="*/ 182880 w 735748"/>
              <a:gd name="connsiteY1" fmla="*/ 369444 h 378588"/>
              <a:gd name="connsiteX2" fmla="*/ 128016 w 735748"/>
              <a:gd name="connsiteY2" fmla="*/ 360300 h 378588"/>
              <a:gd name="connsiteX3" fmla="*/ 82296 w 735748"/>
              <a:gd name="connsiteY3" fmla="*/ 342012 h 378588"/>
              <a:gd name="connsiteX4" fmla="*/ 36576 w 735748"/>
              <a:gd name="connsiteY4" fmla="*/ 296292 h 378588"/>
              <a:gd name="connsiteX5" fmla="*/ 0 w 735748"/>
              <a:gd name="connsiteY5" fmla="*/ 195708 h 378588"/>
              <a:gd name="connsiteX6" fmla="*/ 18288 w 735748"/>
              <a:gd name="connsiteY6" fmla="*/ 131700 h 378588"/>
              <a:gd name="connsiteX7" fmla="*/ 54864 w 735748"/>
              <a:gd name="connsiteY7" fmla="*/ 85980 h 378588"/>
              <a:gd name="connsiteX8" fmla="*/ 393192 w 735748"/>
              <a:gd name="connsiteY8" fmla="*/ 40260 h 378588"/>
              <a:gd name="connsiteX9" fmla="*/ 429768 w 735748"/>
              <a:gd name="connsiteY9" fmla="*/ 31116 h 378588"/>
              <a:gd name="connsiteX10" fmla="*/ 457200 w 735748"/>
              <a:gd name="connsiteY10" fmla="*/ 21972 h 378588"/>
              <a:gd name="connsiteX11" fmla="*/ 539496 w 735748"/>
              <a:gd name="connsiteY11" fmla="*/ 12828 h 378588"/>
              <a:gd name="connsiteX12" fmla="*/ 667512 w 735748"/>
              <a:gd name="connsiteY12" fmla="*/ 12828 h 378588"/>
              <a:gd name="connsiteX13" fmla="*/ 676656 w 735748"/>
              <a:gd name="connsiteY13" fmla="*/ 40260 h 378588"/>
              <a:gd name="connsiteX14" fmla="*/ 704088 w 735748"/>
              <a:gd name="connsiteY14" fmla="*/ 85980 h 378588"/>
              <a:gd name="connsiteX15" fmla="*/ 713232 w 735748"/>
              <a:gd name="connsiteY15" fmla="*/ 131700 h 378588"/>
              <a:gd name="connsiteX16" fmla="*/ 722376 w 735748"/>
              <a:gd name="connsiteY16" fmla="*/ 159132 h 378588"/>
              <a:gd name="connsiteX17" fmla="*/ 731520 w 735748"/>
              <a:gd name="connsiteY17" fmla="*/ 204852 h 378588"/>
              <a:gd name="connsiteX18" fmla="*/ 722376 w 735748"/>
              <a:gd name="connsiteY18" fmla="*/ 305436 h 378588"/>
              <a:gd name="connsiteX19" fmla="*/ 713232 w 735748"/>
              <a:gd name="connsiteY19" fmla="*/ 332868 h 378588"/>
              <a:gd name="connsiteX20" fmla="*/ 685800 w 735748"/>
              <a:gd name="connsiteY20" fmla="*/ 360300 h 378588"/>
              <a:gd name="connsiteX21" fmla="*/ 704088 w 735748"/>
              <a:gd name="connsiteY21" fmla="*/ 378588 h 37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5748" h="378588">
                <a:moveTo>
                  <a:pt x="704088" y="378588"/>
                </a:moveTo>
                <a:lnTo>
                  <a:pt x="182880" y="369444"/>
                </a:lnTo>
                <a:cubicBezTo>
                  <a:pt x="164349" y="368856"/>
                  <a:pt x="145903" y="365178"/>
                  <a:pt x="128016" y="360300"/>
                </a:cubicBezTo>
                <a:cubicBezTo>
                  <a:pt x="112180" y="355981"/>
                  <a:pt x="97536" y="348108"/>
                  <a:pt x="82296" y="342012"/>
                </a:cubicBezTo>
                <a:cubicBezTo>
                  <a:pt x="57220" y="266784"/>
                  <a:pt x="98208" y="368196"/>
                  <a:pt x="36576" y="296292"/>
                </a:cubicBezTo>
                <a:cubicBezTo>
                  <a:pt x="29636" y="288195"/>
                  <a:pt x="1743" y="200937"/>
                  <a:pt x="0" y="195708"/>
                </a:cubicBezTo>
                <a:cubicBezTo>
                  <a:pt x="6096" y="174372"/>
                  <a:pt x="8364" y="151547"/>
                  <a:pt x="18288" y="131700"/>
                </a:cubicBezTo>
                <a:cubicBezTo>
                  <a:pt x="27016" y="114244"/>
                  <a:pt x="39251" y="97690"/>
                  <a:pt x="54864" y="85980"/>
                </a:cubicBezTo>
                <a:cubicBezTo>
                  <a:pt x="153924" y="11685"/>
                  <a:pt x="273360" y="44392"/>
                  <a:pt x="393192" y="40260"/>
                </a:cubicBezTo>
                <a:cubicBezTo>
                  <a:pt x="405384" y="37212"/>
                  <a:pt x="417684" y="34568"/>
                  <a:pt x="429768" y="31116"/>
                </a:cubicBezTo>
                <a:cubicBezTo>
                  <a:pt x="439036" y="28468"/>
                  <a:pt x="447693" y="23557"/>
                  <a:pt x="457200" y="21972"/>
                </a:cubicBezTo>
                <a:cubicBezTo>
                  <a:pt x="484425" y="17434"/>
                  <a:pt x="512064" y="15876"/>
                  <a:pt x="539496" y="12828"/>
                </a:cubicBezTo>
                <a:cubicBezTo>
                  <a:pt x="587468" y="835"/>
                  <a:pt x="608225" y="-8731"/>
                  <a:pt x="667512" y="12828"/>
                </a:cubicBezTo>
                <a:cubicBezTo>
                  <a:pt x="676570" y="16122"/>
                  <a:pt x="672345" y="31639"/>
                  <a:pt x="676656" y="40260"/>
                </a:cubicBezTo>
                <a:cubicBezTo>
                  <a:pt x="684604" y="56156"/>
                  <a:pt x="694944" y="70740"/>
                  <a:pt x="704088" y="85980"/>
                </a:cubicBezTo>
                <a:cubicBezTo>
                  <a:pt x="707136" y="101220"/>
                  <a:pt x="709463" y="116622"/>
                  <a:pt x="713232" y="131700"/>
                </a:cubicBezTo>
                <a:cubicBezTo>
                  <a:pt x="715570" y="141051"/>
                  <a:pt x="720038" y="149781"/>
                  <a:pt x="722376" y="159132"/>
                </a:cubicBezTo>
                <a:cubicBezTo>
                  <a:pt x="726145" y="174210"/>
                  <a:pt x="728472" y="189612"/>
                  <a:pt x="731520" y="204852"/>
                </a:cubicBezTo>
                <a:cubicBezTo>
                  <a:pt x="728472" y="238380"/>
                  <a:pt x="727137" y="272108"/>
                  <a:pt x="722376" y="305436"/>
                </a:cubicBezTo>
                <a:cubicBezTo>
                  <a:pt x="721013" y="314978"/>
                  <a:pt x="718579" y="324848"/>
                  <a:pt x="713232" y="332868"/>
                </a:cubicBezTo>
                <a:cubicBezTo>
                  <a:pt x="706059" y="343628"/>
                  <a:pt x="693316" y="349777"/>
                  <a:pt x="685800" y="360300"/>
                </a:cubicBezTo>
                <a:cubicBezTo>
                  <a:pt x="677877" y="371392"/>
                  <a:pt x="787908" y="377064"/>
                  <a:pt x="704088" y="378588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/>
          <p:cNvSpPr/>
          <p:nvPr/>
        </p:nvSpPr>
        <p:spPr>
          <a:xfrm rot="19966556">
            <a:off x="4294633" y="5513289"/>
            <a:ext cx="313944" cy="4663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51760" y="6144768"/>
            <a:ext cx="4453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由前面可知，指针的地址与指向的变量不同，但引用的地址和指向的变量相同</a:t>
            </a:r>
            <a:endParaRPr lang="zh-CN" altLang="en-US" dirty="0"/>
          </a:p>
        </p:txBody>
      </p:sp>
      <p:sp>
        <p:nvSpPr>
          <p:cNvPr id="10" name="箭头: 右 9"/>
          <p:cNvSpPr/>
          <p:nvPr/>
        </p:nvSpPr>
        <p:spPr>
          <a:xfrm>
            <a:off x="8112551" y="5541546"/>
            <a:ext cx="958297" cy="28873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347436" y="5498851"/>
            <a:ext cx="224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自动窗口中，引用和自动变量的值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514" y="1027717"/>
            <a:ext cx="2583404" cy="823031"/>
          </a:xfrm>
          <a:prstGeom prst="rect">
            <a:avLst/>
          </a:prstGeom>
        </p:spPr>
      </p:pic>
      <p:sp>
        <p:nvSpPr>
          <p:cNvPr id="14" name="箭头: 下 13"/>
          <p:cNvSpPr/>
          <p:nvPr/>
        </p:nvSpPr>
        <p:spPr>
          <a:xfrm>
            <a:off x="9820656" y="2029968"/>
            <a:ext cx="612648" cy="8595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732520" y="3026664"/>
            <a:ext cx="266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引用的地址和变量相同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8218" y="716226"/>
            <a:ext cx="2654347" cy="15331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77" y="781146"/>
            <a:ext cx="6902499" cy="480468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0896" y="192024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此图涉及</a:t>
            </a:r>
            <a:r>
              <a:rPr lang="en-US" altLang="zh-CN" dirty="0"/>
              <a:t>3.9</a:t>
            </a:r>
            <a:endParaRPr lang="zh-CN" altLang="en-US" dirty="0"/>
          </a:p>
        </p:txBody>
      </p:sp>
      <p:sp>
        <p:nvSpPr>
          <p:cNvPr id="9" name="箭头: 下 8"/>
          <p:cNvSpPr/>
          <p:nvPr/>
        </p:nvSpPr>
        <p:spPr>
          <a:xfrm>
            <a:off x="3822192" y="5340096"/>
            <a:ext cx="265176" cy="54864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655064" y="5980176"/>
            <a:ext cx="43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指针越界访问，但是只读不改，不报错</a:t>
            </a:r>
            <a:endParaRPr lang="zh-CN" altLang="en-US" dirty="0"/>
          </a:p>
        </p:txBody>
      </p:sp>
      <p:sp>
        <p:nvSpPr>
          <p:cNvPr id="11" name="箭头: 下 10"/>
          <p:cNvSpPr/>
          <p:nvPr/>
        </p:nvSpPr>
        <p:spPr>
          <a:xfrm>
            <a:off x="9729216" y="2633472"/>
            <a:ext cx="512064" cy="56692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622792" y="3399783"/>
            <a:ext cx="2724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输出中间变量法检查数组</a:t>
            </a:r>
            <a:endParaRPr lang="en-US" altLang="zh-CN" dirty="0"/>
          </a:p>
          <a:p>
            <a:r>
              <a:rPr lang="zh-CN" altLang="en-US" dirty="0"/>
              <a:t>越界访问的值不可信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lhZjk3MDdmY2RjNDU5YmVmZjU5ZGI1MDk2NzM4OG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演示</Application>
  <PresentationFormat>宽屏</PresentationFormat>
  <Paragraphs>129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盛鹏 李</dc:creator>
  <cp:lastModifiedBy>alxy</cp:lastModifiedBy>
  <cp:revision>20</cp:revision>
  <dcterms:created xsi:type="dcterms:W3CDTF">2024-06-08T15:26:00Z</dcterms:created>
  <dcterms:modified xsi:type="dcterms:W3CDTF">2024-06-09T09:34:28Z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633E11E61A3742B48DC4E42616801221_12</vt:lpwstr>
  </property>
  <property fmtid="{D5CDD505-2E9C-101B-9397-08002B2CF9AE}" pid="3" name="KSOProductBuildVer">
    <vt:lpwstr>2052-12.1.0.16929</vt:lpwstr>
  </property>
</Properties>
</file>