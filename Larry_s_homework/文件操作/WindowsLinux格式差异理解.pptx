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30" r:id="rId3"/>
    <p:sldId id="1237" r:id="rId4"/>
    <p:sldId id="1238" r:id="rId6"/>
    <p:sldId id="814" r:id="rId7"/>
    <p:sldId id="800" r:id="rId8"/>
    <p:sldId id="811" r:id="rId9"/>
    <p:sldId id="807" r:id="rId10"/>
    <p:sldId id="809" r:id="rId11"/>
    <p:sldId id="810" r:id="rId12"/>
    <p:sldId id="812" r:id="rId13"/>
    <p:sldId id="813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0F7F-BE43-4A8B-A1A7-C9743CA3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7A556-CD7F-4282-A801-91BB0424D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1AAC3-E1CF-43C0-B71B-89720A73C0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FFF43-CBE6-4A7F-B1EF-DF6F550F69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AFF3C-36C8-4D4A-97AC-FE8408D902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E2A3C-C663-4861-8DD7-8E4A7DB971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837D0-5604-4489-852A-B7F5ECB6A9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35EC8-801C-4779-A815-950E7AF27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B6DF2-D4C6-44B5-980B-436D58DBD7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0E30D-6F2E-407D-BF81-F9815A518C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E2E0-709F-4ED7-8411-7FDA611BDE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6E7D1CD2-4D70-4106-8549-A852E5E019D8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、安装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软件（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附件已给，版本虽旧，但够用</a:t>
            </a:r>
            <a:r>
              <a:rPr lang="zh-CN" altLang="en-US" sz="1600" b="1" dirty="0">
                <a:latin typeface="+mn-ea"/>
              </a:rPr>
              <a:t>），学会使用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进制方式查看文件，并掌握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及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进制查看间的切换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已安装</a:t>
            </a:r>
            <a:r>
              <a:rPr lang="en-US" altLang="zh-CN" sz="1600" b="1" dirty="0" err="1">
                <a:latin typeface="+mn-ea"/>
              </a:rPr>
              <a:t>VSCode</a:t>
            </a:r>
            <a:r>
              <a:rPr lang="zh-CN" altLang="en-US" sz="1600" b="1" dirty="0">
                <a:latin typeface="+mn-ea"/>
              </a:rPr>
              <a:t>的也可通过相关插件进行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进制方式的查看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VSCode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某种情况下会自动做格式转换或字符集转换，要注意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★ 也可以使用其它编辑软件，但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不建议</a:t>
            </a:r>
            <a:r>
              <a:rPr lang="en-US" altLang="zh-CN" sz="1600" b="1" dirty="0" err="1">
                <a:latin typeface="+mn-ea"/>
              </a:rPr>
              <a:t>NotePad</a:t>
            </a:r>
            <a:r>
              <a:rPr lang="en-US" altLang="zh-CN" sz="1600" b="1" dirty="0">
                <a:latin typeface="+mn-ea"/>
              </a:rPr>
              <a:t>++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、完成本文档中所有的测试程序并填写运行结果，从而掌握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Linux</a:t>
            </a:r>
            <a:r>
              <a:rPr lang="zh-CN" altLang="en-US" sz="1600" b="1" dirty="0">
                <a:latin typeface="+mn-ea"/>
              </a:rPr>
              <a:t>两个系统下的文本文件的差异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、题目明确指定编译器外，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编译，</a:t>
            </a:r>
            <a:r>
              <a:rPr lang="en-US" altLang="zh-CN" sz="1600" b="1" dirty="0">
                <a:latin typeface="+mn-ea"/>
              </a:rPr>
              <a:t>Linux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编译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如果两个编译器运行结果一致，贴其中一张图即可，如果不一致，则两个图都要贴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特别说明：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因为篇幅问题，打开文件后均省略了是否打开成功的判断，这在实际应用中是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：附件给出的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查看文件的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进制形式的方法（三种）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695" y="1291666"/>
            <a:ext cx="6310305" cy="16741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95" y="3202945"/>
            <a:ext cx="6310305" cy="15633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69135" b="39911"/>
          <a:stretch>
            <a:fillRect/>
          </a:stretch>
        </p:blipFill>
        <p:spPr>
          <a:xfrm>
            <a:off x="7627197" y="1291666"/>
            <a:ext cx="3763108" cy="4120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3432375" y="2418973"/>
            <a:ext cx="3195782" cy="397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正常启动，建立文件，输入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Hello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27926" y="4156984"/>
            <a:ext cx="3833091" cy="609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：选择快捷工具栏上的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16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进制按钮，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    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01695" y="5720347"/>
            <a:ext cx="4536923" cy="48446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方法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Ctrl + H 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快捷键可以相互切换</a:t>
            </a:r>
            <a:endParaRPr kumimoji="1"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527637" y="5495638"/>
            <a:ext cx="3862668" cy="8774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编辑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- 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十六进制功能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菜单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：十进制方式写，在</a:t>
            </a:r>
            <a:r>
              <a:rPr lang="en-US" altLang="zh-CN" sz="1600" b="1" dirty="0">
                <a:latin typeface="+mn-ea"/>
              </a:rPr>
              <a:t>Windows/Linux</a:t>
            </a:r>
            <a:r>
              <a:rPr lang="zh-CN" altLang="en-US" sz="1600" b="1" dirty="0">
                <a:latin typeface="+mn-ea"/>
              </a:rPr>
              <a:t>下的差别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4509120"/>
            <a:ext cx="9642757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_7_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785" y="4855845"/>
            <a:ext cx="4251325" cy="5854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035" y="5892800"/>
            <a:ext cx="4283075" cy="558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：二进制方式写，在</a:t>
            </a:r>
            <a:r>
              <a:rPr lang="en-US" altLang="zh-CN" sz="1600" b="1" dirty="0">
                <a:latin typeface="+mn-ea"/>
              </a:rPr>
              <a:t>Windows/Linux</a:t>
            </a:r>
            <a:r>
              <a:rPr lang="zh-CN" altLang="en-US" sz="1600" b="1" dirty="0">
                <a:latin typeface="+mn-ea"/>
              </a:rPr>
              <a:t>下的差别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4509120"/>
            <a:ext cx="9642757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_6_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5685" y="5893435"/>
            <a:ext cx="4283075" cy="558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45" y="4995545"/>
            <a:ext cx="52197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：在</a:t>
            </a:r>
            <a:r>
              <a:rPr lang="en-US" altLang="zh-CN" sz="1600" b="1" dirty="0">
                <a:latin typeface="+mn-ea"/>
              </a:rPr>
              <a:t>Linux</a:t>
            </a:r>
            <a:r>
              <a:rPr lang="zh-CN" altLang="en-US" sz="1600" b="1" dirty="0">
                <a:latin typeface="+mn-ea"/>
              </a:rPr>
              <a:t>读取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下写的十进制文件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模拟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_\r_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，最后一个字符是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_\r__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_o_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__5___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，最后一个字符是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_\r__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367454" y="980728"/>
            <a:ext cx="2238566" cy="3600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下运行本程序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70250" y="4725144"/>
            <a:ext cx="9642756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本例说明，在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下读取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格式的文件，要注意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的处理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8174440" y="980727"/>
            <a:ext cx="2238566" cy="3600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下运行本程序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的文件，观察文件长度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3928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"ABC\0\x61\x62\x63"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085184"/>
            <a:ext cx="963928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_5_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__4_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40535" y="5458460"/>
            <a:ext cx="8317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字符串以第一个</a:t>
            </a:r>
            <a:r>
              <a:rPr lang="en-US" altLang="zh-CN"/>
              <a:t>\0</a:t>
            </a:r>
            <a:r>
              <a:rPr lang="zh-CN" altLang="en-US"/>
              <a:t>为结尾，输出流在遇到 \0 时停止了，这意味着它只输出了 ABC</a:t>
            </a:r>
            <a:r>
              <a:rPr lang="en-US" altLang="zh-CN"/>
              <a:t>,</a:t>
            </a:r>
            <a:r>
              <a:rPr lang="zh-CN" altLang="en-US"/>
              <a:t>占三个字节，在</a:t>
            </a:r>
            <a:r>
              <a:rPr lang="en-US" altLang="zh-CN"/>
              <a:t>Windows</a:t>
            </a:r>
            <a:r>
              <a:rPr lang="zh-CN" altLang="en-US"/>
              <a:t>下</a:t>
            </a:r>
            <a:r>
              <a:rPr lang="en-US" altLang="zh-CN"/>
              <a:t>endl</a:t>
            </a:r>
            <a:r>
              <a:rPr lang="zh-CN" altLang="en-US"/>
              <a:t>占两个字节</a:t>
            </a:r>
            <a:r>
              <a:rPr lang="en-US" altLang="zh-CN"/>
              <a:t>\r\n,</a:t>
            </a:r>
            <a:r>
              <a:rPr lang="zh-CN" altLang="en-US"/>
              <a:t>但是</a:t>
            </a:r>
            <a:r>
              <a:rPr lang="en-US" altLang="zh-CN"/>
              <a:t>linux</a:t>
            </a:r>
            <a:r>
              <a:rPr lang="zh-CN" altLang="en-US"/>
              <a:t>的</a:t>
            </a:r>
            <a:r>
              <a:rPr lang="en-US" altLang="zh-CN"/>
              <a:t>endl</a:t>
            </a:r>
            <a:r>
              <a:rPr lang="zh-CN" altLang="en-US"/>
              <a:t>只占一个字节</a:t>
            </a:r>
            <a:r>
              <a:rPr lang="en-US" altLang="zh-CN"/>
              <a:t>\n</a:t>
            </a:r>
            <a:r>
              <a:rPr lang="zh-CN" altLang="en-US"/>
              <a:t>，字节大小</a:t>
            </a:r>
            <a:r>
              <a:rPr lang="en-US" altLang="zh-CN"/>
              <a:t>Windows</a:t>
            </a:r>
            <a:r>
              <a:rPr lang="zh-CN" altLang="en-US"/>
              <a:t>是（</a:t>
            </a:r>
            <a:r>
              <a:rPr lang="en-US" altLang="zh-CN"/>
              <a:t>3+2</a:t>
            </a:r>
            <a:r>
              <a:rPr lang="zh-CN" altLang="en-US"/>
              <a:t>）</a:t>
            </a:r>
            <a:r>
              <a:rPr lang="en-US" altLang="zh-CN"/>
              <a:t>=5,linux</a:t>
            </a:r>
            <a:r>
              <a:rPr lang="zh-CN" altLang="en-US"/>
              <a:t>下是（</a:t>
            </a:r>
            <a:r>
              <a:rPr lang="en-US" altLang="zh-CN"/>
              <a:t>3+1</a:t>
            </a:r>
            <a:r>
              <a:rPr lang="zh-CN" altLang="en-US"/>
              <a:t>）</a:t>
            </a:r>
            <a:r>
              <a:rPr lang="en-US" altLang="zh-CN"/>
              <a:t>=4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：用十进制方式写入含非图形字符</a:t>
            </a:r>
            <a:r>
              <a:rPr lang="en-US" altLang="zh-CN" sz="1600" b="1" dirty="0">
                <a:latin typeface="+mn-ea"/>
              </a:rPr>
              <a:t>(ASCII</a:t>
            </a:r>
            <a:r>
              <a:rPr lang="zh-CN" altLang="en-US" sz="1600" b="1" dirty="0">
                <a:latin typeface="+mn-ea"/>
              </a:rPr>
              <a:t>码</a:t>
            </a:r>
            <a:r>
              <a:rPr lang="en-US" altLang="zh-CN" sz="1600" b="1" dirty="0">
                <a:latin typeface="+mn-ea"/>
              </a:rPr>
              <a:t>32</a:t>
            </a:r>
            <a:r>
              <a:rPr lang="zh-CN" altLang="en-US" sz="1600" b="1" dirty="0">
                <a:latin typeface="+mn-ea"/>
              </a:rPr>
              <a:t>是空格，</a:t>
            </a:r>
            <a:r>
              <a:rPr lang="en-US" altLang="zh-CN" sz="1600" b="1" dirty="0">
                <a:latin typeface="+mn-ea"/>
              </a:rPr>
              <a:t>33-126</a:t>
            </a:r>
            <a:r>
              <a:rPr lang="zh-CN" altLang="en-US" sz="1600" b="1" dirty="0">
                <a:latin typeface="+mn-ea"/>
              </a:rPr>
              <a:t>为图形字符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，但不含</a:t>
            </a:r>
            <a:r>
              <a:rPr lang="en-US" altLang="zh-CN" sz="1600" b="1" dirty="0">
                <a:latin typeface="+mn-ea"/>
              </a:rPr>
              <a:t>\0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3928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085184"/>
            <a:ext cx="963928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_20_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进制显示截图为：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_19_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进制显示截图为：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4428490"/>
            <a:ext cx="6103620" cy="5486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55" y="6136005"/>
            <a:ext cx="6141720" cy="655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\</a:t>
            </a:r>
            <a:r>
              <a:rPr lang="en-US" altLang="zh-CN" sz="1600" b="1" dirty="0" err="1">
                <a:latin typeface="+mn-ea"/>
              </a:rPr>
              <a:t>xFF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255/-1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的定义是</a:t>
            </a:r>
            <a:r>
              <a:rPr lang="en-US" altLang="zh-CN" sz="1600" b="1" dirty="0">
                <a:latin typeface="+mn-ea"/>
              </a:rPr>
              <a:t>-1)</a:t>
            </a:r>
            <a:r>
              <a:rPr lang="zh-CN" altLang="en-US" sz="1600" b="1" dirty="0">
                <a:latin typeface="+mn-ea"/>
              </a:rPr>
              <a:t>的文件，并用十进制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二进制方式读取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__20____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__6___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___19_____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__20___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windows</a:t>
            </a:r>
            <a:r>
              <a:rPr kumimoji="1" lang="zh-CN" altLang="en-US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在遇到</a:t>
            </a:r>
            <a:r>
              <a:rPr lang="en-US" altLang="zh-CN" sz="1600" b="1" dirty="0">
                <a:latin typeface="+mn-ea"/>
                <a:sym typeface="+mn-ea"/>
              </a:rPr>
              <a:t>\x1A</a:t>
            </a:r>
            <a:r>
              <a:rPr lang="zh-CN" altLang="en-US" sz="1600" b="1" dirty="0">
                <a:latin typeface="+mn-ea"/>
                <a:sym typeface="+mn-ea"/>
              </a:rPr>
              <a:t>返回</a:t>
            </a:r>
            <a:r>
              <a:rPr lang="en-US" altLang="zh-CN" sz="1600" b="1" dirty="0">
                <a:latin typeface="+mn-ea"/>
                <a:sym typeface="+mn-ea"/>
              </a:rPr>
              <a:t>true,</a:t>
            </a:r>
            <a:r>
              <a:rPr lang="zh-CN" altLang="en-US" sz="1600" b="1" dirty="0">
                <a:latin typeface="+mn-ea"/>
                <a:sym typeface="+mn-ea"/>
              </a:rPr>
              <a:t>因此</a:t>
            </a:r>
            <a:r>
              <a:rPr lang="en-US" altLang="zh-CN" sz="1600" b="1" dirty="0">
                <a:latin typeface="+mn-ea"/>
                <a:sym typeface="+mn-ea"/>
              </a:rPr>
              <a:t>c</a:t>
            </a:r>
            <a:r>
              <a:rPr lang="zh-CN" altLang="en-US" sz="1600" b="1" dirty="0">
                <a:latin typeface="+mn-ea"/>
                <a:sym typeface="+mn-ea"/>
              </a:rPr>
              <a:t>的值为</a:t>
            </a:r>
            <a:r>
              <a:rPr lang="en-US" altLang="zh-CN" sz="1600" b="1" dirty="0">
                <a:latin typeface="+mn-ea"/>
                <a:sym typeface="+mn-ea"/>
              </a:rPr>
              <a:t>5</a:t>
            </a:r>
            <a:r>
              <a:rPr lang="zh-CN" altLang="en-US" sz="1600" b="1" dirty="0">
                <a:latin typeface="+mn-ea"/>
                <a:sym typeface="+mn-ea"/>
              </a:rPr>
              <a:t>。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但是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不停止继续读</a:t>
            </a:r>
            <a:endParaRPr kumimoji="1" lang="zh-CN" altLang="en-US" sz="1600" b="1" dirty="0">
              <a:solidFill>
                <a:srgbClr val="000000"/>
              </a:solidFill>
              <a:latin typeface="+mn-ea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___20_____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__21___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___19_____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__20_____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的大小比文件大小大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，原因是：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_while (!in.eof()) 循环会在文件结束后再执行一次 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的文件，并用十进制不同方式读取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__19___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___5_______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______18_____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__18____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在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打开时遇到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\x1A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将其理解为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^Z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所以相当于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结束，但是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不会</a:t>
            </a:r>
            <a:endParaRPr kumimoji="1" lang="zh-CN" altLang="en-US" sz="1600" b="1" dirty="0">
              <a:solidFill>
                <a:srgbClr val="000000"/>
              </a:solidFill>
              <a:latin typeface="+mn-ea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signed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___19____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_5____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31205" y="6243955"/>
            <a:ext cx="57365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windows</a:t>
            </a:r>
            <a:r>
              <a:rPr kumimoji="1" lang="zh-CN" altLang="en-US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在</a:t>
            </a:r>
            <a:r>
              <a:rPr kumimoji="1" lang="en-US" altLang="zh-CN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ASCII</a:t>
            </a:r>
            <a:r>
              <a:rPr kumimoji="1" lang="zh-CN" altLang="en-US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打开时遇到</a:t>
            </a:r>
            <a:r>
              <a:rPr kumimoji="1" lang="en-US" altLang="zh-CN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\x1A</a:t>
            </a:r>
            <a:r>
              <a:rPr kumimoji="1" lang="zh-CN" altLang="en-US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将其理解为</a:t>
            </a:r>
            <a:r>
              <a:rPr kumimoji="1" lang="en-US" altLang="zh-CN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^Z</a:t>
            </a:r>
            <a:r>
              <a:rPr kumimoji="1" lang="zh-CN" altLang="en-US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所以相当于</a:t>
            </a:r>
            <a:r>
              <a:rPr kumimoji="1" lang="en-US" altLang="zh-CN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结束，但是</a:t>
            </a:r>
            <a:r>
              <a:rPr kumimoji="1" lang="en-US" altLang="zh-CN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linux</a:t>
            </a:r>
            <a:r>
              <a:rPr kumimoji="1" lang="zh-CN" altLang="en-US" b="1" dirty="0">
                <a:solidFill>
                  <a:srgbClr val="000000"/>
                </a:solidFill>
                <a:latin typeface="+mn-ea"/>
                <a:ea typeface="宋体" panose="02010600030101010101" pitchFamily="2" charset="-122"/>
                <a:sym typeface="+mn-ea"/>
              </a:rPr>
              <a:t>不会</a:t>
            </a:r>
            <a:endParaRPr kumimoji="1" lang="zh-CN" altLang="en-US" b="1" dirty="0">
              <a:solidFill>
                <a:srgbClr val="000000"/>
              </a:solidFill>
              <a:latin typeface="+mn-ea"/>
              <a:ea typeface="宋体" panose="02010600030101010101" pitchFamily="2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</a:t>
            </a:r>
            <a:r>
              <a:rPr lang="en-US" altLang="zh-CN" sz="1600" b="1" dirty="0" err="1">
                <a:latin typeface="+mn-ea"/>
              </a:rPr>
              <a:t>xFF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255/-1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的定义是</a:t>
            </a:r>
            <a:r>
              <a:rPr lang="en-US" altLang="zh-CN" sz="1600" b="1" dirty="0">
                <a:latin typeface="+mn-ea"/>
              </a:rPr>
              <a:t>-1)</a:t>
            </a:r>
            <a:r>
              <a:rPr lang="zh-CN" altLang="en-US" sz="1600" b="1" dirty="0">
                <a:latin typeface="+mn-ea"/>
              </a:rPr>
              <a:t>的文件，并进行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正确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错误</a:t>
            </a:r>
            <a:r>
              <a:rPr lang="zh-CN" altLang="en-US" sz="1600" b="1" dirty="0">
                <a:latin typeface="+mn-ea"/>
              </a:rPr>
              <a:t>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___19____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in.get()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\xff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时读为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255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整形提升不等于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，所以循环只有遇到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才停止，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signed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___19_____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__5______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___18____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___5_____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	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/xff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的在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signed char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中大小和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EOF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相等，所以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循环进行到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\xff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70250" y="6237312"/>
            <a:ext cx="9642756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6~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，结论：当文件中含字符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_/x1A_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时，不能用十进制方式读取，而当文件中含字符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__/xff__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时，是可以用二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十进制方式正确读取的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2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3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4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5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6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7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8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9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0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1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2.xml><?xml version="1.0" encoding="utf-8"?>
<p:tagLst xmlns:p="http://schemas.openxmlformats.org/presentationml/2006/main">
  <p:tag name="KSO_WM_DIAGRAM_VIRTUALLY_FRAME" val="{&quot;height&quot;:442.253937007874,&quot;left&quot;:60.6496062992126,&quot;top&quot;:77.22267716535433,&quot;width&quot;:759.2721259842519}"/>
</p:tagLst>
</file>

<file path=ppt/tags/tag13.xml><?xml version="1.0" encoding="utf-8"?>
<p:tagLst xmlns:p="http://schemas.openxmlformats.org/presentationml/2006/main">
  <p:tag name="commondata" val="eyJoZGlkIjoiZDlhZjk3MDdmY2RjNDU5YmVmZjU5ZGI1MDk2NzM4OGU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7483</Words>
  <Application>WPS 演示</Application>
  <PresentationFormat>宽屏</PresentationFormat>
  <Paragraphs>403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寅时请叫醒我.</cp:lastModifiedBy>
  <cp:revision>36</cp:revision>
  <dcterms:created xsi:type="dcterms:W3CDTF">2020-08-13T13:39:00Z</dcterms:created>
  <dcterms:modified xsi:type="dcterms:W3CDTF">2024-11-03T12:15:48Z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8F1D1740E50843AAAB7008DCEFB7D43D_12</vt:lpwstr>
  </property>
  <property fmtid="{D5CDD505-2E9C-101B-9397-08002B2CF9AE}" pid="3" name="KSOProductBuildVer">
    <vt:lpwstr>2052-12.1.0.18608</vt:lpwstr>
  </property>
</Properties>
</file>