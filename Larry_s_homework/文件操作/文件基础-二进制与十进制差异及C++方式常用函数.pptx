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30" r:id="rId3"/>
    <p:sldId id="1266" r:id="rId4"/>
    <p:sldId id="1238" r:id="rId6"/>
    <p:sldId id="814" r:id="rId7"/>
    <p:sldId id="800" r:id="rId8"/>
    <p:sldId id="801" r:id="rId9"/>
    <p:sldId id="802" r:id="rId10"/>
    <p:sldId id="803" r:id="rId11"/>
    <p:sldId id="804" r:id="rId12"/>
    <p:sldId id="805" r:id="rId13"/>
    <p:sldId id="806" r:id="rId14"/>
    <p:sldId id="807" r:id="rId15"/>
    <p:sldId id="809" r:id="rId16"/>
    <p:sldId id="810" r:id="rId17"/>
    <p:sldId id="812" r:id="rId18"/>
    <p:sldId id="813" r:id="rId19"/>
    <p:sldId id="815" r:id="rId20"/>
    <p:sldId id="816" r:id="rId21"/>
    <p:sldId id="817" r:id="rId22"/>
    <p:sldId id="818" r:id="rId23"/>
    <p:sldId id="819" r:id="rId24"/>
    <p:sldId id="822" r:id="rId25"/>
    <p:sldId id="821" r:id="rId26"/>
    <p:sldId id="1267" r:id="rId27"/>
    <p:sldId id="1268" r:id="rId28"/>
    <p:sldId id="1269" r:id="rId29"/>
    <p:sldId id="1270" r:id="rId30"/>
    <p:sldId id="1272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5" Type="http://schemas.openxmlformats.org/officeDocument/2006/relationships/tags" Target="tags/tag39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0F7F-BE43-4A8B-A1A7-C9743CA3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7A556-CD7F-4282-A801-91BB0424DF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1AAC3-E1CF-43C0-B71B-89720A73C0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FFF43-CBE6-4A7F-B1EF-DF6F550F69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AFF3C-36C8-4D4A-97AC-FE8408D902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E2A3C-C663-4861-8DD7-8E4A7DB971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837D0-5604-4489-852A-B7F5ECB6A9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35EC8-801C-4779-A815-950E7AF27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B6DF2-D4C6-44B5-980B-436D58DBD7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0E30D-6F2E-407D-BF81-F9815A518C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5E2E0-709F-4ED7-8411-7FDA611BDE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6E7D1CD2-4D70-4106-8549-A852E5E019D8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7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tags" Target="../tags/tag12.xml"/><Relationship Id="rId6" Type="http://schemas.openxmlformats.org/officeDocument/2006/relationships/image" Target="../media/image15.png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8.png"/><Relationship Id="rId7" Type="http://schemas.openxmlformats.org/officeDocument/2006/relationships/tags" Target="../tags/tag18.xml"/><Relationship Id="rId6" Type="http://schemas.openxmlformats.org/officeDocument/2006/relationships/image" Target="../media/image17.png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6.png"/><Relationship Id="rId7" Type="http://schemas.openxmlformats.org/officeDocument/2006/relationships/tags" Target="../tags/tag32.xml"/><Relationship Id="rId6" Type="http://schemas.openxmlformats.org/officeDocument/2006/relationships/image" Target="../media/image25.png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png"/><Relationship Id="rId7" Type="http://schemas.openxmlformats.org/officeDocument/2006/relationships/tags" Target="../tags/tag38.xml"/><Relationship Id="rId6" Type="http://schemas.openxmlformats.org/officeDocument/2006/relationships/image" Target="../media/image27.png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、安装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软件（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附件已给，版本虽旧，但够用</a:t>
            </a:r>
            <a:r>
              <a:rPr lang="zh-CN" altLang="en-US" sz="1600" b="1" dirty="0">
                <a:latin typeface="+mn-ea"/>
              </a:rPr>
              <a:t>），学会使用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进制方式查看文件，并掌握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及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进制查看间的切换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已安装</a:t>
            </a:r>
            <a:r>
              <a:rPr lang="en-US" altLang="zh-CN" sz="1600" b="1" dirty="0" err="1">
                <a:latin typeface="+mn-ea"/>
              </a:rPr>
              <a:t>VSCode</a:t>
            </a:r>
            <a:r>
              <a:rPr lang="zh-CN" altLang="en-US" sz="1600" b="1" dirty="0">
                <a:latin typeface="+mn-ea"/>
              </a:rPr>
              <a:t>的也可通过相关插件进行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进制方式的查看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VSCode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某种情况下会自动做格式转换或字符集转换，要注意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★ 也可以使用其它编辑软件，但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不建议</a:t>
            </a:r>
            <a:r>
              <a:rPr lang="en-US" altLang="zh-CN" sz="1600" b="1" dirty="0" err="1">
                <a:latin typeface="+mn-ea"/>
              </a:rPr>
              <a:t>NotePad</a:t>
            </a:r>
            <a:r>
              <a:rPr lang="en-US" altLang="zh-CN" sz="1600" b="1" dirty="0">
                <a:latin typeface="+mn-ea"/>
              </a:rPr>
              <a:t>++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、完成本文档中所有的测试程序并填写运行结果，从而体会二进制与十进制文件的差异，掌握与文件有关的流函数的正确用法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（不强制要求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Linux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建议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试一试）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特别说明：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因为篇幅问题，打开文件后均省略了是否打开成功的判断，这在实际应用中是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：附件给出的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查看文件的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进制形式的方法（三种）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695" y="1291666"/>
            <a:ext cx="6310305" cy="16741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95" y="3202945"/>
            <a:ext cx="6310305" cy="15633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69135" b="39911"/>
          <a:stretch>
            <a:fillRect/>
          </a:stretch>
        </p:blipFill>
        <p:spPr>
          <a:xfrm>
            <a:off x="7627197" y="1291666"/>
            <a:ext cx="3763108" cy="4120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3432375" y="2418973"/>
            <a:ext cx="3195782" cy="3971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正常启动，建立文件，输入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Hello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27926" y="4156984"/>
            <a:ext cx="3833091" cy="609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：选择快捷工具栏上的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16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进制按钮，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    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01695" y="5720347"/>
            <a:ext cx="4536923" cy="48446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方法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Ctrl + H 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快捷键可以相互切换</a:t>
            </a:r>
            <a:endParaRPr kumimoji="1"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527637" y="5495638"/>
            <a:ext cx="3862668" cy="8774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编辑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- 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十六进制功能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菜单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：十进制方式写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去掉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后再次运行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4509120"/>
            <a:ext cx="9642757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____7__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字节（有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的情况），用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__5__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字节（无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的情况），用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VSCode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等其他软件的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进制查看方式的截图也可以，下同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825" y="4933315"/>
            <a:ext cx="6891020" cy="488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25" y="5760085"/>
            <a:ext cx="5364480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：二进制方式写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 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去掉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后再次运行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4509120"/>
            <a:ext cx="9642757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字节（有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的情况），用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__5___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字节（无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的情况），用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在十进制和二进制方式下有无区别？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有区别，在十进制下是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\r\n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，在二进制下是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4796790"/>
            <a:ext cx="5524500" cy="4876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85" y="5572125"/>
            <a:ext cx="4807585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：十进制方式写，十进制方式读，</a:t>
            </a:r>
            <a:r>
              <a:rPr lang="en-US" altLang="zh-CN" sz="1600" b="1" dirty="0">
                <a:latin typeface="+mn-ea"/>
              </a:rPr>
              <a:t>0D0A(</a:t>
            </a:r>
            <a:r>
              <a:rPr lang="zh-CN" altLang="en-US" sz="1600" b="1" dirty="0">
                <a:latin typeface="+mn-ea"/>
              </a:rPr>
              <a:t>即</a:t>
            </a:r>
            <a:r>
              <a:rPr lang="en-US" altLang="zh-CN" sz="1600" b="1" dirty="0">
                <a:latin typeface="+mn-ea"/>
              </a:rPr>
              <a:t>"\r\n")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44644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445224"/>
            <a:ext cx="9642757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的十进制方式下被当做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个字符处理，值是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__10____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950" y="5347970"/>
            <a:ext cx="2004060" cy="586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：十进制方式写，二进制方式读，</a:t>
            </a:r>
            <a:r>
              <a:rPr lang="en-US" altLang="zh-CN" sz="1600" b="1" dirty="0">
                <a:latin typeface="+mn-ea"/>
              </a:rPr>
              <a:t>0D0A(</a:t>
            </a:r>
            <a:r>
              <a:rPr lang="zh-CN" altLang="en-US" sz="1600" b="1" dirty="0">
                <a:latin typeface="+mn-ea"/>
              </a:rPr>
              <a:t>即</a:t>
            </a:r>
            <a:r>
              <a:rPr lang="en-US" altLang="zh-CN" sz="1600" b="1" dirty="0">
                <a:latin typeface="+mn-ea"/>
              </a:rPr>
              <a:t>"\r\n")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44644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445224"/>
            <a:ext cx="9642757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的二进制方式下被当做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个字符处理，值是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_10,13_____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5466715"/>
            <a:ext cx="2632075" cy="648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：十进制方式写，十进制方式读，不同读方式在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73723" y="980728"/>
            <a:ext cx="483577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73724" y="5085184"/>
            <a:ext cx="483577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in&gt;&gt;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609493" y="980728"/>
            <a:ext cx="480351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609492" y="5085185"/>
            <a:ext cx="4803514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417570" y="4130040"/>
            <a:ext cx="1436370" cy="685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750300" y="3755390"/>
            <a:ext cx="801370" cy="106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：二进制方式写，十进制方式读，不同读方式在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73724" y="980728"/>
            <a:ext cx="483577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73724" y="5085184"/>
            <a:ext cx="483577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in&gt;&gt;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___\n_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609493" y="980728"/>
            <a:ext cx="480351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609493" y="5085185"/>
            <a:ext cx="4803513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__EOF___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74440" y="3714750"/>
            <a:ext cx="1491615" cy="11645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627110" y="3856990"/>
            <a:ext cx="1278255" cy="1022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：二进制方式写，二进制方式读，不同读方式在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in&gt;&gt;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__\n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__EOF_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26485" y="3971290"/>
            <a:ext cx="1306830" cy="11137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646795" y="3971290"/>
            <a:ext cx="899795" cy="10979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：十进制方式写，二进制方式读，不同读方式在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4" y="980728"/>
            <a:ext cx="483229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4" y="5085184"/>
            <a:ext cx="483229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in&gt;&gt;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606020" y="980728"/>
            <a:ext cx="480698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606020" y="5085185"/>
            <a:ext cx="480698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_EOF____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__6___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，最后一个字符是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1895" y="3715385"/>
            <a:ext cx="1316990" cy="13030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110" y="3890010"/>
            <a:ext cx="927735" cy="11283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的文件，观察文件长度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3928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"ABC\0\x61\x62\x63"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085184"/>
            <a:ext cx="9639283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__5___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字节，为什么？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输出流在输出到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时停止，输出了三字节，之后输出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\r\n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，占两字节，一共五字节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：用十进制方式写入含非图形字符</a:t>
            </a:r>
            <a:r>
              <a:rPr lang="en-US" altLang="zh-CN" sz="1600" b="1" dirty="0">
                <a:latin typeface="+mn-ea"/>
              </a:rPr>
              <a:t>(ASCII</a:t>
            </a:r>
            <a:r>
              <a:rPr lang="zh-CN" altLang="en-US" sz="1600" b="1" dirty="0">
                <a:latin typeface="+mn-ea"/>
              </a:rPr>
              <a:t>码</a:t>
            </a:r>
            <a:r>
              <a:rPr lang="en-US" altLang="zh-CN" sz="1600" b="1" dirty="0">
                <a:latin typeface="+mn-ea"/>
              </a:rPr>
              <a:t>32</a:t>
            </a:r>
            <a:r>
              <a:rPr lang="zh-CN" altLang="en-US" sz="1600" b="1" dirty="0">
                <a:latin typeface="+mn-ea"/>
              </a:rPr>
              <a:t>是空格，</a:t>
            </a:r>
            <a:r>
              <a:rPr lang="en-US" altLang="zh-CN" sz="1600" b="1" dirty="0">
                <a:latin typeface="+mn-ea"/>
              </a:rPr>
              <a:t>33-126</a:t>
            </a:r>
            <a:r>
              <a:rPr lang="zh-CN" altLang="en-US" sz="1600" b="1" dirty="0">
                <a:latin typeface="+mn-ea"/>
              </a:rPr>
              <a:t>为图形字符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，但不含</a:t>
            </a:r>
            <a:r>
              <a:rPr lang="en-US" altLang="zh-CN" sz="1600" b="1" dirty="0">
                <a:latin typeface="+mn-ea"/>
              </a:rPr>
              <a:t>\0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3928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085184"/>
            <a:ext cx="9639283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__20__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进制显示截图为：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905" y="5575935"/>
            <a:ext cx="8678545" cy="7918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的文件，并用十进制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二进制方式读取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___20_____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___6_______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	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ASCII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会被认为是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ctrl+z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，所以循环退出，一个读了五个字节但是又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了一次。但是文件却是正常输出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___20_____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__21_____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的大小比文件大小大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，原因是：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循环到达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了一次，算上了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880" y="3721735"/>
            <a:ext cx="1217930" cy="9544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的文件，并用十进制不同方式读取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____5_____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	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因为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ASCII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码的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\x1A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会被认为是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ctrl+z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，所以循环退出，一个读了五个字节但是又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c++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了一次。但是文件却是正常输出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___5____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	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因为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ASCII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码的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\x1A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会被认为是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ctrl+z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，所以循环退出，一个读了五个字节但是又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c++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了一次。但是文件却是正常输出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</a:t>
            </a:r>
            <a:r>
              <a:rPr lang="en-US" altLang="zh-CN" sz="1600" b="1" dirty="0" err="1">
                <a:latin typeface="+mn-ea"/>
              </a:rPr>
              <a:t>xFF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255/-1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的定义是</a:t>
            </a:r>
            <a:r>
              <a:rPr lang="en-US" altLang="zh-CN" sz="1600" b="1" dirty="0">
                <a:latin typeface="+mn-ea"/>
              </a:rPr>
              <a:t>-1)</a:t>
            </a:r>
            <a:r>
              <a:rPr lang="zh-CN" altLang="en-US" sz="1600" b="1" dirty="0">
                <a:latin typeface="+mn-ea"/>
              </a:rPr>
              <a:t>的文件，并进行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正确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错误</a:t>
            </a:r>
            <a:r>
              <a:rPr lang="zh-CN" altLang="en-US" sz="1600" b="1" dirty="0">
                <a:latin typeface="+mn-ea"/>
              </a:rPr>
              <a:t>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___19_____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___18_______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	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占两个字节，而且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\xFF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读入时不等于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，因此可以正常读完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8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____5_______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___18_______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	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因为用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signed c=\xFF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时，就相当于是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值相同循环退出，只读了五个字节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70250" y="6237312"/>
            <a:ext cx="9642756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11~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，结论：当文件中含字符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__\x1A__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时，不能用十进制方式读取，而当文件中含字符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__\xff___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时，是可以用二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十进制方式正确读取的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：比较格式化读和</a:t>
            </a:r>
            <a:r>
              <a:rPr lang="en-US" altLang="zh-CN" sz="1600" b="1" dirty="0">
                <a:latin typeface="+mn-ea"/>
              </a:rPr>
              <a:t>read()</a:t>
            </a:r>
            <a:r>
              <a:rPr lang="zh-CN" altLang="en-US" sz="1600" b="1" dirty="0">
                <a:latin typeface="+mn-ea"/>
              </a:rPr>
              <a:t>读的区别，并观察</a:t>
            </a:r>
            <a:r>
              <a:rPr lang="en-US" altLang="zh-CN" sz="1600" b="1" dirty="0" err="1">
                <a:latin typeface="+mn-ea"/>
              </a:rPr>
              <a:t>gcount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tellg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在不同读入方式时值的差别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 &gt;&gt; name;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(name[26])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70250" y="5085185"/>
            <a:ext cx="4835769" cy="14039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____28____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__ABCDEFGHIJKLMNOPQRSTUVWXYZ___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_____0______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_____0______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 &gt;&gt;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方式读入字符串时，和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方式相同，都是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___\n___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停止，并在数组最后加入一个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26);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(name[26])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5085185"/>
            <a:ext cx="4806987" cy="14039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___28______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ABCDEFGHIJKLMNOPQRSTUVWXYZ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和乱码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不可预知的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____26_______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读入时，是读到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停止，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不在数组最后加入一个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70250" y="6489106"/>
            <a:ext cx="9642756" cy="2809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综合左右：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仅对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__read__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方式读时有效，可返回最后读取的字节数；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则对两种读入方式均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2820" y="4053840"/>
            <a:ext cx="2293620" cy="952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545" y="4197985"/>
            <a:ext cx="355092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：比较</a:t>
            </a:r>
            <a:r>
              <a:rPr lang="en-US" altLang="zh-CN" sz="1600" b="1" dirty="0">
                <a:latin typeface="+mn-ea"/>
              </a:rPr>
              <a:t>read()</a:t>
            </a:r>
            <a:r>
              <a:rPr lang="zh-CN" altLang="en-US" sz="1600" b="1" dirty="0">
                <a:latin typeface="+mn-ea"/>
              </a:rPr>
              <a:t>读超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不超过文件长度时的区别，并观察</a:t>
            </a:r>
            <a:r>
              <a:rPr lang="en-US" altLang="zh-CN" sz="1600" b="1" dirty="0" err="1">
                <a:latin typeface="+mn-ea"/>
              </a:rPr>
              <a:t>gcount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tellg</a:t>
            </a:r>
            <a:r>
              <a:rPr lang="en-US" altLang="zh-CN" sz="1600" b="1" dirty="0">
                <a:latin typeface="+mn-ea"/>
              </a:rPr>
              <a:t>()/good()</a:t>
            </a:r>
            <a:r>
              <a:rPr lang="zh-CN" altLang="en-US" sz="1600" b="1" dirty="0">
                <a:latin typeface="+mn-ea"/>
              </a:rPr>
              <a:t>的返回值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356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 = "00000000000000000000000000000";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20);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(name[20])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in.good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0" y="5336976"/>
            <a:ext cx="4835769" cy="12603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____26_____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name[20]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good()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3562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 = "00000000000000000000000000000";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200);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in.good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9" y="5336974"/>
            <a:ext cx="4806987" cy="12603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___26____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good()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241040" y="5551170"/>
            <a:ext cx="2299970" cy="10464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016240" y="5624830"/>
            <a:ext cx="2400300" cy="9372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：使用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移动文件指针，观察</a:t>
            </a:r>
            <a:r>
              <a:rPr lang="en-US" altLang="zh-CN" sz="1600" b="1" dirty="0" err="1">
                <a:latin typeface="+mn-ea"/>
              </a:rPr>
              <a:t>gcount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tellg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在不同情况下的返回值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3724" y="980728"/>
            <a:ext cx="483229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10);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name[10]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(-5,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::cur);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10);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name[10]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3724" y="5085184"/>
            <a:ext cx="483229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20" y="980728"/>
            <a:ext cx="480698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20" y="5085185"/>
            <a:ext cx="480698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73723" y="6119445"/>
            <a:ext cx="9639283" cy="477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综合左右：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gcount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seekg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仅在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__流对象处于良好状态_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情况下返回正确值，因此，每次操作完成后，最好判断流对象自身状态，正确才可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继续下一步。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71800" y="4976495"/>
            <a:ext cx="2034540" cy="1143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783830" y="4819015"/>
            <a:ext cx="2628900" cy="11658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：使用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gcount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tellg</a:t>
            </a:r>
            <a:r>
              <a:rPr lang="en-US" altLang="zh-CN" sz="1600" b="1" dirty="0">
                <a:latin typeface="+mn-ea"/>
              </a:rPr>
              <a:t>()/good()</a:t>
            </a:r>
            <a:r>
              <a:rPr lang="zh-CN" altLang="en-US" sz="1600" b="1" dirty="0">
                <a:latin typeface="+mn-ea"/>
              </a:rPr>
              <a:t>后判断流对象状态是否正确，若不正确则恢复正确状态后再继续使用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3724" y="980727"/>
            <a:ext cx="4832296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in.good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in.clear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in.seekg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in.gcount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in.good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in.clear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20" y="5085185"/>
            <a:ext cx="4806986" cy="162041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9540" y="5085080"/>
            <a:ext cx="2667000" cy="10896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：读写方式打开时的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seekg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同步移动问题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80727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file("out.txt",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file.good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file.clear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(12,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"abcdefghijklmnopqrstuvwxyz0123");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file.write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、读写方式打开时，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均可以使用，且读写后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两个函数的返回值均相同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、文件指针的移动，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9545" y="4437380"/>
            <a:ext cx="2743200" cy="11201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：读写方式打开时加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::app</a:t>
            </a:r>
            <a:r>
              <a:rPr lang="zh-CN" altLang="en-US" sz="1600" b="1" dirty="0">
                <a:latin typeface="+mn-ea"/>
              </a:rPr>
              <a:t>方式后，读写指针移动及写入问题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3724" y="980727"/>
            <a:ext cx="4832296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file("out.txt",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binary|ios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file.good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file.clear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(12,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"abcdefghijklmnopqrstuvwxyz0123");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file.write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20" y="4437113"/>
            <a:ext cx="4810460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后，虽然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可以移动文件指针，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但是写入的位置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______总是会在文件末尾添加新数据_________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、自行测试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方式打开加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的情况，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与本例的结论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一致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一致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不一致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0175" y="4437380"/>
            <a:ext cx="2514600" cy="1112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：读写方式打开时加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::app</a:t>
            </a:r>
            <a:r>
              <a:rPr lang="zh-CN" altLang="en-US" sz="1600" b="1" dirty="0">
                <a:latin typeface="+mn-ea"/>
              </a:rPr>
              <a:t>方式后，读写指针移动及写入问题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80727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file("out.txt", 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05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binary|ios</a:t>
            </a:r>
            <a:r>
              <a:rPr kumimoji="1" lang="en-US" altLang="zh-CN" sz="105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file.gcount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'*' &lt;&lt; name &lt;&lt; '*'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(!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file.good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file.clear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file.seekg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(5,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::beg);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"abcdefghijklmnopqrstuvwxyz0123");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file.write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file.tellg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" "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file.tellp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file.close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_____________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后，读写方式打开时，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均可以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使用，且无论读写，两个函数的返回值均相同，表示两个文件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指针是同步移动的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5740" y="4355465"/>
            <a:ext cx="2590800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::app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"0123456789";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_26___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后，写方式打开，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___26__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写入是在文件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完成后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__36_____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030" y="2709545"/>
            <a:ext cx="3072765" cy="13849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::ate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"0123456789";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后，写方式打开，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写入是在文件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_结束_(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完成后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___10_______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ate = at end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::ate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::app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"0123456789";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out.tellp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、同时加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ate|ios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::app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后，写方式打开，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写入是在文件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完成后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_____36_____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结论：结合本例及前两例，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加在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方式的输出文件上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实用价值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24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、正常读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peek()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___65___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表示从文件的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_开始 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位置读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25</a:t>
            </a:r>
            <a:r>
              <a:rPr lang="zh-CN" altLang="en-US" sz="1600" b="1" dirty="0">
                <a:latin typeface="+mn-ea"/>
              </a:rPr>
              <a:t>：不同打开方式下文件指针的初始值问题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0250" y="978528"/>
            <a:ext cx="4835769" cy="57248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main(int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"ABCDEFGHIJKLMNOPQRSTUVWXYZ"; 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请查看当前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文件的大小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system("pause");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::ate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606019" y="4437113"/>
            <a:ext cx="4810461" cy="2268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、执行到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system("pause")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的时候，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、加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后，读方式打开，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tellg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peek()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 -1__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表示从文件的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位置读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、结合本例及上例，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加在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方式的输出文件上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实用价值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、为了避免细节记忆错误，另一种做法是，舍弃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::ate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特性不同，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在需要读写时直接用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()/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seekp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自行移动文件开头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结尾，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你是否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__赞成__(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赞成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反对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这种做法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2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3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4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5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6.xml><?xml version="1.0" encoding="utf-8"?>
<p:tagLst xmlns:p="http://schemas.openxmlformats.org/presentationml/2006/main">
  <p:tag name="KSO_WM_DIAGRAM_VIRTUALLY_FRAME" val="{&quot;height&quot;:442.253937007874,&quot;left&quot;:60.923070866141735,&quot;top&quot;:77.22267716535433,&quot;width&quot;:758.998661417323}"/>
</p:tagLst>
</file>

<file path=ppt/tags/tag7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8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9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10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11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12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13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4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5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6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7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8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9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0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1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2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3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4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5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6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7.xml><?xml version="1.0" encoding="utf-8"?>
<p:tagLst xmlns:p="http://schemas.openxmlformats.org/presentationml/2006/main">
  <p:tag name="KSO_WM_DIAGRAM_VIRTUALLY_FRAME" val="{&quot;height&quot;:445.87732283464567,&quot;left&quot;:60.6496062992126,&quot;top&quot;:77.22267716535433,&quot;width&quot;:759.5503937007874}"/>
</p:tagLst>
</file>

<file path=ppt/tags/tag28.xml><?xml version="1.0" encoding="utf-8"?>
<p:tagLst xmlns:p="http://schemas.openxmlformats.org/presentationml/2006/main">
  <p:tag name="KSO_WM_DIAGRAM_VIRTUALLY_FRAME" val="{&quot;height&quot;:445.87732283464567,&quot;left&quot;:60.6496062992126,&quot;top&quot;:77.22267716535433,&quot;width&quot;:759.5503937007874}"/>
</p:tagLst>
</file>

<file path=ppt/tags/tag29.xml><?xml version="1.0" encoding="utf-8"?>
<p:tagLst xmlns:p="http://schemas.openxmlformats.org/presentationml/2006/main">
  <p:tag name="KSO_WM_DIAGRAM_VIRTUALLY_FRAME" val="{&quot;height&quot;:445.87732283464567,&quot;left&quot;:60.6496062992126,&quot;top&quot;:77.22267716535433,&quot;width&quot;:759.5503937007874}"/>
</p:tagLst>
</file>

<file path=ppt/tags/tag30.xml><?xml version="1.0" encoding="utf-8"?>
<p:tagLst xmlns:p="http://schemas.openxmlformats.org/presentationml/2006/main">
  <p:tag name="KSO_WM_DIAGRAM_VIRTUALLY_FRAME" val="{&quot;height&quot;:445.87732283464567,&quot;left&quot;:60.6496062992126,&quot;top&quot;:77.22267716535433,&quot;width&quot;:759.5503937007874}"/>
</p:tagLst>
</file>

<file path=ppt/tags/tag31.xml><?xml version="1.0" encoding="utf-8"?>
<p:tagLst xmlns:p="http://schemas.openxmlformats.org/presentationml/2006/main">
  <p:tag name="KSO_WM_DIAGRAM_VIRTUALLY_FRAME" val="{&quot;height&quot;:445.87732283464567,&quot;left&quot;:60.6496062992126,&quot;top&quot;:77.22267716535433,&quot;width&quot;:759.5503937007874}"/>
</p:tagLst>
</file>

<file path=ppt/tags/tag32.xml><?xml version="1.0" encoding="utf-8"?>
<p:tagLst xmlns:p="http://schemas.openxmlformats.org/presentationml/2006/main">
  <p:tag name="KSO_WM_DIAGRAM_VIRTUALLY_FRAME" val="{&quot;height&quot;:445.87732283464567,&quot;left&quot;:60.6496062992126,&quot;top&quot;:77.22267716535433,&quot;width&quot;:759.5503937007874}"/>
</p:tagLst>
</file>

<file path=ppt/tags/tag33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4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5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6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7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8.xml><?xml version="1.0" encoding="utf-8"?>
<p:tagLst xmlns:p="http://schemas.openxmlformats.org/presentationml/2006/main">
  <p:tag name="KSO_WM_DIAGRAM_VIRTUALLY_FRAME" val="{&quot;height&quot;:442.253937007874,&quot;left&quot;:60.92314960629922,&quot;top&quot;:77.22267716535433,&quot;width&quot;:758.9985826771654}"/>
</p:tagLst>
</file>

<file path=ppt/tags/tag39.xml><?xml version="1.0" encoding="utf-8"?>
<p:tagLst xmlns:p="http://schemas.openxmlformats.org/presentationml/2006/main">
  <p:tag name="commondata" val="eyJoZGlkIjoiZDlhZjk3MDdmY2RjNDU5YmVmZjU5ZGI1MDk2NzM4OGU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22932</Words>
  <Application>WPS 演示</Application>
  <PresentationFormat>宽屏</PresentationFormat>
  <Paragraphs>1193</Paragraphs>
  <Slides>28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寅时请叫醒我.</cp:lastModifiedBy>
  <cp:revision>42</cp:revision>
  <dcterms:created xsi:type="dcterms:W3CDTF">2020-08-13T13:39:00Z</dcterms:created>
  <dcterms:modified xsi:type="dcterms:W3CDTF">2024-12-25T13:32:51Z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A5BAC9B4362249059E3817C103A9B8E6_12</vt:lpwstr>
  </property>
  <property fmtid="{D5CDD505-2E9C-101B-9397-08002B2CF9AE}" pid="3" name="KSOProductBuildVer">
    <vt:lpwstr>2052-12.1.0.19302</vt:lpwstr>
  </property>
</Properties>
</file>