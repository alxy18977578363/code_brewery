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730" r:id="rId3"/>
    <p:sldId id="1237" r:id="rId4"/>
    <p:sldId id="1238" r:id="rId6"/>
    <p:sldId id="814" r:id="rId7"/>
    <p:sldId id="800" r:id="rId8"/>
    <p:sldId id="801" r:id="rId9"/>
    <p:sldId id="802" r:id="rId10"/>
    <p:sldId id="803" r:id="rId11"/>
    <p:sldId id="804" r:id="rId12"/>
    <p:sldId id="805" r:id="rId13"/>
    <p:sldId id="806" r:id="rId14"/>
    <p:sldId id="807" r:id="rId15"/>
    <p:sldId id="809" r:id="rId16"/>
    <p:sldId id="810" r:id="rId17"/>
    <p:sldId id="1239" r:id="rId18"/>
    <p:sldId id="813" r:id="rId19"/>
    <p:sldId id="1240" r:id="rId20"/>
    <p:sldId id="815" r:id="rId21"/>
    <p:sldId id="816" r:id="rId22"/>
    <p:sldId id="817" r:id="rId23"/>
    <p:sldId id="831" r:id="rId24"/>
    <p:sldId id="835" r:id="rId25"/>
    <p:sldId id="832" r:id="rId26"/>
    <p:sldId id="836" r:id="rId27"/>
  </p:sldIdLst>
  <p:sldSz cx="12192000" cy="6858000"/>
  <p:notesSz cx="6858000" cy="9144000"/>
  <p:custDataLst>
    <p:tags r:id="rId3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1" Type="http://schemas.openxmlformats.org/officeDocument/2006/relationships/tags" Target="tags/tag41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F70F7F-BE43-4A8B-A1A7-C9743CA3AD5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67A556-CD7F-4282-A801-91BB0424DFC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71AAC3-E1CF-43C0-B71B-89720A73C05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5FFF43-CBE6-4A7F-B1EF-DF6F550F691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5AFF3C-36C8-4D4A-97AC-FE8408D9023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3E2A3C-C663-4861-8DD7-8E4A7DB9719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8837D0-5604-4489-852A-B7F5ECB6A9E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A35EC8-801C-4779-A815-950E7AF273F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1B6DF2-D4C6-44B5-980B-436D58DBD7F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F0E30D-6F2E-407D-BF81-F9815A518C4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65E2E0-709F-4ED7-8411-7FDA611BDE6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 smtClean="0"/>
            </a:lvl1pPr>
          </a:lstStyle>
          <a:p>
            <a:pPr>
              <a:defRPr/>
            </a:pPr>
            <a:fld id="{6E7D1CD2-4D70-4106-8549-A852E5E019D8}" type="slidenum">
              <a:rPr lang="en-US" altLang="zh-CN"/>
            </a:fld>
            <a:endParaRPr lang="en-US" altLang="zh-CN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tags" Target="../tags/tag25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tags" Target="../tags/tag2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语言的文件操作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要求：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、安装</a:t>
            </a:r>
            <a:r>
              <a:rPr lang="en-US" altLang="zh-CN" sz="1600" b="1" dirty="0" err="1">
                <a:latin typeface="+mn-ea"/>
              </a:rPr>
              <a:t>UltraEdit</a:t>
            </a:r>
            <a:r>
              <a:rPr lang="zh-CN" altLang="en-US" sz="1600" b="1" dirty="0">
                <a:latin typeface="+mn-ea"/>
              </a:rPr>
              <a:t>软件（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附件已给，版本虽旧，但够用</a:t>
            </a:r>
            <a:r>
              <a:rPr lang="zh-CN" altLang="en-US" sz="1600" b="1" dirty="0">
                <a:latin typeface="+mn-ea"/>
              </a:rPr>
              <a:t>），学会使用</a:t>
            </a:r>
            <a:r>
              <a:rPr lang="en-US" altLang="zh-CN" sz="1600" b="1" dirty="0">
                <a:latin typeface="+mn-ea"/>
              </a:rPr>
              <a:t>16</a:t>
            </a:r>
            <a:r>
              <a:rPr lang="zh-CN" altLang="en-US" sz="1600" b="1" dirty="0">
                <a:latin typeface="+mn-ea"/>
              </a:rPr>
              <a:t>进制方式查看文件，并掌握</a:t>
            </a:r>
            <a:r>
              <a:rPr lang="en-US" altLang="zh-CN" sz="1600" b="1" dirty="0">
                <a:latin typeface="+mn-ea"/>
              </a:rPr>
              <a:t>ASCII</a:t>
            </a:r>
            <a:r>
              <a:rPr lang="zh-CN" altLang="en-US" sz="1600" b="1" dirty="0">
                <a:latin typeface="+mn-ea"/>
              </a:rPr>
              <a:t>及</a:t>
            </a:r>
            <a:r>
              <a:rPr lang="en-US" altLang="zh-CN" sz="1600" b="1" dirty="0">
                <a:latin typeface="+mn-ea"/>
              </a:rPr>
              <a:t>16</a:t>
            </a:r>
            <a:r>
              <a:rPr lang="zh-CN" altLang="en-US" sz="1600" b="1" dirty="0">
                <a:latin typeface="+mn-ea"/>
              </a:rPr>
              <a:t>进制查看间的切换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   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已安装</a:t>
            </a:r>
            <a:r>
              <a:rPr lang="en-US" altLang="zh-CN" sz="1600" b="1" dirty="0" err="1">
                <a:latin typeface="+mn-ea"/>
              </a:rPr>
              <a:t>VSCode</a:t>
            </a:r>
            <a:r>
              <a:rPr lang="zh-CN" altLang="en-US" sz="1600" b="1" dirty="0">
                <a:latin typeface="+mn-ea"/>
              </a:rPr>
              <a:t>的也可通过相关插件进行</a:t>
            </a:r>
            <a:r>
              <a:rPr lang="en-US" altLang="zh-CN" sz="1600" b="1" dirty="0">
                <a:latin typeface="+mn-ea"/>
              </a:rPr>
              <a:t>16</a:t>
            </a:r>
            <a:r>
              <a:rPr lang="zh-CN" altLang="en-US" sz="1600" b="1" dirty="0">
                <a:latin typeface="+mn-ea"/>
              </a:rPr>
              <a:t>进制方式的查看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VSCode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某种情况下会自动做格式转换或字符集转换，要注意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!!!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★ 也可以使用其它编辑软件，但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不建议</a:t>
            </a:r>
            <a:r>
              <a:rPr lang="en-US" altLang="zh-CN" sz="1600" b="1" dirty="0" err="1">
                <a:latin typeface="+mn-ea"/>
              </a:rPr>
              <a:t>NotePad</a:t>
            </a:r>
            <a:r>
              <a:rPr lang="en-US" altLang="zh-CN" sz="1600" b="1" dirty="0">
                <a:latin typeface="+mn-ea"/>
              </a:rPr>
              <a:t>++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、完成本文档中所有的测试程序并填写运行结果，从而体会二进制与十进制文件的差异，掌握与文件有关的函数的正确用法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、题目明确指定编译器外，缺省使用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即可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后缀必须为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.c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★ </a:t>
            </a:r>
            <a:r>
              <a:rPr lang="zh-CN" altLang="en-US" sz="1600" b="1" dirty="0">
                <a:latin typeface="+mn-ea"/>
              </a:rPr>
              <a:t>如果要换成其他编译器，可能需要自行修改头文件适配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（不强制要求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Linux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，但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建议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试一试）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   </a:t>
            </a:r>
            <a:r>
              <a:rPr lang="en-US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部分代码编译时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有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warning</a:t>
            </a:r>
            <a:r>
              <a:rPr lang="zh-CN" altLang="en-US" sz="1600" b="1" dirty="0">
                <a:latin typeface="+mn-ea"/>
              </a:rPr>
              <a:t>，不影响概念理解，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可以忽略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、直接在本文件上作答，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写出答案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截图（不允许手写、手写拍照截图）</a:t>
            </a:r>
            <a:r>
              <a:rPr lang="zh-CN" altLang="en-US" sz="1600" b="1" dirty="0">
                <a:latin typeface="+mn-ea"/>
              </a:rPr>
              <a:t>即可；填写答案时，为适应所填内容或贴图，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允许调整</a:t>
            </a:r>
            <a:r>
              <a:rPr lang="zh-CN" altLang="en-US" sz="1600" b="1" dirty="0">
                <a:latin typeface="+mn-ea"/>
              </a:rPr>
              <a:t>页面的字体大小、颜色、文本框的位置等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贴图要有效部分即可，不需要全部内容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在保证一页一题的前提下，具体页面布局可以自行发挥，简单易读即可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不允许</a:t>
            </a:r>
            <a:r>
              <a:rPr lang="zh-CN" altLang="en-US" sz="1600" b="1" dirty="0">
                <a:latin typeface="+mn-ea"/>
              </a:rPr>
              <a:t>手写在纸上，再拍照贴图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</a:t>
            </a:r>
            <a:r>
              <a:rPr lang="zh-CN" altLang="en-US" sz="1600" b="1" dirty="0">
                <a:latin typeface="+mn-ea"/>
              </a:rPr>
              <a:t>在各种软件工具上完成（不含手写），再截图贴图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如果某题要求</a:t>
            </a:r>
            <a:r>
              <a:rPr lang="en-US" altLang="zh-CN" sz="1600" b="1" dirty="0" err="1">
                <a:latin typeface="+mn-ea"/>
              </a:rPr>
              <a:t>VS+Dev</a:t>
            </a:r>
            <a:r>
              <a:rPr lang="zh-CN" altLang="en-US" sz="1600" b="1" dirty="0">
                <a:latin typeface="+mn-ea"/>
              </a:rPr>
              <a:t>的，则如果两个编译器运行结果一致，贴</a:t>
            </a:r>
            <a:r>
              <a:rPr lang="en-US" altLang="zh-CN" sz="1600" b="1" dirty="0">
                <a:latin typeface="+mn-ea"/>
              </a:rPr>
              <a:t>VS</a:t>
            </a:r>
            <a:r>
              <a:rPr lang="zh-CN" altLang="en-US" sz="1600" b="1" dirty="0">
                <a:latin typeface="+mn-ea"/>
              </a:rPr>
              <a:t>的一张图即可，如果不一致，则两个图都要贴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、转换为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后提交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11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14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日前</a:t>
            </a:r>
            <a:r>
              <a:rPr lang="zh-CN" altLang="en-US" sz="1600" b="1" dirty="0">
                <a:latin typeface="+mn-ea"/>
              </a:rPr>
              <a:t>网上提交本次作业（在“文档作业”中提交）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特别说明：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★ </a:t>
            </a:r>
            <a:r>
              <a:rPr lang="zh-CN" altLang="en-US" sz="1600" b="1" dirty="0">
                <a:latin typeface="+mn-ea"/>
              </a:rPr>
              <a:t>因为篇幅问题，打开文件后均省略了是否打开成功的判断，这在实际应用中是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不允许</a:t>
            </a:r>
            <a:r>
              <a:rPr lang="zh-CN" altLang="en-US" sz="1600" b="1" dirty="0">
                <a:latin typeface="+mn-ea"/>
              </a:rPr>
              <a:t>的</a:t>
            </a:r>
            <a:endParaRPr lang="en-US" altLang="zh-CN" sz="1600" b="1" dirty="0">
              <a:latin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语言的文件操作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注意：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附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：用</a:t>
            </a:r>
            <a:r>
              <a:rPr lang="en-US" altLang="zh-CN" sz="1600" b="1" dirty="0">
                <a:latin typeface="+mn-ea"/>
              </a:rPr>
              <a:t>WPS</a:t>
            </a:r>
            <a:r>
              <a:rPr lang="zh-CN" altLang="en-US" sz="1600" b="1" dirty="0">
                <a:latin typeface="+mn-ea"/>
              </a:rPr>
              <a:t>等其他第三方软件打开</a:t>
            </a:r>
            <a:r>
              <a:rPr lang="en-US" altLang="zh-CN" sz="1600" b="1" dirty="0">
                <a:latin typeface="+mn-ea"/>
              </a:rPr>
              <a:t>PPT</a:t>
            </a:r>
            <a:r>
              <a:rPr lang="zh-CN" altLang="en-US" sz="1600" b="1" dirty="0">
                <a:latin typeface="+mn-ea"/>
              </a:rPr>
              <a:t>，将代码复制到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中后，如果出现类似下面的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编译报错</a:t>
            </a:r>
            <a:r>
              <a:rPr lang="zh-CN" altLang="en-US" sz="1600" b="1" dirty="0">
                <a:latin typeface="+mn-ea"/>
              </a:rPr>
              <a:t>，则观察源程序编辑窗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的右下角是否为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，如果是，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单击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，在弹出中选择</a:t>
            </a:r>
            <a:r>
              <a:rPr lang="en-US" altLang="zh-CN" sz="1600" b="1" dirty="0">
                <a:latin typeface="+mn-ea"/>
              </a:rPr>
              <a:t>CRLF</a:t>
            </a:r>
            <a:r>
              <a:rPr lang="zh-CN" altLang="en-US" sz="1600" b="1" dirty="0">
                <a:latin typeface="+mn-ea"/>
              </a:rPr>
              <a:t>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再次</a:t>
            </a:r>
            <a:r>
              <a:rPr lang="en-US" altLang="zh-CN" sz="1600" b="1" dirty="0">
                <a:latin typeface="+mn-ea"/>
              </a:rPr>
              <a:t>CTRL+F5</a:t>
            </a:r>
            <a:r>
              <a:rPr lang="zh-CN" altLang="en-US" sz="1600" b="1" dirty="0">
                <a:latin typeface="+mn-ea"/>
              </a:rPr>
              <a:t>运行即可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1635" y="3090983"/>
            <a:ext cx="2123810" cy="1933333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958" y="1329084"/>
            <a:ext cx="7914286" cy="5314286"/>
          </a:xfrm>
          <a:prstGeom prst="rect">
            <a:avLst/>
          </a:prstGeom>
        </p:spPr>
      </p:pic>
      <p:sp>
        <p:nvSpPr>
          <p:cNvPr id="5" name="箭头: 右 4"/>
          <p:cNvSpPr/>
          <p:nvPr/>
        </p:nvSpPr>
        <p:spPr bwMode="auto">
          <a:xfrm>
            <a:off x="8023460" y="4571893"/>
            <a:ext cx="638175" cy="452423"/>
          </a:xfrm>
          <a:prstGeom prst="rightArrow">
            <a:avLst/>
          </a:prstGeom>
          <a:solidFill>
            <a:srgbClr val="FF0000">
              <a:alpha val="4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语言的文件操作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注意：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附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：附件给出的</a:t>
            </a:r>
            <a:r>
              <a:rPr lang="en-US" altLang="zh-CN" sz="1600" b="1" dirty="0" err="1">
                <a:latin typeface="+mn-ea"/>
              </a:rPr>
              <a:t>UltraEdit</a:t>
            </a:r>
            <a:r>
              <a:rPr lang="zh-CN" altLang="en-US" sz="1600" b="1" dirty="0">
                <a:latin typeface="+mn-ea"/>
              </a:rPr>
              <a:t>查看文件的</a:t>
            </a:r>
            <a:r>
              <a:rPr lang="en-US" altLang="zh-CN" sz="1600" b="1" dirty="0">
                <a:latin typeface="+mn-ea"/>
              </a:rPr>
              <a:t>16</a:t>
            </a:r>
            <a:r>
              <a:rPr lang="zh-CN" altLang="en-US" sz="1600" b="1" dirty="0">
                <a:latin typeface="+mn-ea"/>
              </a:rPr>
              <a:t>进制形式的方法（三种）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695" y="1291666"/>
            <a:ext cx="6310305" cy="167416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695" y="3202945"/>
            <a:ext cx="6310305" cy="156336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3"/>
          <a:srcRect r="69135" b="39911"/>
          <a:stretch>
            <a:fillRect/>
          </a:stretch>
        </p:blipFill>
        <p:spPr>
          <a:xfrm>
            <a:off x="7627197" y="1291666"/>
            <a:ext cx="3763108" cy="412089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矩形 7"/>
          <p:cNvSpPr/>
          <p:nvPr/>
        </p:nvSpPr>
        <p:spPr bwMode="auto">
          <a:xfrm>
            <a:off x="3432375" y="2418973"/>
            <a:ext cx="3195782" cy="39716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正常启动，建立文件，输入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Hello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2927926" y="4156984"/>
            <a:ext cx="3833091" cy="60932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方法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：选择快捷工具栏上的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16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进制按钮，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       可以相互切换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801695" y="5720347"/>
            <a:ext cx="4536923" cy="48446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b="1" dirty="0">
                <a:solidFill>
                  <a:srgbClr val="FF0000"/>
                </a:solidFill>
                <a:latin typeface="+mn-ea"/>
              </a:rPr>
              <a:t>方法</a:t>
            </a:r>
            <a:r>
              <a:rPr kumimoji="1" lang="en-US" altLang="zh-CN" b="1" dirty="0">
                <a:solidFill>
                  <a:srgbClr val="FF0000"/>
                </a:solidFill>
                <a:latin typeface="+mn-ea"/>
              </a:rPr>
              <a:t>3</a:t>
            </a:r>
            <a:r>
              <a:rPr kumimoji="1" lang="zh-CN" altLang="en-US" b="1" dirty="0">
                <a:solidFill>
                  <a:srgbClr val="FF0000"/>
                </a:solidFill>
                <a:latin typeface="+mn-ea"/>
              </a:rPr>
              <a:t>：</a:t>
            </a:r>
            <a:r>
              <a:rPr kumimoji="1" lang="en-US" altLang="zh-CN" b="1" dirty="0">
                <a:solidFill>
                  <a:srgbClr val="FF0000"/>
                </a:solidFill>
                <a:latin typeface="+mn-ea"/>
              </a:rPr>
              <a:t>Ctrl + H </a:t>
            </a:r>
            <a:r>
              <a:rPr kumimoji="1" lang="zh-CN" altLang="en-US" b="1" dirty="0">
                <a:solidFill>
                  <a:srgbClr val="FF0000"/>
                </a:solidFill>
                <a:latin typeface="+mn-ea"/>
              </a:rPr>
              <a:t>快捷键可以相互切换</a:t>
            </a:r>
            <a:endParaRPr kumimoji="1" lang="zh-CN" altLang="en-US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2" name="矩形 11"/>
          <p:cNvSpPr/>
          <p:nvPr/>
        </p:nvSpPr>
        <p:spPr bwMode="auto">
          <a:xfrm>
            <a:off x="7527637" y="5495638"/>
            <a:ext cx="3862668" cy="87745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方法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2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：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"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编辑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" - "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十六进制功能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" 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菜单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，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    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可以相互切换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语言的文件操作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：十进制方式写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764407" y="980728"/>
            <a:ext cx="8640960" cy="352839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FILE *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"w");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"hello\n");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764407" y="4509120"/>
            <a:ext cx="8640960" cy="208823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out.txt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_7__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字节，用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UltraEdit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16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进制方式打开的贴图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椭圆 6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6525" y="5325745"/>
            <a:ext cx="6693535" cy="6102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语言的文件操作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：二进制方式写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7" name="椭圆 6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764407" y="980728"/>
            <a:ext cx="8640960" cy="352839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FILE *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fout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fout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fopen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("out.txt",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w</a:t>
            </a:r>
            <a:r>
              <a:rPr kumimoji="1" lang="en-US" altLang="zh-CN" sz="1600" b="1" dirty="0" err="1">
                <a:solidFill>
                  <a:srgbClr val="FF0000"/>
                </a:solidFill>
                <a:highlight>
                  <a:srgbClr val="FFFF00"/>
                </a:highlight>
                <a:latin typeface="宋体" panose="02010600030101010101" pitchFamily="2" charset="-122"/>
              </a:rPr>
              <a:t>b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");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fprintf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fout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, "hello\n");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fclose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fout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764407" y="4509120"/>
            <a:ext cx="8640960" cy="208823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下运行，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out.txt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___6__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字节，用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UltraEdit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16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进制方式打开的贴图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540" y="5151755"/>
            <a:ext cx="7950835" cy="8032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语言的文件操作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：十进制方式写，十进制方式读，</a:t>
            </a:r>
            <a:r>
              <a:rPr lang="en-US" altLang="zh-CN" sz="1600" b="1" dirty="0">
                <a:latin typeface="+mn-ea"/>
              </a:rPr>
              <a:t>0D0A</a:t>
            </a:r>
            <a:r>
              <a:rPr lang="zh-CN" altLang="en-US" sz="1600" b="1" dirty="0">
                <a:latin typeface="+mn-ea"/>
              </a:rPr>
              <a:t>在</a:t>
            </a:r>
            <a:r>
              <a:rPr lang="en-US" altLang="zh-CN" sz="1600" b="1" dirty="0">
                <a:latin typeface="+mn-ea"/>
              </a:rPr>
              <a:t>Windows</a:t>
            </a:r>
            <a:r>
              <a:rPr lang="zh-CN" altLang="en-US" sz="1600" b="1" dirty="0">
                <a:latin typeface="+mn-ea"/>
              </a:rPr>
              <a:t>下的表现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7" name="椭圆 6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764407" y="980728"/>
            <a:ext cx="8640960" cy="446449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FILE *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*fin;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"w");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"hello\n");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fin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"r");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while (!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feof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("%d ",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fgetc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("\n");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764407" y="5445224"/>
            <a:ext cx="8640960" cy="115212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下运行，输出结果是：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说明：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0D 0A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在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的十进制方式下被当做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_1__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个字符处理，值是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___10___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。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6830" y="5500370"/>
            <a:ext cx="2849880" cy="622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语言的文件操作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：十进制方式写，二进制方式读，</a:t>
            </a:r>
            <a:r>
              <a:rPr lang="en-US" altLang="zh-CN" sz="1600" b="1" dirty="0">
                <a:latin typeface="+mn-ea"/>
              </a:rPr>
              <a:t>0D0A</a:t>
            </a:r>
            <a:r>
              <a:rPr lang="zh-CN" altLang="en-US" sz="1600" b="1" dirty="0">
                <a:latin typeface="+mn-ea"/>
              </a:rPr>
              <a:t>在</a:t>
            </a:r>
            <a:r>
              <a:rPr lang="en-US" altLang="zh-CN" sz="1600" b="1" dirty="0">
                <a:latin typeface="+mn-ea"/>
              </a:rPr>
              <a:t>Windows</a:t>
            </a:r>
            <a:r>
              <a:rPr lang="zh-CN" altLang="en-US" sz="1600" b="1" dirty="0">
                <a:latin typeface="+mn-ea"/>
              </a:rPr>
              <a:t>下的表现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7" name="椭圆 6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764407" y="980728"/>
            <a:ext cx="8640960" cy="446449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FILE *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*fin;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"w");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"hello\n");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fin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</a:t>
            </a:r>
            <a:r>
              <a:rPr kumimoji="1" lang="en-US" altLang="zh-CN" sz="1600" b="1" dirty="0" err="1">
                <a:solidFill>
                  <a:srgbClr val="FF0000"/>
                </a:solidFill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while (!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feof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("%d ",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fgetc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("\n");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764407" y="5445224"/>
            <a:ext cx="8640960" cy="115212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下运行，输出结果是：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说明：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0D 0A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在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的二进制方式下被当做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__2__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个字符处理，值是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_13__10___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。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5860" y="5457190"/>
            <a:ext cx="3107055" cy="6673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语言的文件操作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：十进制方式写，十进制方式读，不同读方式在</a:t>
            </a:r>
            <a:r>
              <a:rPr lang="en-US" altLang="zh-CN" sz="1600" b="1" dirty="0">
                <a:latin typeface="+mn-ea"/>
              </a:rPr>
              <a:t>Windows</a:t>
            </a:r>
            <a:r>
              <a:rPr lang="zh-CN" altLang="en-US" sz="1600" b="1" dirty="0">
                <a:latin typeface="+mn-ea"/>
              </a:rPr>
              <a:t>下的表现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5" name="矩形 4"/>
          <p:cNvSpPr/>
          <p:nvPr>
            <p:custDataLst>
              <p:tags r:id="rId1"/>
            </p:custDataLst>
          </p:nvPr>
        </p:nvSpPr>
        <p:spPr bwMode="auto">
          <a:xfrm>
            <a:off x="767881" y="979448"/>
            <a:ext cx="4286420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stdio.h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string.h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FILE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*fin;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"w");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"hello\n");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[80];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fin =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"r");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fscanf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(fin, "%s",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("%d\n",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strlen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("%d\n",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fgetc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 bwMode="auto">
          <a:xfrm>
            <a:off x="767881" y="5083904"/>
            <a:ext cx="4286420" cy="151216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下运行，输出结果是：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说明：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读到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__\n__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就结束了，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__\n__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还被留在缓冲区中，因此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fgetc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读到了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__\n___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>
            <p:custDataLst>
              <p:tags r:id="rId3"/>
            </p:custDataLst>
          </p:nvPr>
        </p:nvSpPr>
        <p:spPr bwMode="auto">
          <a:xfrm>
            <a:off x="5054301" y="979448"/>
            <a:ext cx="4351066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stdio.h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string.h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FILE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*fin;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"w");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"hello\n");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[80];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fin =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"r");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fgets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sizeof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), fin); 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课上未讲，自行查阅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("%d\n",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strlen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("%d\n",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fgetc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>
            <p:custDataLst>
              <p:tags r:id="rId4"/>
            </p:custDataLst>
          </p:nvPr>
        </p:nvSpPr>
        <p:spPr bwMode="auto">
          <a:xfrm>
            <a:off x="5054301" y="5083905"/>
            <a:ext cx="4351066" cy="151216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下运行，输出结果是：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说明：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fgets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读到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__\n__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就结束了，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__\n__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被读掉，因此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fgetc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读到了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__EOF___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椭圆 8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5820" y="3776980"/>
            <a:ext cx="1357630" cy="104838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2875" y="4072890"/>
            <a:ext cx="1117600" cy="8902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语言的文件操作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：二进制方式写，十进制方式读，不同读方式在</a:t>
            </a:r>
            <a:r>
              <a:rPr lang="en-US" altLang="zh-CN" sz="1600" b="1" dirty="0">
                <a:latin typeface="+mn-ea"/>
              </a:rPr>
              <a:t>Windows</a:t>
            </a:r>
            <a:r>
              <a:rPr lang="zh-CN" altLang="en-US" sz="1600" b="1" dirty="0">
                <a:latin typeface="+mn-ea"/>
              </a:rPr>
              <a:t>下的表现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1"/>
            </p:custDataLst>
          </p:nvPr>
        </p:nvSpPr>
        <p:spPr bwMode="auto">
          <a:xfrm>
            <a:off x="767881" y="5083904"/>
            <a:ext cx="4286420" cy="151216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下运行，输出结果是：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说明：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读到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__\n__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就结束了，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__\n__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还被留在缓冲区中，因此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fgetc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读到了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__\n___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 bwMode="auto">
          <a:xfrm>
            <a:off x="5054301" y="979448"/>
            <a:ext cx="4351066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stdio.h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string.h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FILE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*fin;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</a:t>
            </a:r>
            <a:r>
              <a:rPr kumimoji="1" lang="en-US" altLang="zh-CN" sz="1200" b="1" dirty="0" err="1">
                <a:solidFill>
                  <a:srgbClr val="FF0000"/>
                </a:solidFill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"hello\n");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[80];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fin =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"r");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fgets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sizeof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), fin); 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课上未讲，自行查阅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("%d\n",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strlen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("%d\n",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fgetc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>
            <p:custDataLst>
              <p:tags r:id="rId3"/>
            </p:custDataLst>
          </p:nvPr>
        </p:nvSpPr>
        <p:spPr bwMode="auto">
          <a:xfrm>
            <a:off x="5054301" y="5083905"/>
            <a:ext cx="4351066" cy="151216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下运行，输出结果是：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说明：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fgets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读到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__\n__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就结束了，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__\n__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被读掉，因此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fgetc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读到了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__EOF___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 bwMode="auto">
          <a:xfrm>
            <a:off x="767881" y="979448"/>
            <a:ext cx="4286420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stdio.h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string.h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FILE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*fin;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</a:t>
            </a:r>
            <a:r>
              <a:rPr kumimoji="1" lang="en-US" altLang="zh-CN" sz="1200" b="1" dirty="0" err="1">
                <a:solidFill>
                  <a:srgbClr val="FF0000"/>
                </a:solidFill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"hello\n");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[80];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fin =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"r");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fscanf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(fin, "%s",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("%d\n",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strlen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("%d\n",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fgetc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椭圆 8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8200" y="3704590"/>
            <a:ext cx="1612900" cy="117094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8780" y="4201795"/>
            <a:ext cx="2313940" cy="79819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语言的文件操作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7</a:t>
            </a:r>
            <a:r>
              <a:rPr lang="zh-CN" altLang="en-US" sz="1600" b="1" dirty="0">
                <a:latin typeface="+mn-ea"/>
              </a:rPr>
              <a:t>：二进制方式写，二进制方式读，不同读方式在</a:t>
            </a:r>
            <a:r>
              <a:rPr lang="en-US" altLang="zh-CN" sz="1600" b="1" dirty="0">
                <a:latin typeface="+mn-ea"/>
              </a:rPr>
              <a:t>Windows</a:t>
            </a:r>
            <a:r>
              <a:rPr lang="zh-CN" altLang="en-US" sz="1600" b="1" dirty="0">
                <a:latin typeface="+mn-ea"/>
              </a:rPr>
              <a:t>下的表现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5" name="矩形 4"/>
          <p:cNvSpPr/>
          <p:nvPr>
            <p:custDataLst>
              <p:tags r:id="rId1"/>
            </p:custDataLst>
          </p:nvPr>
        </p:nvSpPr>
        <p:spPr bwMode="auto">
          <a:xfrm>
            <a:off x="770766" y="979448"/>
            <a:ext cx="4286420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stdio.h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string.h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FILE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*fin;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</a:t>
            </a:r>
            <a:r>
              <a:rPr kumimoji="1" lang="en-US" altLang="zh-CN" sz="1200" b="1" dirty="0" err="1">
                <a:solidFill>
                  <a:srgbClr val="FF0000"/>
                </a:solidFill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"hello\n");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[80];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fin =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</a:t>
            </a:r>
            <a:r>
              <a:rPr kumimoji="1" lang="en-US" altLang="zh-CN" sz="1200" b="1" dirty="0" err="1">
                <a:solidFill>
                  <a:srgbClr val="FF0000"/>
                </a:solidFill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fscanf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(fin, "%s",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("%d\n",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strlen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("%d\n",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fgetc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 bwMode="auto">
          <a:xfrm>
            <a:off x="770766" y="5083904"/>
            <a:ext cx="4286420" cy="151216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下运行，输出结果是：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说明：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读到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_\n__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就结束了，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__\n__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还被留在缓冲区中，因此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fgetc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读到了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__\n___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>
            <p:custDataLst>
              <p:tags r:id="rId3"/>
            </p:custDataLst>
          </p:nvPr>
        </p:nvSpPr>
        <p:spPr bwMode="auto">
          <a:xfrm>
            <a:off x="5057186" y="979448"/>
            <a:ext cx="4351066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stdio.h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string.h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FILE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*fin;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</a:t>
            </a:r>
            <a:r>
              <a:rPr kumimoji="1" lang="en-US" altLang="zh-CN" sz="1200" b="1" dirty="0" err="1">
                <a:solidFill>
                  <a:srgbClr val="FF0000"/>
                </a:solidFill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"hello\n");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[80];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fin =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</a:t>
            </a:r>
            <a:r>
              <a:rPr kumimoji="1" lang="en-US" altLang="zh-CN" sz="1200" b="1" dirty="0" err="1">
                <a:solidFill>
                  <a:srgbClr val="FF0000"/>
                </a:solidFill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fgets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sizeof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), fin); 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课上未讲，自行查阅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("%d\n",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strlen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("%d\n",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fgetc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>
            <p:custDataLst>
              <p:tags r:id="rId4"/>
            </p:custDataLst>
          </p:nvPr>
        </p:nvSpPr>
        <p:spPr bwMode="auto">
          <a:xfrm>
            <a:off x="5057186" y="5083905"/>
            <a:ext cx="4351066" cy="151216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下运行，输出结果是：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说明：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fgets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读到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__\n__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就结束了，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__\n__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被读掉，因此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fgetc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读到了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__EOF___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椭圆 8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0735" y="4135120"/>
            <a:ext cx="1372235" cy="76327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1605" y="3940175"/>
            <a:ext cx="1170305" cy="95821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语言的文件操作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8</a:t>
            </a:r>
            <a:r>
              <a:rPr lang="zh-CN" altLang="en-US" sz="1600" b="1" dirty="0">
                <a:latin typeface="+mn-ea"/>
              </a:rPr>
              <a:t>：十进制方式写，二进制方式读，不同读方式在</a:t>
            </a:r>
            <a:r>
              <a:rPr lang="en-US" altLang="zh-CN" sz="1600" b="1" dirty="0">
                <a:latin typeface="+mn-ea"/>
              </a:rPr>
              <a:t>Windows</a:t>
            </a:r>
            <a:r>
              <a:rPr lang="zh-CN" altLang="en-US" sz="1600" b="1" dirty="0">
                <a:latin typeface="+mn-ea"/>
              </a:rPr>
              <a:t>下的表现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5" name="矩形 4"/>
          <p:cNvSpPr/>
          <p:nvPr>
            <p:custDataLst>
              <p:tags r:id="rId1"/>
            </p:custDataLst>
          </p:nvPr>
        </p:nvSpPr>
        <p:spPr bwMode="auto">
          <a:xfrm>
            <a:off x="767881" y="979448"/>
            <a:ext cx="4286420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stdio.h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string.h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FILE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*fin;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"w");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"hello\n");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[80];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fin =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</a:t>
            </a:r>
            <a:r>
              <a:rPr kumimoji="1" lang="en-US" altLang="zh-CN" sz="1200" b="1" dirty="0" err="1">
                <a:solidFill>
                  <a:srgbClr val="FF0000"/>
                </a:solidFill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fscanf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(fin, "%s",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("%d\n",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strlen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("%d\n",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fgetc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 bwMode="auto">
          <a:xfrm>
            <a:off x="767881" y="5083904"/>
            <a:ext cx="4286420" cy="151216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下运行，输出结果是：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说明：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读到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__\r__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就结束了，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__\r__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还被留在缓冲区中，因此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fgetc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读到了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__\r___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>
            <p:custDataLst>
              <p:tags r:id="rId3"/>
            </p:custDataLst>
          </p:nvPr>
        </p:nvSpPr>
        <p:spPr bwMode="auto">
          <a:xfrm>
            <a:off x="5054301" y="979448"/>
            <a:ext cx="4351066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stdio.h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string.h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FILE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*fin;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"w");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"hello\n");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[80];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fin =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</a:t>
            </a:r>
            <a:r>
              <a:rPr kumimoji="1" lang="en-US" altLang="zh-CN" sz="1200" b="1" dirty="0" err="1">
                <a:solidFill>
                  <a:srgbClr val="FF0000"/>
                </a:solidFill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fgets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sizeof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), fin); 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课上未讲，自行查阅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("%d\n",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strlen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("%d\n",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fgetc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>
            <p:custDataLst>
              <p:tags r:id="rId4"/>
            </p:custDataLst>
          </p:nvPr>
        </p:nvSpPr>
        <p:spPr bwMode="auto">
          <a:xfrm>
            <a:off x="5054301" y="5083905"/>
            <a:ext cx="4351066" cy="151216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下运行，输出结果是：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说明：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fgets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读到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__\n__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就结束了，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__\n__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被读掉，因此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fgetc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读到了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__EOF___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椭圆 8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8535" y="4067810"/>
            <a:ext cx="1151890" cy="81851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9215" y="4225925"/>
            <a:ext cx="1181735" cy="660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语言的文件操作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9</a:t>
            </a:r>
            <a:r>
              <a:rPr lang="zh-CN" altLang="en-US" sz="1600" b="1" dirty="0">
                <a:latin typeface="+mn-ea"/>
              </a:rPr>
              <a:t>：用十进制方式写入含</a:t>
            </a:r>
            <a:r>
              <a:rPr lang="en-US" altLang="zh-CN" sz="1600" b="1" dirty="0">
                <a:latin typeface="+mn-ea"/>
              </a:rPr>
              <a:t>\0</a:t>
            </a:r>
            <a:r>
              <a:rPr lang="zh-CN" altLang="en-US" sz="1600" b="1" dirty="0">
                <a:latin typeface="+mn-ea"/>
              </a:rPr>
              <a:t>的文件，观察文件长度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764407" y="980728"/>
            <a:ext cx="8637486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FILE *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"w");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"ABC\0\x61\x62\x63");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764407" y="5085184"/>
            <a:ext cx="8637486" cy="151216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out.txt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的大小是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__3___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字节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，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为什么？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因为字符串中有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\0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，遇到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\0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后，输出流停止，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\0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不被写入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因而只有三个字节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ABC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用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UltraEdit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16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进制方式显示的截图：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椭圆 6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6355" y="5772150"/>
            <a:ext cx="3925570" cy="58293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语言的文件操作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10</a:t>
            </a:r>
            <a:r>
              <a:rPr lang="zh-CN" altLang="en-US" sz="1600" b="1" dirty="0">
                <a:latin typeface="+mn-ea"/>
              </a:rPr>
              <a:t>：用十进制方式写入含非图形字符</a:t>
            </a:r>
            <a:r>
              <a:rPr lang="en-US" altLang="zh-CN" sz="1600" b="1" dirty="0">
                <a:latin typeface="+mn-ea"/>
              </a:rPr>
              <a:t>(ASCII</a:t>
            </a:r>
            <a:r>
              <a:rPr lang="zh-CN" altLang="en-US" sz="1600" b="1" dirty="0">
                <a:latin typeface="+mn-ea"/>
              </a:rPr>
              <a:t>码</a:t>
            </a:r>
            <a:r>
              <a:rPr lang="en-US" altLang="zh-CN" sz="1600" b="1" dirty="0">
                <a:latin typeface="+mn-ea"/>
              </a:rPr>
              <a:t>32</a:t>
            </a:r>
            <a:r>
              <a:rPr lang="zh-CN" altLang="en-US" sz="1600" b="1" dirty="0">
                <a:latin typeface="+mn-ea"/>
              </a:rPr>
              <a:t>是空格，</a:t>
            </a:r>
            <a:r>
              <a:rPr lang="en-US" altLang="zh-CN" sz="1600" b="1" dirty="0">
                <a:latin typeface="+mn-ea"/>
              </a:rPr>
              <a:t>33-126</a:t>
            </a:r>
            <a:r>
              <a:rPr lang="zh-CN" altLang="en-US" sz="1600" b="1" dirty="0">
                <a:latin typeface="+mn-ea"/>
              </a:rPr>
              <a:t>为图形字符</a:t>
            </a:r>
            <a:r>
              <a:rPr lang="en-US" altLang="zh-CN" sz="1600" b="1" dirty="0">
                <a:latin typeface="+mn-ea"/>
              </a:rPr>
              <a:t>)</a:t>
            </a:r>
            <a:r>
              <a:rPr lang="zh-CN" altLang="en-US" sz="1600" b="1" dirty="0">
                <a:latin typeface="+mn-ea"/>
              </a:rPr>
              <a:t>，但不含</a:t>
            </a:r>
            <a:r>
              <a:rPr lang="en-US" altLang="zh-CN" sz="1600" b="1" dirty="0">
                <a:latin typeface="+mn-ea"/>
              </a:rPr>
              <a:t>\0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768771" y="980728"/>
            <a:ext cx="8637486" cy="338904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FILE *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"w");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"ABC\x1\x2</a:t>
            </a:r>
            <a:r>
              <a:rPr kumimoji="1"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\x1A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\t\v\b</a:t>
            </a:r>
            <a:r>
              <a:rPr kumimoji="1"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\</a:t>
            </a:r>
            <a:r>
              <a:rPr kumimoji="1" lang="en-US" altLang="zh-CN" sz="1600" b="1" dirty="0" err="1">
                <a:solidFill>
                  <a:srgbClr val="FF0000"/>
                </a:solidFill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xff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\175()-=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def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768771" y="4369777"/>
            <a:ext cx="8637486" cy="22275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(VS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有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warning)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out.txt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的大小是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___18__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字节，为什么？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ABC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三个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,\x1,\x2,\x1A,\t,\v,\b,\xff,\175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共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()-=def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共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7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用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UltraEdit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16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进制方式显示的截图：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VS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waring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VS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的哪个字符导致了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warning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？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\xff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椭圆 6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72155" y="6213475"/>
            <a:ext cx="6134100" cy="32766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585" y="5220970"/>
            <a:ext cx="3672840" cy="5257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语言的文件操作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11</a:t>
            </a:r>
            <a:r>
              <a:rPr lang="zh-CN" altLang="en-US" sz="1600" b="1" dirty="0">
                <a:latin typeface="+mn-ea"/>
              </a:rPr>
              <a:t>：用十进制方式写入含</a:t>
            </a:r>
            <a:r>
              <a:rPr lang="en-US" altLang="zh-CN" sz="1600" b="1" dirty="0">
                <a:latin typeface="+mn-ea"/>
              </a:rPr>
              <a:t>\x1A(</a:t>
            </a:r>
            <a:r>
              <a:rPr lang="zh-CN" altLang="en-US" sz="1600" b="1" dirty="0">
                <a:latin typeface="+mn-ea"/>
              </a:rPr>
              <a:t>十进制</a:t>
            </a:r>
            <a:r>
              <a:rPr lang="en-US" altLang="zh-CN" sz="1600" b="1" dirty="0">
                <a:latin typeface="+mn-ea"/>
              </a:rPr>
              <a:t>26=CTRL+Z)</a:t>
            </a:r>
            <a:r>
              <a:rPr lang="zh-CN" altLang="en-US" sz="1600" b="1" dirty="0">
                <a:latin typeface="+mn-ea"/>
              </a:rPr>
              <a:t>的文件，并用十进制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二进制方式读取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768771" y="980728"/>
            <a:ext cx="4286420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stdio.h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FILE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*fin;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"w");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"ABC\x1\x2</a:t>
            </a:r>
            <a:r>
              <a:rPr kumimoji="1"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\x1A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\t\v\b\175()-=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def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fin =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"r");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c=0;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while(!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feof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(fin)) 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fgetc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c++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("c=%d\n", c);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768771" y="5085184"/>
            <a:ext cx="4286420" cy="151216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下运行，文件大小：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_____17______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_____6_____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为什么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?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因为按照十进制读取时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\x1A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会被认为是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ctrl+z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，循环终止，但是在终止前又算上了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EOF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5055191" y="980728"/>
            <a:ext cx="4351066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stdio.h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FILE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*fin;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"w");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"ABC\x1\x2</a:t>
            </a:r>
            <a:r>
              <a:rPr kumimoji="1"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\x1A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\t\v\b\175()-=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def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fin =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c=0;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while(!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feof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(fin)) 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fgetc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c++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("c=%d\n", c);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5055191" y="5085185"/>
            <a:ext cx="4351066" cy="151216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下运行，文件大小：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____17_______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___18_______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的大小比文件大小大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，原因是：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在遇到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EOF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后又自增了一次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椭圆 10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7790" y="4160520"/>
            <a:ext cx="2417445" cy="7061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语言的文件操作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11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改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只允许修改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while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循环，使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"c=xx"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的输出（左侧：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\x1A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前字符数，右侧：与文件大小一致）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1"/>
            </p:custDataLst>
          </p:nvPr>
        </p:nvSpPr>
        <p:spPr bwMode="auto">
          <a:xfrm>
            <a:off x="768771" y="980728"/>
            <a:ext cx="4286420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stdio.h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FILE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*fin;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"w");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"ABC\x1\x2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\x1A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\t\v\b\175()-=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def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fin =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"r");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c=0;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while(!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feof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(fin)) 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fgetc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c++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("c=%d\n", c);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 bwMode="auto">
          <a:xfrm>
            <a:off x="768771" y="5085184"/>
            <a:ext cx="4286420" cy="151216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下运行，文件大小：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_17___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___5_______</a:t>
            </a:r>
            <a:endParaRPr kumimoji="1" lang="en-US" altLang="zh-CN" sz="1600" b="1" strike="sngStrike" dirty="0">
              <a:solidFill>
                <a:srgbClr val="FFFF00"/>
              </a:solidFill>
              <a:highlight>
                <a:srgbClr val="008000"/>
              </a:highligh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 bwMode="auto">
          <a:xfrm>
            <a:off x="5055191" y="980728"/>
            <a:ext cx="4351066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stdio.h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FILE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*fin;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"w");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"ABC\x1\x2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\x1A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\t\v\b\175()-=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def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fin =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c=0;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while(!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feof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(fin)) 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fgetc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c++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("c=%d\n", c);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 bwMode="auto">
          <a:xfrm>
            <a:off x="5055191" y="5085185"/>
            <a:ext cx="4351066" cy="151216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下运行，文件大小：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____17_______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是：</a:t>
            </a: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___17_______</a:t>
            </a:r>
            <a:endParaRPr kumimoji="1" lang="en-US" altLang="zh-CN" sz="1600" b="1" strike="sngStrike" dirty="0">
              <a:solidFill>
                <a:srgbClr val="FFFF00"/>
              </a:solidFill>
              <a:highlight>
                <a:srgbClr val="008000"/>
              </a:highligh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椭圆 10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>
            <p:custDataLst>
              <p:tags r:id="rId5"/>
            </p:custDataLst>
          </p:nvPr>
        </p:nvSpPr>
        <p:spPr bwMode="auto">
          <a:xfrm>
            <a:off x="2785742" y="3042138"/>
            <a:ext cx="2190703" cy="93198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改：while (fgetc(fin)!=EOF)</a:t>
            </a:r>
            <a:endParaRPr kumimoji="1" lang="zh-CN" altLang="en-US" sz="12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{</a:t>
            </a:r>
            <a:endParaRPr kumimoji="1" lang="zh-CN" altLang="en-US" sz="12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c++;</a:t>
            </a:r>
            <a:endParaRPr kumimoji="1" lang="zh-CN" altLang="en-US" sz="12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  <a:endParaRPr kumimoji="1" lang="zh-CN" altLang="en-US" sz="12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" name="矩形 11"/>
          <p:cNvSpPr/>
          <p:nvPr>
            <p:custDataLst>
              <p:tags r:id="rId6"/>
            </p:custDataLst>
          </p:nvPr>
        </p:nvSpPr>
        <p:spPr bwMode="auto">
          <a:xfrm>
            <a:off x="1065380" y="3042138"/>
            <a:ext cx="1720362" cy="93198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" name="矩形 12"/>
          <p:cNvSpPr/>
          <p:nvPr>
            <p:custDataLst>
              <p:tags r:id="rId7"/>
            </p:custDataLst>
          </p:nvPr>
        </p:nvSpPr>
        <p:spPr bwMode="auto">
          <a:xfrm>
            <a:off x="7072162" y="3042138"/>
            <a:ext cx="2190703" cy="93198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改：while (fgetc(fin)!=EOF)</a:t>
            </a:r>
            <a:endParaRPr kumimoji="1" lang="zh-CN" altLang="en-US" sz="12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{ </a:t>
            </a:r>
            <a:endParaRPr kumimoji="1" lang="zh-CN" altLang="en-US" sz="12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c++;</a:t>
            </a:r>
            <a:endParaRPr kumimoji="1" lang="zh-CN" altLang="en-US" sz="12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  <a:endParaRPr kumimoji="1" lang="zh-CN" altLang="en-US" sz="12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" name="矩形 13"/>
          <p:cNvSpPr/>
          <p:nvPr>
            <p:custDataLst>
              <p:tags r:id="rId8"/>
            </p:custDataLst>
          </p:nvPr>
        </p:nvSpPr>
        <p:spPr bwMode="auto">
          <a:xfrm>
            <a:off x="5351800" y="3042138"/>
            <a:ext cx="1720362" cy="93198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语言的文件操作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12</a:t>
            </a:r>
            <a:r>
              <a:rPr lang="zh-CN" altLang="en-US" sz="1600" b="1" dirty="0">
                <a:latin typeface="+mn-ea"/>
              </a:rPr>
              <a:t>：用十进制方式写入含</a:t>
            </a:r>
            <a:r>
              <a:rPr lang="en-US" altLang="zh-CN" sz="1600" b="1" dirty="0">
                <a:latin typeface="+mn-ea"/>
              </a:rPr>
              <a:t>\</a:t>
            </a:r>
            <a:r>
              <a:rPr lang="en-US" altLang="zh-CN" sz="1600" b="1" dirty="0" err="1">
                <a:latin typeface="+mn-ea"/>
              </a:rPr>
              <a:t>xFF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十进制</a:t>
            </a:r>
            <a:r>
              <a:rPr lang="en-US" altLang="zh-CN" sz="1600" b="1" dirty="0">
                <a:latin typeface="+mn-ea"/>
              </a:rPr>
              <a:t>255/-1</a:t>
            </a:r>
            <a:r>
              <a:rPr lang="zh-CN" altLang="en-US" sz="1600" b="1" dirty="0">
                <a:latin typeface="+mn-ea"/>
              </a:rPr>
              <a:t>，</a:t>
            </a:r>
            <a:r>
              <a:rPr lang="en-US" altLang="zh-CN" sz="1600" b="1" dirty="0">
                <a:latin typeface="+mn-ea"/>
              </a:rPr>
              <a:t>EOF</a:t>
            </a:r>
            <a:r>
              <a:rPr lang="zh-CN" altLang="en-US" sz="1600" b="1" dirty="0">
                <a:latin typeface="+mn-ea"/>
              </a:rPr>
              <a:t>的定义是</a:t>
            </a:r>
            <a:r>
              <a:rPr lang="en-US" altLang="zh-CN" sz="1600" b="1" dirty="0">
                <a:latin typeface="+mn-ea"/>
              </a:rPr>
              <a:t>-1)</a:t>
            </a:r>
            <a:r>
              <a:rPr lang="zh-CN" altLang="en-US" sz="1600" b="1" dirty="0">
                <a:latin typeface="+mn-ea"/>
              </a:rPr>
              <a:t>的文件，并用十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二进制读取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1"/>
            </p:custDataLst>
          </p:nvPr>
        </p:nvSpPr>
        <p:spPr bwMode="auto">
          <a:xfrm>
            <a:off x="768771" y="980728"/>
            <a:ext cx="4286420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stdio.h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FILE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*fin;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"w");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"ABC\x1\x2</a:t>
            </a:r>
            <a:r>
              <a:rPr kumimoji="1"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\</a:t>
            </a:r>
            <a:r>
              <a:rPr kumimoji="1" lang="en-US" altLang="zh-CN" sz="1200" b="1" dirty="0" err="1">
                <a:solidFill>
                  <a:srgbClr val="FF0000"/>
                </a:solidFill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xFF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\t\v\b\175()-=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def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fin =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"r");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c=0;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while(!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feof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(fin)) 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fgetc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c++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("c=%d\n", c);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 bwMode="auto">
          <a:xfrm>
            <a:off x="768771" y="5085184"/>
            <a:ext cx="4286420" cy="151216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下运行，文件大小：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_____17______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____18______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 bwMode="auto">
          <a:xfrm>
            <a:off x="5055191" y="980728"/>
            <a:ext cx="4351066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stdio.h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FILE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*fin;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"w");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"ABC\x1\x2</a:t>
            </a:r>
            <a:r>
              <a:rPr kumimoji="1"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\</a:t>
            </a:r>
            <a:r>
              <a:rPr kumimoji="1" lang="en-US" altLang="zh-CN" sz="1200" b="1" dirty="0" err="1">
                <a:solidFill>
                  <a:srgbClr val="FF0000"/>
                </a:solidFill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xFF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\t\v\b\175()-=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def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fin =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c=0;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while(!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feof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(fin)) 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fgetc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c++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("c=%d\n", c);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 bwMode="auto">
          <a:xfrm>
            <a:off x="5055191" y="5085185"/>
            <a:ext cx="4351066" cy="151216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下运行，文件大小：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_____17______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____18______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768771" y="6237312"/>
            <a:ext cx="8637486" cy="5760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综合例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11~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12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，结论：当文件中含字符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0x1A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0x1A/0xFF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）时，不能用十进制方式读取，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而当文件中含字符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sym typeface="+mn-ea"/>
              </a:rPr>
              <a:t>0xFF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（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0x1A/0xFF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）时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，是可以用二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十进制方式正确读取的</a:t>
            </a:r>
            <a:endParaRPr kumimoji="1" lang="zh-CN" altLang="en-US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椭圆 11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语言的文件操作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12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改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只允许修改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while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循环，使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"c=xx"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的输出与文件大小一致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1"/>
            </p:custDataLst>
          </p:nvPr>
        </p:nvSpPr>
        <p:spPr bwMode="auto">
          <a:xfrm>
            <a:off x="768771" y="980728"/>
            <a:ext cx="4286420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stdio.h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FILE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*fin;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"w");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"ABC\x1\x2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xFF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\t\v\b\175()-=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def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fin =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"r");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c=0;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while(!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feof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(fin)) 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fgetc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c++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("c=%d\n", c);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 bwMode="auto">
          <a:xfrm>
            <a:off x="768771" y="5085184"/>
            <a:ext cx="4286420" cy="151216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下运行，文件大小：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____17_______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____17______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 bwMode="auto">
          <a:xfrm>
            <a:off x="5055191" y="980728"/>
            <a:ext cx="4351066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stdio.h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FILE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*fin;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"w");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"ABC\x1\x2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xFF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\t\v\b\175()-=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def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fin =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c=0;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while(!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feof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(fin)) 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fgetc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c++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("c=%d\n", c);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 bwMode="auto">
          <a:xfrm>
            <a:off x="5055191" y="5085185"/>
            <a:ext cx="4351066" cy="151216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下运行，文件大小：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_____17______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____17_____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椭圆 11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" name="矩形 12"/>
          <p:cNvSpPr/>
          <p:nvPr>
            <p:custDataLst>
              <p:tags r:id="rId5"/>
            </p:custDataLst>
          </p:nvPr>
        </p:nvSpPr>
        <p:spPr bwMode="auto">
          <a:xfrm>
            <a:off x="2785742" y="3042138"/>
            <a:ext cx="2190703" cy="93198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改： while (fgetc(fin)!=EOF)</a:t>
            </a:r>
            <a:endParaRPr kumimoji="1" lang="zh-CN" altLang="en-US" sz="12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{</a:t>
            </a:r>
            <a:endParaRPr kumimoji="1" lang="zh-CN" altLang="en-US" sz="12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 c++;</a:t>
            </a:r>
            <a:endParaRPr kumimoji="1" lang="zh-CN" altLang="en-US" sz="12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}</a:t>
            </a:r>
            <a:endParaRPr kumimoji="1" lang="zh-CN" altLang="en-US" sz="12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" name="矩形 13"/>
          <p:cNvSpPr/>
          <p:nvPr>
            <p:custDataLst>
              <p:tags r:id="rId6"/>
            </p:custDataLst>
          </p:nvPr>
        </p:nvSpPr>
        <p:spPr bwMode="auto">
          <a:xfrm>
            <a:off x="1065380" y="3042138"/>
            <a:ext cx="1720362" cy="93198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" name="矩形 14"/>
          <p:cNvSpPr/>
          <p:nvPr>
            <p:custDataLst>
              <p:tags r:id="rId7"/>
            </p:custDataLst>
          </p:nvPr>
        </p:nvSpPr>
        <p:spPr bwMode="auto">
          <a:xfrm>
            <a:off x="7072162" y="3042138"/>
            <a:ext cx="2190703" cy="93198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改：</a:t>
            </a:r>
            <a:r>
              <a:rPr kumimoji="1" lang="zh-CN" altLang="en-US" sz="1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while (fgetc(fin)!=EOF)</a:t>
            </a:r>
            <a:endParaRPr kumimoji="1" lang="zh-CN" altLang="en-US" sz="12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200" b="1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{</a:t>
            </a:r>
            <a:endParaRPr kumimoji="1" lang="zh-CN" altLang="en-US" sz="12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200" b="1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    c++;</a:t>
            </a:r>
            <a:endParaRPr kumimoji="1" lang="zh-CN" altLang="en-US" sz="12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200" b="1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}</a:t>
            </a:r>
            <a:endParaRPr kumimoji="1" lang="zh-CN" altLang="en-US" sz="12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12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" name="矩形 15"/>
          <p:cNvSpPr/>
          <p:nvPr>
            <p:custDataLst>
              <p:tags r:id="rId8"/>
            </p:custDataLst>
          </p:nvPr>
        </p:nvSpPr>
        <p:spPr bwMode="auto">
          <a:xfrm>
            <a:off x="5351800" y="3042138"/>
            <a:ext cx="1720362" cy="93198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语言的文件操作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13</a:t>
            </a:r>
            <a:r>
              <a:rPr lang="zh-CN" altLang="en-US" sz="1600" b="1" dirty="0">
                <a:latin typeface="+mn-ea"/>
              </a:rPr>
              <a:t>：比较格式化读和</a:t>
            </a:r>
            <a:r>
              <a:rPr lang="en-US" altLang="zh-CN" sz="1600" b="1" dirty="0">
                <a:latin typeface="+mn-ea"/>
              </a:rPr>
              <a:t>read()</a:t>
            </a:r>
            <a:r>
              <a:rPr lang="zh-CN" altLang="en-US" sz="1600" b="1" dirty="0">
                <a:latin typeface="+mn-ea"/>
              </a:rPr>
              <a:t>读的区别，并观察</a:t>
            </a:r>
            <a:r>
              <a:rPr lang="en-US" altLang="zh-CN" sz="1600" b="1" dirty="0" err="1">
                <a:latin typeface="+mn-ea"/>
              </a:rPr>
              <a:t>ftell</a:t>
            </a:r>
            <a:r>
              <a:rPr lang="zh-CN" altLang="en-US" sz="1600" b="1" dirty="0">
                <a:latin typeface="+mn-ea"/>
              </a:rPr>
              <a:t>在不同读入方式时值的差别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768771" y="980728"/>
            <a:ext cx="4286420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stdio.h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FILE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*fin;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"w");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"ABCDEFGHIJKLMNOPQRSTUVWXYZ\n");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fin =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rb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");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name[30];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fscanf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(fin, "%s", name);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("*%s*\n", name);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("%d\n", name[26]);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("%d\n",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ftell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768771" y="5085185"/>
            <a:ext cx="4286420" cy="140392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下运行，文件大小：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_____28______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输出的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name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_ABCDEFGHIJKLMNOPQRSTUVWXYZ_________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name[26]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的值是：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__0_________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ftell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的值是：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____26________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说明：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fscanf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方式读入字符串时，和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方式相同，都是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读到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___\n___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停止，并在数组最后加入一个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__\0____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5055191" y="980728"/>
            <a:ext cx="4351066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stdio.h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FILE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*fin;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"w");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"ABCDEFGHIJKLMNOPQRSTUVWXYZ\n");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fin =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rb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");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name[30];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fread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(name,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sizeof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(name), 1, fin);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("*%s*\n", name);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("%d\n", name[26]);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("%d\n",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ftell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5055191" y="5085185"/>
            <a:ext cx="4351066" cy="140392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下运行，文件大小：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____28_______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输出的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name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_Z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后面不可信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name[26]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的值是：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___13________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ftell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的值是：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_____28_______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说明：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fread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读入时，是读到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___\n___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停止，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不在数组最后加入一个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___\0___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椭圆 10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9578110" y="4405745"/>
            <a:ext cx="2482826" cy="67943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不要截图，手填，确定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乱码的地方可以填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"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乱码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"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76195" y="4114800"/>
            <a:ext cx="2346960" cy="79248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0845" y="4023360"/>
            <a:ext cx="2118360" cy="9753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语言的文件操作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14</a:t>
            </a:r>
            <a:r>
              <a:rPr lang="zh-CN" altLang="en-US" sz="1600" b="1" dirty="0">
                <a:latin typeface="+mn-ea"/>
              </a:rPr>
              <a:t>：比较</a:t>
            </a:r>
            <a:r>
              <a:rPr lang="en-US" altLang="zh-CN" sz="1600" b="1" dirty="0">
                <a:latin typeface="+mn-ea"/>
              </a:rPr>
              <a:t>read()</a:t>
            </a:r>
            <a:r>
              <a:rPr lang="zh-CN" altLang="en-US" sz="1600" b="1" dirty="0">
                <a:latin typeface="+mn-ea"/>
              </a:rPr>
              <a:t>读超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不超过文件长度时的区别，并观察</a:t>
            </a:r>
            <a:r>
              <a:rPr lang="en-US" altLang="zh-CN" sz="1600" b="1" dirty="0" err="1">
                <a:latin typeface="+mn-ea"/>
              </a:rPr>
              <a:t>ftell</a:t>
            </a:r>
            <a:r>
              <a:rPr lang="en-US" altLang="zh-CN" sz="1600" b="1" dirty="0">
                <a:latin typeface="+mn-ea"/>
              </a:rPr>
              <a:t>()/</a:t>
            </a:r>
            <a:r>
              <a:rPr lang="en-US" altLang="zh-CN" sz="1600" b="1" dirty="0" err="1">
                <a:latin typeface="+mn-ea"/>
              </a:rPr>
              <a:t>feof</a:t>
            </a:r>
            <a:r>
              <a:rPr lang="en-US" altLang="zh-CN" sz="1600" b="1" dirty="0">
                <a:latin typeface="+mn-ea"/>
              </a:rPr>
              <a:t>()</a:t>
            </a:r>
            <a:r>
              <a:rPr lang="zh-CN" altLang="en-US" sz="1600" b="1" dirty="0">
                <a:latin typeface="+mn-ea"/>
              </a:rPr>
              <a:t>的返回值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768771" y="980728"/>
            <a:ext cx="4286420" cy="435624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stdio.h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FILE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*fin;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"w");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,"ABCDEFGHIJKLMNOPQRSTUVWXYZ");//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\n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fin =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rb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");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name[30] = "00000000000000000000000000000";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fread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(name, 20, 1, fin);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("*%s*\n", name);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("%d\n", name[20]);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("%d\n",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ftell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("%d\n",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feof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768771" y="5336976"/>
            <a:ext cx="4286420" cy="126037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下运行，文件大小：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_____26______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输出的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name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_ABCDEFGHIJKLMNOPQRST000000000_________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name[20]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的值是：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__48_________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ftell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的值是：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___20_________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feof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的值是：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____0_________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5055191" y="980728"/>
            <a:ext cx="4351066" cy="435624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stdio.h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FILE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*fin;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"w");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,"ABCDEFGHIJKLMNOPQRSTUVWXYZ");//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\n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fin =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rb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");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name[30] = "00000000000000000000000000000";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fread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(name, 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200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1, fin);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("*%s*\n", name);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("%d\n",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ftell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("%d\n",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feof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5055191" y="5336974"/>
            <a:ext cx="4351066" cy="126037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下运行，文件大小：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__26_________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输出的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name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ABCDEFGHIJKLMNOPQRSTUVWXYZ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ftell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的值是：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___26_________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feof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的值是：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____1_________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椭圆 10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5660" y="4307205"/>
            <a:ext cx="2788920" cy="94488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325" y="4307205"/>
            <a:ext cx="2468880" cy="8763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语言的文件操作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15</a:t>
            </a:r>
            <a:r>
              <a:rPr lang="zh-CN" altLang="en-US" sz="1600" b="1" dirty="0">
                <a:latin typeface="+mn-ea"/>
              </a:rPr>
              <a:t>：使用</a:t>
            </a:r>
            <a:r>
              <a:rPr lang="en-US" altLang="zh-CN" sz="1600" b="1" dirty="0" err="1">
                <a:latin typeface="+mn-ea"/>
              </a:rPr>
              <a:t>fseek</a:t>
            </a:r>
            <a:r>
              <a:rPr lang="en-US" altLang="zh-CN" sz="1600" b="1" dirty="0">
                <a:latin typeface="+mn-ea"/>
              </a:rPr>
              <a:t>()</a:t>
            </a:r>
            <a:r>
              <a:rPr lang="zh-CN" altLang="en-US" sz="1600" b="1" dirty="0">
                <a:latin typeface="+mn-ea"/>
              </a:rPr>
              <a:t>移动文件指针，观察</a:t>
            </a:r>
            <a:r>
              <a:rPr lang="en-US" altLang="zh-CN" sz="1600" b="1" dirty="0" err="1">
                <a:latin typeface="+mn-ea"/>
              </a:rPr>
              <a:t>ftell</a:t>
            </a:r>
            <a:r>
              <a:rPr lang="en-US" altLang="zh-CN" sz="1600" b="1" dirty="0">
                <a:latin typeface="+mn-ea"/>
              </a:rPr>
              <a:t>()</a:t>
            </a:r>
            <a:r>
              <a:rPr lang="zh-CN" altLang="en-US" sz="1600" b="1" dirty="0">
                <a:latin typeface="+mn-ea"/>
              </a:rPr>
              <a:t>不同情况下的返回值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1"/>
            </p:custDataLst>
          </p:nvPr>
        </p:nvSpPr>
        <p:spPr bwMode="auto">
          <a:xfrm>
            <a:off x="768771" y="980728"/>
            <a:ext cx="4286420" cy="432048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stdio.h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main()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FILE *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*fin;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"w");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fprintf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"ABCDEFGHIJKLMNOPQRSTUVWXYZ"); //</a:t>
            </a:r>
            <a:r>
              <a:rPr kumimoji="1" lang="zh-CN" altLang="en-US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无换行符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fin =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rb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");</a:t>
            </a:r>
            <a:endParaRPr kumimoji="1" lang="en-US" altLang="zh-CN" sz="105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name[80];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fread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(name, 10, 1, fin);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("%d\n",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ftell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name[10] = '\0';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("*%s*\n", name);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fseek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(fin, -5, SEEK_CUR);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("%d\n",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ftell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fread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(name, 10, 1, fin);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("%d\n",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ftell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name[10] = '\0';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("*%s*\n", name);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 bwMode="auto">
          <a:xfrm>
            <a:off x="768771" y="5301208"/>
            <a:ext cx="4286420" cy="129614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下运行，输出依次是：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可截图，需对结果做分析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从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fin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fread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了十个字节，因此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ftell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的打印值为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10.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之后输出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fin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的前十位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ABCDEFGHIJ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fseek(fin, -5, SEEK_CUR) 将文件指针向后移动 5 个字节，因此现在指针位置应该是 5（指向字母 F</a:t>
            </a:r>
            <a:r>
              <a:rPr kumimoji="1" 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).</a:t>
            </a:r>
            <a:endParaRPr kumimoji="1" 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再读入十个字符，因此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ftell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15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，最后存在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name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中的是自从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开始的十个字符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 bwMode="auto">
          <a:xfrm>
            <a:off x="5055191" y="980728"/>
            <a:ext cx="4351066" cy="432048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stdio.h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main()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FILE *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*fin;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"w");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fprintf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"ABCDEFGHIJKLMNOPQRSTUVWXYZ"); //</a:t>
            </a:r>
            <a:r>
              <a:rPr kumimoji="1" lang="zh-CN" altLang="en-US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无换行符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fin =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rb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");</a:t>
            </a:r>
            <a:endParaRPr kumimoji="1" lang="en-US" altLang="zh-CN" sz="105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name[80];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fread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(name, 30, 1, fin);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("%d\n",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ftell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name[30] = '\0';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("*%s*\n", name);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fseek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(fin, 5, SEEK_SET);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("%d\n",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ftell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fread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(name, 30, 1, fin);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("%d\n",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ftell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name[30] = '\0';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("*%s*\n", name);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 bwMode="auto">
          <a:xfrm>
            <a:off x="5055191" y="5301208"/>
            <a:ext cx="4351066" cy="129614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下运行，输出依次是：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(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可截图，需对结果做分析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从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fin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fread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三十个字节，但是实际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fin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只有二十六个字节，所以读到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Z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时不再读入，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ftell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的值是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26.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fseek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(fin, 5, SEEK_SET)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将文件指针从开头向后移动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5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字节，所以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ftell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值为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5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，之后再次读入三十个字节到末尾，此时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ftell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是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26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name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从第五个字节开始向后读到末尾。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1" name="椭圆 10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0695" y="3631565"/>
            <a:ext cx="1736090" cy="13779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4035" y="4265295"/>
            <a:ext cx="2522220" cy="11049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语言的文件操作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16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fread</a:t>
            </a:r>
            <a:r>
              <a:rPr lang="zh-CN" altLang="en-US" sz="1600" b="1" dirty="0">
                <a:latin typeface="+mn-ea"/>
              </a:rPr>
              <a:t>的返回值理解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768771" y="980728"/>
            <a:ext cx="4286420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FILE *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fp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buf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[80];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fp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("in.txt", "r");        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ret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fread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buf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26, 1,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fp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("ret=%d\n", ret);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fp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5055191" y="980728"/>
            <a:ext cx="4351066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准备工作：在当前目录下建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in.txt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文件，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写入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A..Z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共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26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个字母，不要加回车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确定文件大小为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26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字节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!!!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fread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的第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2/3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参数：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原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26,1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ret= 1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换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1,26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ret= 26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换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13,2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ret= 2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换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2,13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ret= 13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换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80,1, ret= 0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换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1,80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ret= 26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换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15,2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ret= 1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换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2,15, ret= 13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3361059" y="3212976"/>
            <a:ext cx="720080" cy="288032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椭圆 7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语言的文件操作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17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fread</a:t>
            </a:r>
            <a:r>
              <a:rPr lang="zh-CN" altLang="en-US" sz="1600" b="1" dirty="0">
                <a:latin typeface="+mn-ea"/>
              </a:rPr>
              <a:t>用于二进制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十进制方式打开的文件时的返回值理解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768771" y="980728"/>
            <a:ext cx="4286420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FILE *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fp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buf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[80];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fp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("in.txt", "r");        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ret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fread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buf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1, 80,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fp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("ret=%d\n", ret);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fp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5055191" y="980728"/>
            <a:ext cx="4351066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准备工作：当前目录下建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in.txt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文件，写多行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例：</a:t>
            </a:r>
            <a:r>
              <a:rPr kumimoji="1" lang="en-US" altLang="zh-CN" sz="1600" b="1" dirty="0" err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abc</a:t>
            </a:r>
            <a:endParaRPr kumimoji="1" lang="en-US" altLang="zh-CN" sz="1600" b="1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123</a:t>
            </a:r>
            <a:endParaRPr kumimoji="1" lang="en-US" altLang="zh-CN" sz="1600" b="1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xyz</a:t>
            </a:r>
            <a:endParaRPr kumimoji="1" lang="en-US" altLang="zh-CN" sz="1600" b="1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注：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、考虑到字符集问题，不要中文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2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、文件总大小不超过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50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字节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3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、最后一行加不加回车均可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文件编辑完成后，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右键菜单查看文件属性，能看到大小是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____13_____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字节。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运行左侧程序，打印的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ret=___11____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将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"r"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改为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rb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，再次运行，打印的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ret=__13___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两次运行结果不一样的原因是：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因为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方式将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\r\n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作为一个字节处理，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wb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将它作为两个字节处理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_________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3352746" y="2958196"/>
            <a:ext cx="648072" cy="288032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" name="椭圆 9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语言的文件操作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18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fwrite</a:t>
            </a:r>
            <a:r>
              <a:rPr lang="zh-CN" altLang="en-US" sz="1600" b="1" dirty="0">
                <a:latin typeface="+mn-ea"/>
              </a:rPr>
              <a:t>返回值理解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771525" y="980440"/>
            <a:ext cx="5112385" cy="453517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FILE *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fp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buf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[80]="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abcdefghijklmnopqrstuvwxyz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fp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"w");        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ret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fwrite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buf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26, 1,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fp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("ret=%d\n", ret);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fp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5884545" y="980440"/>
            <a:ext cx="3524885" cy="453517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fwrite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的第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2/3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参数：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原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26,1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ret=__1__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，文件大小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__26__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换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1,26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ret=__26__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，文件大小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__26__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换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13,2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ret=_2___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，文件大小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_26___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换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2,13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ret=_13___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，文件大小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__2__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换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80,1, ret=_1___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，文件大小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_80___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换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1,80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ret=_80___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，文件大小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__80__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换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15,2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ret=_2___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，文件大小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__30__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换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2,15, ret=__15__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，文件大小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_30___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3478519" y="3212976"/>
            <a:ext cx="720080" cy="288032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椭圆 7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>
                <a:latin typeface="+mn-ea"/>
              </a:rPr>
              <a:t>输入输出流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语言的文件操作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19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fwrite</a:t>
            </a:r>
            <a:r>
              <a:rPr lang="zh-CN" altLang="en-US" sz="1600" b="1" dirty="0">
                <a:latin typeface="+mn-ea"/>
              </a:rPr>
              <a:t>用于二进制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十进制方式打开的文件时的返回值理解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768771" y="980728"/>
            <a:ext cx="5112568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string.h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FILE *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fp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buf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[80]="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abc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\n123\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nxyz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\n";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fp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"w");        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ret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fwrite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buf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1,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strlen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buf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),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fp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("ret=%d\n", ret);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fp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5881339" y="980728"/>
            <a:ext cx="3524918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运行左侧程序，打印的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ret=__12_____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右键菜单查看文件属性，大小是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___15______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字节。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将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"w"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改为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wb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，再次运行，打印的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ret=_12____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右键菜单查看文件属性，大小是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__12_______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字节。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两次运行打印的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ret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一样，但文件属性中看到的文件大小不一样的原因是：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__w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方式将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\n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写为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\r\n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但是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wb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写为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\n_________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3496762" y="3204663"/>
            <a:ext cx="648072" cy="288032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椭圆 10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42.253937007874,&quot;left&quot;:60.463070866141734,&quot;top&quot;:77.12188976377954,&quot;width&quot;:680.1170078740158}"/>
</p:tagLst>
</file>

<file path=ppt/tags/tag2.xml><?xml version="1.0" encoding="utf-8"?>
<p:tagLst xmlns:p="http://schemas.openxmlformats.org/presentationml/2006/main">
  <p:tag name="KSO_WM_DIAGRAM_VIRTUALLY_FRAME" val="{&quot;height&quot;:442.253937007874,&quot;left&quot;:60.463070866141734,&quot;top&quot;:77.12188976377954,&quot;width&quot;:680.1170078740158}"/>
</p:tagLst>
</file>

<file path=ppt/tags/tag3.xml><?xml version="1.0" encoding="utf-8"?>
<p:tagLst xmlns:p="http://schemas.openxmlformats.org/presentationml/2006/main">
  <p:tag name="KSO_WM_DIAGRAM_VIRTUALLY_FRAME" val="{&quot;height&quot;:442.253937007874,&quot;left&quot;:60.463070866141734,&quot;top&quot;:77.12188976377954,&quot;width&quot;:680.1170078740158}"/>
</p:tagLst>
</file>

<file path=ppt/tags/tag4.xml><?xml version="1.0" encoding="utf-8"?>
<p:tagLst xmlns:p="http://schemas.openxmlformats.org/presentationml/2006/main">
  <p:tag name="KSO_WM_DIAGRAM_VIRTUALLY_FRAME" val="{&quot;height&quot;:442.253937007874,&quot;left&quot;:60.463070866141734,&quot;top&quot;:77.12188976377954,&quot;width&quot;:680.1170078740158}"/>
</p:tagLst>
</file>

<file path=ppt/tags/tag5.xml><?xml version="1.0" encoding="utf-8"?>
<p:tagLst xmlns:p="http://schemas.openxmlformats.org/presentationml/2006/main">
  <p:tag name="KSO_WM_DIAGRAM_VIRTUALLY_FRAME" val="{&quot;height&quot;:442.253937007874,&quot;left&quot;:60.463070866141734,&quot;top&quot;:77.12188976377954,&quot;width&quot;:680.1170078740158}"/>
</p:tagLst>
</file>

<file path=ppt/tags/tag6.xml><?xml version="1.0" encoding="utf-8"?>
<p:tagLst xmlns:p="http://schemas.openxmlformats.org/presentationml/2006/main">
  <p:tag name="KSO_WM_DIAGRAM_VIRTUALLY_FRAME" val="{&quot;height&quot;:442.253937007874,&quot;left&quot;:60.463070866141734,&quot;top&quot;:77.12188976377954,&quot;width&quot;:680.1170078740158}"/>
</p:tagLst>
</file>

<file path=ppt/tags/tag7.xml><?xml version="1.0" encoding="utf-8"?>
<p:tagLst xmlns:p="http://schemas.openxmlformats.org/presentationml/2006/main">
  <p:tag name="KSO_WM_DIAGRAM_VIRTUALLY_FRAME" val="{&quot;height&quot;:442.253937007874,&quot;left&quot;:60.463070866141734,&quot;top&quot;:77.12188976377954,&quot;width&quot;:680.1170078740158}"/>
</p:tagLst>
</file>

<file path=ppt/tags/tag8.xml><?xml version="1.0" encoding="utf-8"?>
<p:tagLst xmlns:p="http://schemas.openxmlformats.org/presentationml/2006/main">
  <p:tag name="KSO_WM_DIAGRAM_VIRTUALLY_FRAME" val="{&quot;height&quot;:442.253937007874,&quot;left&quot;:60.463070866141734,&quot;top&quot;:77.12188976377954,&quot;width&quot;:680.1170078740158}"/>
</p:tagLst>
</file>

<file path=ppt/tags/tag9.xml><?xml version="1.0" encoding="utf-8"?>
<p:tagLst xmlns:p="http://schemas.openxmlformats.org/presentationml/2006/main">
  <p:tag name="KSO_WM_DIAGRAM_VIRTUALLY_FRAME" val="{&quot;height&quot;:442.253937007874,&quot;left&quot;:60.69023622047244,&quot;top&quot;:77.12188976377954,&quot;width&quot;:680.1170078740158}"/>
</p:tagLst>
</file>

<file path=ppt/tags/tag10.xml><?xml version="1.0" encoding="utf-8"?>
<p:tagLst xmlns:p="http://schemas.openxmlformats.org/presentationml/2006/main">
  <p:tag name="KSO_WM_DIAGRAM_VIRTUALLY_FRAME" val="{&quot;height&quot;:442.253937007874,&quot;left&quot;:60.69023622047244,&quot;top&quot;:77.12188976377954,&quot;width&quot;:680.1170078740158}"/>
</p:tagLst>
</file>

<file path=ppt/tags/tag11.xml><?xml version="1.0" encoding="utf-8"?>
<p:tagLst xmlns:p="http://schemas.openxmlformats.org/presentationml/2006/main">
  <p:tag name="KSO_WM_DIAGRAM_VIRTUALLY_FRAME" val="{&quot;height&quot;:442.253937007874,&quot;left&quot;:60.69023622047244,&quot;top&quot;:77.12188976377954,&quot;width&quot;:680.1170078740158}"/>
</p:tagLst>
</file>

<file path=ppt/tags/tag12.xml><?xml version="1.0" encoding="utf-8"?>
<p:tagLst xmlns:p="http://schemas.openxmlformats.org/presentationml/2006/main">
  <p:tag name="KSO_WM_DIAGRAM_VIRTUALLY_FRAME" val="{&quot;height&quot;:442.253937007874,&quot;left&quot;:60.69023622047244,&quot;top&quot;:77.12188976377954,&quot;width&quot;:680.1170078740158}"/>
</p:tagLst>
</file>

<file path=ppt/tags/tag13.xml><?xml version="1.0" encoding="utf-8"?>
<p:tagLst xmlns:p="http://schemas.openxmlformats.org/presentationml/2006/main">
  <p:tag name="KSO_WM_DIAGRAM_VIRTUALLY_FRAME" val="{&quot;height&quot;:442.253937007874,&quot;left&quot;:60.463070866141734,&quot;top&quot;:77.12188976377954,&quot;width&quot;:680.1170078740158}"/>
</p:tagLst>
</file>

<file path=ppt/tags/tag14.xml><?xml version="1.0" encoding="utf-8"?>
<p:tagLst xmlns:p="http://schemas.openxmlformats.org/presentationml/2006/main">
  <p:tag name="KSO_WM_DIAGRAM_VIRTUALLY_FRAME" val="{&quot;height&quot;:442.253937007874,&quot;left&quot;:60.463070866141734,&quot;top&quot;:77.12188976377954,&quot;width&quot;:680.1170078740158}"/>
</p:tagLst>
</file>

<file path=ppt/tags/tag15.xml><?xml version="1.0" encoding="utf-8"?>
<p:tagLst xmlns:p="http://schemas.openxmlformats.org/presentationml/2006/main">
  <p:tag name="KSO_WM_DIAGRAM_VIRTUALLY_FRAME" val="{&quot;height&quot;:442.253937007874,&quot;left&quot;:60.463070866141734,&quot;top&quot;:77.12188976377954,&quot;width&quot;:680.1170078740158}"/>
</p:tagLst>
</file>

<file path=ppt/tags/tag16.xml><?xml version="1.0" encoding="utf-8"?>
<p:tagLst xmlns:p="http://schemas.openxmlformats.org/presentationml/2006/main">
  <p:tag name="KSO_WM_DIAGRAM_VIRTUALLY_FRAME" val="{&quot;height&quot;:442.253937007874,&quot;left&quot;:60.463070866141734,&quot;top&quot;:77.12188976377954,&quot;width&quot;:680.1170078740158}"/>
</p:tagLst>
</file>

<file path=ppt/tags/tag17.xml><?xml version="1.0" encoding="utf-8"?>
<p:tagLst xmlns:p="http://schemas.openxmlformats.org/presentationml/2006/main">
  <p:tag name="KSO_WM_DIAGRAM_VIRTUALLY_FRAME" val="{&quot;height&quot;:442.253937007874,&quot;left&quot;:60.533149606299204,&quot;top&quot;:77.22267716535433,&quot;width&quot;:680.1170078740157}"/>
</p:tagLst>
</file>

<file path=ppt/tags/tag18.xml><?xml version="1.0" encoding="utf-8"?>
<p:tagLst xmlns:p="http://schemas.openxmlformats.org/presentationml/2006/main">
  <p:tag name="KSO_WM_DIAGRAM_VIRTUALLY_FRAME" val="{&quot;height&quot;:442.253937007874,&quot;left&quot;:60.533149606299204,&quot;top&quot;:77.22267716535433,&quot;width&quot;:680.1170078740157}"/>
</p:tagLst>
</file>

<file path=ppt/tags/tag19.xml><?xml version="1.0" encoding="utf-8"?>
<p:tagLst xmlns:p="http://schemas.openxmlformats.org/presentationml/2006/main">
  <p:tag name="KSO_WM_DIAGRAM_VIRTUALLY_FRAME" val="{&quot;height&quot;:442.253937007874,&quot;left&quot;:60.533149606299204,&quot;top&quot;:77.22267716535433,&quot;width&quot;:680.1170078740157}"/>
</p:tagLst>
</file>

<file path=ppt/tags/tag20.xml><?xml version="1.0" encoding="utf-8"?>
<p:tagLst xmlns:p="http://schemas.openxmlformats.org/presentationml/2006/main">
  <p:tag name="KSO_WM_DIAGRAM_VIRTUALLY_FRAME" val="{&quot;height&quot;:442.253937007874,&quot;left&quot;:60.533149606299204,&quot;top&quot;:77.22267716535433,&quot;width&quot;:680.1170078740157}"/>
</p:tagLst>
</file>

<file path=ppt/tags/tag21.xml><?xml version="1.0" encoding="utf-8"?>
<p:tagLst xmlns:p="http://schemas.openxmlformats.org/presentationml/2006/main">
  <p:tag name="KSO_WM_DIAGRAM_VIRTUALLY_FRAME" val="{&quot;height&quot;:442.253937007874,&quot;left&quot;:60.533149606299204,&quot;top&quot;:77.22267716535433,&quot;width&quot;:680.1170078740157}"/>
</p:tagLst>
</file>

<file path=ppt/tags/tag22.xml><?xml version="1.0" encoding="utf-8"?>
<p:tagLst xmlns:p="http://schemas.openxmlformats.org/presentationml/2006/main">
  <p:tag name="KSO_WM_DIAGRAM_VIRTUALLY_FRAME" val="{&quot;height&quot;:442.253937007874,&quot;left&quot;:60.533149606299204,&quot;top&quot;:77.22267716535433,&quot;width&quot;:680.1170078740157}"/>
</p:tagLst>
</file>

<file path=ppt/tags/tag23.xml><?xml version="1.0" encoding="utf-8"?>
<p:tagLst xmlns:p="http://schemas.openxmlformats.org/presentationml/2006/main">
  <p:tag name="KSO_WM_DIAGRAM_VIRTUALLY_FRAME" val="{&quot;height&quot;:442.253937007874,&quot;left&quot;:60.533149606299204,&quot;top&quot;:77.22267716535433,&quot;width&quot;:680.1170078740157}"/>
</p:tagLst>
</file>

<file path=ppt/tags/tag24.xml><?xml version="1.0" encoding="utf-8"?>
<p:tagLst xmlns:p="http://schemas.openxmlformats.org/presentationml/2006/main">
  <p:tag name="KSO_WM_DIAGRAM_VIRTUALLY_FRAME" val="{&quot;height&quot;:442.253937007874,&quot;left&quot;:60.533149606299204,&quot;top&quot;:77.22267716535433,&quot;width&quot;:680.1170078740157}"/>
</p:tagLst>
</file>

<file path=ppt/tags/tag25.xml><?xml version="1.0" encoding="utf-8"?>
<p:tagLst xmlns:p="http://schemas.openxmlformats.org/presentationml/2006/main">
  <p:tag name="KSO_WM_DIAGRAM_VIRTUALLY_FRAME" val="{&quot;height&quot;:442.253937007874,&quot;left&quot;:60.533149606299204,&quot;top&quot;:77.22267716535433,&quot;width&quot;:680.1170078740157}"/>
</p:tagLst>
</file>

<file path=ppt/tags/tag26.xml><?xml version="1.0" encoding="utf-8"?>
<p:tagLst xmlns:p="http://schemas.openxmlformats.org/presentationml/2006/main">
  <p:tag name="KSO_WM_DIAGRAM_VIRTUALLY_FRAME" val="{&quot;height&quot;:442.253937007874,&quot;left&quot;:60.533149606299204,&quot;top&quot;:77.22267716535433,&quot;width&quot;:680.1170078740157}"/>
</p:tagLst>
</file>

<file path=ppt/tags/tag27.xml><?xml version="1.0" encoding="utf-8"?>
<p:tagLst xmlns:p="http://schemas.openxmlformats.org/presentationml/2006/main">
  <p:tag name="KSO_WM_DIAGRAM_VIRTUALLY_FRAME" val="{&quot;height&quot;:442.253937007874,&quot;left&quot;:60.533149606299204,&quot;top&quot;:77.22267716535433,&quot;width&quot;:680.1170078740157}"/>
</p:tagLst>
</file>

<file path=ppt/tags/tag28.xml><?xml version="1.0" encoding="utf-8"?>
<p:tagLst xmlns:p="http://schemas.openxmlformats.org/presentationml/2006/main">
  <p:tag name="KSO_WM_DIAGRAM_VIRTUALLY_FRAME" val="{&quot;height&quot;:442.253937007874,&quot;left&quot;:60.533149606299204,&quot;top&quot;:77.22267716535433,&quot;width&quot;:680.1170078740157}"/>
</p:tagLst>
</file>

<file path=ppt/tags/tag29.xml><?xml version="1.0" encoding="utf-8"?>
<p:tagLst xmlns:p="http://schemas.openxmlformats.org/presentationml/2006/main">
  <p:tag name="KSO_WM_DIAGRAM_VIRTUALLY_FRAME" val="{&quot;height&quot;:442.253937007874,&quot;left&quot;:60.533149606299204,&quot;top&quot;:77.22267716535433,&quot;width&quot;:680.1170078740157}"/>
</p:tagLst>
</file>

<file path=ppt/tags/tag30.xml><?xml version="1.0" encoding="utf-8"?>
<p:tagLst xmlns:p="http://schemas.openxmlformats.org/presentationml/2006/main">
  <p:tag name="KSO_WM_DIAGRAM_VIRTUALLY_FRAME" val="{&quot;height&quot;:442.253937007874,&quot;left&quot;:60.533149606299204,&quot;top&quot;:77.22267716535433,&quot;width&quot;:680.1170078740157}"/>
</p:tagLst>
</file>

<file path=ppt/tags/tag31.xml><?xml version="1.0" encoding="utf-8"?>
<p:tagLst xmlns:p="http://schemas.openxmlformats.org/presentationml/2006/main">
  <p:tag name="KSO_WM_DIAGRAM_VIRTUALLY_FRAME" val="{&quot;height&quot;:442.253937007874,&quot;left&quot;:60.533149606299204,&quot;top&quot;:77.22267716535433,&quot;width&quot;:680.1170078740157}"/>
</p:tagLst>
</file>

<file path=ppt/tags/tag32.xml><?xml version="1.0" encoding="utf-8"?>
<p:tagLst xmlns:p="http://schemas.openxmlformats.org/presentationml/2006/main">
  <p:tag name="KSO_WM_DIAGRAM_VIRTUALLY_FRAME" val="{&quot;height&quot;:442.253937007874,&quot;left&quot;:60.533149606299204,&quot;top&quot;:77.22267716535433,&quot;width&quot;:680.1170078740157}"/>
</p:tagLst>
</file>

<file path=ppt/tags/tag33.xml><?xml version="1.0" encoding="utf-8"?>
<p:tagLst xmlns:p="http://schemas.openxmlformats.org/presentationml/2006/main">
  <p:tag name="KSO_WM_DIAGRAM_VIRTUALLY_FRAME" val="{&quot;height&quot;:442.253937007874,&quot;left&quot;:60.533149606299204,&quot;top&quot;:77.22267716535433,&quot;width&quot;:680.1170078740157}"/>
</p:tagLst>
</file>

<file path=ppt/tags/tag34.xml><?xml version="1.0" encoding="utf-8"?>
<p:tagLst xmlns:p="http://schemas.openxmlformats.org/presentationml/2006/main">
  <p:tag name="KSO_WM_DIAGRAM_VIRTUALLY_FRAME" val="{&quot;height&quot;:442.253937007874,&quot;left&quot;:60.533149606299204,&quot;top&quot;:77.22267716535433,&quot;width&quot;:680.1170078740157}"/>
</p:tagLst>
</file>

<file path=ppt/tags/tag35.xml><?xml version="1.0" encoding="utf-8"?>
<p:tagLst xmlns:p="http://schemas.openxmlformats.org/presentationml/2006/main">
  <p:tag name="KSO_WM_DIAGRAM_VIRTUALLY_FRAME" val="{&quot;height&quot;:442.253937007874,&quot;left&quot;:60.533149606299204,&quot;top&quot;:77.22267716535433,&quot;width&quot;:680.1170078740157}"/>
</p:tagLst>
</file>

<file path=ppt/tags/tag36.xml><?xml version="1.0" encoding="utf-8"?>
<p:tagLst xmlns:p="http://schemas.openxmlformats.org/presentationml/2006/main">
  <p:tag name="KSO_WM_DIAGRAM_VIRTUALLY_FRAME" val="{&quot;height&quot;:442.253937007874,&quot;left&quot;:60.533149606299204,&quot;top&quot;:77.22267716535433,&quot;width&quot;:680.1170078740157}"/>
</p:tagLst>
</file>

<file path=ppt/tags/tag37.xml><?xml version="1.0" encoding="utf-8"?>
<p:tagLst xmlns:p="http://schemas.openxmlformats.org/presentationml/2006/main">
  <p:tag name="KSO_WM_DIAGRAM_VIRTUALLY_FRAME" val="{&quot;height&quot;:442.25385826771645,&quot;left&quot;:60.533149606299204,&quot;top&quot;:77.22267716535433,&quot;width&quot;:680.1170078740157}"/>
</p:tagLst>
</file>

<file path=ppt/tags/tag38.xml><?xml version="1.0" encoding="utf-8"?>
<p:tagLst xmlns:p="http://schemas.openxmlformats.org/presentationml/2006/main">
  <p:tag name="KSO_WM_DIAGRAM_VIRTUALLY_FRAME" val="{&quot;height&quot;:442.25385826771645,&quot;left&quot;:60.533149606299204,&quot;top&quot;:77.22267716535433,&quot;width&quot;:680.1170078740157}"/>
</p:tagLst>
</file>

<file path=ppt/tags/tag39.xml><?xml version="1.0" encoding="utf-8"?>
<p:tagLst xmlns:p="http://schemas.openxmlformats.org/presentationml/2006/main">
  <p:tag name="KSO_WM_DIAGRAM_VIRTUALLY_FRAME" val="{&quot;height&quot;:442.25385826771645,&quot;left&quot;:60.533149606299204,&quot;top&quot;:77.22267716535433,&quot;width&quot;:680.1170078740157}"/>
</p:tagLst>
</file>

<file path=ppt/tags/tag40.xml><?xml version="1.0" encoding="utf-8"?>
<p:tagLst xmlns:p="http://schemas.openxmlformats.org/presentationml/2006/main">
  <p:tag name="KSO_WM_DIAGRAM_VIRTUALLY_FRAME" val="{&quot;height&quot;:442.25385826771645,&quot;left&quot;:60.533149606299204,&quot;top&quot;:77.22267716535433,&quot;width&quot;:680.1170078740157}"/>
</p:tagLst>
</file>

<file path=ppt/tags/tag41.xml><?xml version="1.0" encoding="utf-8"?>
<p:tagLst xmlns:p="http://schemas.openxmlformats.org/presentationml/2006/main">
  <p:tag name="commondata" val="eyJoZGlkIjoiZDlhZjk3MDdmY2RjNDU5YmVmZjU5ZGI1MDk2NzM4OGUifQ==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17008</Words>
  <Application>WPS 演示</Application>
  <PresentationFormat>宽屏</PresentationFormat>
  <Paragraphs>1009</Paragraphs>
  <Slides>24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3" baseType="lpstr">
      <vt:lpstr>Arial</vt:lpstr>
      <vt:lpstr>宋体</vt:lpstr>
      <vt:lpstr>Wingdings</vt:lpstr>
      <vt:lpstr>Times New Roman</vt:lpstr>
      <vt:lpstr>微软雅黑</vt:lpstr>
      <vt:lpstr>Arial Unicode MS</vt:lpstr>
      <vt:lpstr>等线</vt:lpstr>
      <vt:lpstr>Calibri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 Y</dc:creator>
  <cp:lastModifiedBy>寅时请叫醒我.</cp:lastModifiedBy>
  <cp:revision>47</cp:revision>
  <dcterms:created xsi:type="dcterms:W3CDTF">2020-08-13T13:39:00Z</dcterms:created>
  <dcterms:modified xsi:type="dcterms:W3CDTF">2024-11-12T07:44:20Z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DD0E4AAD026E42F7B09F63ACB8A2D0BA_12</vt:lpwstr>
  </property>
  <property fmtid="{D5CDD505-2E9C-101B-9397-08002B2CF9AE}" pid="3" name="KSOProductBuildVer">
    <vt:lpwstr>2052-12.1.0.18608</vt:lpwstr>
  </property>
</Properties>
</file>