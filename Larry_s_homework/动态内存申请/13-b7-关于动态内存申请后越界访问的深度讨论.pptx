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8"/>
  </p:notesMasterIdLst>
  <p:sldIdLst>
    <p:sldId id="664" r:id="rId3"/>
    <p:sldId id="1273" r:id="rId4"/>
    <p:sldId id="1307" r:id="rId5"/>
    <p:sldId id="1277" r:id="rId6"/>
    <p:sldId id="1310" r:id="rId7"/>
    <p:sldId id="1282" r:id="rId8"/>
    <p:sldId id="1283" r:id="rId9"/>
    <p:sldId id="1284" r:id="rId10"/>
    <p:sldId id="1268" r:id="rId11"/>
    <p:sldId id="1308" r:id="rId12"/>
    <p:sldId id="1286" r:id="rId13"/>
    <p:sldId id="1311" r:id="rId14"/>
    <p:sldId id="1287" r:id="rId15"/>
    <p:sldId id="1288" r:id="rId16"/>
    <p:sldId id="1289" r:id="rId17"/>
    <p:sldId id="1290" r:id="rId18"/>
    <p:sldId id="1270" r:id="rId19"/>
    <p:sldId id="1294" r:id="rId20"/>
    <p:sldId id="1312" r:id="rId21"/>
    <p:sldId id="1309" r:id="rId22"/>
    <p:sldId id="1295" r:id="rId23"/>
    <p:sldId id="1296" r:id="rId24"/>
    <p:sldId id="1297" r:id="rId25"/>
    <p:sldId id="1298" r:id="rId26"/>
    <p:sldId id="1269" r:id="rId27"/>
    <p:sldId id="1301" r:id="rId28"/>
    <p:sldId id="1313" r:id="rId29"/>
    <p:sldId id="1314" r:id="rId30"/>
    <p:sldId id="1302" r:id="rId31"/>
    <p:sldId id="1303" r:id="rId32"/>
    <p:sldId id="1315" r:id="rId33"/>
    <p:sldId id="1304" r:id="rId34"/>
    <p:sldId id="1316" r:id="rId35"/>
    <p:sldId id="1305" r:id="rId36"/>
    <p:sldId id="1271" r:id="rId37"/>
  </p:sldIdLst>
  <p:sldSz cx="12192000" cy="6858000"/>
  <p:notesSz cx="6858000" cy="9144000"/>
  <p:custDataLst>
    <p:tags r:id="rId42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71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2" Type="http://schemas.openxmlformats.org/officeDocument/2006/relationships/tags" Target="tags/tag57.xml"/><Relationship Id="rId41" Type="http://schemas.openxmlformats.org/officeDocument/2006/relationships/tableStyles" Target="tableStyles.xml"/><Relationship Id="rId40" Type="http://schemas.openxmlformats.org/officeDocument/2006/relationships/viewProps" Target="viewProps.xml"/><Relationship Id="rId4" Type="http://schemas.openxmlformats.org/officeDocument/2006/relationships/slide" Target="slides/slide2.xml"/><Relationship Id="rId39" Type="http://schemas.openxmlformats.org/officeDocument/2006/relationships/presProps" Target="presProps.xml"/><Relationship Id="rId38" Type="http://schemas.openxmlformats.org/officeDocument/2006/relationships/notesMaster" Target="notesMasters/notesMaster1.xml"/><Relationship Id="rId37" Type="http://schemas.openxmlformats.org/officeDocument/2006/relationships/slide" Target="slides/slide35.xml"/><Relationship Id="rId36" Type="http://schemas.openxmlformats.org/officeDocument/2006/relationships/slide" Target="slides/slide34.xml"/><Relationship Id="rId35" Type="http://schemas.openxmlformats.org/officeDocument/2006/relationships/slide" Target="slides/slide33.xml"/><Relationship Id="rId34" Type="http://schemas.openxmlformats.org/officeDocument/2006/relationships/slide" Target="slides/slide32.xml"/><Relationship Id="rId33" Type="http://schemas.openxmlformats.org/officeDocument/2006/relationships/slide" Target="slides/slide3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1F4E512-F0DE-40DA-A281-500184A3244D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4490452-1689-4497-A9A0-B842EEA687A2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86D9F12-298F-4BA9-885E-BCD438E8F58B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FC42DF3-6CE2-4BE7-9CDC-EAAC6AF6F41D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233B832-CABD-439C-B200-DDE8714B0B30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914400" y="1981200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981200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0DC15D7-5788-41E7-9CAD-BCD4FE0C0C0E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729E1C2-8757-4943-BB0D-44D6A40AC3CE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D2EE0AD-AA26-4B0C-B2A5-065307B6925D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1B4B751-1B33-4FAC-96B1-4F4734F155A3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CFADDAC-226E-4E74-A9C7-8EDB750CC128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60F1364-7677-4F0D-B113-A10E8B7764FE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5AEEE96-D9F8-4AA5-9180-644B18AD3123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686800" y="609600"/>
            <a:ext cx="2590800" cy="54864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914400" y="609600"/>
            <a:ext cx="7569200" cy="54864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B7B05AA-070D-443F-9B69-C3D4A9E3ABFE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1.jpe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609600"/>
            <a:ext cx="103632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1981200"/>
            <a:ext cx="103632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4400" y="6248400"/>
            <a:ext cx="2540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sz="1400"/>
            </a:lvl1pPr>
          </a:lstStyle>
          <a:p>
            <a:endParaRPr lang="en-US" altLang="zh-CN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/>
            </a:lvl1pPr>
          </a:lstStyle>
          <a:p>
            <a:endParaRPr lang="en-US" altLang="zh-CN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540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/>
            </a:lvl1pPr>
          </a:lstStyle>
          <a:p>
            <a:fld id="{43E456CB-F1D9-4742-BD7D-0EF249B6CED9}" type="slidenum">
              <a:rPr lang="en-US" altLang="zh-CN"/>
            </a:fld>
            <a:endParaRPr lang="en-US" altLang="zh-CN"/>
          </a:p>
        </p:txBody>
      </p:sp>
      <p:pic>
        <p:nvPicPr>
          <p:cNvPr id="7" name="Picture 2"/>
          <p:cNvPicPr>
            <a:picLocks noChangeAspect="1" noChangeArrowheads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62268" y="5786"/>
            <a:ext cx="1183064" cy="11830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charset="0"/>
          <a:ea typeface="宋体" panose="02010600030101010101" pitchFamily="2" charset="-122"/>
        </a:defRPr>
      </a:lvl2pPr>
      <a:lvl3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charset="0"/>
          <a:ea typeface="宋体" panose="02010600030101010101" pitchFamily="2" charset="-122"/>
        </a:defRPr>
      </a:lvl3pPr>
      <a:lvl4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charset="0"/>
          <a:ea typeface="宋体" panose="02010600030101010101" pitchFamily="2" charset="-122"/>
        </a:defRPr>
      </a:lvl4pPr>
      <a:lvl5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charset="0"/>
          <a:ea typeface="宋体" panose="02010600030101010101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1.png"/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20.png"/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24.png"/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image" Target="../media/image21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28.png"/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image" Target="../media/image25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32.png"/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image" Target="../media/image29.png"/></Relationships>
</file>

<file path=ppt/slides/_rels/slide1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36.png"/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image" Target="../media/image33.png"/></Relationships>
</file>

<file path=ppt/slides/_rels/slide1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40.png"/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image" Target="../media/image37.png"/></Relationships>
</file>

<file path=ppt/slides/_rels/slide1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44.png"/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image" Target="../media/image41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9" Type="http://schemas.openxmlformats.org/officeDocument/2006/relationships/tags" Target="../tags/tag8.xml"/><Relationship Id="rId8" Type="http://schemas.openxmlformats.org/officeDocument/2006/relationships/tags" Target="../tags/tag7.xml"/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image" Target="../media/image45.png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9" Type="http://schemas.openxmlformats.org/officeDocument/2006/relationships/slideLayout" Target="../slideLayouts/slideLayout2.xml"/><Relationship Id="rId18" Type="http://schemas.openxmlformats.org/officeDocument/2006/relationships/image" Target="../media/image50.png"/><Relationship Id="rId17" Type="http://schemas.openxmlformats.org/officeDocument/2006/relationships/image" Target="../media/image49.png"/><Relationship Id="rId16" Type="http://schemas.openxmlformats.org/officeDocument/2006/relationships/image" Target="../media/image48.png"/><Relationship Id="rId15" Type="http://schemas.openxmlformats.org/officeDocument/2006/relationships/tags" Target="../tags/tag12.xml"/><Relationship Id="rId14" Type="http://schemas.openxmlformats.org/officeDocument/2006/relationships/image" Target="../media/image47.png"/><Relationship Id="rId13" Type="http://schemas.openxmlformats.org/officeDocument/2006/relationships/tags" Target="../tags/tag11.xml"/><Relationship Id="rId12" Type="http://schemas.openxmlformats.org/officeDocument/2006/relationships/image" Target="../media/image46.png"/><Relationship Id="rId11" Type="http://schemas.openxmlformats.org/officeDocument/2006/relationships/tags" Target="../tags/tag10.xml"/><Relationship Id="rId10" Type="http://schemas.openxmlformats.org/officeDocument/2006/relationships/tags" Target="../tags/tag9.xml"/><Relationship Id="rId1" Type="http://schemas.openxmlformats.org/officeDocument/2006/relationships/tags" Target="../tags/tag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9" Type="http://schemas.openxmlformats.org/officeDocument/2006/relationships/tags" Target="../tags/tag20.xml"/><Relationship Id="rId8" Type="http://schemas.openxmlformats.org/officeDocument/2006/relationships/tags" Target="../tags/tag19.xml"/><Relationship Id="rId7" Type="http://schemas.openxmlformats.org/officeDocument/2006/relationships/tags" Target="../tags/tag18.xml"/><Relationship Id="rId6" Type="http://schemas.openxmlformats.org/officeDocument/2006/relationships/tags" Target="../tags/tag17.xml"/><Relationship Id="rId5" Type="http://schemas.openxmlformats.org/officeDocument/2006/relationships/tags" Target="../tags/tag16.xml"/><Relationship Id="rId4" Type="http://schemas.openxmlformats.org/officeDocument/2006/relationships/tags" Target="../tags/tag15.xml"/><Relationship Id="rId3" Type="http://schemas.openxmlformats.org/officeDocument/2006/relationships/tags" Target="../tags/tag14.xml"/><Relationship Id="rId2" Type="http://schemas.openxmlformats.org/officeDocument/2006/relationships/image" Target="../media/image51.png"/><Relationship Id="rId19" Type="http://schemas.openxmlformats.org/officeDocument/2006/relationships/slideLayout" Target="../slideLayouts/slideLayout2.xml"/><Relationship Id="rId18" Type="http://schemas.openxmlformats.org/officeDocument/2006/relationships/image" Target="../media/image56.png"/><Relationship Id="rId17" Type="http://schemas.openxmlformats.org/officeDocument/2006/relationships/image" Target="../media/image55.png"/><Relationship Id="rId16" Type="http://schemas.openxmlformats.org/officeDocument/2006/relationships/image" Target="../media/image54.png"/><Relationship Id="rId15" Type="http://schemas.openxmlformats.org/officeDocument/2006/relationships/image" Target="../media/image53.png"/><Relationship Id="rId14" Type="http://schemas.openxmlformats.org/officeDocument/2006/relationships/tags" Target="../tags/tag24.xml"/><Relationship Id="rId13" Type="http://schemas.openxmlformats.org/officeDocument/2006/relationships/image" Target="../media/image52.png"/><Relationship Id="rId12" Type="http://schemas.openxmlformats.org/officeDocument/2006/relationships/tags" Target="../tags/tag23.xml"/><Relationship Id="rId11" Type="http://schemas.openxmlformats.org/officeDocument/2006/relationships/tags" Target="../tags/tag22.xml"/><Relationship Id="rId10" Type="http://schemas.openxmlformats.org/officeDocument/2006/relationships/tags" Target="../tags/tag21.xml"/><Relationship Id="rId1" Type="http://schemas.openxmlformats.org/officeDocument/2006/relationships/tags" Target="../tags/tag13.xml"/></Relationships>
</file>

<file path=ppt/slides/_rels/slide22.xml.rels><?xml version="1.0" encoding="UTF-8" standalone="yes"?>
<Relationships xmlns="http://schemas.openxmlformats.org/package/2006/relationships"><Relationship Id="rId9" Type="http://schemas.openxmlformats.org/officeDocument/2006/relationships/tags" Target="../tags/tag33.xml"/><Relationship Id="rId8" Type="http://schemas.openxmlformats.org/officeDocument/2006/relationships/tags" Target="../tags/tag32.xml"/><Relationship Id="rId7" Type="http://schemas.openxmlformats.org/officeDocument/2006/relationships/tags" Target="../tags/tag31.xml"/><Relationship Id="rId6" Type="http://schemas.openxmlformats.org/officeDocument/2006/relationships/tags" Target="../tags/tag30.xml"/><Relationship Id="rId5" Type="http://schemas.openxmlformats.org/officeDocument/2006/relationships/tags" Target="../tags/tag29.xml"/><Relationship Id="rId4" Type="http://schemas.openxmlformats.org/officeDocument/2006/relationships/tags" Target="../tags/tag28.xml"/><Relationship Id="rId3" Type="http://schemas.openxmlformats.org/officeDocument/2006/relationships/tags" Target="../tags/tag27.xml"/><Relationship Id="rId2" Type="http://schemas.openxmlformats.org/officeDocument/2006/relationships/tags" Target="../tags/tag26.xml"/><Relationship Id="rId16" Type="http://schemas.openxmlformats.org/officeDocument/2006/relationships/slideLayout" Target="../slideLayouts/slideLayout2.xml"/><Relationship Id="rId15" Type="http://schemas.openxmlformats.org/officeDocument/2006/relationships/image" Target="../media/image62.png"/><Relationship Id="rId14" Type="http://schemas.openxmlformats.org/officeDocument/2006/relationships/image" Target="../media/image61.png"/><Relationship Id="rId13" Type="http://schemas.openxmlformats.org/officeDocument/2006/relationships/image" Target="../media/image60.png"/><Relationship Id="rId12" Type="http://schemas.openxmlformats.org/officeDocument/2006/relationships/image" Target="../media/image59.png"/><Relationship Id="rId11" Type="http://schemas.openxmlformats.org/officeDocument/2006/relationships/image" Target="../media/image58.png"/><Relationship Id="rId10" Type="http://schemas.openxmlformats.org/officeDocument/2006/relationships/image" Target="../media/image57.png"/><Relationship Id="rId1" Type="http://schemas.openxmlformats.org/officeDocument/2006/relationships/tags" Target="../tags/tag25.xml"/></Relationships>
</file>

<file path=ppt/slides/_rels/slide23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68.png"/><Relationship Id="rId5" Type="http://schemas.openxmlformats.org/officeDocument/2006/relationships/image" Target="../media/image67.png"/><Relationship Id="rId4" Type="http://schemas.openxmlformats.org/officeDocument/2006/relationships/image" Target="../media/image66.png"/><Relationship Id="rId3" Type="http://schemas.openxmlformats.org/officeDocument/2006/relationships/image" Target="../media/image65.png"/><Relationship Id="rId2" Type="http://schemas.openxmlformats.org/officeDocument/2006/relationships/image" Target="../media/image64.png"/><Relationship Id="rId1" Type="http://schemas.openxmlformats.org/officeDocument/2006/relationships/image" Target="../media/image63.png"/></Relationships>
</file>

<file path=ppt/slides/_rels/slide24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74.png"/><Relationship Id="rId5" Type="http://schemas.openxmlformats.org/officeDocument/2006/relationships/image" Target="../media/image73.png"/><Relationship Id="rId4" Type="http://schemas.openxmlformats.org/officeDocument/2006/relationships/image" Target="../media/image72.png"/><Relationship Id="rId3" Type="http://schemas.openxmlformats.org/officeDocument/2006/relationships/image" Target="../media/image71.png"/><Relationship Id="rId2" Type="http://schemas.openxmlformats.org/officeDocument/2006/relationships/image" Target="../media/image70.png"/><Relationship Id="rId1" Type="http://schemas.openxmlformats.org/officeDocument/2006/relationships/image" Target="../media/image69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9" Type="http://schemas.openxmlformats.org/officeDocument/2006/relationships/tags" Target="../tags/tag42.xml"/><Relationship Id="rId8" Type="http://schemas.openxmlformats.org/officeDocument/2006/relationships/tags" Target="../tags/tag41.xml"/><Relationship Id="rId7" Type="http://schemas.openxmlformats.org/officeDocument/2006/relationships/tags" Target="../tags/tag40.xml"/><Relationship Id="rId6" Type="http://schemas.openxmlformats.org/officeDocument/2006/relationships/tags" Target="../tags/tag39.xml"/><Relationship Id="rId5" Type="http://schemas.openxmlformats.org/officeDocument/2006/relationships/tags" Target="../tags/tag38.xml"/><Relationship Id="rId4" Type="http://schemas.openxmlformats.org/officeDocument/2006/relationships/tags" Target="../tags/tag37.xml"/><Relationship Id="rId3" Type="http://schemas.openxmlformats.org/officeDocument/2006/relationships/tags" Target="../tags/tag36.xml"/><Relationship Id="rId2" Type="http://schemas.openxmlformats.org/officeDocument/2006/relationships/tags" Target="../tags/tag35.xml"/><Relationship Id="rId17" Type="http://schemas.openxmlformats.org/officeDocument/2006/relationships/slideLayout" Target="../slideLayouts/slideLayout2.xml"/><Relationship Id="rId16" Type="http://schemas.openxmlformats.org/officeDocument/2006/relationships/image" Target="../media/image81.png"/><Relationship Id="rId15" Type="http://schemas.openxmlformats.org/officeDocument/2006/relationships/image" Target="../media/image80.png"/><Relationship Id="rId14" Type="http://schemas.openxmlformats.org/officeDocument/2006/relationships/image" Target="../media/image79.png"/><Relationship Id="rId13" Type="http://schemas.openxmlformats.org/officeDocument/2006/relationships/image" Target="../media/image78.png"/><Relationship Id="rId12" Type="http://schemas.openxmlformats.org/officeDocument/2006/relationships/image" Target="../media/image77.png"/><Relationship Id="rId11" Type="http://schemas.openxmlformats.org/officeDocument/2006/relationships/image" Target="../media/image76.png"/><Relationship Id="rId10" Type="http://schemas.openxmlformats.org/officeDocument/2006/relationships/image" Target="../media/image75.png"/><Relationship Id="rId1" Type="http://schemas.openxmlformats.org/officeDocument/2006/relationships/tags" Target="../tags/tag34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87.png"/><Relationship Id="rId5" Type="http://schemas.openxmlformats.org/officeDocument/2006/relationships/image" Target="../media/image86.png"/><Relationship Id="rId4" Type="http://schemas.openxmlformats.org/officeDocument/2006/relationships/image" Target="../media/image85.png"/><Relationship Id="rId3" Type="http://schemas.openxmlformats.org/officeDocument/2006/relationships/image" Target="../media/image84.png"/><Relationship Id="rId2" Type="http://schemas.openxmlformats.org/officeDocument/2006/relationships/image" Target="../media/image83.png"/><Relationship Id="rId1" Type="http://schemas.openxmlformats.org/officeDocument/2006/relationships/image" Target="../media/image82.png"/></Relationships>
</file>

<file path=ppt/slides/_rels/slide30.xml.rels><?xml version="1.0" encoding="UTF-8" standalone="yes"?>
<Relationships xmlns="http://schemas.openxmlformats.org/package/2006/relationships"><Relationship Id="rId9" Type="http://schemas.openxmlformats.org/officeDocument/2006/relationships/tags" Target="../tags/tag51.xml"/><Relationship Id="rId8" Type="http://schemas.openxmlformats.org/officeDocument/2006/relationships/tags" Target="../tags/tag50.xml"/><Relationship Id="rId7" Type="http://schemas.openxmlformats.org/officeDocument/2006/relationships/tags" Target="../tags/tag49.xml"/><Relationship Id="rId6" Type="http://schemas.openxmlformats.org/officeDocument/2006/relationships/tags" Target="../tags/tag48.xml"/><Relationship Id="rId5" Type="http://schemas.openxmlformats.org/officeDocument/2006/relationships/tags" Target="../tags/tag47.xml"/><Relationship Id="rId4" Type="http://schemas.openxmlformats.org/officeDocument/2006/relationships/tags" Target="../tags/tag46.xml"/><Relationship Id="rId3" Type="http://schemas.openxmlformats.org/officeDocument/2006/relationships/tags" Target="../tags/tag45.xml"/><Relationship Id="rId21" Type="http://schemas.openxmlformats.org/officeDocument/2006/relationships/slideLayout" Target="../slideLayouts/slideLayout2.xml"/><Relationship Id="rId20" Type="http://schemas.openxmlformats.org/officeDocument/2006/relationships/image" Target="../media/image93.png"/><Relationship Id="rId2" Type="http://schemas.openxmlformats.org/officeDocument/2006/relationships/tags" Target="../tags/tag44.xml"/><Relationship Id="rId19" Type="http://schemas.openxmlformats.org/officeDocument/2006/relationships/tags" Target="../tags/tag56.xml"/><Relationship Id="rId18" Type="http://schemas.openxmlformats.org/officeDocument/2006/relationships/image" Target="../media/image92.png"/><Relationship Id="rId17" Type="http://schemas.openxmlformats.org/officeDocument/2006/relationships/tags" Target="../tags/tag55.xml"/><Relationship Id="rId16" Type="http://schemas.openxmlformats.org/officeDocument/2006/relationships/image" Target="../media/image91.png"/><Relationship Id="rId15" Type="http://schemas.openxmlformats.org/officeDocument/2006/relationships/image" Target="../media/image90.png"/><Relationship Id="rId14" Type="http://schemas.openxmlformats.org/officeDocument/2006/relationships/tags" Target="../tags/tag54.xml"/><Relationship Id="rId13" Type="http://schemas.openxmlformats.org/officeDocument/2006/relationships/image" Target="../media/image89.png"/><Relationship Id="rId12" Type="http://schemas.openxmlformats.org/officeDocument/2006/relationships/tags" Target="../tags/tag53.xml"/><Relationship Id="rId11" Type="http://schemas.openxmlformats.org/officeDocument/2006/relationships/image" Target="../media/image88.png"/><Relationship Id="rId10" Type="http://schemas.openxmlformats.org/officeDocument/2006/relationships/tags" Target="../tags/tag52.xml"/><Relationship Id="rId1" Type="http://schemas.openxmlformats.org/officeDocument/2006/relationships/tags" Target="../tags/tag4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99.png"/><Relationship Id="rId5" Type="http://schemas.openxmlformats.org/officeDocument/2006/relationships/image" Target="../media/image98.png"/><Relationship Id="rId4" Type="http://schemas.openxmlformats.org/officeDocument/2006/relationships/image" Target="../media/image97.png"/><Relationship Id="rId3" Type="http://schemas.openxmlformats.org/officeDocument/2006/relationships/image" Target="../media/image96.png"/><Relationship Id="rId2" Type="http://schemas.openxmlformats.org/officeDocument/2006/relationships/image" Target="../media/image95.png"/><Relationship Id="rId1" Type="http://schemas.openxmlformats.org/officeDocument/2006/relationships/image" Target="../media/image94.png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105.png"/><Relationship Id="rId5" Type="http://schemas.openxmlformats.org/officeDocument/2006/relationships/image" Target="../media/image104.png"/><Relationship Id="rId4" Type="http://schemas.openxmlformats.org/officeDocument/2006/relationships/image" Target="../media/image103.png"/><Relationship Id="rId3" Type="http://schemas.openxmlformats.org/officeDocument/2006/relationships/image" Target="../media/image102.png"/><Relationship Id="rId2" Type="http://schemas.openxmlformats.org/officeDocument/2006/relationships/image" Target="../media/image101.png"/><Relationship Id="rId1" Type="http://schemas.openxmlformats.org/officeDocument/2006/relationships/image" Target="../media/image100.png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关于动态内存申请后越界访问的深度讨论</a:t>
            </a:r>
            <a:endParaRPr lang="zh-CN" altLang="en-US" sz="28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★ </a:t>
            </a:r>
            <a:r>
              <a:rPr lang="zh-CN" altLang="en-US" sz="1600" b="1" dirty="0">
                <a:latin typeface="+mn-ea"/>
              </a:rPr>
              <a:t>如何判断动态申请越界（</a:t>
            </a:r>
            <a:r>
              <a:rPr lang="en-US" altLang="zh-CN" sz="1600" b="1" dirty="0">
                <a:latin typeface="+mn-ea"/>
              </a:rPr>
              <a:t>C</a:t>
            </a:r>
            <a:r>
              <a:rPr lang="zh-CN" altLang="en-US" sz="1600" b="1" dirty="0">
                <a:latin typeface="+mn-ea"/>
              </a:rPr>
              <a:t>方式，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注意源程序后缀为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.c</a:t>
            </a:r>
            <a:r>
              <a:rPr lang="zh-CN" altLang="en-US" sz="1600" b="1" dirty="0">
                <a:latin typeface="+mn-ea"/>
              </a:rPr>
              <a:t>）</a:t>
            </a:r>
            <a:endParaRPr lang="zh-CN" altLang="en-US" sz="1600" b="1" dirty="0">
              <a:latin typeface="+mn-ea"/>
            </a:endParaRPr>
          </a:p>
        </p:txBody>
      </p:sp>
      <p:sp>
        <p:nvSpPr>
          <p:cNvPr id="5" name="矩形 4"/>
          <p:cNvSpPr/>
          <p:nvPr/>
        </p:nvSpPr>
        <p:spPr bwMode="auto">
          <a:xfrm>
            <a:off x="484719" y="980728"/>
            <a:ext cx="10461703" cy="5724872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#define _CRT_SECURE_NO_WARNINGS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stdio.h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&gt;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stdlib.h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&gt;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string.h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&gt;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 main()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char *p;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p = (char *)malloc(10 *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sizeof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(char));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if (p == NULL)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return -1;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strcpy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(p, "123456789");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①  p[10] = 'a';    //</a:t>
            </a:r>
            <a:r>
              <a:rPr kumimoji="1" lang="zh-CN" altLang="en-US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此句越界</a:t>
            </a:r>
            <a:endParaRPr kumimoji="1" lang="en-US" altLang="zh-CN" sz="16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p[14] = 'A';    //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此句越界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p[15] = 'B';    //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此句越界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②  p[10] = '\</a:t>
            </a:r>
            <a:r>
              <a:rPr kumimoji="1" lang="en-US" altLang="zh-CN" sz="1600" b="1" dirty="0" err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xfd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'; //</a:t>
            </a:r>
            <a:r>
              <a:rPr kumimoji="1" lang="zh-CN" altLang="en-US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此句越界</a:t>
            </a:r>
            <a:endParaRPr kumimoji="1" lang="en-US" altLang="zh-CN" sz="16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printf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("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addr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:%p\n", p);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nn-NO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for (int i = 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-4</a:t>
            </a:r>
            <a:r>
              <a:rPr kumimoji="1" lang="nn-NO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 i &lt; 16; i++) //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注意，只有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0-9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是合理范围，其余都是</a:t>
            </a:r>
            <a:r>
              <a:rPr kumimoji="1" lang="zh-CN" altLang="en-US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越界读</a:t>
            </a:r>
            <a:endParaRPr kumimoji="1" lang="nn-NO" altLang="zh-CN" sz="16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printf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("%p:%02x\n", (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p+i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), p[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]);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③  free(p);</a:t>
            </a:r>
            <a:endParaRPr kumimoji="1" lang="en-US" altLang="zh-CN" sz="16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return 0;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  <a:endParaRPr kumimoji="1" lang="zh-CN" altLang="en-US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" name="矩形 6"/>
          <p:cNvSpPr/>
          <p:nvPr/>
        </p:nvSpPr>
        <p:spPr bwMode="auto">
          <a:xfrm>
            <a:off x="7202006" y="980727"/>
            <a:ext cx="3744416" cy="4030888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在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VS2022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的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x86/Debug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模式下运行：</a:t>
            </a: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1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、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①②③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全部注释，观察运行结果</a:t>
            </a: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2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、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①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放开，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②③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注释，观察运行结果</a:t>
            </a: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3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、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①③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放开，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②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注释，观察运行结果</a:t>
            </a: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4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、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①②③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全部放开，观察运行结果</a:t>
            </a: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结论：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VS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的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Debug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模式是如何判断</a:t>
            </a: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      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动态申请内存访问越界的？</a:t>
            </a: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chemeClr val="accent2"/>
                </a:solidFill>
                <a:latin typeface="+mn-ea"/>
              </a:rPr>
              <a:t>再观察下面四种环境下的运行结果：</a:t>
            </a:r>
            <a:endParaRPr kumimoji="1" lang="en-US" altLang="zh-CN" sz="1600" b="1" dirty="0">
              <a:solidFill>
                <a:schemeClr val="accent2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chemeClr val="accent2"/>
                </a:solidFill>
                <a:latin typeface="+mn-ea"/>
              </a:rPr>
              <a:t>    VS2022 x86/Release</a:t>
            </a:r>
            <a:endParaRPr kumimoji="1" lang="en-US" altLang="zh-CN" sz="1600" b="1" dirty="0">
              <a:solidFill>
                <a:schemeClr val="accent2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chemeClr val="accent2"/>
                </a:solidFill>
                <a:latin typeface="+mn-ea"/>
              </a:rPr>
              <a:t>    Dev 32bit-Debug</a:t>
            </a:r>
            <a:endParaRPr kumimoji="1" lang="en-US" altLang="zh-CN" sz="1600" b="1" dirty="0">
              <a:solidFill>
                <a:schemeClr val="accent2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chemeClr val="accent2"/>
                </a:solidFill>
                <a:latin typeface="+mn-ea"/>
              </a:rPr>
              <a:t>    Dev 32bit-Release</a:t>
            </a:r>
            <a:endParaRPr kumimoji="1" lang="en-US" altLang="zh-CN" sz="1600" b="1" dirty="0">
              <a:solidFill>
                <a:schemeClr val="accent2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chemeClr val="accent2"/>
                </a:solidFill>
                <a:latin typeface="+mn-ea"/>
              </a:rPr>
              <a:t>    Linux</a:t>
            </a:r>
            <a:endParaRPr kumimoji="1" lang="en-US" altLang="zh-CN" sz="1600" b="1" dirty="0">
              <a:solidFill>
                <a:schemeClr val="accent2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chemeClr val="accent2"/>
                </a:solidFill>
                <a:latin typeface="+mn-ea"/>
              </a:rPr>
              <a:t>每种讨论的结果可截图</a:t>
            </a:r>
            <a:r>
              <a:rPr kumimoji="1" lang="en-US" altLang="zh-CN" sz="1600" b="1" dirty="0">
                <a:solidFill>
                  <a:schemeClr val="accent2"/>
                </a:solidFill>
                <a:latin typeface="+mn-ea"/>
              </a:rPr>
              <a:t>+</a:t>
            </a:r>
            <a:r>
              <a:rPr kumimoji="1" lang="zh-CN" altLang="en-US" sz="1600" b="1" dirty="0">
                <a:solidFill>
                  <a:schemeClr val="accent2"/>
                </a:solidFill>
                <a:latin typeface="+mn-ea"/>
              </a:rPr>
              <a:t>文字说明，</a:t>
            </a:r>
            <a:endParaRPr kumimoji="1" lang="en-US" altLang="zh-CN" sz="1600" b="1" dirty="0">
              <a:solidFill>
                <a:schemeClr val="accent2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chemeClr val="accent2"/>
                </a:solidFill>
                <a:latin typeface="+mn-ea"/>
              </a:rPr>
              <a:t>如果几种环境的结果一致，用一个</a:t>
            </a:r>
            <a:endParaRPr kumimoji="1" lang="en-US" altLang="zh-CN" sz="1600" b="1" dirty="0">
              <a:solidFill>
                <a:schemeClr val="accent2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chemeClr val="accent2"/>
                </a:solidFill>
                <a:latin typeface="+mn-ea"/>
              </a:rPr>
              <a:t>环境的截图</a:t>
            </a:r>
            <a:r>
              <a:rPr kumimoji="1" lang="en-US" altLang="zh-CN" sz="1600" b="1" dirty="0">
                <a:solidFill>
                  <a:schemeClr val="accent2"/>
                </a:solidFill>
                <a:latin typeface="+mn-ea"/>
              </a:rPr>
              <a:t>+</a:t>
            </a:r>
            <a:r>
              <a:rPr kumimoji="1" lang="zh-CN" altLang="en-US" sz="1600" b="1" dirty="0">
                <a:solidFill>
                  <a:schemeClr val="accent2"/>
                </a:solidFill>
                <a:latin typeface="+mn-ea"/>
              </a:rPr>
              <a:t>文字说明即可</a:t>
            </a:r>
            <a:r>
              <a:rPr kumimoji="1" lang="en-US" altLang="zh-CN" sz="1600" b="1" dirty="0">
                <a:solidFill>
                  <a:schemeClr val="accent2"/>
                </a:solidFill>
                <a:latin typeface="+mn-ea"/>
              </a:rPr>
              <a:t>(</a:t>
            </a:r>
            <a:r>
              <a:rPr kumimoji="1" lang="zh-CN" altLang="en-US" sz="1600" b="1" dirty="0">
                <a:solidFill>
                  <a:schemeClr val="accent2"/>
                </a:solidFill>
                <a:latin typeface="+mn-ea"/>
              </a:rPr>
              <a:t>可加页</a:t>
            </a:r>
            <a:r>
              <a:rPr kumimoji="1" lang="en-US" altLang="zh-CN" sz="1600" b="1" dirty="0">
                <a:solidFill>
                  <a:schemeClr val="accent2"/>
                </a:solidFill>
                <a:latin typeface="+mn-ea"/>
              </a:rPr>
              <a:t>)</a:t>
            </a:r>
            <a:endParaRPr kumimoji="1" lang="en-US" altLang="zh-CN" sz="1600" b="1" dirty="0">
              <a:solidFill>
                <a:schemeClr val="accent2"/>
              </a:solidFill>
              <a:latin typeface="+mn-ea"/>
            </a:endParaRP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文本框 5"/>
          <p:cNvSpPr txBox="1"/>
          <p:nvPr/>
        </p:nvSpPr>
        <p:spPr>
          <a:xfrm>
            <a:off x="855980" y="650240"/>
            <a:ext cx="12249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全部注释</a:t>
            </a:r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3796665" y="626110"/>
            <a:ext cx="168529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放开</a:t>
            </a:r>
            <a:r>
              <a:rPr lang="en-US" altLang="zh-CN"/>
              <a:t>1</a:t>
            </a:r>
            <a:endParaRPr lang="en-US" altLang="zh-CN"/>
          </a:p>
        </p:txBody>
      </p:sp>
      <p:sp>
        <p:nvSpPr>
          <p:cNvPr id="10" name="文本框 9"/>
          <p:cNvSpPr txBox="1"/>
          <p:nvPr/>
        </p:nvSpPr>
        <p:spPr>
          <a:xfrm>
            <a:off x="6171565" y="626110"/>
            <a:ext cx="13341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放开</a:t>
            </a:r>
            <a:r>
              <a:rPr lang="en-US" altLang="zh-CN"/>
              <a:t>1</a:t>
            </a:r>
            <a:r>
              <a:rPr lang="zh-CN" altLang="en-US"/>
              <a:t>、</a:t>
            </a:r>
            <a:r>
              <a:rPr lang="en-US" altLang="zh-CN"/>
              <a:t>3</a:t>
            </a:r>
            <a:endParaRPr lang="en-US" altLang="zh-CN"/>
          </a:p>
        </p:txBody>
      </p:sp>
      <p:sp>
        <p:nvSpPr>
          <p:cNvPr id="11" name="文本框 10"/>
          <p:cNvSpPr txBox="1"/>
          <p:nvPr/>
        </p:nvSpPr>
        <p:spPr>
          <a:xfrm>
            <a:off x="9359900" y="650240"/>
            <a:ext cx="148209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放开</a:t>
            </a:r>
            <a:r>
              <a:rPr lang="en-US" altLang="zh-CN"/>
              <a:t>1/2/3</a:t>
            </a:r>
            <a:endParaRPr lang="zh-CN" altLang="en-US"/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5645" y="997585"/>
            <a:ext cx="1505585" cy="3847465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987290"/>
            <a:ext cx="3086100" cy="1539240"/>
          </a:xfrm>
          <a:prstGeom prst="rect">
            <a:avLst/>
          </a:prstGeom>
        </p:spPr>
      </p:pic>
      <p:pic>
        <p:nvPicPr>
          <p:cNvPr id="17" name="图片 1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30930" y="1115695"/>
            <a:ext cx="1386840" cy="3611880"/>
          </a:xfrm>
          <a:prstGeom prst="rect">
            <a:avLst/>
          </a:prstGeom>
        </p:spPr>
      </p:pic>
      <p:pic>
        <p:nvPicPr>
          <p:cNvPr id="18" name="图片 1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57575" y="4875530"/>
            <a:ext cx="3169920" cy="1645920"/>
          </a:xfrm>
          <a:prstGeom prst="rect">
            <a:avLst/>
          </a:prstGeom>
        </p:spPr>
      </p:pic>
      <p:pic>
        <p:nvPicPr>
          <p:cNvPr id="19" name="图片 1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1955" y="1214120"/>
            <a:ext cx="3366135" cy="2054225"/>
          </a:xfrm>
          <a:prstGeom prst="rect">
            <a:avLst/>
          </a:prstGeom>
        </p:spPr>
      </p:pic>
      <p:pic>
        <p:nvPicPr>
          <p:cNvPr id="20" name="图片 1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25635" y="1214120"/>
            <a:ext cx="1531620" cy="3573780"/>
          </a:xfrm>
          <a:prstGeom prst="rect">
            <a:avLst/>
          </a:prstGeom>
        </p:spPr>
      </p:pic>
      <p:sp>
        <p:nvSpPr>
          <p:cNvPr id="21" name="文本框 20"/>
          <p:cNvSpPr txBox="1"/>
          <p:nvPr/>
        </p:nvSpPr>
        <p:spPr>
          <a:xfrm>
            <a:off x="1162050" y="257810"/>
            <a:ext cx="270192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kumimoji="1" lang="en-US" altLang="zh-CN" b="1" dirty="0">
                <a:solidFill>
                  <a:srgbClr val="FF0000"/>
                </a:solidFill>
                <a:latin typeface="+mn-ea"/>
                <a:sym typeface="+mn-ea"/>
              </a:rPr>
              <a:t>VS2022</a:t>
            </a:r>
            <a:r>
              <a:rPr kumimoji="1" lang="zh-CN" altLang="en-US" b="1" dirty="0">
                <a:solidFill>
                  <a:srgbClr val="FF0000"/>
                </a:solidFill>
                <a:latin typeface="+mn-ea"/>
                <a:sym typeface="+mn-ea"/>
              </a:rPr>
              <a:t>的</a:t>
            </a:r>
            <a:r>
              <a:rPr kumimoji="1" lang="en-US" altLang="zh-CN" b="1" dirty="0">
                <a:solidFill>
                  <a:srgbClr val="FF0000"/>
                </a:solidFill>
                <a:latin typeface="+mn-ea"/>
                <a:sym typeface="+mn-ea"/>
              </a:rPr>
              <a:t>x86/Debug</a:t>
            </a:r>
            <a:r>
              <a:rPr kumimoji="1" lang="zh-CN" altLang="en-US" b="1" dirty="0">
                <a:solidFill>
                  <a:srgbClr val="FF0000"/>
                </a:solidFill>
                <a:latin typeface="+mn-ea"/>
                <a:sym typeface="+mn-ea"/>
              </a:rPr>
              <a:t>模式</a:t>
            </a:r>
            <a:endParaRPr lang="zh-CN" altLang="en-US"/>
          </a:p>
        </p:txBody>
      </p:sp>
      <p:sp>
        <p:nvSpPr>
          <p:cNvPr id="22" name="文本框 21"/>
          <p:cNvSpPr txBox="1"/>
          <p:nvPr/>
        </p:nvSpPr>
        <p:spPr>
          <a:xfrm>
            <a:off x="7292340" y="4874260"/>
            <a:ext cx="414718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vs </a:t>
            </a:r>
            <a:r>
              <a:rPr lang="zh-CN" altLang="en-US"/>
              <a:t>的</a:t>
            </a:r>
            <a:r>
              <a:rPr lang="en-US" altLang="zh-CN"/>
              <a:t>debug</a:t>
            </a:r>
            <a:r>
              <a:rPr lang="zh-CN" altLang="en-US"/>
              <a:t>中，可以越界访问，但是在</a:t>
            </a:r>
            <a:r>
              <a:rPr lang="en-US" altLang="zh-CN"/>
              <a:t>free</a:t>
            </a:r>
            <a:r>
              <a:rPr lang="zh-CN" altLang="en-US"/>
              <a:t>的时候会出现异常，如果在访问修改后又改回去，</a:t>
            </a:r>
            <a:r>
              <a:rPr lang="en-US" altLang="zh-CN"/>
              <a:t>free</a:t>
            </a:r>
            <a:r>
              <a:rPr lang="zh-CN" altLang="en-US"/>
              <a:t>不会发现异常</a:t>
            </a:r>
            <a:endParaRPr lang="zh-CN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942340" y="1645920"/>
            <a:ext cx="819848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操作系统将内存分配给你的程序时，可能会在你分配的内存后面留有其他可用的内存空间。你的越界写入可能覆盖这些区域，但不会立即引发错误，直到你尝试访问受影响的内存。</a:t>
            </a:r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1133475" y="1090930"/>
            <a:ext cx="68865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越界访问赋值和越界赋值不出现</a:t>
            </a:r>
            <a:r>
              <a:rPr lang="en-US" altLang="zh-CN"/>
              <a:t>error</a:t>
            </a:r>
            <a:r>
              <a:rPr lang="zh-CN" altLang="en-US"/>
              <a:t>的原因：</a:t>
            </a:r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1123950" y="3159760"/>
            <a:ext cx="456882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为什么</a:t>
            </a:r>
            <a:r>
              <a:rPr lang="en-US" altLang="zh-CN"/>
              <a:t>1</a:t>
            </a:r>
            <a:r>
              <a:rPr lang="zh-CN" altLang="en-US"/>
              <a:t>、</a:t>
            </a:r>
            <a:r>
              <a:rPr lang="en-US" altLang="zh-CN"/>
              <a:t>3</a:t>
            </a:r>
            <a:r>
              <a:rPr lang="zh-CN" altLang="en-US"/>
              <a:t>会出现弹窗：</a:t>
            </a:r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798195" y="3954780"/>
            <a:ext cx="988504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在某些系统中，操作系统会实现内存保护机制，防止程序访问未分配的内存。如果程序在释放内存之前已经越界写入，可能会导致元数据损坏，从而在后续调用 free 时引发异常或错误。</a:t>
            </a:r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1267460" y="4893310"/>
            <a:ext cx="662813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因此，如果</a:t>
            </a:r>
            <a:r>
              <a:rPr lang="en-US" altLang="zh-CN"/>
              <a:t>1,2,3</a:t>
            </a:r>
            <a:r>
              <a:rPr lang="zh-CN" altLang="en-US"/>
              <a:t>同时放开，</a:t>
            </a:r>
            <a:r>
              <a:rPr lang="en-US" altLang="zh-CN"/>
              <a:t>free</a:t>
            </a:r>
            <a:r>
              <a:rPr lang="zh-CN" altLang="en-US"/>
              <a:t>无法检测到越界写入</a:t>
            </a:r>
            <a:endParaRPr lang="zh-CN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文本框 5"/>
          <p:cNvSpPr txBox="1"/>
          <p:nvPr/>
        </p:nvSpPr>
        <p:spPr>
          <a:xfrm>
            <a:off x="855980" y="650240"/>
            <a:ext cx="12249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全部注释</a:t>
            </a:r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3135630" y="640715"/>
            <a:ext cx="168529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放开</a:t>
            </a:r>
            <a:r>
              <a:rPr lang="en-US" altLang="zh-CN"/>
              <a:t>1</a:t>
            </a:r>
            <a:endParaRPr lang="en-US" altLang="zh-CN"/>
          </a:p>
        </p:txBody>
      </p:sp>
      <p:sp>
        <p:nvSpPr>
          <p:cNvPr id="10" name="文本框 9"/>
          <p:cNvSpPr txBox="1"/>
          <p:nvPr/>
        </p:nvSpPr>
        <p:spPr>
          <a:xfrm>
            <a:off x="4820920" y="650240"/>
            <a:ext cx="13341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放开</a:t>
            </a:r>
            <a:r>
              <a:rPr lang="en-US" altLang="zh-CN"/>
              <a:t>1</a:t>
            </a:r>
            <a:r>
              <a:rPr lang="zh-CN" altLang="en-US"/>
              <a:t>、</a:t>
            </a:r>
            <a:r>
              <a:rPr lang="en-US" altLang="zh-CN"/>
              <a:t>3</a:t>
            </a:r>
            <a:endParaRPr lang="en-US" altLang="zh-CN"/>
          </a:p>
        </p:txBody>
      </p:sp>
      <p:sp>
        <p:nvSpPr>
          <p:cNvPr id="11" name="文本框 10"/>
          <p:cNvSpPr txBox="1"/>
          <p:nvPr/>
        </p:nvSpPr>
        <p:spPr>
          <a:xfrm>
            <a:off x="7798435" y="626110"/>
            <a:ext cx="148209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放开</a:t>
            </a:r>
            <a:r>
              <a:rPr lang="en-US" altLang="zh-CN"/>
              <a:t>1/2/3</a:t>
            </a:r>
            <a:endParaRPr lang="zh-CN" altLang="en-US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6435" y="1243965"/>
            <a:ext cx="1394460" cy="352806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1162050" y="257810"/>
            <a:ext cx="270192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kumimoji="1" lang="en-US" altLang="zh-CN" b="1" dirty="0">
                <a:solidFill>
                  <a:schemeClr val="accent2"/>
                </a:solidFill>
                <a:latin typeface="+mn-ea"/>
                <a:sym typeface="+mn-ea"/>
              </a:rPr>
              <a:t>VS2022 x86/Release</a:t>
            </a:r>
            <a:endParaRPr lang="zh-CN" altLang="en-US"/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4320" y="1289685"/>
            <a:ext cx="1333500" cy="3482340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81245" y="1205865"/>
            <a:ext cx="1356360" cy="3566160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49845" y="1243965"/>
            <a:ext cx="2141220" cy="3528060"/>
          </a:xfrm>
          <a:prstGeom prst="rect">
            <a:avLst/>
          </a:prstGeom>
        </p:spPr>
      </p:pic>
      <p:sp>
        <p:nvSpPr>
          <p:cNvPr id="22" name="文本框 21"/>
          <p:cNvSpPr txBox="1"/>
          <p:nvPr/>
        </p:nvSpPr>
        <p:spPr>
          <a:xfrm>
            <a:off x="7292340" y="4874260"/>
            <a:ext cx="414718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release</a:t>
            </a:r>
            <a:r>
              <a:rPr lang="zh-CN" altLang="en-US"/>
              <a:t>留了可以修改的空间容错，越界修改并</a:t>
            </a:r>
            <a:r>
              <a:rPr lang="en-US" altLang="zh-CN"/>
              <a:t>free</a:t>
            </a:r>
            <a:r>
              <a:rPr lang="zh-CN" altLang="en-US"/>
              <a:t>时不会出现异常</a:t>
            </a:r>
            <a:endParaRPr lang="zh-CN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1200785" y="1522095"/>
            <a:ext cx="80264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内存布局随机性：在 Release 模式下，内存分配可能与 Debug 模式有所不同。即使发生了越界访问，也可能正好没有触及内存保护区域，从而不引发错误。</a:t>
            </a:r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1459230" y="822960"/>
            <a:ext cx="38601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为什么</a:t>
            </a:r>
            <a:r>
              <a:rPr lang="en-US" altLang="zh-CN"/>
              <a:t>release</a:t>
            </a:r>
            <a:r>
              <a:rPr lang="zh-CN" altLang="en-US"/>
              <a:t>不会跳弹窗？</a:t>
            </a:r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1296670" y="2413000"/>
            <a:ext cx="752856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由于优化、未定义行为的性质、内存布局差异和缺乏错误检测机制，越界访问可能不会导致明显的错误或崩溃。这并不意味着程序是安全的</a:t>
            </a:r>
            <a:endParaRPr lang="zh-CN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文本框 4"/>
          <p:cNvSpPr txBox="1"/>
          <p:nvPr/>
        </p:nvSpPr>
        <p:spPr>
          <a:xfrm>
            <a:off x="1162050" y="257810"/>
            <a:ext cx="270192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b="1" dirty="0">
                <a:solidFill>
                  <a:schemeClr val="accent2"/>
                </a:solidFill>
                <a:latin typeface="+mn-ea"/>
                <a:sym typeface="+mn-ea"/>
              </a:rPr>
              <a:t>Dev 32bit-Debug</a:t>
            </a:r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855980" y="650240"/>
            <a:ext cx="12249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全部注释</a:t>
            </a:r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3135630" y="640715"/>
            <a:ext cx="168529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放开</a:t>
            </a:r>
            <a:r>
              <a:rPr lang="en-US" altLang="zh-CN"/>
              <a:t>1</a:t>
            </a:r>
            <a:endParaRPr lang="en-US" altLang="zh-CN"/>
          </a:p>
        </p:txBody>
      </p:sp>
      <p:sp>
        <p:nvSpPr>
          <p:cNvPr id="10" name="文本框 9"/>
          <p:cNvSpPr txBox="1"/>
          <p:nvPr/>
        </p:nvSpPr>
        <p:spPr>
          <a:xfrm>
            <a:off x="5759450" y="626110"/>
            <a:ext cx="13341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放开</a:t>
            </a:r>
            <a:r>
              <a:rPr lang="en-US" altLang="zh-CN"/>
              <a:t>1</a:t>
            </a:r>
            <a:r>
              <a:rPr lang="zh-CN" altLang="en-US"/>
              <a:t>、</a:t>
            </a:r>
            <a:r>
              <a:rPr lang="en-US" altLang="zh-CN"/>
              <a:t>3</a:t>
            </a:r>
            <a:endParaRPr lang="en-US" altLang="zh-CN"/>
          </a:p>
        </p:txBody>
      </p:sp>
      <p:sp>
        <p:nvSpPr>
          <p:cNvPr id="11" name="文本框 10"/>
          <p:cNvSpPr txBox="1"/>
          <p:nvPr/>
        </p:nvSpPr>
        <p:spPr>
          <a:xfrm>
            <a:off x="7798435" y="626110"/>
            <a:ext cx="148209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放开</a:t>
            </a:r>
            <a:r>
              <a:rPr lang="en-US" altLang="zh-CN"/>
              <a:t>1/2/3</a:t>
            </a:r>
            <a:endParaRPr lang="zh-CN" altLang="en-US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5980" y="1513840"/>
            <a:ext cx="1440180" cy="354330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5980" y="5380355"/>
            <a:ext cx="1714500" cy="350520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97505" y="1490980"/>
            <a:ext cx="1493520" cy="356616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39745" y="5380355"/>
            <a:ext cx="1714500" cy="35052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79110" y="1395095"/>
            <a:ext cx="1235710" cy="358902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7510" y="5384800"/>
            <a:ext cx="1714500" cy="35052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33665" y="1559560"/>
            <a:ext cx="1546860" cy="3497580"/>
          </a:xfrm>
          <a:prstGeom prst="rect">
            <a:avLst/>
          </a:prstGeom>
        </p:spPr>
      </p:pic>
      <p:sp>
        <p:nvSpPr>
          <p:cNvPr id="22" name="文本框 21"/>
          <p:cNvSpPr txBox="1"/>
          <p:nvPr/>
        </p:nvSpPr>
        <p:spPr>
          <a:xfrm>
            <a:off x="7473950" y="5519420"/>
            <a:ext cx="414718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DEV</a:t>
            </a:r>
            <a:r>
              <a:rPr lang="zh-CN" altLang="en-US"/>
              <a:t>留了可以修改的空间容错，越界修改并</a:t>
            </a:r>
            <a:r>
              <a:rPr lang="en-US" altLang="zh-CN"/>
              <a:t>free</a:t>
            </a:r>
            <a:r>
              <a:rPr lang="zh-CN" altLang="en-US"/>
              <a:t>时不会出现异常</a:t>
            </a:r>
            <a:endParaRPr lang="zh-CN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文本框 4"/>
          <p:cNvSpPr txBox="1"/>
          <p:nvPr/>
        </p:nvSpPr>
        <p:spPr>
          <a:xfrm>
            <a:off x="1162050" y="257810"/>
            <a:ext cx="270192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kumimoji="1" lang="en-US" altLang="zh-CN" b="1" dirty="0">
                <a:solidFill>
                  <a:schemeClr val="accent2"/>
                </a:solidFill>
                <a:latin typeface="+mn-ea"/>
                <a:sym typeface="+mn-ea"/>
              </a:rPr>
              <a:t>Dev 32bit-Release</a:t>
            </a:r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855980" y="650240"/>
            <a:ext cx="12249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全部注释</a:t>
            </a:r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3135630" y="640715"/>
            <a:ext cx="168529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放开</a:t>
            </a:r>
            <a:r>
              <a:rPr lang="en-US" altLang="zh-CN"/>
              <a:t>1</a:t>
            </a:r>
            <a:endParaRPr lang="en-US" altLang="zh-CN"/>
          </a:p>
        </p:txBody>
      </p:sp>
      <p:sp>
        <p:nvSpPr>
          <p:cNvPr id="10" name="文本框 9"/>
          <p:cNvSpPr txBox="1"/>
          <p:nvPr/>
        </p:nvSpPr>
        <p:spPr>
          <a:xfrm>
            <a:off x="5759450" y="626110"/>
            <a:ext cx="13341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放开</a:t>
            </a:r>
            <a:r>
              <a:rPr lang="en-US" altLang="zh-CN"/>
              <a:t>1</a:t>
            </a:r>
            <a:r>
              <a:rPr lang="zh-CN" altLang="en-US"/>
              <a:t>、</a:t>
            </a:r>
            <a:r>
              <a:rPr lang="en-US" altLang="zh-CN"/>
              <a:t>3</a:t>
            </a:r>
            <a:endParaRPr lang="en-US" altLang="zh-CN"/>
          </a:p>
        </p:txBody>
      </p:sp>
      <p:sp>
        <p:nvSpPr>
          <p:cNvPr id="11" name="文本框 10"/>
          <p:cNvSpPr txBox="1"/>
          <p:nvPr/>
        </p:nvSpPr>
        <p:spPr>
          <a:xfrm>
            <a:off x="7798435" y="626110"/>
            <a:ext cx="148209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放开</a:t>
            </a:r>
            <a:r>
              <a:rPr lang="en-US" altLang="zh-CN"/>
              <a:t>1/2/3</a:t>
            </a:r>
            <a:endParaRPr lang="zh-CN" altLang="en-US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4045" y="994410"/>
            <a:ext cx="1409700" cy="354330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1295" y="1040130"/>
            <a:ext cx="1363980" cy="349758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84825" y="1040130"/>
            <a:ext cx="1508760" cy="345948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80350" y="1129030"/>
            <a:ext cx="1699260" cy="3528060"/>
          </a:xfrm>
          <a:prstGeom prst="rect">
            <a:avLst/>
          </a:prstGeom>
        </p:spPr>
      </p:pic>
      <p:sp>
        <p:nvSpPr>
          <p:cNvPr id="22" name="文本框 21"/>
          <p:cNvSpPr txBox="1"/>
          <p:nvPr/>
        </p:nvSpPr>
        <p:spPr>
          <a:xfrm>
            <a:off x="7473950" y="5519420"/>
            <a:ext cx="414718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DEV</a:t>
            </a:r>
            <a:r>
              <a:rPr lang="zh-CN" altLang="en-US"/>
              <a:t>留了可以修改的空间容错，越界修改并</a:t>
            </a:r>
            <a:r>
              <a:rPr lang="en-US" altLang="zh-CN"/>
              <a:t>free</a:t>
            </a:r>
            <a:r>
              <a:rPr lang="zh-CN" altLang="en-US"/>
              <a:t>时不会出现异常</a:t>
            </a:r>
            <a:endParaRPr lang="zh-CN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文本框 4"/>
          <p:cNvSpPr txBox="1"/>
          <p:nvPr/>
        </p:nvSpPr>
        <p:spPr>
          <a:xfrm>
            <a:off x="1162050" y="257810"/>
            <a:ext cx="270192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kumimoji="1" lang="en-US" altLang="zh-CN" b="1" dirty="0">
                <a:solidFill>
                  <a:schemeClr val="accent2"/>
                </a:solidFill>
                <a:latin typeface="+mn-ea"/>
                <a:sym typeface="+mn-ea"/>
              </a:rPr>
              <a:t>Linux</a:t>
            </a:r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855980" y="650240"/>
            <a:ext cx="12249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全部注释</a:t>
            </a:r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3135630" y="640715"/>
            <a:ext cx="168529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放开</a:t>
            </a:r>
            <a:r>
              <a:rPr lang="en-US" altLang="zh-CN"/>
              <a:t>1</a:t>
            </a:r>
            <a:endParaRPr lang="en-US" altLang="zh-CN"/>
          </a:p>
        </p:txBody>
      </p:sp>
      <p:sp>
        <p:nvSpPr>
          <p:cNvPr id="10" name="文本框 9"/>
          <p:cNvSpPr txBox="1"/>
          <p:nvPr/>
        </p:nvSpPr>
        <p:spPr>
          <a:xfrm>
            <a:off x="5759450" y="626110"/>
            <a:ext cx="13341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放开</a:t>
            </a:r>
            <a:r>
              <a:rPr lang="en-US" altLang="zh-CN"/>
              <a:t>1</a:t>
            </a:r>
            <a:r>
              <a:rPr lang="zh-CN" altLang="en-US"/>
              <a:t>、</a:t>
            </a:r>
            <a:r>
              <a:rPr lang="en-US" altLang="zh-CN"/>
              <a:t>3</a:t>
            </a:r>
            <a:endParaRPr lang="en-US" altLang="zh-CN"/>
          </a:p>
        </p:txBody>
      </p:sp>
      <p:sp>
        <p:nvSpPr>
          <p:cNvPr id="11" name="文本框 10"/>
          <p:cNvSpPr txBox="1"/>
          <p:nvPr/>
        </p:nvSpPr>
        <p:spPr>
          <a:xfrm>
            <a:off x="7798435" y="626110"/>
            <a:ext cx="148209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放开</a:t>
            </a:r>
            <a:r>
              <a:rPr lang="en-US" altLang="zh-CN"/>
              <a:t>1/2/3</a:t>
            </a:r>
            <a:endParaRPr lang="zh-CN" altLang="en-US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9065" y="1390650"/>
            <a:ext cx="2659380" cy="3310255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52445" y="1390650"/>
            <a:ext cx="1851660" cy="330962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49265" y="1529715"/>
            <a:ext cx="1426845" cy="327533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1270" y="1595755"/>
            <a:ext cx="1485900" cy="3398520"/>
          </a:xfrm>
          <a:prstGeom prst="rect">
            <a:avLst/>
          </a:prstGeom>
        </p:spPr>
      </p:pic>
      <p:sp>
        <p:nvSpPr>
          <p:cNvPr id="22" name="文本框 21"/>
          <p:cNvSpPr txBox="1"/>
          <p:nvPr/>
        </p:nvSpPr>
        <p:spPr>
          <a:xfrm>
            <a:off x="7473950" y="5519420"/>
            <a:ext cx="414718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Linux</a:t>
            </a:r>
            <a:r>
              <a:rPr lang="zh-CN" altLang="en-US"/>
              <a:t>留了可以修改的空间容错，越界修改并</a:t>
            </a:r>
            <a:r>
              <a:rPr lang="en-US" altLang="zh-CN"/>
              <a:t>free</a:t>
            </a:r>
            <a:r>
              <a:rPr lang="zh-CN" altLang="en-US"/>
              <a:t>时不会出现异常</a:t>
            </a:r>
            <a:endParaRPr lang="zh-CN" alt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>
                <a:latin typeface="+mn-ea"/>
              </a:rPr>
              <a:t>关于动态内存申请后越界访问的深度讨论</a:t>
            </a:r>
            <a:endParaRPr lang="zh-CN" altLang="en-US" sz="28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★ </a:t>
            </a:r>
            <a:r>
              <a:rPr lang="zh-CN" altLang="en-US" sz="1600" b="1" dirty="0">
                <a:latin typeface="+mn-ea"/>
              </a:rPr>
              <a:t>如何判断动态申请越界（</a:t>
            </a:r>
            <a:r>
              <a:rPr lang="en-US" altLang="zh-CN" sz="1600" b="1" dirty="0">
                <a:latin typeface="+mn-ea"/>
              </a:rPr>
              <a:t>C++</a:t>
            </a:r>
            <a:r>
              <a:rPr lang="zh-CN" altLang="en-US" sz="1600" b="1" dirty="0">
                <a:latin typeface="+mn-ea"/>
              </a:rPr>
              <a:t>方式，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注意源程序后缀为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.</a:t>
            </a:r>
            <a:r>
              <a:rPr lang="en-US" altLang="zh-CN" sz="1600" b="1" dirty="0" err="1">
                <a:solidFill>
                  <a:srgbClr val="FF0000"/>
                </a:solidFill>
                <a:latin typeface="+mn-ea"/>
              </a:rPr>
              <a:t>cpp</a:t>
            </a:r>
            <a:r>
              <a:rPr lang="zh-CN" altLang="en-US" sz="1600" b="1" dirty="0">
                <a:latin typeface="+mn-ea"/>
              </a:rPr>
              <a:t>）</a:t>
            </a:r>
            <a:endParaRPr lang="zh-CN" altLang="en-US" sz="1600" b="1" dirty="0">
              <a:latin typeface="+mn-ea"/>
            </a:endParaRPr>
          </a:p>
        </p:txBody>
      </p:sp>
      <p:sp>
        <p:nvSpPr>
          <p:cNvPr id="5" name="矩形 4"/>
          <p:cNvSpPr/>
          <p:nvPr/>
        </p:nvSpPr>
        <p:spPr bwMode="auto">
          <a:xfrm>
            <a:off x="484720" y="980728"/>
            <a:ext cx="10461702" cy="5724872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#define _CRT_SECURE_NO_WARNINGS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&lt;iostream&gt;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cstring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&gt;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using namespace std;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 main()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char *p;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p = new(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nothrow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) char[10];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if (p == NULL)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return -1;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strcpy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(p, "123456789");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①  p[10] = 'a';    //</a:t>
            </a:r>
            <a:r>
              <a:rPr kumimoji="1" lang="zh-CN" altLang="en-US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此句越界</a:t>
            </a:r>
            <a:endParaRPr kumimoji="1" lang="en-US" altLang="zh-CN" sz="16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p[14] = 'A';    //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此句越界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p[15] = 'B';    //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此句越界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②  p[10] = '\</a:t>
            </a:r>
            <a:r>
              <a:rPr kumimoji="1" lang="en-US" altLang="zh-CN" sz="1600" b="1" dirty="0" err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xfd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'; //</a:t>
            </a:r>
            <a:r>
              <a:rPr kumimoji="1" lang="zh-CN" altLang="en-US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此句越界</a:t>
            </a:r>
            <a:endParaRPr kumimoji="1" lang="en-US" altLang="zh-CN" sz="16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"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addr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:" &lt;&lt; hex &lt;&lt; (void *)(p)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nn-NO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for (int i = 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-4</a:t>
            </a:r>
            <a:r>
              <a:rPr kumimoji="1" lang="nn-NO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 i &lt; 16; i++) //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注意，只有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0-9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是合理范围，其余都是</a:t>
            </a:r>
            <a:r>
              <a:rPr kumimoji="1" lang="zh-CN" altLang="en-US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越界读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hex &lt;&lt; (void *)(p +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) &lt;&lt; ":" &lt;&lt; int(p[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])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③  delete[]p;</a:t>
            </a:r>
            <a:endParaRPr kumimoji="1" lang="en-US" altLang="zh-CN" sz="16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return 0;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  <a:endParaRPr kumimoji="1" lang="zh-CN" altLang="en-US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" name="矩形 3"/>
          <p:cNvSpPr/>
          <p:nvPr/>
        </p:nvSpPr>
        <p:spPr bwMode="auto">
          <a:xfrm>
            <a:off x="7202006" y="980727"/>
            <a:ext cx="3744416" cy="4030888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在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VS2022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的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x86/Debug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模式下运行：</a:t>
            </a: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1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、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①②③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全部注释，观察运行结果</a:t>
            </a: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2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、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①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放开，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②③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注释，观察运行结果</a:t>
            </a: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3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、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①③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放开，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②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注释，观察运行结果</a:t>
            </a: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4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、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①②③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全部放开，观察运行结果</a:t>
            </a: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结论：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VS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的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Debug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模式是如何判断</a:t>
            </a: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      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动态申请内存访问越界的？</a:t>
            </a: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chemeClr val="accent2"/>
                </a:solidFill>
                <a:latin typeface="+mn-ea"/>
              </a:rPr>
              <a:t>再观察下面四种环境下的运行结果：</a:t>
            </a:r>
            <a:endParaRPr kumimoji="1" lang="en-US" altLang="zh-CN" sz="1600" b="1" dirty="0">
              <a:solidFill>
                <a:schemeClr val="accent2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chemeClr val="accent2"/>
                </a:solidFill>
                <a:latin typeface="+mn-ea"/>
              </a:rPr>
              <a:t>    VS2022 x86/Release</a:t>
            </a:r>
            <a:endParaRPr kumimoji="1" lang="en-US" altLang="zh-CN" sz="1600" b="1" dirty="0">
              <a:solidFill>
                <a:schemeClr val="accent2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chemeClr val="accent2"/>
                </a:solidFill>
                <a:latin typeface="+mn-ea"/>
              </a:rPr>
              <a:t>    Dev 32bit-Debug</a:t>
            </a:r>
            <a:endParaRPr kumimoji="1" lang="en-US" altLang="zh-CN" sz="1600" b="1" dirty="0">
              <a:solidFill>
                <a:schemeClr val="accent2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chemeClr val="accent2"/>
                </a:solidFill>
                <a:latin typeface="+mn-ea"/>
              </a:rPr>
              <a:t>    Dev 32bit-Release</a:t>
            </a:r>
            <a:endParaRPr kumimoji="1" lang="en-US" altLang="zh-CN" sz="1600" b="1" dirty="0">
              <a:solidFill>
                <a:schemeClr val="accent2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chemeClr val="accent2"/>
                </a:solidFill>
                <a:latin typeface="+mn-ea"/>
              </a:rPr>
              <a:t>    Linux</a:t>
            </a:r>
            <a:endParaRPr kumimoji="1" lang="en-US" altLang="zh-CN" sz="1600" b="1" dirty="0">
              <a:solidFill>
                <a:schemeClr val="accent2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chemeClr val="accent2"/>
                </a:solidFill>
                <a:latin typeface="+mn-ea"/>
              </a:rPr>
              <a:t>每种讨论的结果可截图</a:t>
            </a:r>
            <a:r>
              <a:rPr kumimoji="1" lang="en-US" altLang="zh-CN" sz="1600" b="1" dirty="0">
                <a:solidFill>
                  <a:schemeClr val="accent2"/>
                </a:solidFill>
                <a:latin typeface="+mn-ea"/>
              </a:rPr>
              <a:t>+</a:t>
            </a:r>
            <a:r>
              <a:rPr kumimoji="1" lang="zh-CN" altLang="en-US" sz="1600" b="1" dirty="0">
                <a:solidFill>
                  <a:schemeClr val="accent2"/>
                </a:solidFill>
                <a:latin typeface="+mn-ea"/>
              </a:rPr>
              <a:t>文字说明，</a:t>
            </a:r>
            <a:endParaRPr kumimoji="1" lang="en-US" altLang="zh-CN" sz="1600" b="1" dirty="0">
              <a:solidFill>
                <a:schemeClr val="accent2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chemeClr val="accent2"/>
                </a:solidFill>
                <a:latin typeface="+mn-ea"/>
              </a:rPr>
              <a:t>如果几种环境的结果一致，用一个</a:t>
            </a:r>
            <a:endParaRPr kumimoji="1" lang="en-US" altLang="zh-CN" sz="1600" b="1" dirty="0">
              <a:solidFill>
                <a:schemeClr val="accent2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chemeClr val="accent2"/>
                </a:solidFill>
                <a:latin typeface="+mn-ea"/>
              </a:rPr>
              <a:t>环境的截图</a:t>
            </a:r>
            <a:r>
              <a:rPr kumimoji="1" lang="en-US" altLang="zh-CN" sz="1600" b="1" dirty="0">
                <a:solidFill>
                  <a:schemeClr val="accent2"/>
                </a:solidFill>
                <a:latin typeface="+mn-ea"/>
              </a:rPr>
              <a:t>+</a:t>
            </a:r>
            <a:r>
              <a:rPr kumimoji="1" lang="zh-CN" altLang="en-US" sz="1600" b="1" dirty="0">
                <a:solidFill>
                  <a:schemeClr val="accent2"/>
                </a:solidFill>
                <a:latin typeface="+mn-ea"/>
              </a:rPr>
              <a:t>文字说明即可</a:t>
            </a:r>
            <a:r>
              <a:rPr kumimoji="1" lang="en-US" altLang="zh-CN" sz="1600" b="1" dirty="0">
                <a:solidFill>
                  <a:schemeClr val="accent2"/>
                </a:solidFill>
                <a:latin typeface="+mn-ea"/>
              </a:rPr>
              <a:t>(</a:t>
            </a:r>
            <a:r>
              <a:rPr kumimoji="1" lang="zh-CN" altLang="en-US" sz="1600" b="1" dirty="0">
                <a:solidFill>
                  <a:schemeClr val="accent2"/>
                </a:solidFill>
                <a:latin typeface="+mn-ea"/>
              </a:rPr>
              <a:t>可加页</a:t>
            </a:r>
            <a:r>
              <a:rPr kumimoji="1" lang="en-US" altLang="zh-CN" sz="1600" b="1" dirty="0">
                <a:solidFill>
                  <a:schemeClr val="accent2"/>
                </a:solidFill>
                <a:latin typeface="+mn-ea"/>
              </a:rPr>
              <a:t>)</a:t>
            </a:r>
            <a:endParaRPr kumimoji="1" lang="en-US" altLang="zh-CN" sz="1600" b="1" dirty="0">
              <a:solidFill>
                <a:schemeClr val="accent2"/>
              </a:solidFill>
              <a:latin typeface="+mn-ea"/>
            </a:endParaRPr>
          </a:p>
        </p:txBody>
      </p:sp>
    </p:spTree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942340" y="1645920"/>
            <a:ext cx="819848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操作系统将内存分配给你的程序时，可能会在你分配的内存后面留有其他可用的内存空间。你的越界写入可能覆盖这些区域，但不会立即引发错误，直到你尝试访问受影响的内存。</a:t>
            </a:r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1133475" y="1090930"/>
            <a:ext cx="68865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越界访问赋值和越界赋值不出现</a:t>
            </a:r>
            <a:r>
              <a:rPr lang="en-US" altLang="zh-CN"/>
              <a:t>error</a:t>
            </a:r>
            <a:r>
              <a:rPr lang="zh-CN" altLang="en-US"/>
              <a:t>的原因：</a:t>
            </a:r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1123950" y="3159760"/>
            <a:ext cx="456882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为什么</a:t>
            </a:r>
            <a:r>
              <a:rPr lang="en-US" altLang="zh-CN"/>
              <a:t>1</a:t>
            </a:r>
            <a:r>
              <a:rPr lang="zh-CN" altLang="en-US"/>
              <a:t>、</a:t>
            </a:r>
            <a:r>
              <a:rPr lang="en-US" altLang="zh-CN"/>
              <a:t>3</a:t>
            </a:r>
            <a:r>
              <a:rPr lang="zh-CN" altLang="en-US"/>
              <a:t>会出现弹窗：</a:t>
            </a:r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798195" y="3954780"/>
            <a:ext cx="988504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在某些系统中，操作系统会实现内存保护机制，防止程序访问未分配的内存。如果程序在释放内存之前已经越界写入，可能会导致元数据损坏，从而在后续调用 free 时引发异常或错误。</a:t>
            </a:r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1267460" y="4893310"/>
            <a:ext cx="662813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因此，如果</a:t>
            </a:r>
            <a:r>
              <a:rPr lang="en-US" altLang="zh-CN"/>
              <a:t>1,2,3</a:t>
            </a:r>
            <a:r>
              <a:rPr lang="zh-CN" altLang="en-US"/>
              <a:t>同时放开，</a:t>
            </a:r>
            <a:r>
              <a:rPr lang="en-US" altLang="zh-CN"/>
              <a:t>delete</a:t>
            </a:r>
            <a:r>
              <a:rPr lang="zh-CN" altLang="en-US"/>
              <a:t>无法检测到越界写入</a:t>
            </a:r>
            <a:endParaRPr lang="zh-CN" alt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文本框 5"/>
          <p:cNvSpPr txBox="1"/>
          <p:nvPr/>
        </p:nvSpPr>
        <p:spPr>
          <a:xfrm>
            <a:off x="855980" y="650240"/>
            <a:ext cx="12249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全部注释</a:t>
            </a:r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3135630" y="640715"/>
            <a:ext cx="168529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放开</a:t>
            </a:r>
            <a:r>
              <a:rPr lang="en-US" altLang="zh-CN"/>
              <a:t>1</a:t>
            </a:r>
            <a:endParaRPr lang="en-US" altLang="zh-CN"/>
          </a:p>
        </p:txBody>
      </p:sp>
      <p:sp>
        <p:nvSpPr>
          <p:cNvPr id="10" name="文本框 9"/>
          <p:cNvSpPr txBox="1"/>
          <p:nvPr/>
        </p:nvSpPr>
        <p:spPr>
          <a:xfrm>
            <a:off x="5759450" y="626110"/>
            <a:ext cx="13341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放开</a:t>
            </a:r>
            <a:r>
              <a:rPr lang="en-US" altLang="zh-CN"/>
              <a:t>1</a:t>
            </a:r>
            <a:r>
              <a:rPr lang="zh-CN" altLang="en-US"/>
              <a:t>、</a:t>
            </a:r>
            <a:r>
              <a:rPr lang="en-US" altLang="zh-CN"/>
              <a:t>3</a:t>
            </a:r>
            <a:endParaRPr lang="en-US" altLang="zh-CN"/>
          </a:p>
        </p:txBody>
      </p:sp>
      <p:sp>
        <p:nvSpPr>
          <p:cNvPr id="11" name="文本框 10"/>
          <p:cNvSpPr txBox="1"/>
          <p:nvPr/>
        </p:nvSpPr>
        <p:spPr>
          <a:xfrm>
            <a:off x="9503410" y="836930"/>
            <a:ext cx="148209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放开</a:t>
            </a:r>
            <a:r>
              <a:rPr lang="en-US" altLang="zh-CN"/>
              <a:t>1/2/3</a:t>
            </a:r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635635" y="219075"/>
            <a:ext cx="21647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kumimoji="1" lang="en-US" altLang="zh-CN" b="1" dirty="0">
                <a:solidFill>
                  <a:srgbClr val="FF0000"/>
                </a:solidFill>
                <a:latin typeface="+mn-ea"/>
                <a:sym typeface="+mn-ea"/>
              </a:rPr>
              <a:t>VS2022</a:t>
            </a:r>
            <a:r>
              <a:rPr kumimoji="1" lang="zh-CN" altLang="en-US" b="1" dirty="0">
                <a:solidFill>
                  <a:srgbClr val="FF0000"/>
                </a:solidFill>
                <a:latin typeface="+mn-ea"/>
                <a:sym typeface="+mn-ea"/>
              </a:rPr>
              <a:t>的</a:t>
            </a:r>
            <a:r>
              <a:rPr kumimoji="1" lang="en-US" altLang="zh-CN" b="1" dirty="0">
                <a:solidFill>
                  <a:srgbClr val="FF0000"/>
                </a:solidFill>
                <a:latin typeface="+mn-ea"/>
                <a:sym typeface="+mn-ea"/>
              </a:rPr>
              <a:t>x86/Debug</a:t>
            </a:r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6230" y="1538605"/>
            <a:ext cx="2484120" cy="355092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22320" y="1538605"/>
            <a:ext cx="1501140" cy="353568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45430" y="1759585"/>
            <a:ext cx="3491230" cy="235712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97035" y="1645920"/>
            <a:ext cx="2141220" cy="3566160"/>
          </a:xfrm>
          <a:prstGeom prst="rect">
            <a:avLst/>
          </a:prstGeom>
        </p:spPr>
      </p:pic>
      <p:sp>
        <p:nvSpPr>
          <p:cNvPr id="22" name="文本框 21"/>
          <p:cNvSpPr txBox="1"/>
          <p:nvPr/>
        </p:nvSpPr>
        <p:spPr>
          <a:xfrm>
            <a:off x="6190615" y="5554980"/>
            <a:ext cx="414718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vs </a:t>
            </a:r>
            <a:r>
              <a:rPr lang="zh-CN" altLang="en-US"/>
              <a:t>的</a:t>
            </a:r>
            <a:r>
              <a:rPr lang="en-US" altLang="zh-CN"/>
              <a:t>debug</a:t>
            </a:r>
            <a:r>
              <a:rPr lang="zh-CN" altLang="en-US"/>
              <a:t>中，可以越界访问，但是在</a:t>
            </a:r>
            <a:r>
              <a:rPr lang="en-US" altLang="zh-CN"/>
              <a:t>delete</a:t>
            </a:r>
            <a:r>
              <a:rPr lang="zh-CN" altLang="en-US"/>
              <a:t>的时候会出现异常，如果在访问修改后又改回去，</a:t>
            </a:r>
            <a:r>
              <a:rPr lang="en-US" altLang="zh-CN"/>
              <a:t>delete</a:t>
            </a:r>
            <a:r>
              <a:rPr lang="zh-CN" altLang="en-US"/>
              <a:t>不会发现异常</a:t>
            </a:r>
            <a:endParaRPr lang="zh-CN" alt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1200785" y="1522095"/>
            <a:ext cx="80264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内存布局随机性：在 Release 模式下，内存分配可能与 Debug 模式有所不同。即使发生了越界访问，也可能正好没有触及内存保护区域，从而不引发错误。</a:t>
            </a:r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1459230" y="822960"/>
            <a:ext cx="38601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为什么</a:t>
            </a:r>
            <a:r>
              <a:rPr lang="en-US" altLang="zh-CN"/>
              <a:t>release</a:t>
            </a:r>
            <a:r>
              <a:rPr lang="zh-CN" altLang="en-US"/>
              <a:t>不会跳弹窗？</a:t>
            </a:r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1296670" y="2413000"/>
            <a:ext cx="752856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由于优化、未定义行为的性质、内存布局差异和缺乏错误检测机制，越界访问可能不会导致明显的错误或崩溃。这并不意味着程序是安全的</a:t>
            </a:r>
            <a:endParaRPr lang="zh-CN" alt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文本框 5"/>
          <p:cNvSpPr txBox="1"/>
          <p:nvPr/>
        </p:nvSpPr>
        <p:spPr>
          <a:xfrm>
            <a:off x="855980" y="650240"/>
            <a:ext cx="12249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全部注释</a:t>
            </a:r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3135630" y="640715"/>
            <a:ext cx="168529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放开</a:t>
            </a:r>
            <a:r>
              <a:rPr lang="en-US" altLang="zh-CN"/>
              <a:t>1</a:t>
            </a:r>
            <a:endParaRPr lang="en-US" altLang="zh-CN"/>
          </a:p>
        </p:txBody>
      </p:sp>
      <p:sp>
        <p:nvSpPr>
          <p:cNvPr id="10" name="文本框 9"/>
          <p:cNvSpPr txBox="1"/>
          <p:nvPr/>
        </p:nvSpPr>
        <p:spPr>
          <a:xfrm>
            <a:off x="5759450" y="626110"/>
            <a:ext cx="13341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放开</a:t>
            </a:r>
            <a:r>
              <a:rPr lang="en-US" altLang="zh-CN"/>
              <a:t>1</a:t>
            </a:r>
            <a:r>
              <a:rPr lang="zh-CN" altLang="en-US"/>
              <a:t>、</a:t>
            </a:r>
            <a:r>
              <a:rPr lang="en-US" altLang="zh-CN"/>
              <a:t>3</a:t>
            </a:r>
            <a:endParaRPr lang="en-US" altLang="zh-CN"/>
          </a:p>
        </p:txBody>
      </p:sp>
      <p:sp>
        <p:nvSpPr>
          <p:cNvPr id="11" name="文本框 10"/>
          <p:cNvSpPr txBox="1"/>
          <p:nvPr/>
        </p:nvSpPr>
        <p:spPr>
          <a:xfrm>
            <a:off x="7798435" y="626110"/>
            <a:ext cx="148209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放开</a:t>
            </a:r>
            <a:r>
              <a:rPr lang="en-US" altLang="zh-CN"/>
              <a:t>1/2/3</a:t>
            </a:r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1995" y="1502410"/>
            <a:ext cx="1492250" cy="3853180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635635" y="219075"/>
            <a:ext cx="24136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kumimoji="1" lang="en-US" altLang="zh-CN" b="1" dirty="0">
                <a:solidFill>
                  <a:srgbClr val="FF0000"/>
                </a:solidFill>
                <a:latin typeface="+mn-ea"/>
                <a:sym typeface="+mn-ea"/>
              </a:rPr>
              <a:t>VS2022</a:t>
            </a:r>
            <a:r>
              <a:rPr kumimoji="1" lang="zh-CN" altLang="en-US" b="1" dirty="0">
                <a:solidFill>
                  <a:srgbClr val="FF0000"/>
                </a:solidFill>
                <a:latin typeface="+mn-ea"/>
                <a:sym typeface="+mn-ea"/>
              </a:rPr>
              <a:t>的</a:t>
            </a:r>
            <a:r>
              <a:rPr kumimoji="1" lang="en-US" altLang="zh-CN" b="1" dirty="0">
                <a:solidFill>
                  <a:srgbClr val="FF0000"/>
                </a:solidFill>
                <a:latin typeface="+mn-ea"/>
                <a:sym typeface="+mn-ea"/>
              </a:rPr>
              <a:t>x86/release</a:t>
            </a:r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54020" y="1626870"/>
            <a:ext cx="1379220" cy="360426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4960" y="1502410"/>
            <a:ext cx="1506855" cy="379984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98435" y="1502410"/>
            <a:ext cx="1609090" cy="3954780"/>
          </a:xfrm>
          <a:prstGeom prst="rect">
            <a:avLst/>
          </a:prstGeom>
        </p:spPr>
      </p:pic>
      <p:sp>
        <p:nvSpPr>
          <p:cNvPr id="22" name="文本框 21"/>
          <p:cNvSpPr txBox="1"/>
          <p:nvPr/>
        </p:nvSpPr>
        <p:spPr>
          <a:xfrm>
            <a:off x="7186930" y="5803265"/>
            <a:ext cx="414718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release</a:t>
            </a:r>
            <a:r>
              <a:rPr lang="zh-CN" altLang="en-US"/>
              <a:t>留了可以修改的空间容错，越界修改并</a:t>
            </a:r>
            <a:r>
              <a:rPr lang="en-US" altLang="zh-CN"/>
              <a:t>delete</a:t>
            </a:r>
            <a:r>
              <a:rPr lang="zh-CN" altLang="en-US"/>
              <a:t>时不会出现异常</a:t>
            </a:r>
            <a:endParaRPr lang="zh-CN" alt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文本框 5"/>
          <p:cNvSpPr txBox="1"/>
          <p:nvPr/>
        </p:nvSpPr>
        <p:spPr>
          <a:xfrm>
            <a:off x="855980" y="650240"/>
            <a:ext cx="12249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全部注释</a:t>
            </a:r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3135630" y="640715"/>
            <a:ext cx="168529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放开</a:t>
            </a:r>
            <a:r>
              <a:rPr lang="en-US" altLang="zh-CN"/>
              <a:t>1</a:t>
            </a:r>
            <a:endParaRPr lang="en-US" altLang="zh-CN"/>
          </a:p>
        </p:txBody>
      </p:sp>
      <p:sp>
        <p:nvSpPr>
          <p:cNvPr id="10" name="文本框 9"/>
          <p:cNvSpPr txBox="1"/>
          <p:nvPr/>
        </p:nvSpPr>
        <p:spPr>
          <a:xfrm>
            <a:off x="5759450" y="626110"/>
            <a:ext cx="13341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放开</a:t>
            </a:r>
            <a:r>
              <a:rPr lang="en-US" altLang="zh-CN"/>
              <a:t>1</a:t>
            </a:r>
            <a:r>
              <a:rPr lang="zh-CN" altLang="en-US"/>
              <a:t>、</a:t>
            </a:r>
            <a:r>
              <a:rPr lang="en-US" altLang="zh-CN"/>
              <a:t>3</a:t>
            </a:r>
            <a:endParaRPr lang="en-US" altLang="zh-CN"/>
          </a:p>
        </p:txBody>
      </p:sp>
      <p:sp>
        <p:nvSpPr>
          <p:cNvPr id="11" name="文本框 10"/>
          <p:cNvSpPr txBox="1"/>
          <p:nvPr/>
        </p:nvSpPr>
        <p:spPr>
          <a:xfrm>
            <a:off x="7798435" y="626110"/>
            <a:ext cx="148209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放开</a:t>
            </a:r>
            <a:r>
              <a:rPr lang="en-US" altLang="zh-CN"/>
              <a:t>1/2/3</a:t>
            </a:r>
            <a:endParaRPr lang="zh-CN" altLang="en-US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2000" y="1470025"/>
            <a:ext cx="1722120" cy="361188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0375" y="1470025"/>
            <a:ext cx="1440180" cy="352044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72100" y="1653540"/>
            <a:ext cx="1447800" cy="355092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97495" y="1508125"/>
            <a:ext cx="1684020" cy="3573780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481965" y="180975"/>
            <a:ext cx="250952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kumimoji="1" lang="en-US" altLang="zh-CN" b="1" dirty="0">
                <a:solidFill>
                  <a:schemeClr val="accent2"/>
                </a:solidFill>
                <a:latin typeface="+mn-ea"/>
                <a:sym typeface="+mn-ea"/>
              </a:rPr>
              <a:t>Dev 32bit-Debug</a:t>
            </a:r>
            <a:endParaRPr lang="zh-CN" altLang="en-US"/>
          </a:p>
        </p:txBody>
      </p:sp>
      <p:sp>
        <p:nvSpPr>
          <p:cNvPr id="22" name="文本框 21"/>
          <p:cNvSpPr txBox="1"/>
          <p:nvPr/>
        </p:nvSpPr>
        <p:spPr>
          <a:xfrm>
            <a:off x="7473950" y="5519420"/>
            <a:ext cx="414718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DEV</a:t>
            </a:r>
            <a:r>
              <a:rPr lang="zh-CN" altLang="en-US"/>
              <a:t>留了可以修改的空间容错，越界修改并</a:t>
            </a:r>
            <a:r>
              <a:rPr lang="en-US" altLang="zh-CN"/>
              <a:t>delete</a:t>
            </a:r>
            <a:r>
              <a:rPr lang="zh-CN" altLang="en-US"/>
              <a:t>时不会出现异常</a:t>
            </a:r>
            <a:endParaRPr lang="zh-CN" alt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文本框 5"/>
          <p:cNvSpPr txBox="1"/>
          <p:nvPr/>
        </p:nvSpPr>
        <p:spPr>
          <a:xfrm>
            <a:off x="855980" y="650240"/>
            <a:ext cx="12249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全部注释</a:t>
            </a:r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3135630" y="640715"/>
            <a:ext cx="168529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放开</a:t>
            </a:r>
            <a:r>
              <a:rPr lang="en-US" altLang="zh-CN"/>
              <a:t>1</a:t>
            </a:r>
            <a:endParaRPr lang="en-US" altLang="zh-CN"/>
          </a:p>
        </p:txBody>
      </p:sp>
      <p:sp>
        <p:nvSpPr>
          <p:cNvPr id="10" name="文本框 9"/>
          <p:cNvSpPr txBox="1"/>
          <p:nvPr/>
        </p:nvSpPr>
        <p:spPr>
          <a:xfrm>
            <a:off x="5759450" y="626110"/>
            <a:ext cx="13341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放开</a:t>
            </a:r>
            <a:r>
              <a:rPr lang="en-US" altLang="zh-CN"/>
              <a:t>1</a:t>
            </a:r>
            <a:r>
              <a:rPr lang="zh-CN" altLang="en-US"/>
              <a:t>、</a:t>
            </a:r>
            <a:r>
              <a:rPr lang="en-US" altLang="zh-CN"/>
              <a:t>3</a:t>
            </a:r>
            <a:endParaRPr lang="en-US" altLang="zh-CN"/>
          </a:p>
        </p:txBody>
      </p:sp>
      <p:sp>
        <p:nvSpPr>
          <p:cNvPr id="11" name="文本框 10"/>
          <p:cNvSpPr txBox="1"/>
          <p:nvPr/>
        </p:nvSpPr>
        <p:spPr>
          <a:xfrm>
            <a:off x="7798435" y="626110"/>
            <a:ext cx="148209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放开</a:t>
            </a:r>
            <a:r>
              <a:rPr lang="en-US" altLang="zh-CN"/>
              <a:t>1/2/3</a:t>
            </a:r>
            <a:endParaRPr lang="zh-CN" altLang="en-US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2945" y="1346835"/>
            <a:ext cx="1531620" cy="3790315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6210" y="1229360"/>
            <a:ext cx="1579245" cy="399034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18125" y="1346835"/>
            <a:ext cx="1775460" cy="379539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98435" y="1586230"/>
            <a:ext cx="1828800" cy="3550920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491490" y="133350"/>
            <a:ext cx="241427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kumimoji="1" lang="en-US" altLang="zh-CN" b="1" dirty="0">
                <a:solidFill>
                  <a:schemeClr val="accent2"/>
                </a:solidFill>
                <a:latin typeface="+mn-ea"/>
                <a:sym typeface="+mn-ea"/>
              </a:rPr>
              <a:t>Dev 32bit-Release</a:t>
            </a:r>
            <a:endParaRPr lang="zh-CN" altLang="en-US"/>
          </a:p>
        </p:txBody>
      </p:sp>
      <p:sp>
        <p:nvSpPr>
          <p:cNvPr id="22" name="文本框 21"/>
          <p:cNvSpPr txBox="1"/>
          <p:nvPr/>
        </p:nvSpPr>
        <p:spPr>
          <a:xfrm>
            <a:off x="7473950" y="5519420"/>
            <a:ext cx="414718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DEV</a:t>
            </a:r>
            <a:r>
              <a:rPr lang="zh-CN" altLang="en-US"/>
              <a:t>留了可以修改的空间容错，越界修改并</a:t>
            </a:r>
            <a:r>
              <a:rPr lang="en-US" altLang="zh-CN"/>
              <a:t>delete</a:t>
            </a:r>
            <a:r>
              <a:rPr lang="zh-CN" altLang="en-US"/>
              <a:t>时不会出现异常</a:t>
            </a:r>
            <a:endParaRPr lang="zh-CN" alt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文本框 5"/>
          <p:cNvSpPr txBox="1"/>
          <p:nvPr/>
        </p:nvSpPr>
        <p:spPr>
          <a:xfrm>
            <a:off x="855980" y="650240"/>
            <a:ext cx="12249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全部注释</a:t>
            </a:r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3135630" y="640715"/>
            <a:ext cx="168529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放开</a:t>
            </a:r>
            <a:r>
              <a:rPr lang="en-US" altLang="zh-CN"/>
              <a:t>1</a:t>
            </a:r>
            <a:endParaRPr lang="en-US" altLang="zh-CN"/>
          </a:p>
        </p:txBody>
      </p:sp>
      <p:sp>
        <p:nvSpPr>
          <p:cNvPr id="10" name="文本框 9"/>
          <p:cNvSpPr txBox="1"/>
          <p:nvPr/>
        </p:nvSpPr>
        <p:spPr>
          <a:xfrm>
            <a:off x="5759450" y="626110"/>
            <a:ext cx="13341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放开</a:t>
            </a:r>
            <a:r>
              <a:rPr lang="en-US" altLang="zh-CN"/>
              <a:t>1</a:t>
            </a:r>
            <a:r>
              <a:rPr lang="zh-CN" altLang="en-US"/>
              <a:t>、</a:t>
            </a:r>
            <a:r>
              <a:rPr lang="en-US" altLang="zh-CN"/>
              <a:t>3</a:t>
            </a:r>
            <a:endParaRPr lang="en-US" altLang="zh-CN"/>
          </a:p>
        </p:txBody>
      </p:sp>
      <p:sp>
        <p:nvSpPr>
          <p:cNvPr id="11" name="文本框 10"/>
          <p:cNvSpPr txBox="1"/>
          <p:nvPr/>
        </p:nvSpPr>
        <p:spPr>
          <a:xfrm>
            <a:off x="7798435" y="626110"/>
            <a:ext cx="148209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放开</a:t>
            </a:r>
            <a:r>
              <a:rPr lang="en-US" altLang="zh-CN"/>
              <a:t>1/2/3</a:t>
            </a:r>
            <a:endParaRPr lang="zh-CN" altLang="en-US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7830" y="1370330"/>
            <a:ext cx="1911985" cy="419100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0825" y="1370330"/>
            <a:ext cx="2029460" cy="4214495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6210" y="1515110"/>
            <a:ext cx="1935480" cy="382778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22260" y="1343025"/>
            <a:ext cx="1778635" cy="3999865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328930" y="123825"/>
            <a:ext cx="294068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Linux</a:t>
            </a:r>
            <a:endParaRPr lang="en-US" altLang="zh-CN"/>
          </a:p>
        </p:txBody>
      </p:sp>
      <p:sp>
        <p:nvSpPr>
          <p:cNvPr id="22" name="文本框 21"/>
          <p:cNvSpPr txBox="1"/>
          <p:nvPr/>
        </p:nvSpPr>
        <p:spPr>
          <a:xfrm>
            <a:off x="7473950" y="5519420"/>
            <a:ext cx="414718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Linux</a:t>
            </a:r>
            <a:r>
              <a:rPr lang="zh-CN" altLang="en-US"/>
              <a:t>留了可以修改的空间容错，越界修改并</a:t>
            </a:r>
            <a:r>
              <a:rPr lang="en-US" altLang="zh-CN"/>
              <a:t>delete</a:t>
            </a:r>
            <a:r>
              <a:rPr lang="zh-CN" altLang="en-US"/>
              <a:t>时不会出现异常</a:t>
            </a:r>
            <a:endParaRPr lang="zh-CN" alt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关于动态内存申请后越界访问的深度讨论</a:t>
            </a:r>
            <a:endParaRPr lang="zh-CN" altLang="en-US" sz="28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★ </a:t>
            </a:r>
            <a:r>
              <a:rPr lang="zh-CN" altLang="en-US" sz="1600" b="1" dirty="0">
                <a:latin typeface="+mn-ea"/>
              </a:rPr>
              <a:t>如何判断普通数组的越界访问（</a:t>
            </a:r>
            <a:r>
              <a:rPr lang="en-US" altLang="zh-CN" sz="1600" b="1" dirty="0">
                <a:latin typeface="+mn-ea"/>
              </a:rPr>
              <a:t>C</a:t>
            </a:r>
            <a:r>
              <a:rPr lang="zh-CN" altLang="en-US" sz="1600" b="1" dirty="0">
                <a:latin typeface="+mn-ea"/>
              </a:rPr>
              <a:t>方式，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注意源程序后缀为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.c</a:t>
            </a:r>
            <a:r>
              <a:rPr lang="zh-CN" altLang="en-US" sz="1600" b="1" dirty="0">
                <a:latin typeface="+mn-ea"/>
              </a:rPr>
              <a:t>）</a:t>
            </a:r>
            <a:endParaRPr lang="zh-CN" altLang="en-US" sz="1600" b="1" dirty="0">
              <a:latin typeface="+mn-ea"/>
            </a:endParaRPr>
          </a:p>
        </p:txBody>
      </p:sp>
      <p:sp>
        <p:nvSpPr>
          <p:cNvPr id="5" name="矩形 4"/>
          <p:cNvSpPr/>
          <p:nvPr/>
        </p:nvSpPr>
        <p:spPr bwMode="auto">
          <a:xfrm>
            <a:off x="484720" y="980728"/>
            <a:ext cx="10461702" cy="5724872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" name="矩形 3"/>
          <p:cNvSpPr/>
          <p:nvPr/>
        </p:nvSpPr>
        <p:spPr bwMode="auto">
          <a:xfrm>
            <a:off x="7202006" y="980727"/>
            <a:ext cx="3744416" cy="4057265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在理解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P.1/P.2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的情况下，自行构造</a:t>
            </a: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相似的程序，来观察数组越界后的</a:t>
            </a: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内存表现，并验证与动态申请是否相似</a:t>
            </a: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chemeClr val="accent2"/>
                </a:solidFill>
                <a:latin typeface="+mn-ea"/>
              </a:rPr>
              <a:t>要求：</a:t>
            </a:r>
            <a:endParaRPr kumimoji="1" lang="en-US" altLang="zh-CN" sz="1600" b="1" dirty="0">
              <a:solidFill>
                <a:schemeClr val="accent2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chemeClr val="accent2"/>
                </a:solidFill>
                <a:latin typeface="+mn-ea"/>
              </a:rPr>
              <a:t>1</a:t>
            </a:r>
            <a:r>
              <a:rPr kumimoji="1" lang="zh-CN" altLang="en-US" sz="1600" b="1" dirty="0">
                <a:solidFill>
                  <a:schemeClr val="accent2"/>
                </a:solidFill>
                <a:latin typeface="+mn-ea"/>
              </a:rPr>
              <a:t>、数组用 </a:t>
            </a:r>
            <a:r>
              <a:rPr kumimoji="1" lang="en-US" altLang="zh-CN" sz="1600" b="1" dirty="0">
                <a:solidFill>
                  <a:schemeClr val="accent2"/>
                </a:solidFill>
                <a:latin typeface="+mn-ea"/>
              </a:rPr>
              <a:t>char a[10]; </a:t>
            </a:r>
            <a:r>
              <a:rPr kumimoji="1" lang="zh-CN" altLang="en-US" sz="1600" b="1" dirty="0">
                <a:solidFill>
                  <a:schemeClr val="accent2"/>
                </a:solidFill>
                <a:latin typeface="+mn-ea"/>
              </a:rPr>
              <a:t>形式</a:t>
            </a:r>
            <a:endParaRPr kumimoji="1" lang="en-US" altLang="zh-CN" sz="1600" b="1" dirty="0">
              <a:solidFill>
                <a:schemeClr val="accent2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chemeClr val="accent2"/>
                </a:solidFill>
                <a:latin typeface="+mn-ea"/>
              </a:rPr>
              <a:t>2</a:t>
            </a:r>
            <a:r>
              <a:rPr kumimoji="1" lang="zh-CN" altLang="en-US" sz="1600" b="1" dirty="0">
                <a:solidFill>
                  <a:schemeClr val="accent2"/>
                </a:solidFill>
                <a:latin typeface="+mn-ea"/>
              </a:rPr>
              <a:t>、数组用 </a:t>
            </a:r>
            <a:r>
              <a:rPr kumimoji="1" lang="en-US" altLang="zh-CN" sz="1600" b="1" dirty="0">
                <a:solidFill>
                  <a:schemeClr val="accent2"/>
                </a:solidFill>
                <a:latin typeface="+mn-ea"/>
              </a:rPr>
              <a:t>int a[10]; </a:t>
            </a:r>
            <a:r>
              <a:rPr kumimoji="1" lang="zh-CN" altLang="en-US" sz="1600" b="1" dirty="0">
                <a:solidFill>
                  <a:schemeClr val="accent2"/>
                </a:solidFill>
                <a:latin typeface="+mn-ea"/>
              </a:rPr>
              <a:t>形式</a:t>
            </a:r>
            <a:endParaRPr kumimoji="1" lang="en-US" altLang="zh-CN" sz="1600" b="1" dirty="0">
              <a:solidFill>
                <a:schemeClr val="accent2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chemeClr val="accent2"/>
                </a:solidFill>
                <a:latin typeface="+mn-ea"/>
              </a:rPr>
              <a:t>3</a:t>
            </a:r>
            <a:r>
              <a:rPr kumimoji="1" lang="zh-CN" altLang="en-US" sz="1600" b="1" dirty="0">
                <a:solidFill>
                  <a:schemeClr val="accent2"/>
                </a:solidFill>
                <a:latin typeface="+mn-ea"/>
              </a:rPr>
              <a:t>、测试程序在下面五种环境下运行</a:t>
            </a:r>
            <a:endParaRPr kumimoji="1" lang="en-US" altLang="zh-CN" sz="1600" b="1" dirty="0">
              <a:solidFill>
                <a:schemeClr val="accent2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chemeClr val="accent2"/>
                </a:solidFill>
                <a:latin typeface="+mn-ea"/>
              </a:rPr>
              <a:t>      VS2022 x86/Debug</a:t>
            </a:r>
            <a:endParaRPr kumimoji="1" lang="en-US" altLang="zh-CN" sz="1600" b="1" dirty="0">
              <a:solidFill>
                <a:schemeClr val="accent2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chemeClr val="accent2"/>
                </a:solidFill>
                <a:latin typeface="+mn-ea"/>
              </a:rPr>
              <a:t>      VS2022 x86/Release</a:t>
            </a:r>
            <a:endParaRPr kumimoji="1" lang="en-US" altLang="zh-CN" sz="1600" b="1" dirty="0">
              <a:solidFill>
                <a:schemeClr val="accent2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chemeClr val="accent2"/>
                </a:solidFill>
                <a:latin typeface="+mn-ea"/>
              </a:rPr>
              <a:t>      Dev 32bit-Debug</a:t>
            </a:r>
            <a:endParaRPr kumimoji="1" lang="en-US" altLang="zh-CN" sz="1600" b="1" dirty="0">
              <a:solidFill>
                <a:schemeClr val="accent2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chemeClr val="accent2"/>
                </a:solidFill>
                <a:latin typeface="+mn-ea"/>
              </a:rPr>
              <a:t>      Dev 32bit-Release</a:t>
            </a:r>
            <a:endParaRPr kumimoji="1" lang="en-US" altLang="zh-CN" sz="1600" b="1" dirty="0">
              <a:solidFill>
                <a:schemeClr val="accent2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chemeClr val="accent2"/>
                </a:solidFill>
                <a:latin typeface="+mn-ea"/>
              </a:rPr>
              <a:t>      Linux</a:t>
            </a:r>
            <a:endParaRPr kumimoji="1" lang="en-US" altLang="zh-CN" sz="1600" b="1" dirty="0">
              <a:solidFill>
                <a:schemeClr val="accent2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chemeClr val="accent2"/>
                </a:solidFill>
                <a:latin typeface="+mn-ea"/>
              </a:rPr>
              <a:t>4</a:t>
            </a:r>
            <a:r>
              <a:rPr kumimoji="1" lang="zh-CN" altLang="en-US" sz="1600" b="1" dirty="0">
                <a:solidFill>
                  <a:schemeClr val="accent2"/>
                </a:solidFill>
                <a:latin typeface="+mn-ea"/>
              </a:rPr>
              <a:t>、每种讨论的结果可截图</a:t>
            </a:r>
            <a:r>
              <a:rPr kumimoji="1" lang="en-US" altLang="zh-CN" sz="1600" b="1" dirty="0">
                <a:solidFill>
                  <a:schemeClr val="accent2"/>
                </a:solidFill>
                <a:latin typeface="+mn-ea"/>
              </a:rPr>
              <a:t>+</a:t>
            </a:r>
            <a:r>
              <a:rPr kumimoji="1" lang="zh-CN" altLang="en-US" sz="1600" b="1" dirty="0">
                <a:solidFill>
                  <a:schemeClr val="accent2"/>
                </a:solidFill>
                <a:latin typeface="+mn-ea"/>
              </a:rPr>
              <a:t>文字说明，</a:t>
            </a:r>
            <a:endParaRPr kumimoji="1" lang="en-US" altLang="zh-CN" sz="1600" b="1" dirty="0">
              <a:solidFill>
                <a:schemeClr val="accent2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chemeClr val="accent2"/>
                </a:solidFill>
                <a:latin typeface="+mn-ea"/>
              </a:rPr>
              <a:t>   如果几种环境的结果一致，用一个</a:t>
            </a:r>
            <a:endParaRPr kumimoji="1" lang="en-US" altLang="zh-CN" sz="1600" b="1" dirty="0">
              <a:solidFill>
                <a:schemeClr val="accent2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chemeClr val="accent2"/>
                </a:solidFill>
                <a:latin typeface="+mn-ea"/>
              </a:rPr>
              <a:t>   </a:t>
            </a:r>
            <a:r>
              <a:rPr kumimoji="1" lang="zh-CN" altLang="en-US" sz="1600" b="1" dirty="0">
                <a:solidFill>
                  <a:schemeClr val="accent2"/>
                </a:solidFill>
                <a:latin typeface="+mn-ea"/>
              </a:rPr>
              <a:t>环境的截图</a:t>
            </a:r>
            <a:r>
              <a:rPr kumimoji="1" lang="en-US" altLang="zh-CN" sz="1600" b="1" dirty="0">
                <a:solidFill>
                  <a:schemeClr val="accent2"/>
                </a:solidFill>
                <a:latin typeface="+mn-ea"/>
              </a:rPr>
              <a:t>+</a:t>
            </a:r>
            <a:r>
              <a:rPr kumimoji="1" lang="zh-CN" altLang="en-US" sz="1600" b="1" dirty="0">
                <a:solidFill>
                  <a:schemeClr val="accent2"/>
                </a:solidFill>
                <a:latin typeface="+mn-ea"/>
              </a:rPr>
              <a:t>文字说明即可</a:t>
            </a:r>
            <a:r>
              <a:rPr kumimoji="1" lang="en-US" altLang="zh-CN" sz="1600" b="1" dirty="0">
                <a:solidFill>
                  <a:schemeClr val="accent2"/>
                </a:solidFill>
                <a:latin typeface="+mn-ea"/>
              </a:rPr>
              <a:t>(</a:t>
            </a:r>
            <a:r>
              <a:rPr kumimoji="1" lang="zh-CN" altLang="en-US" sz="1600" b="1" dirty="0">
                <a:solidFill>
                  <a:schemeClr val="accent2"/>
                </a:solidFill>
                <a:latin typeface="+mn-ea"/>
              </a:rPr>
              <a:t>可加页</a:t>
            </a:r>
            <a:r>
              <a:rPr kumimoji="1" lang="en-US" altLang="zh-CN" sz="1600" b="1" dirty="0">
                <a:solidFill>
                  <a:schemeClr val="accent2"/>
                </a:solidFill>
                <a:latin typeface="+mn-ea"/>
              </a:rPr>
              <a:t>)</a:t>
            </a:r>
            <a:endParaRPr kumimoji="1" lang="en-US" altLang="zh-CN" sz="1600" b="1" dirty="0">
              <a:solidFill>
                <a:schemeClr val="accent2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1600" b="1" dirty="0">
              <a:solidFill>
                <a:schemeClr val="accent2"/>
              </a:solidFill>
              <a:latin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54050" y="1339850"/>
            <a:ext cx="8318500" cy="530352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l">
              <a:buClrTx/>
              <a:buSzTx/>
              <a:buFontTx/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#define _CRT_SECURE_NO_WARNINGS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>
              <a:buClrTx/>
              <a:buSzTx/>
              <a:buFontTx/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&lt;stdio.h&gt;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>
              <a:buClrTx/>
              <a:buSzTx/>
              <a:buFontTx/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&lt;stdlib.h&gt;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>
              <a:buClrTx/>
              <a:buSzTx/>
              <a:buFontTx/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&lt;string.h&gt;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>
              <a:buClrTx/>
              <a:buSzTx/>
              <a:buFontTx/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>
              <a:buClrTx/>
              <a:buSzTx/>
              <a:buFontTx/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 main()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>
              <a:buClrTx/>
              <a:buSzTx/>
              <a:buFontTx/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>
              <a:buClrTx/>
              <a:buSzTx/>
              <a:buFontTx/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char* p;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>
              <a:buClrTx/>
              <a:buSzTx/>
              <a:buFontTx/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char test[10];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>
              <a:buClrTx/>
              <a:buSzTx/>
              <a:buFontTx/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p = test;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>
              <a:buClrTx/>
              <a:buSzTx/>
              <a:buFontTx/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>
              <a:buClrTx/>
              <a:buSzTx/>
              <a:buFontTx/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strcpy(p, "123456789");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>
              <a:buClrTx/>
              <a:buSzTx/>
              <a:buFontTx/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//①  p[10] = 'a';    //此句越界</a:t>
            </a:r>
            <a:endParaRPr kumimoji="1" lang="en-US" altLang="zh-CN" sz="16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>
              <a:buClrTx/>
              <a:buSzTx/>
              <a:buFontTx/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p[14] = 'A';    //此句越界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>
              <a:buClrTx/>
              <a:buSzTx/>
              <a:buFontTx/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p[15] = 'B';    //此句越界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>
              <a:buClrTx/>
              <a:buSzTx/>
              <a:buFontTx/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//②  p[10] = '\xfd'; //此句越界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>
              <a:buClrTx/>
              <a:buSzTx/>
              <a:buFontTx/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printf("addr:%p\n", p);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>
              <a:buClrTx/>
              <a:buSzTx/>
              <a:buFontTx/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for (int i = -4; i &lt; 16; i++) //注意，只有0-9是合理范围，其余都是越界读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>
              <a:buClrTx/>
              <a:buSzTx/>
              <a:buFontTx/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printf("%p:%02x\n", (p + i), p[i]);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>
              <a:buClrTx/>
              <a:buSzTx/>
              <a:buNone/>
            </a:pPr>
            <a:r>
              <a:rPr lang="zh-CN" altLang="en-US"/>
              <a:t>    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return 0;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>
              <a:buClrTx/>
              <a:buSzTx/>
              <a:buNone/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" name="矩形 2"/>
          <p:cNvSpPr/>
          <p:nvPr/>
        </p:nvSpPr>
        <p:spPr bwMode="auto">
          <a:xfrm>
            <a:off x="7202006" y="981362"/>
            <a:ext cx="3744416" cy="4057265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在理解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P.1/P.2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的情况下，自行构造</a:t>
            </a: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相似的程序，来观察数组越界后的</a:t>
            </a: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内存表现，并验证与动态申请是否相似</a:t>
            </a: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chemeClr val="accent2"/>
                </a:solidFill>
                <a:latin typeface="+mn-ea"/>
              </a:rPr>
              <a:t>要求：</a:t>
            </a:r>
            <a:endParaRPr kumimoji="1" lang="en-US" altLang="zh-CN" sz="1600" b="1" dirty="0">
              <a:solidFill>
                <a:schemeClr val="accent2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chemeClr val="accent2"/>
                </a:solidFill>
                <a:latin typeface="+mn-ea"/>
              </a:rPr>
              <a:t>1</a:t>
            </a:r>
            <a:r>
              <a:rPr kumimoji="1" lang="zh-CN" altLang="en-US" sz="1600" b="1" dirty="0">
                <a:solidFill>
                  <a:schemeClr val="accent2"/>
                </a:solidFill>
                <a:latin typeface="+mn-ea"/>
              </a:rPr>
              <a:t>、数组用 </a:t>
            </a:r>
            <a:r>
              <a:rPr kumimoji="1" lang="en-US" altLang="zh-CN" sz="1600" b="1" dirty="0">
                <a:solidFill>
                  <a:schemeClr val="accent2"/>
                </a:solidFill>
                <a:latin typeface="+mn-ea"/>
              </a:rPr>
              <a:t>char a[10]; </a:t>
            </a:r>
            <a:r>
              <a:rPr kumimoji="1" lang="zh-CN" altLang="en-US" sz="1600" b="1" dirty="0">
                <a:solidFill>
                  <a:schemeClr val="accent2"/>
                </a:solidFill>
                <a:latin typeface="+mn-ea"/>
              </a:rPr>
              <a:t>形式</a:t>
            </a:r>
            <a:endParaRPr kumimoji="1" lang="en-US" altLang="zh-CN" sz="1600" b="1" dirty="0">
              <a:solidFill>
                <a:schemeClr val="accent2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chemeClr val="accent2"/>
                </a:solidFill>
                <a:latin typeface="+mn-ea"/>
              </a:rPr>
              <a:t>2</a:t>
            </a:r>
            <a:r>
              <a:rPr kumimoji="1" lang="zh-CN" altLang="en-US" sz="1600" b="1" dirty="0">
                <a:solidFill>
                  <a:schemeClr val="accent2"/>
                </a:solidFill>
                <a:latin typeface="+mn-ea"/>
              </a:rPr>
              <a:t>、数组用 </a:t>
            </a:r>
            <a:r>
              <a:rPr kumimoji="1" lang="en-US" altLang="zh-CN" sz="1600" b="1" dirty="0">
                <a:solidFill>
                  <a:schemeClr val="accent2"/>
                </a:solidFill>
                <a:latin typeface="+mn-ea"/>
              </a:rPr>
              <a:t>int a[10]; </a:t>
            </a:r>
            <a:r>
              <a:rPr kumimoji="1" lang="zh-CN" altLang="en-US" sz="1600" b="1" dirty="0">
                <a:solidFill>
                  <a:schemeClr val="accent2"/>
                </a:solidFill>
                <a:latin typeface="+mn-ea"/>
              </a:rPr>
              <a:t>形式</a:t>
            </a:r>
            <a:endParaRPr kumimoji="1" lang="en-US" altLang="zh-CN" sz="1600" b="1" dirty="0">
              <a:solidFill>
                <a:schemeClr val="accent2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chemeClr val="accent2"/>
                </a:solidFill>
                <a:latin typeface="+mn-ea"/>
              </a:rPr>
              <a:t>3</a:t>
            </a:r>
            <a:r>
              <a:rPr kumimoji="1" lang="zh-CN" altLang="en-US" sz="1600" b="1" dirty="0">
                <a:solidFill>
                  <a:schemeClr val="accent2"/>
                </a:solidFill>
                <a:latin typeface="+mn-ea"/>
              </a:rPr>
              <a:t>、测试程序在下面五种环境下运行</a:t>
            </a:r>
            <a:endParaRPr kumimoji="1" lang="en-US" altLang="zh-CN" sz="1600" b="1" dirty="0">
              <a:solidFill>
                <a:schemeClr val="accent2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chemeClr val="accent2"/>
                </a:solidFill>
                <a:latin typeface="+mn-ea"/>
              </a:rPr>
              <a:t>      VS2022 x86/Debug</a:t>
            </a:r>
            <a:endParaRPr kumimoji="1" lang="en-US" altLang="zh-CN" sz="1600" b="1" dirty="0">
              <a:solidFill>
                <a:schemeClr val="accent2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chemeClr val="accent2"/>
                </a:solidFill>
                <a:latin typeface="+mn-ea"/>
              </a:rPr>
              <a:t>      VS2022 x86/Release</a:t>
            </a:r>
            <a:endParaRPr kumimoji="1" lang="en-US" altLang="zh-CN" sz="1600" b="1" dirty="0">
              <a:solidFill>
                <a:schemeClr val="accent2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chemeClr val="accent2"/>
                </a:solidFill>
                <a:latin typeface="+mn-ea"/>
              </a:rPr>
              <a:t>      Dev 32bit-Debug</a:t>
            </a:r>
            <a:endParaRPr kumimoji="1" lang="en-US" altLang="zh-CN" sz="1600" b="1" dirty="0">
              <a:solidFill>
                <a:schemeClr val="accent2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chemeClr val="accent2"/>
                </a:solidFill>
                <a:latin typeface="+mn-ea"/>
              </a:rPr>
              <a:t>      Dev 32bit-Release</a:t>
            </a:r>
            <a:endParaRPr kumimoji="1" lang="en-US" altLang="zh-CN" sz="1600" b="1" dirty="0">
              <a:solidFill>
                <a:schemeClr val="accent2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chemeClr val="accent2"/>
                </a:solidFill>
                <a:latin typeface="+mn-ea"/>
              </a:rPr>
              <a:t>      Linux</a:t>
            </a:r>
            <a:endParaRPr kumimoji="1" lang="en-US" altLang="zh-CN" sz="1600" b="1" dirty="0">
              <a:solidFill>
                <a:schemeClr val="accent2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chemeClr val="accent2"/>
                </a:solidFill>
                <a:latin typeface="+mn-ea"/>
              </a:rPr>
              <a:t>4</a:t>
            </a:r>
            <a:r>
              <a:rPr kumimoji="1" lang="zh-CN" altLang="en-US" sz="1600" b="1" dirty="0">
                <a:solidFill>
                  <a:schemeClr val="accent2"/>
                </a:solidFill>
                <a:latin typeface="+mn-ea"/>
              </a:rPr>
              <a:t>、每种讨论的结果可截图</a:t>
            </a:r>
            <a:r>
              <a:rPr kumimoji="1" lang="en-US" altLang="zh-CN" sz="1600" b="1" dirty="0">
                <a:solidFill>
                  <a:schemeClr val="accent2"/>
                </a:solidFill>
                <a:latin typeface="+mn-ea"/>
              </a:rPr>
              <a:t>+</a:t>
            </a:r>
            <a:r>
              <a:rPr kumimoji="1" lang="zh-CN" altLang="en-US" sz="1600" b="1" dirty="0">
                <a:solidFill>
                  <a:schemeClr val="accent2"/>
                </a:solidFill>
                <a:latin typeface="+mn-ea"/>
              </a:rPr>
              <a:t>文字说明，</a:t>
            </a:r>
            <a:endParaRPr kumimoji="1" lang="en-US" altLang="zh-CN" sz="1600" b="1" dirty="0">
              <a:solidFill>
                <a:schemeClr val="accent2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chemeClr val="accent2"/>
                </a:solidFill>
                <a:latin typeface="+mn-ea"/>
              </a:rPr>
              <a:t>   如果几种环境的结果一致，用一个</a:t>
            </a:r>
            <a:endParaRPr kumimoji="1" lang="en-US" altLang="zh-CN" sz="1600" b="1" dirty="0">
              <a:solidFill>
                <a:schemeClr val="accent2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chemeClr val="accent2"/>
                </a:solidFill>
                <a:latin typeface="+mn-ea"/>
              </a:rPr>
              <a:t>   </a:t>
            </a:r>
            <a:r>
              <a:rPr kumimoji="1" lang="zh-CN" altLang="en-US" sz="1600" b="1" dirty="0">
                <a:solidFill>
                  <a:schemeClr val="accent2"/>
                </a:solidFill>
                <a:latin typeface="+mn-ea"/>
              </a:rPr>
              <a:t>环境的截图</a:t>
            </a:r>
            <a:r>
              <a:rPr kumimoji="1" lang="en-US" altLang="zh-CN" sz="1600" b="1" dirty="0">
                <a:solidFill>
                  <a:schemeClr val="accent2"/>
                </a:solidFill>
                <a:latin typeface="+mn-ea"/>
              </a:rPr>
              <a:t>+</a:t>
            </a:r>
            <a:r>
              <a:rPr kumimoji="1" lang="zh-CN" altLang="en-US" sz="1600" b="1" dirty="0">
                <a:solidFill>
                  <a:schemeClr val="accent2"/>
                </a:solidFill>
                <a:latin typeface="+mn-ea"/>
              </a:rPr>
              <a:t>文字说明即可</a:t>
            </a:r>
            <a:r>
              <a:rPr kumimoji="1" lang="en-US" altLang="zh-CN" sz="1600" b="1" dirty="0">
                <a:solidFill>
                  <a:schemeClr val="accent2"/>
                </a:solidFill>
                <a:latin typeface="+mn-ea"/>
              </a:rPr>
              <a:t>(</a:t>
            </a:r>
            <a:r>
              <a:rPr kumimoji="1" lang="zh-CN" altLang="en-US" sz="1600" b="1" dirty="0">
                <a:solidFill>
                  <a:schemeClr val="accent2"/>
                </a:solidFill>
                <a:latin typeface="+mn-ea"/>
              </a:rPr>
              <a:t>可加页</a:t>
            </a:r>
            <a:r>
              <a:rPr kumimoji="1" lang="en-US" altLang="zh-CN" sz="1600" b="1" dirty="0">
                <a:solidFill>
                  <a:schemeClr val="accent2"/>
                </a:solidFill>
                <a:latin typeface="+mn-ea"/>
              </a:rPr>
              <a:t>)</a:t>
            </a:r>
            <a:endParaRPr kumimoji="1" lang="en-US" altLang="zh-CN" sz="1600" b="1" dirty="0">
              <a:solidFill>
                <a:schemeClr val="accent2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1600" b="1" dirty="0">
              <a:solidFill>
                <a:schemeClr val="accent2"/>
              </a:solidFill>
              <a:latin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654050" y="1340485"/>
            <a:ext cx="8318500" cy="530352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l">
              <a:buClrTx/>
              <a:buSzTx/>
              <a:buFontTx/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#define _CRT_SECURE_NO_WARNINGS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>
              <a:buClrTx/>
              <a:buSzTx/>
              <a:buFontTx/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&lt;stdio.h&gt;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>
              <a:buClrTx/>
              <a:buSzTx/>
              <a:buFontTx/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&lt;stdlib.h&gt;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>
              <a:buClrTx/>
              <a:buSzTx/>
              <a:buFontTx/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&lt;string.h&gt;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>
              <a:buClrTx/>
              <a:buSzTx/>
              <a:buFontTx/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>
              <a:buClrTx/>
              <a:buSzTx/>
              <a:buFontTx/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 main()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>
              <a:buClrTx/>
              <a:buSzTx/>
              <a:buFontTx/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>
              <a:buClrTx/>
              <a:buSzTx/>
              <a:buFontTx/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char* p;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>
              <a:buClrTx/>
              <a:buSzTx/>
              <a:buFontTx/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char test[10];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>
              <a:buClrTx/>
              <a:buSzTx/>
              <a:buFontTx/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p = test;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>
              <a:buClrTx/>
              <a:buSzTx/>
              <a:buFontTx/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>
              <a:buClrTx/>
              <a:buSzTx/>
              <a:buFontTx/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strcpy(p, "123456789");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>
              <a:buClrTx/>
              <a:buSzTx/>
              <a:buFontTx/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//①  p[10] = 'a';    //此句越界</a:t>
            </a:r>
            <a:endParaRPr kumimoji="1" lang="en-US" altLang="zh-CN" sz="16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>
              <a:buClrTx/>
              <a:buSzTx/>
              <a:buFontTx/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p[14] = 'A';    //此句越界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>
              <a:buClrTx/>
              <a:buSzTx/>
              <a:buFontTx/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p[15] = 'B';    //此句越界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>
              <a:buClrTx/>
              <a:buSzTx/>
              <a:buFontTx/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//②  p[10] = '\xfd'; //此句越界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>
              <a:buClrTx/>
              <a:buSzTx/>
              <a:buFontTx/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printf("addr:%p\n", p);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>
              <a:buClrTx/>
              <a:buSzTx/>
              <a:buFontTx/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for (int i = -4; i &lt; 16; i++) //注意，只有0-9是合理范围，其余都是越界读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>
              <a:buClrTx/>
              <a:buSzTx/>
              <a:buFontTx/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printf("%p:%02x\n", (p + i), p[i]);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>
              <a:buClrTx/>
              <a:buSzTx/>
              <a:buNone/>
            </a:pPr>
            <a:r>
              <a:rPr lang="zh-CN" altLang="en-US"/>
              <a:t>    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return 0;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>
              <a:buClrTx/>
              <a:buSzTx/>
              <a:buNone/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文本框 5"/>
          <p:cNvSpPr txBox="1"/>
          <p:nvPr>
            <p:custDataLst>
              <p:tags r:id="rId1"/>
            </p:custDataLst>
          </p:nvPr>
        </p:nvSpPr>
        <p:spPr>
          <a:xfrm>
            <a:off x="224155" y="1515110"/>
            <a:ext cx="12249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全部注释</a:t>
            </a:r>
            <a:endParaRPr lang="zh-CN" altLang="en-US"/>
          </a:p>
        </p:txBody>
      </p:sp>
      <p:sp>
        <p:nvSpPr>
          <p:cNvPr id="8" name="文本框 7"/>
          <p:cNvSpPr txBox="1"/>
          <p:nvPr>
            <p:custDataLst>
              <p:tags r:id="rId2"/>
            </p:custDataLst>
          </p:nvPr>
        </p:nvSpPr>
        <p:spPr>
          <a:xfrm>
            <a:off x="1933575" y="1515110"/>
            <a:ext cx="168529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放开</a:t>
            </a:r>
            <a:r>
              <a:rPr lang="en-US" altLang="zh-CN"/>
              <a:t>1</a:t>
            </a:r>
            <a:endParaRPr lang="en-US" altLang="zh-CN"/>
          </a:p>
        </p:txBody>
      </p:sp>
      <p:sp>
        <p:nvSpPr>
          <p:cNvPr id="10" name="文本框 9"/>
          <p:cNvSpPr txBox="1"/>
          <p:nvPr>
            <p:custDataLst>
              <p:tags r:id="rId3"/>
            </p:custDataLst>
          </p:nvPr>
        </p:nvSpPr>
        <p:spPr>
          <a:xfrm>
            <a:off x="4103370" y="1515110"/>
            <a:ext cx="13341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放开</a:t>
            </a:r>
            <a:r>
              <a:rPr lang="en-US" altLang="zh-CN"/>
              <a:t>1</a:t>
            </a:r>
            <a:r>
              <a:rPr lang="zh-CN" altLang="en-US"/>
              <a:t>、</a:t>
            </a:r>
            <a:r>
              <a:rPr lang="en-US" altLang="zh-CN"/>
              <a:t>2</a:t>
            </a:r>
            <a:endParaRPr lang="en-US" altLang="zh-CN"/>
          </a:p>
        </p:txBody>
      </p:sp>
      <p:sp>
        <p:nvSpPr>
          <p:cNvPr id="21" name="文本框 20"/>
          <p:cNvSpPr txBox="1"/>
          <p:nvPr/>
        </p:nvSpPr>
        <p:spPr>
          <a:xfrm>
            <a:off x="1162050" y="257810"/>
            <a:ext cx="270192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kumimoji="1" lang="en-US" altLang="zh-CN" b="1" dirty="0">
                <a:solidFill>
                  <a:srgbClr val="FF0000"/>
                </a:solidFill>
                <a:latin typeface="+mn-ea"/>
                <a:sym typeface="+mn-ea"/>
              </a:rPr>
              <a:t>VS2022</a:t>
            </a:r>
            <a:r>
              <a:rPr kumimoji="1" lang="zh-CN" altLang="en-US" b="1" dirty="0">
                <a:solidFill>
                  <a:srgbClr val="FF0000"/>
                </a:solidFill>
                <a:latin typeface="+mn-ea"/>
                <a:sym typeface="+mn-ea"/>
              </a:rPr>
              <a:t>的</a:t>
            </a:r>
            <a:r>
              <a:rPr kumimoji="1" lang="en-US" altLang="zh-CN" b="1" dirty="0">
                <a:solidFill>
                  <a:srgbClr val="FF0000"/>
                </a:solidFill>
                <a:latin typeface="+mn-ea"/>
                <a:sym typeface="+mn-ea"/>
              </a:rPr>
              <a:t>x86/Debug</a:t>
            </a:r>
            <a:r>
              <a:rPr kumimoji="1" lang="zh-CN" altLang="en-US" b="1" dirty="0">
                <a:solidFill>
                  <a:srgbClr val="FF0000"/>
                </a:solidFill>
                <a:latin typeface="+mn-ea"/>
                <a:sym typeface="+mn-ea"/>
              </a:rPr>
              <a:t>模式</a:t>
            </a:r>
            <a:endParaRPr lang="zh-CN" altLang="en-US"/>
          </a:p>
        </p:txBody>
      </p:sp>
      <p:pic>
        <p:nvPicPr>
          <p:cNvPr id="2" name="图片 1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109220" y="2067560"/>
            <a:ext cx="1694815" cy="4064000"/>
          </a:xfrm>
          <a:prstGeom prst="rect">
            <a:avLst/>
          </a:prstGeom>
        </p:spPr>
      </p:pic>
      <p:sp>
        <p:nvSpPr>
          <p:cNvPr id="5" name="文本框 4"/>
          <p:cNvSpPr txBox="1"/>
          <p:nvPr>
            <p:custDataLst>
              <p:tags r:id="rId6"/>
            </p:custDataLst>
          </p:nvPr>
        </p:nvSpPr>
        <p:spPr>
          <a:xfrm>
            <a:off x="873760" y="1004570"/>
            <a:ext cx="24136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char [10]</a:t>
            </a:r>
            <a:endParaRPr lang="en-US" altLang="zh-CN"/>
          </a:p>
        </p:txBody>
      </p:sp>
      <p:sp>
        <p:nvSpPr>
          <p:cNvPr id="7" name="文本框 6"/>
          <p:cNvSpPr txBox="1"/>
          <p:nvPr>
            <p:custDataLst>
              <p:tags r:id="rId7"/>
            </p:custDataLst>
          </p:nvPr>
        </p:nvSpPr>
        <p:spPr>
          <a:xfrm>
            <a:off x="7215505" y="803275"/>
            <a:ext cx="24136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int [10]</a:t>
            </a:r>
            <a:endParaRPr lang="en-US" altLang="zh-CN"/>
          </a:p>
        </p:txBody>
      </p:sp>
      <p:grpSp>
        <p:nvGrpSpPr>
          <p:cNvPr id="14" name="组合 13"/>
          <p:cNvGrpSpPr/>
          <p:nvPr>
            <p:custDataLst>
              <p:tags r:id="rId8"/>
            </p:custDataLst>
          </p:nvPr>
        </p:nvGrpSpPr>
        <p:grpSpPr>
          <a:xfrm>
            <a:off x="6069330" y="1515110"/>
            <a:ext cx="4330065" cy="368300"/>
            <a:chOff x="553" y="2586"/>
            <a:chExt cx="6819" cy="580"/>
          </a:xfrm>
        </p:grpSpPr>
        <p:sp>
          <p:nvSpPr>
            <p:cNvPr id="9" name="文本框 8"/>
            <p:cNvSpPr txBox="1"/>
            <p:nvPr>
              <p:custDataLst>
                <p:tags r:id="rId9"/>
              </p:custDataLst>
            </p:nvPr>
          </p:nvSpPr>
          <p:spPr>
            <a:xfrm>
              <a:off x="553" y="2586"/>
              <a:ext cx="1929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/>
                <a:t>全部注释</a:t>
              </a:r>
              <a:endParaRPr lang="zh-CN" altLang="en-US"/>
            </a:p>
          </p:txBody>
        </p:sp>
        <p:sp>
          <p:nvSpPr>
            <p:cNvPr id="12" name="文本框 11"/>
            <p:cNvSpPr txBox="1"/>
            <p:nvPr>
              <p:custDataLst>
                <p:tags r:id="rId10"/>
              </p:custDataLst>
            </p:nvPr>
          </p:nvSpPr>
          <p:spPr>
            <a:xfrm>
              <a:off x="3245" y="2586"/>
              <a:ext cx="2654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/>
                <a:t>放开</a:t>
              </a:r>
              <a:r>
                <a:rPr lang="en-US" altLang="zh-CN"/>
                <a:t>1</a:t>
              </a:r>
              <a:endParaRPr lang="en-US" altLang="zh-CN"/>
            </a:p>
          </p:txBody>
        </p:sp>
        <p:sp>
          <p:nvSpPr>
            <p:cNvPr id="13" name="文本框 12"/>
            <p:cNvSpPr txBox="1"/>
            <p:nvPr>
              <p:custDataLst>
                <p:tags r:id="rId11"/>
              </p:custDataLst>
            </p:nvPr>
          </p:nvSpPr>
          <p:spPr>
            <a:xfrm>
              <a:off x="5272" y="2586"/>
              <a:ext cx="2101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/>
                <a:t>放开</a:t>
              </a:r>
              <a:r>
                <a:rPr lang="en-US" altLang="zh-CN"/>
                <a:t>1</a:t>
              </a:r>
              <a:r>
                <a:rPr lang="zh-CN" altLang="en-US"/>
                <a:t>、</a:t>
              </a:r>
              <a:r>
                <a:rPr lang="en-US" altLang="zh-CN"/>
                <a:t>2</a:t>
              </a:r>
              <a:endParaRPr lang="en-US" altLang="zh-CN"/>
            </a:p>
          </p:txBody>
        </p:sp>
      </p:grpSp>
      <p:pic>
        <p:nvPicPr>
          <p:cNvPr id="24" name="图片 23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707255" y="6151880"/>
            <a:ext cx="4358640" cy="41148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14"/>
          <a:stretch>
            <a:fillRect/>
          </a:stretch>
        </p:blipFill>
        <p:spPr>
          <a:xfrm>
            <a:off x="1687830" y="2130425"/>
            <a:ext cx="2415540" cy="1371600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>
            <p:custDataLst>
              <p:tags r:id="rId15"/>
            </p:custDataLst>
          </p:nvPr>
        </p:nvPicPr>
        <p:blipFill>
          <a:blip r:embed="rId14"/>
          <a:stretch>
            <a:fillRect/>
          </a:stretch>
        </p:blipFill>
        <p:spPr>
          <a:xfrm>
            <a:off x="3175000" y="3629025"/>
            <a:ext cx="2415540" cy="1371600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896610" y="2226945"/>
            <a:ext cx="1569720" cy="3581400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294245" y="3284855"/>
            <a:ext cx="2628900" cy="1341120"/>
          </a:xfrm>
          <a:prstGeom prst="rect">
            <a:avLst/>
          </a:prstGeom>
        </p:spPr>
      </p:pic>
      <p:pic>
        <p:nvPicPr>
          <p:cNvPr id="17" name="图片 16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846185" y="2130425"/>
            <a:ext cx="2430780" cy="141732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1200785" y="1522095"/>
            <a:ext cx="802640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在数组中，越界访问可能导致内存中变量的布局发生了变化。如果一个内存越界破坏了一个不含指针的结构，程序虽然逻辑不对，但是不至于崩溃。但是如果增加变量后，内存访问越界破坏了一个指针，则会导致程序崩溃。</a:t>
            </a:r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1459230" y="822960"/>
            <a:ext cx="38601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为什么跳弹窗？</a:t>
            </a:r>
            <a:endParaRPr lang="zh-CN" alt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942340" y="1645920"/>
            <a:ext cx="819848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操作系统将内存分配给你的程序时，可能会在你分配的内存后面留有其他可用的内存空间。你的越界写入可能覆盖这些区域，但不会立即引发错误，直到你尝试访问受影响的内存。</a:t>
            </a:r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1325245" y="1090930"/>
            <a:ext cx="68865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越界访问赋值和越界赋值不出现</a:t>
            </a:r>
            <a:r>
              <a:rPr lang="en-US" altLang="zh-CN"/>
              <a:t>error</a:t>
            </a:r>
            <a:r>
              <a:rPr lang="zh-CN" altLang="en-US"/>
              <a:t>的原因：</a:t>
            </a:r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1123950" y="3159760"/>
            <a:ext cx="456882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为什么</a:t>
            </a:r>
            <a:r>
              <a:rPr lang="en-US" altLang="zh-CN"/>
              <a:t>1</a:t>
            </a:r>
            <a:r>
              <a:rPr lang="zh-CN" altLang="en-US"/>
              <a:t>、</a:t>
            </a:r>
            <a:r>
              <a:rPr lang="en-US" altLang="zh-CN"/>
              <a:t>2</a:t>
            </a:r>
            <a:r>
              <a:rPr lang="zh-CN" altLang="en-US"/>
              <a:t>会出现弹窗：</a:t>
            </a:r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798195" y="3954780"/>
            <a:ext cx="988504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在某些系统中，操作系统会实现内存保护机制，防止程序访问未分配的内存。如果程序在释放内存之前已经越界写入，可能会导致元数据损坏，从而在后续调用 free 时引发异常或错误。</a:t>
            </a:r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1267460" y="4893310"/>
            <a:ext cx="662813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因此，如果</a:t>
            </a:r>
            <a:r>
              <a:rPr lang="en-US" altLang="zh-CN"/>
              <a:t>1,2,3</a:t>
            </a:r>
            <a:r>
              <a:rPr lang="zh-CN" altLang="en-US"/>
              <a:t>同时放开，</a:t>
            </a:r>
            <a:r>
              <a:rPr lang="en-US" altLang="zh-CN"/>
              <a:t>free</a:t>
            </a:r>
            <a:r>
              <a:rPr lang="zh-CN" altLang="en-US"/>
              <a:t>无法检测到越界写入</a:t>
            </a:r>
            <a:endParaRPr lang="zh-CN" alt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1" name="文本框 20"/>
          <p:cNvSpPr txBox="1"/>
          <p:nvPr/>
        </p:nvSpPr>
        <p:spPr>
          <a:xfrm>
            <a:off x="1162050" y="257810"/>
            <a:ext cx="28549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kumimoji="1" lang="en-US" altLang="zh-CN" b="1" dirty="0">
                <a:solidFill>
                  <a:srgbClr val="FF0000"/>
                </a:solidFill>
                <a:latin typeface="+mn-ea"/>
                <a:sym typeface="+mn-ea"/>
              </a:rPr>
              <a:t>VS2022</a:t>
            </a:r>
            <a:r>
              <a:rPr kumimoji="1" lang="zh-CN" altLang="en-US" b="1" dirty="0">
                <a:solidFill>
                  <a:srgbClr val="FF0000"/>
                </a:solidFill>
                <a:latin typeface="+mn-ea"/>
                <a:sym typeface="+mn-ea"/>
              </a:rPr>
              <a:t>的</a:t>
            </a:r>
            <a:r>
              <a:rPr kumimoji="1" lang="en-US" altLang="zh-CN" b="1" dirty="0">
                <a:solidFill>
                  <a:srgbClr val="FF0000"/>
                </a:solidFill>
                <a:latin typeface="+mn-ea"/>
                <a:sym typeface="+mn-ea"/>
              </a:rPr>
              <a:t>x86/Release</a:t>
            </a:r>
            <a:r>
              <a:rPr kumimoji="1" lang="zh-CN" altLang="en-US" b="1" dirty="0">
                <a:solidFill>
                  <a:srgbClr val="FF0000"/>
                </a:solidFill>
                <a:latin typeface="+mn-ea"/>
                <a:sym typeface="+mn-ea"/>
              </a:rPr>
              <a:t>模式</a:t>
            </a:r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13335" y="2197100"/>
            <a:ext cx="1647190" cy="3906520"/>
          </a:xfrm>
          <a:prstGeom prst="rect">
            <a:avLst/>
          </a:prstGeom>
        </p:spPr>
      </p:pic>
      <p:sp>
        <p:nvSpPr>
          <p:cNvPr id="7" name="文本框 6"/>
          <p:cNvSpPr txBox="1"/>
          <p:nvPr>
            <p:custDataLst>
              <p:tags r:id="rId3"/>
            </p:custDataLst>
          </p:nvPr>
        </p:nvSpPr>
        <p:spPr>
          <a:xfrm>
            <a:off x="224155" y="1515110"/>
            <a:ext cx="12249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全部注释</a:t>
            </a:r>
            <a:endParaRPr lang="zh-CN" altLang="en-US"/>
          </a:p>
        </p:txBody>
      </p:sp>
      <p:sp>
        <p:nvSpPr>
          <p:cNvPr id="9" name="文本框 8"/>
          <p:cNvSpPr txBox="1"/>
          <p:nvPr>
            <p:custDataLst>
              <p:tags r:id="rId4"/>
            </p:custDataLst>
          </p:nvPr>
        </p:nvSpPr>
        <p:spPr>
          <a:xfrm>
            <a:off x="1933575" y="1515110"/>
            <a:ext cx="168529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放开</a:t>
            </a:r>
            <a:r>
              <a:rPr lang="en-US" altLang="zh-CN"/>
              <a:t>1</a:t>
            </a:r>
            <a:endParaRPr lang="en-US" altLang="zh-CN"/>
          </a:p>
        </p:txBody>
      </p:sp>
      <p:sp>
        <p:nvSpPr>
          <p:cNvPr id="12" name="文本框 11"/>
          <p:cNvSpPr txBox="1"/>
          <p:nvPr>
            <p:custDataLst>
              <p:tags r:id="rId5"/>
            </p:custDataLst>
          </p:nvPr>
        </p:nvSpPr>
        <p:spPr>
          <a:xfrm>
            <a:off x="3220720" y="1515110"/>
            <a:ext cx="13341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放开</a:t>
            </a:r>
            <a:r>
              <a:rPr lang="en-US" altLang="zh-CN"/>
              <a:t>1</a:t>
            </a:r>
            <a:r>
              <a:rPr lang="zh-CN" altLang="en-US"/>
              <a:t>、</a:t>
            </a:r>
            <a:r>
              <a:rPr lang="en-US" altLang="zh-CN"/>
              <a:t>2</a:t>
            </a:r>
            <a:endParaRPr lang="en-US" altLang="zh-CN"/>
          </a:p>
        </p:txBody>
      </p:sp>
      <p:sp>
        <p:nvSpPr>
          <p:cNvPr id="13" name="文本框 12"/>
          <p:cNvSpPr txBox="1"/>
          <p:nvPr>
            <p:custDataLst>
              <p:tags r:id="rId6"/>
            </p:custDataLst>
          </p:nvPr>
        </p:nvSpPr>
        <p:spPr>
          <a:xfrm>
            <a:off x="873760" y="1004570"/>
            <a:ext cx="24136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char [10]</a:t>
            </a:r>
            <a:endParaRPr lang="en-US" altLang="zh-CN"/>
          </a:p>
        </p:txBody>
      </p:sp>
      <p:sp>
        <p:nvSpPr>
          <p:cNvPr id="14" name="文本框 13"/>
          <p:cNvSpPr txBox="1"/>
          <p:nvPr>
            <p:custDataLst>
              <p:tags r:id="rId7"/>
            </p:custDataLst>
          </p:nvPr>
        </p:nvSpPr>
        <p:spPr>
          <a:xfrm>
            <a:off x="7215505" y="803275"/>
            <a:ext cx="24136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int [10]</a:t>
            </a:r>
            <a:endParaRPr lang="en-US" altLang="zh-CN"/>
          </a:p>
        </p:txBody>
      </p:sp>
      <p:grpSp>
        <p:nvGrpSpPr>
          <p:cNvPr id="15" name="组合 14"/>
          <p:cNvGrpSpPr/>
          <p:nvPr>
            <p:custDataLst>
              <p:tags r:id="rId8"/>
            </p:custDataLst>
          </p:nvPr>
        </p:nvGrpSpPr>
        <p:grpSpPr>
          <a:xfrm>
            <a:off x="6069330" y="1515110"/>
            <a:ext cx="4330065" cy="368300"/>
            <a:chOff x="553" y="2586"/>
            <a:chExt cx="6819" cy="580"/>
          </a:xfrm>
        </p:grpSpPr>
        <p:sp>
          <p:nvSpPr>
            <p:cNvPr id="16" name="文本框 15"/>
            <p:cNvSpPr txBox="1"/>
            <p:nvPr>
              <p:custDataLst>
                <p:tags r:id="rId9"/>
              </p:custDataLst>
            </p:nvPr>
          </p:nvSpPr>
          <p:spPr>
            <a:xfrm>
              <a:off x="553" y="2586"/>
              <a:ext cx="1929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/>
                <a:t>全部注释</a:t>
              </a:r>
              <a:endParaRPr lang="zh-CN" altLang="en-US"/>
            </a:p>
          </p:txBody>
        </p:sp>
        <p:sp>
          <p:nvSpPr>
            <p:cNvPr id="17" name="文本框 16"/>
            <p:cNvSpPr txBox="1"/>
            <p:nvPr>
              <p:custDataLst>
                <p:tags r:id="rId10"/>
              </p:custDataLst>
            </p:nvPr>
          </p:nvSpPr>
          <p:spPr>
            <a:xfrm>
              <a:off x="3245" y="2586"/>
              <a:ext cx="2654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/>
                <a:t>放开</a:t>
              </a:r>
              <a:r>
                <a:rPr lang="en-US" altLang="zh-CN"/>
                <a:t>1</a:t>
              </a:r>
              <a:endParaRPr lang="en-US" altLang="zh-CN"/>
            </a:p>
          </p:txBody>
        </p:sp>
        <p:sp>
          <p:nvSpPr>
            <p:cNvPr id="18" name="文本框 17"/>
            <p:cNvSpPr txBox="1"/>
            <p:nvPr>
              <p:custDataLst>
                <p:tags r:id="rId11"/>
              </p:custDataLst>
            </p:nvPr>
          </p:nvSpPr>
          <p:spPr>
            <a:xfrm>
              <a:off x="5272" y="2586"/>
              <a:ext cx="2101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/>
                <a:t>放开</a:t>
              </a:r>
              <a:r>
                <a:rPr lang="en-US" altLang="zh-CN"/>
                <a:t>1</a:t>
              </a:r>
              <a:r>
                <a:rPr lang="zh-CN" altLang="en-US"/>
                <a:t>、</a:t>
              </a:r>
              <a:r>
                <a:rPr lang="en-US" altLang="zh-CN"/>
                <a:t>2</a:t>
              </a:r>
              <a:endParaRPr lang="en-US" altLang="zh-CN"/>
            </a:p>
          </p:txBody>
        </p:sp>
      </p:grpSp>
      <p:pic>
        <p:nvPicPr>
          <p:cNvPr id="2" name="图片 1"/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13"/>
          <a:stretch>
            <a:fillRect/>
          </a:stretch>
        </p:blipFill>
        <p:spPr>
          <a:xfrm>
            <a:off x="1866265" y="2299970"/>
            <a:ext cx="1354455" cy="380365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>
            <p:custDataLst>
              <p:tags r:id="rId14"/>
            </p:custDataLst>
          </p:nvPr>
        </p:nvPicPr>
        <p:blipFill>
          <a:blip r:embed="rId15"/>
          <a:stretch>
            <a:fillRect/>
          </a:stretch>
        </p:blipFill>
        <p:spPr>
          <a:xfrm>
            <a:off x="3426460" y="2299970"/>
            <a:ext cx="1388745" cy="359029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621020" y="2111375"/>
            <a:ext cx="1478915" cy="377888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500620" y="2111375"/>
            <a:ext cx="1565275" cy="379095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9466580" y="2153285"/>
            <a:ext cx="1400175" cy="361696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1" name="文本框 20"/>
          <p:cNvSpPr txBox="1"/>
          <p:nvPr/>
        </p:nvSpPr>
        <p:spPr>
          <a:xfrm>
            <a:off x="1162050" y="257810"/>
            <a:ext cx="270192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kumimoji="1" lang="en-US" altLang="zh-CN" b="1" dirty="0">
                <a:solidFill>
                  <a:schemeClr val="accent2"/>
                </a:solidFill>
                <a:latin typeface="+mn-ea"/>
                <a:sym typeface="+mn-ea"/>
              </a:rPr>
              <a:t>Dev 32bit-Debug</a:t>
            </a:r>
            <a:endParaRPr lang="zh-CN" altLang="en-US"/>
          </a:p>
        </p:txBody>
      </p:sp>
      <p:sp>
        <p:nvSpPr>
          <p:cNvPr id="4" name="文本框 3"/>
          <p:cNvSpPr txBox="1"/>
          <p:nvPr>
            <p:custDataLst>
              <p:tags r:id="rId1"/>
            </p:custDataLst>
          </p:nvPr>
        </p:nvSpPr>
        <p:spPr>
          <a:xfrm>
            <a:off x="224155" y="1515110"/>
            <a:ext cx="12249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全部注释</a:t>
            </a:r>
            <a:endParaRPr lang="zh-CN" altLang="en-US"/>
          </a:p>
        </p:txBody>
      </p:sp>
      <p:sp>
        <p:nvSpPr>
          <p:cNvPr id="5" name="文本框 4"/>
          <p:cNvSpPr txBox="1"/>
          <p:nvPr>
            <p:custDataLst>
              <p:tags r:id="rId2"/>
            </p:custDataLst>
          </p:nvPr>
        </p:nvSpPr>
        <p:spPr>
          <a:xfrm>
            <a:off x="1933575" y="1515110"/>
            <a:ext cx="168529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放开</a:t>
            </a:r>
            <a:r>
              <a:rPr lang="en-US" altLang="zh-CN"/>
              <a:t>1</a:t>
            </a:r>
            <a:endParaRPr lang="en-US" altLang="zh-CN"/>
          </a:p>
        </p:txBody>
      </p:sp>
      <p:sp>
        <p:nvSpPr>
          <p:cNvPr id="7" name="文本框 6"/>
          <p:cNvSpPr txBox="1"/>
          <p:nvPr>
            <p:custDataLst>
              <p:tags r:id="rId3"/>
            </p:custDataLst>
          </p:nvPr>
        </p:nvSpPr>
        <p:spPr>
          <a:xfrm>
            <a:off x="3220720" y="1515110"/>
            <a:ext cx="13341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放开</a:t>
            </a:r>
            <a:r>
              <a:rPr lang="en-US" altLang="zh-CN"/>
              <a:t>1</a:t>
            </a:r>
            <a:r>
              <a:rPr lang="zh-CN" altLang="en-US"/>
              <a:t>、</a:t>
            </a:r>
            <a:r>
              <a:rPr lang="en-US" altLang="zh-CN"/>
              <a:t>2</a:t>
            </a:r>
            <a:endParaRPr lang="en-US" altLang="zh-CN"/>
          </a:p>
        </p:txBody>
      </p:sp>
      <p:sp>
        <p:nvSpPr>
          <p:cNvPr id="9" name="文本框 8"/>
          <p:cNvSpPr txBox="1"/>
          <p:nvPr>
            <p:custDataLst>
              <p:tags r:id="rId4"/>
            </p:custDataLst>
          </p:nvPr>
        </p:nvSpPr>
        <p:spPr>
          <a:xfrm>
            <a:off x="873760" y="1004570"/>
            <a:ext cx="24136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char [10]</a:t>
            </a:r>
            <a:endParaRPr lang="en-US" altLang="zh-CN"/>
          </a:p>
        </p:txBody>
      </p:sp>
      <p:sp>
        <p:nvSpPr>
          <p:cNvPr id="12" name="文本框 11"/>
          <p:cNvSpPr txBox="1"/>
          <p:nvPr>
            <p:custDataLst>
              <p:tags r:id="rId5"/>
            </p:custDataLst>
          </p:nvPr>
        </p:nvSpPr>
        <p:spPr>
          <a:xfrm>
            <a:off x="7215505" y="803275"/>
            <a:ext cx="24136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int [10]</a:t>
            </a:r>
            <a:endParaRPr lang="en-US" altLang="zh-CN"/>
          </a:p>
        </p:txBody>
      </p:sp>
      <p:grpSp>
        <p:nvGrpSpPr>
          <p:cNvPr id="14" name="组合 13"/>
          <p:cNvGrpSpPr/>
          <p:nvPr>
            <p:custDataLst>
              <p:tags r:id="rId6"/>
            </p:custDataLst>
          </p:nvPr>
        </p:nvGrpSpPr>
        <p:grpSpPr>
          <a:xfrm>
            <a:off x="6069330" y="1515110"/>
            <a:ext cx="4330065" cy="368300"/>
            <a:chOff x="553" y="2586"/>
            <a:chExt cx="6819" cy="580"/>
          </a:xfrm>
        </p:grpSpPr>
        <p:sp>
          <p:nvSpPr>
            <p:cNvPr id="13" name="文本框 12"/>
            <p:cNvSpPr txBox="1"/>
            <p:nvPr>
              <p:custDataLst>
                <p:tags r:id="rId7"/>
              </p:custDataLst>
            </p:nvPr>
          </p:nvSpPr>
          <p:spPr>
            <a:xfrm>
              <a:off x="553" y="2586"/>
              <a:ext cx="1929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/>
                <a:t>全部注释</a:t>
              </a:r>
              <a:endParaRPr lang="zh-CN" altLang="en-US"/>
            </a:p>
          </p:txBody>
        </p:sp>
        <p:sp>
          <p:nvSpPr>
            <p:cNvPr id="15" name="文本框 14"/>
            <p:cNvSpPr txBox="1"/>
            <p:nvPr>
              <p:custDataLst>
                <p:tags r:id="rId8"/>
              </p:custDataLst>
            </p:nvPr>
          </p:nvSpPr>
          <p:spPr>
            <a:xfrm>
              <a:off x="3245" y="2586"/>
              <a:ext cx="2654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/>
                <a:t>放开</a:t>
              </a:r>
              <a:r>
                <a:rPr lang="en-US" altLang="zh-CN"/>
                <a:t>1</a:t>
              </a:r>
              <a:endParaRPr lang="en-US" altLang="zh-CN"/>
            </a:p>
          </p:txBody>
        </p:sp>
        <p:sp>
          <p:nvSpPr>
            <p:cNvPr id="16" name="文本框 15"/>
            <p:cNvSpPr txBox="1"/>
            <p:nvPr>
              <p:custDataLst>
                <p:tags r:id="rId9"/>
              </p:custDataLst>
            </p:nvPr>
          </p:nvSpPr>
          <p:spPr>
            <a:xfrm>
              <a:off x="5272" y="2586"/>
              <a:ext cx="2101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/>
                <a:t>放开</a:t>
              </a:r>
              <a:r>
                <a:rPr lang="en-US" altLang="zh-CN"/>
                <a:t>1</a:t>
              </a:r>
              <a:r>
                <a:rPr lang="zh-CN" altLang="en-US"/>
                <a:t>、</a:t>
              </a:r>
              <a:r>
                <a:rPr lang="en-US" altLang="zh-CN"/>
                <a:t>2</a:t>
              </a:r>
              <a:endParaRPr lang="en-US" altLang="zh-CN"/>
            </a:p>
          </p:txBody>
        </p:sp>
      </p:grpSp>
      <p:pic>
        <p:nvPicPr>
          <p:cNvPr id="3" name="图片 2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2230" y="2088515"/>
            <a:ext cx="1386840" cy="349758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564005" y="2088515"/>
            <a:ext cx="1562100" cy="353568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389630" y="2118995"/>
            <a:ext cx="1409700" cy="3505200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514340" y="1811020"/>
            <a:ext cx="1394460" cy="3558540"/>
          </a:xfrm>
          <a:prstGeom prst="rect">
            <a:avLst/>
          </a:prstGeom>
        </p:spPr>
      </p:pic>
      <p:pic>
        <p:nvPicPr>
          <p:cNvPr id="19" name="图片 18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839460" y="5459095"/>
            <a:ext cx="4937760" cy="632460"/>
          </a:xfrm>
          <a:prstGeom prst="rect">
            <a:avLst/>
          </a:prstGeom>
        </p:spPr>
      </p:pic>
      <p:pic>
        <p:nvPicPr>
          <p:cNvPr id="22" name="图片 21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215505" y="2496185"/>
            <a:ext cx="4823460" cy="75438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1" name="文本框 20"/>
          <p:cNvSpPr txBox="1"/>
          <p:nvPr/>
        </p:nvSpPr>
        <p:spPr>
          <a:xfrm>
            <a:off x="1162050" y="257810"/>
            <a:ext cx="270192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kumimoji="1" lang="en-US" altLang="zh-CN" b="1" dirty="0">
                <a:solidFill>
                  <a:schemeClr val="accent2"/>
                </a:solidFill>
                <a:latin typeface="+mn-ea"/>
                <a:sym typeface="+mn-ea"/>
              </a:rPr>
              <a:t>Dev 32bit-Release</a:t>
            </a:r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224155" y="1515110"/>
            <a:ext cx="12249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全部注释</a:t>
            </a:r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2460625" y="1515110"/>
            <a:ext cx="168529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放开</a:t>
            </a:r>
            <a:r>
              <a:rPr lang="en-US" altLang="zh-CN"/>
              <a:t>1</a:t>
            </a:r>
            <a:endParaRPr lang="en-US" altLang="zh-CN"/>
          </a:p>
        </p:txBody>
      </p:sp>
      <p:sp>
        <p:nvSpPr>
          <p:cNvPr id="7" name="文本框 6"/>
          <p:cNvSpPr txBox="1"/>
          <p:nvPr/>
        </p:nvSpPr>
        <p:spPr>
          <a:xfrm>
            <a:off x="4034790" y="1515110"/>
            <a:ext cx="13341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放开</a:t>
            </a:r>
            <a:r>
              <a:rPr lang="en-US" altLang="zh-CN"/>
              <a:t>1</a:t>
            </a:r>
            <a:r>
              <a:rPr lang="zh-CN" altLang="en-US"/>
              <a:t>、</a:t>
            </a:r>
            <a:r>
              <a:rPr lang="en-US" altLang="zh-CN"/>
              <a:t>2</a:t>
            </a:r>
            <a:endParaRPr lang="en-US" altLang="zh-CN"/>
          </a:p>
        </p:txBody>
      </p:sp>
      <p:sp>
        <p:nvSpPr>
          <p:cNvPr id="9" name="文本框 8"/>
          <p:cNvSpPr txBox="1"/>
          <p:nvPr/>
        </p:nvSpPr>
        <p:spPr>
          <a:xfrm>
            <a:off x="873760" y="1004570"/>
            <a:ext cx="24136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char [10]</a:t>
            </a:r>
            <a:endParaRPr lang="en-US" altLang="zh-CN"/>
          </a:p>
        </p:txBody>
      </p:sp>
      <p:sp>
        <p:nvSpPr>
          <p:cNvPr id="12" name="文本框 11"/>
          <p:cNvSpPr txBox="1"/>
          <p:nvPr/>
        </p:nvSpPr>
        <p:spPr>
          <a:xfrm>
            <a:off x="7215505" y="803275"/>
            <a:ext cx="24136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int [10]</a:t>
            </a:r>
            <a:endParaRPr lang="en-US" altLang="zh-CN"/>
          </a:p>
        </p:txBody>
      </p:sp>
      <p:grpSp>
        <p:nvGrpSpPr>
          <p:cNvPr id="14" name="组合 13"/>
          <p:cNvGrpSpPr/>
          <p:nvPr/>
        </p:nvGrpSpPr>
        <p:grpSpPr>
          <a:xfrm>
            <a:off x="6069330" y="1515110"/>
            <a:ext cx="4330065" cy="368300"/>
            <a:chOff x="553" y="2586"/>
            <a:chExt cx="6819" cy="580"/>
          </a:xfrm>
        </p:grpSpPr>
        <p:sp>
          <p:nvSpPr>
            <p:cNvPr id="13" name="文本框 12"/>
            <p:cNvSpPr txBox="1"/>
            <p:nvPr/>
          </p:nvSpPr>
          <p:spPr>
            <a:xfrm>
              <a:off x="553" y="2586"/>
              <a:ext cx="1929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/>
                <a:t>全部注释</a:t>
              </a:r>
              <a:endParaRPr lang="zh-CN" altLang="en-US"/>
            </a:p>
          </p:txBody>
        </p:sp>
        <p:sp>
          <p:nvSpPr>
            <p:cNvPr id="15" name="文本框 14"/>
            <p:cNvSpPr txBox="1"/>
            <p:nvPr/>
          </p:nvSpPr>
          <p:spPr>
            <a:xfrm>
              <a:off x="3245" y="2586"/>
              <a:ext cx="2654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/>
                <a:t>放开</a:t>
              </a:r>
              <a:r>
                <a:rPr lang="en-US" altLang="zh-CN"/>
                <a:t>1</a:t>
              </a:r>
              <a:endParaRPr lang="en-US" altLang="zh-CN"/>
            </a:p>
          </p:txBody>
        </p:sp>
        <p:sp>
          <p:nvSpPr>
            <p:cNvPr id="16" name="文本框 15"/>
            <p:cNvSpPr txBox="1"/>
            <p:nvPr/>
          </p:nvSpPr>
          <p:spPr>
            <a:xfrm>
              <a:off x="5272" y="2586"/>
              <a:ext cx="2101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/>
                <a:t>放开</a:t>
              </a:r>
              <a:r>
                <a:rPr lang="en-US" altLang="zh-CN"/>
                <a:t>1</a:t>
              </a:r>
              <a:r>
                <a:rPr lang="zh-CN" altLang="en-US"/>
                <a:t>、</a:t>
              </a:r>
              <a:r>
                <a:rPr lang="en-US" altLang="zh-CN"/>
                <a:t>2</a:t>
              </a:r>
              <a:endParaRPr lang="en-US" altLang="zh-CN"/>
            </a:p>
          </p:txBody>
        </p:sp>
      </p:grp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93875" y="2129155"/>
            <a:ext cx="1686560" cy="3852545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955" y="2197100"/>
            <a:ext cx="1417320" cy="378460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63975" y="2272665"/>
            <a:ext cx="1455420" cy="3566160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13270" y="5686425"/>
            <a:ext cx="4899660" cy="701040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13270" y="4571365"/>
            <a:ext cx="4846320" cy="800100"/>
          </a:xfrm>
          <a:prstGeom prst="rect">
            <a:avLst/>
          </a:prstGeom>
        </p:spPr>
      </p:pic>
      <p:pic>
        <p:nvPicPr>
          <p:cNvPr id="18" name="图片 1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11495" y="2423160"/>
            <a:ext cx="1409700" cy="355854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1" name="文本框 20"/>
          <p:cNvSpPr txBox="1"/>
          <p:nvPr/>
        </p:nvSpPr>
        <p:spPr>
          <a:xfrm>
            <a:off x="1162050" y="257810"/>
            <a:ext cx="270192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kumimoji="1" lang="en-US" altLang="zh-CN" b="1" dirty="0">
                <a:solidFill>
                  <a:schemeClr val="accent2"/>
                </a:solidFill>
                <a:latin typeface="+mn-ea"/>
                <a:sym typeface="+mn-ea"/>
              </a:rPr>
              <a:t>Linux</a:t>
            </a:r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224155" y="1515110"/>
            <a:ext cx="12249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全部注释</a:t>
            </a:r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1933575" y="1515110"/>
            <a:ext cx="168529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放开</a:t>
            </a:r>
            <a:r>
              <a:rPr lang="en-US" altLang="zh-CN"/>
              <a:t>1</a:t>
            </a:r>
            <a:endParaRPr lang="en-US" altLang="zh-CN"/>
          </a:p>
        </p:txBody>
      </p:sp>
      <p:sp>
        <p:nvSpPr>
          <p:cNvPr id="5" name="文本框 4"/>
          <p:cNvSpPr txBox="1"/>
          <p:nvPr/>
        </p:nvSpPr>
        <p:spPr>
          <a:xfrm>
            <a:off x="3220720" y="1515110"/>
            <a:ext cx="13341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放开</a:t>
            </a:r>
            <a:r>
              <a:rPr lang="en-US" altLang="zh-CN"/>
              <a:t>1</a:t>
            </a:r>
            <a:r>
              <a:rPr lang="zh-CN" altLang="en-US"/>
              <a:t>、</a:t>
            </a:r>
            <a:r>
              <a:rPr lang="en-US" altLang="zh-CN"/>
              <a:t>2</a:t>
            </a:r>
            <a:endParaRPr lang="en-US" altLang="zh-CN"/>
          </a:p>
        </p:txBody>
      </p:sp>
      <p:sp>
        <p:nvSpPr>
          <p:cNvPr id="7" name="文本框 6"/>
          <p:cNvSpPr txBox="1"/>
          <p:nvPr/>
        </p:nvSpPr>
        <p:spPr>
          <a:xfrm>
            <a:off x="873760" y="1004570"/>
            <a:ext cx="24136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char [10]</a:t>
            </a:r>
            <a:endParaRPr lang="en-US" altLang="zh-CN"/>
          </a:p>
        </p:txBody>
      </p:sp>
      <p:sp>
        <p:nvSpPr>
          <p:cNvPr id="9" name="文本框 8"/>
          <p:cNvSpPr txBox="1"/>
          <p:nvPr/>
        </p:nvSpPr>
        <p:spPr>
          <a:xfrm>
            <a:off x="7215505" y="803275"/>
            <a:ext cx="24136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int [10]</a:t>
            </a:r>
            <a:endParaRPr lang="en-US" altLang="zh-CN"/>
          </a:p>
        </p:txBody>
      </p:sp>
      <p:grpSp>
        <p:nvGrpSpPr>
          <p:cNvPr id="14" name="组合 13"/>
          <p:cNvGrpSpPr/>
          <p:nvPr/>
        </p:nvGrpSpPr>
        <p:grpSpPr>
          <a:xfrm>
            <a:off x="6069330" y="1515110"/>
            <a:ext cx="4330065" cy="368300"/>
            <a:chOff x="553" y="2586"/>
            <a:chExt cx="6819" cy="580"/>
          </a:xfrm>
        </p:grpSpPr>
        <p:sp>
          <p:nvSpPr>
            <p:cNvPr id="12" name="文本框 11"/>
            <p:cNvSpPr txBox="1"/>
            <p:nvPr/>
          </p:nvSpPr>
          <p:spPr>
            <a:xfrm>
              <a:off x="553" y="2586"/>
              <a:ext cx="1929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/>
                <a:t>全部注释</a:t>
              </a:r>
              <a:endParaRPr lang="zh-CN" altLang="en-US"/>
            </a:p>
          </p:txBody>
        </p:sp>
        <p:sp>
          <p:nvSpPr>
            <p:cNvPr id="13" name="文本框 12"/>
            <p:cNvSpPr txBox="1"/>
            <p:nvPr/>
          </p:nvSpPr>
          <p:spPr>
            <a:xfrm>
              <a:off x="3245" y="2586"/>
              <a:ext cx="2654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/>
                <a:t>放开</a:t>
              </a:r>
              <a:r>
                <a:rPr lang="en-US" altLang="zh-CN"/>
                <a:t>1</a:t>
              </a:r>
              <a:endParaRPr lang="en-US" altLang="zh-CN"/>
            </a:p>
          </p:txBody>
        </p:sp>
        <p:sp>
          <p:nvSpPr>
            <p:cNvPr id="15" name="文本框 14"/>
            <p:cNvSpPr txBox="1"/>
            <p:nvPr/>
          </p:nvSpPr>
          <p:spPr>
            <a:xfrm>
              <a:off x="5272" y="2586"/>
              <a:ext cx="2101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/>
                <a:t>放开</a:t>
              </a:r>
              <a:r>
                <a:rPr lang="en-US" altLang="zh-CN"/>
                <a:t>1</a:t>
              </a:r>
              <a:r>
                <a:rPr lang="zh-CN" altLang="en-US"/>
                <a:t>、</a:t>
              </a:r>
              <a:r>
                <a:rPr lang="en-US" altLang="zh-CN"/>
                <a:t>2</a:t>
              </a:r>
              <a:endParaRPr lang="en-US" altLang="zh-CN"/>
            </a:p>
          </p:txBody>
        </p:sp>
      </p:grp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4155" y="2264410"/>
            <a:ext cx="1325880" cy="338328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1645" y="2264410"/>
            <a:ext cx="1394460" cy="332232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07715" y="2264410"/>
            <a:ext cx="1390650" cy="3456940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57495" y="2401570"/>
            <a:ext cx="1668780" cy="3185160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15505" y="3343275"/>
            <a:ext cx="1417320" cy="342900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05570" y="3428365"/>
            <a:ext cx="1829435" cy="33528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关于动态内存申请后越界访问的深度讨论</a:t>
            </a:r>
            <a:endParaRPr lang="zh-CN" altLang="en-US" sz="28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★ </a:t>
            </a:r>
            <a:r>
              <a:rPr lang="zh-CN" altLang="en-US" sz="1600" b="1" dirty="0">
                <a:latin typeface="+mn-ea"/>
              </a:rPr>
              <a:t>如何判断普通数组的越界访问（</a:t>
            </a:r>
            <a:r>
              <a:rPr lang="en-US" altLang="zh-CN" sz="1600" b="1" dirty="0">
                <a:latin typeface="+mn-ea"/>
              </a:rPr>
              <a:t>C++</a:t>
            </a:r>
            <a:r>
              <a:rPr lang="zh-CN" altLang="en-US" sz="1600" b="1" dirty="0">
                <a:latin typeface="+mn-ea"/>
              </a:rPr>
              <a:t>方式，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注意源程序后缀为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.</a:t>
            </a:r>
            <a:r>
              <a:rPr lang="en-US" altLang="zh-CN" sz="1600" b="1" dirty="0" err="1">
                <a:solidFill>
                  <a:srgbClr val="FF0000"/>
                </a:solidFill>
                <a:latin typeface="+mn-ea"/>
              </a:rPr>
              <a:t>cpp</a:t>
            </a:r>
            <a:r>
              <a:rPr lang="zh-CN" altLang="en-US" sz="1600" b="1" dirty="0">
                <a:latin typeface="+mn-ea"/>
              </a:rPr>
              <a:t>）</a:t>
            </a:r>
            <a:endParaRPr lang="zh-CN" altLang="en-US" sz="1600" b="1" dirty="0">
              <a:latin typeface="+mn-ea"/>
            </a:endParaRPr>
          </a:p>
        </p:txBody>
      </p:sp>
      <p:sp>
        <p:nvSpPr>
          <p:cNvPr id="5" name="矩形 4"/>
          <p:cNvSpPr/>
          <p:nvPr/>
        </p:nvSpPr>
        <p:spPr bwMode="auto">
          <a:xfrm>
            <a:off x="484720" y="980728"/>
            <a:ext cx="10461702" cy="5724872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" name="矩形 3"/>
          <p:cNvSpPr/>
          <p:nvPr/>
        </p:nvSpPr>
        <p:spPr bwMode="auto">
          <a:xfrm>
            <a:off x="7202006" y="980727"/>
            <a:ext cx="3744416" cy="4057265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在理解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P.1/P.2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的情况下，自行构造</a:t>
            </a: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相似的程序，来观察数组越界后的</a:t>
            </a: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内存表现，并验证与动态申请是否相似</a:t>
            </a: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chemeClr val="accent2"/>
                </a:solidFill>
                <a:latin typeface="+mn-ea"/>
              </a:rPr>
              <a:t>要求：</a:t>
            </a:r>
            <a:endParaRPr kumimoji="1" lang="en-US" altLang="zh-CN" sz="1600" b="1" dirty="0">
              <a:solidFill>
                <a:schemeClr val="accent2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chemeClr val="accent2"/>
                </a:solidFill>
                <a:latin typeface="+mn-ea"/>
              </a:rPr>
              <a:t>1</a:t>
            </a:r>
            <a:r>
              <a:rPr kumimoji="1" lang="zh-CN" altLang="en-US" sz="1600" b="1" dirty="0">
                <a:solidFill>
                  <a:schemeClr val="accent2"/>
                </a:solidFill>
                <a:latin typeface="+mn-ea"/>
              </a:rPr>
              <a:t>、数组用 </a:t>
            </a:r>
            <a:r>
              <a:rPr kumimoji="1" lang="en-US" altLang="zh-CN" sz="1600" b="1" dirty="0">
                <a:solidFill>
                  <a:schemeClr val="accent2"/>
                </a:solidFill>
                <a:latin typeface="+mn-ea"/>
              </a:rPr>
              <a:t>char a[10]; </a:t>
            </a:r>
            <a:r>
              <a:rPr kumimoji="1" lang="zh-CN" altLang="en-US" sz="1600" b="1" dirty="0">
                <a:solidFill>
                  <a:schemeClr val="accent2"/>
                </a:solidFill>
                <a:latin typeface="+mn-ea"/>
              </a:rPr>
              <a:t>形式</a:t>
            </a:r>
            <a:endParaRPr kumimoji="1" lang="en-US" altLang="zh-CN" sz="1600" b="1" dirty="0">
              <a:solidFill>
                <a:schemeClr val="accent2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chemeClr val="accent2"/>
                </a:solidFill>
                <a:latin typeface="+mn-ea"/>
              </a:rPr>
              <a:t>2</a:t>
            </a:r>
            <a:r>
              <a:rPr kumimoji="1" lang="zh-CN" altLang="en-US" sz="1600" b="1" dirty="0">
                <a:solidFill>
                  <a:schemeClr val="accent2"/>
                </a:solidFill>
                <a:latin typeface="+mn-ea"/>
              </a:rPr>
              <a:t>、数组用 </a:t>
            </a:r>
            <a:r>
              <a:rPr kumimoji="1" lang="en-US" altLang="zh-CN" sz="1600" b="1" dirty="0">
                <a:solidFill>
                  <a:schemeClr val="accent2"/>
                </a:solidFill>
                <a:latin typeface="+mn-ea"/>
              </a:rPr>
              <a:t>int a[10]; </a:t>
            </a:r>
            <a:r>
              <a:rPr kumimoji="1" lang="zh-CN" altLang="en-US" sz="1600" b="1" dirty="0">
                <a:solidFill>
                  <a:schemeClr val="accent2"/>
                </a:solidFill>
                <a:latin typeface="+mn-ea"/>
              </a:rPr>
              <a:t>形式</a:t>
            </a:r>
            <a:endParaRPr kumimoji="1" lang="en-US" altLang="zh-CN" sz="1600" b="1" dirty="0">
              <a:solidFill>
                <a:schemeClr val="accent2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chemeClr val="accent2"/>
                </a:solidFill>
                <a:latin typeface="+mn-ea"/>
              </a:rPr>
              <a:t>3</a:t>
            </a:r>
            <a:r>
              <a:rPr kumimoji="1" lang="zh-CN" altLang="en-US" sz="1600" b="1" dirty="0">
                <a:solidFill>
                  <a:schemeClr val="accent2"/>
                </a:solidFill>
                <a:latin typeface="+mn-ea"/>
              </a:rPr>
              <a:t>、测试程序在下面五种环境下运行</a:t>
            </a:r>
            <a:endParaRPr kumimoji="1" lang="en-US" altLang="zh-CN" sz="1600" b="1" dirty="0">
              <a:solidFill>
                <a:schemeClr val="accent2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chemeClr val="accent2"/>
                </a:solidFill>
                <a:latin typeface="+mn-ea"/>
              </a:rPr>
              <a:t>      VS2022 x86/Debug</a:t>
            </a:r>
            <a:endParaRPr kumimoji="1" lang="en-US" altLang="zh-CN" sz="1600" b="1" dirty="0">
              <a:solidFill>
                <a:schemeClr val="accent2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chemeClr val="accent2"/>
                </a:solidFill>
                <a:latin typeface="+mn-ea"/>
              </a:rPr>
              <a:t>      VS2022 x86/Release</a:t>
            </a:r>
            <a:endParaRPr kumimoji="1" lang="en-US" altLang="zh-CN" sz="1600" b="1" dirty="0">
              <a:solidFill>
                <a:schemeClr val="accent2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chemeClr val="accent2"/>
                </a:solidFill>
                <a:latin typeface="+mn-ea"/>
              </a:rPr>
              <a:t>      Dev 32bit-Debug</a:t>
            </a:r>
            <a:endParaRPr kumimoji="1" lang="en-US" altLang="zh-CN" sz="1600" b="1" dirty="0">
              <a:solidFill>
                <a:schemeClr val="accent2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chemeClr val="accent2"/>
                </a:solidFill>
                <a:latin typeface="+mn-ea"/>
              </a:rPr>
              <a:t>      Dev 32bit-Release</a:t>
            </a:r>
            <a:endParaRPr kumimoji="1" lang="en-US" altLang="zh-CN" sz="1600" b="1" dirty="0">
              <a:solidFill>
                <a:schemeClr val="accent2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chemeClr val="accent2"/>
                </a:solidFill>
                <a:latin typeface="+mn-ea"/>
              </a:rPr>
              <a:t>      Linux</a:t>
            </a:r>
            <a:endParaRPr kumimoji="1" lang="en-US" altLang="zh-CN" sz="1600" b="1" dirty="0">
              <a:solidFill>
                <a:schemeClr val="accent2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chemeClr val="accent2"/>
                </a:solidFill>
                <a:latin typeface="+mn-ea"/>
              </a:rPr>
              <a:t>4</a:t>
            </a:r>
            <a:r>
              <a:rPr kumimoji="1" lang="zh-CN" altLang="en-US" sz="1600" b="1" dirty="0">
                <a:solidFill>
                  <a:schemeClr val="accent2"/>
                </a:solidFill>
                <a:latin typeface="+mn-ea"/>
              </a:rPr>
              <a:t>、每种讨论的结果可截图</a:t>
            </a:r>
            <a:r>
              <a:rPr kumimoji="1" lang="en-US" altLang="zh-CN" sz="1600" b="1" dirty="0">
                <a:solidFill>
                  <a:schemeClr val="accent2"/>
                </a:solidFill>
                <a:latin typeface="+mn-ea"/>
              </a:rPr>
              <a:t>+</a:t>
            </a:r>
            <a:r>
              <a:rPr kumimoji="1" lang="zh-CN" altLang="en-US" sz="1600" b="1" dirty="0">
                <a:solidFill>
                  <a:schemeClr val="accent2"/>
                </a:solidFill>
                <a:latin typeface="+mn-ea"/>
              </a:rPr>
              <a:t>文字说明，</a:t>
            </a:r>
            <a:endParaRPr kumimoji="1" lang="en-US" altLang="zh-CN" sz="1600" b="1" dirty="0">
              <a:solidFill>
                <a:schemeClr val="accent2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chemeClr val="accent2"/>
                </a:solidFill>
                <a:latin typeface="+mn-ea"/>
              </a:rPr>
              <a:t>   如果几种环境的结果一致，用一个</a:t>
            </a:r>
            <a:endParaRPr kumimoji="1" lang="en-US" altLang="zh-CN" sz="1600" b="1" dirty="0">
              <a:solidFill>
                <a:schemeClr val="accent2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chemeClr val="accent2"/>
                </a:solidFill>
                <a:latin typeface="+mn-ea"/>
              </a:rPr>
              <a:t>   </a:t>
            </a:r>
            <a:r>
              <a:rPr kumimoji="1" lang="zh-CN" altLang="en-US" sz="1600" b="1" dirty="0">
                <a:solidFill>
                  <a:schemeClr val="accent2"/>
                </a:solidFill>
                <a:latin typeface="+mn-ea"/>
              </a:rPr>
              <a:t>环境的截图</a:t>
            </a:r>
            <a:r>
              <a:rPr kumimoji="1" lang="en-US" altLang="zh-CN" sz="1600" b="1" dirty="0">
                <a:solidFill>
                  <a:schemeClr val="accent2"/>
                </a:solidFill>
                <a:latin typeface="+mn-ea"/>
              </a:rPr>
              <a:t>+</a:t>
            </a:r>
            <a:r>
              <a:rPr kumimoji="1" lang="zh-CN" altLang="en-US" sz="1600" b="1" dirty="0">
                <a:solidFill>
                  <a:schemeClr val="accent2"/>
                </a:solidFill>
                <a:latin typeface="+mn-ea"/>
              </a:rPr>
              <a:t>文字说明即可</a:t>
            </a:r>
            <a:r>
              <a:rPr kumimoji="1" lang="en-US" altLang="zh-CN" sz="1600" b="1" dirty="0">
                <a:solidFill>
                  <a:schemeClr val="accent2"/>
                </a:solidFill>
                <a:latin typeface="+mn-ea"/>
              </a:rPr>
              <a:t>(</a:t>
            </a:r>
            <a:r>
              <a:rPr kumimoji="1" lang="zh-CN" altLang="en-US" sz="1600" b="1" dirty="0">
                <a:solidFill>
                  <a:schemeClr val="accent2"/>
                </a:solidFill>
                <a:latin typeface="+mn-ea"/>
              </a:rPr>
              <a:t>可加页</a:t>
            </a:r>
            <a:r>
              <a:rPr kumimoji="1" lang="en-US" altLang="zh-CN" sz="1600" b="1" dirty="0">
                <a:solidFill>
                  <a:schemeClr val="accent2"/>
                </a:solidFill>
                <a:latin typeface="+mn-ea"/>
              </a:rPr>
              <a:t>)</a:t>
            </a:r>
            <a:endParaRPr kumimoji="1" lang="en-US" altLang="zh-CN" sz="1600" b="1" dirty="0">
              <a:solidFill>
                <a:schemeClr val="accent2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1600" b="1" dirty="0">
              <a:solidFill>
                <a:schemeClr val="accent2"/>
              </a:solidFill>
              <a:latin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49605" y="980440"/>
            <a:ext cx="10055860" cy="60007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buClrTx/>
              <a:buSzTx/>
              <a:buFontTx/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&lt;iostream&gt;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>
              <a:buClrTx/>
              <a:buSzTx/>
              <a:buFontTx/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&lt;cstring&gt;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>
              <a:buClrTx/>
              <a:buSzTx/>
              <a:buFontTx/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using namespace std;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>
              <a:buClrTx/>
              <a:buSzTx/>
              <a:buFontTx/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>
              <a:buClrTx/>
              <a:buSzTx/>
              <a:buFontTx/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 main()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>
              <a:buClrTx/>
              <a:buSzTx/>
              <a:buFontTx/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>
              <a:buClrTx/>
              <a:buSzTx/>
              <a:buFontTx/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int* p;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>
              <a:buClrTx/>
              <a:buSzTx/>
              <a:buFontTx/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int test [10];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>
              <a:buClrTx/>
              <a:buSzTx/>
              <a:buFontTx/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p = test;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>
              <a:buClrTx/>
              <a:buSzTx/>
              <a:buFontTx/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>
              <a:buClrTx/>
              <a:buSzTx/>
              <a:buFontTx/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for (int i = 0; i &lt; 10; i++)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>
              <a:buClrTx/>
              <a:buSzTx/>
              <a:buFontTx/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{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>
              <a:buClrTx/>
              <a:buSzTx/>
              <a:buFontTx/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p[i] = i;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>
              <a:buClrTx/>
              <a:buSzTx/>
              <a:buFontTx/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}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>
              <a:buClrTx/>
              <a:buSzTx/>
              <a:buFontTx/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//  p[10] = 'a';    //此句越界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>
              <a:buClrTx/>
              <a:buSzTx/>
              <a:buFontTx/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p[14] = 'A';    //此句越界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>
              <a:buClrTx/>
              <a:buSzTx/>
              <a:buFontTx/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p[15] = 'B';    //此句越界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>
              <a:buClrTx/>
              <a:buSzTx/>
              <a:buFontTx/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//  p[10] = '\xfd'; //此句越界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>
              <a:buClrTx/>
              <a:buSzTx/>
              <a:buFontTx/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cout &lt;&lt; "addr:" &lt;&lt; hex &lt;&lt; (void*)(p) &lt;&lt; endl;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>
              <a:buClrTx/>
              <a:buSzTx/>
              <a:buFontTx/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for (int i = -4; i &lt; 16; i++) //注意，只有0-9是合理范围，其余都是越界读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>
              <a:buClrTx/>
              <a:buSzTx/>
              <a:buFontTx/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cout &lt;&lt; hex &lt;&lt; (void*)(p + i) &lt;&lt; ":" &lt;&lt; int(p[i]) &lt;&lt; endl;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>
              <a:buClrTx/>
              <a:buSzTx/>
              <a:buFontTx/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>
              <a:buClrTx/>
              <a:buSzTx/>
              <a:buFontTx/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return 0;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>
              <a:buClrTx/>
              <a:buSzTx/>
              <a:buFontTx/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1" name="文本框 20"/>
          <p:cNvSpPr txBox="1"/>
          <p:nvPr/>
        </p:nvSpPr>
        <p:spPr>
          <a:xfrm>
            <a:off x="1162050" y="257810"/>
            <a:ext cx="270192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kumimoji="1" lang="en-US" altLang="zh-CN" b="1" dirty="0">
                <a:solidFill>
                  <a:schemeClr val="accent2"/>
                </a:solidFill>
                <a:latin typeface="+mn-ea"/>
                <a:sym typeface="+mn-ea"/>
              </a:rPr>
              <a:t>VS2022 x86/Debug</a:t>
            </a:r>
            <a:endParaRPr lang="zh-CN" altLang="en-US"/>
          </a:p>
        </p:txBody>
      </p:sp>
      <p:sp>
        <p:nvSpPr>
          <p:cNvPr id="2" name="文本框 1"/>
          <p:cNvSpPr txBox="1"/>
          <p:nvPr>
            <p:custDataLst>
              <p:tags r:id="rId1"/>
            </p:custDataLst>
          </p:nvPr>
        </p:nvSpPr>
        <p:spPr>
          <a:xfrm>
            <a:off x="224155" y="1515110"/>
            <a:ext cx="12249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全部注释</a:t>
            </a:r>
            <a:endParaRPr lang="zh-CN" altLang="en-US"/>
          </a:p>
        </p:txBody>
      </p:sp>
      <p:sp>
        <p:nvSpPr>
          <p:cNvPr id="4" name="文本框 3"/>
          <p:cNvSpPr txBox="1"/>
          <p:nvPr>
            <p:custDataLst>
              <p:tags r:id="rId2"/>
            </p:custDataLst>
          </p:nvPr>
        </p:nvSpPr>
        <p:spPr>
          <a:xfrm>
            <a:off x="1933575" y="1515110"/>
            <a:ext cx="168529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放开</a:t>
            </a:r>
            <a:r>
              <a:rPr lang="en-US" altLang="zh-CN"/>
              <a:t>1</a:t>
            </a:r>
            <a:endParaRPr lang="en-US" altLang="zh-CN"/>
          </a:p>
        </p:txBody>
      </p:sp>
      <p:sp>
        <p:nvSpPr>
          <p:cNvPr id="5" name="文本框 4"/>
          <p:cNvSpPr txBox="1"/>
          <p:nvPr>
            <p:custDataLst>
              <p:tags r:id="rId3"/>
            </p:custDataLst>
          </p:nvPr>
        </p:nvSpPr>
        <p:spPr>
          <a:xfrm>
            <a:off x="3863975" y="1515110"/>
            <a:ext cx="13341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放开</a:t>
            </a:r>
            <a:r>
              <a:rPr lang="en-US" altLang="zh-CN"/>
              <a:t>1</a:t>
            </a:r>
            <a:r>
              <a:rPr lang="zh-CN" altLang="en-US"/>
              <a:t>、</a:t>
            </a:r>
            <a:r>
              <a:rPr lang="en-US" altLang="zh-CN"/>
              <a:t>2</a:t>
            </a:r>
            <a:endParaRPr lang="en-US" altLang="zh-CN"/>
          </a:p>
        </p:txBody>
      </p:sp>
      <p:sp>
        <p:nvSpPr>
          <p:cNvPr id="7" name="文本框 6"/>
          <p:cNvSpPr txBox="1"/>
          <p:nvPr>
            <p:custDataLst>
              <p:tags r:id="rId4"/>
            </p:custDataLst>
          </p:nvPr>
        </p:nvSpPr>
        <p:spPr>
          <a:xfrm>
            <a:off x="873760" y="1004570"/>
            <a:ext cx="24136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char [10]</a:t>
            </a:r>
            <a:endParaRPr lang="en-US" altLang="zh-CN"/>
          </a:p>
        </p:txBody>
      </p:sp>
      <p:sp>
        <p:nvSpPr>
          <p:cNvPr id="9" name="文本框 8"/>
          <p:cNvSpPr txBox="1"/>
          <p:nvPr>
            <p:custDataLst>
              <p:tags r:id="rId5"/>
            </p:custDataLst>
          </p:nvPr>
        </p:nvSpPr>
        <p:spPr>
          <a:xfrm>
            <a:off x="7215505" y="803275"/>
            <a:ext cx="24136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int [10]</a:t>
            </a:r>
            <a:endParaRPr lang="en-US" altLang="zh-CN"/>
          </a:p>
        </p:txBody>
      </p:sp>
      <p:grpSp>
        <p:nvGrpSpPr>
          <p:cNvPr id="14" name="组合 13"/>
          <p:cNvGrpSpPr/>
          <p:nvPr>
            <p:custDataLst>
              <p:tags r:id="rId6"/>
            </p:custDataLst>
          </p:nvPr>
        </p:nvGrpSpPr>
        <p:grpSpPr>
          <a:xfrm>
            <a:off x="6069330" y="1515110"/>
            <a:ext cx="4330065" cy="368300"/>
            <a:chOff x="553" y="2586"/>
            <a:chExt cx="6819" cy="580"/>
          </a:xfrm>
        </p:grpSpPr>
        <p:sp>
          <p:nvSpPr>
            <p:cNvPr id="12" name="文本框 11"/>
            <p:cNvSpPr txBox="1"/>
            <p:nvPr>
              <p:custDataLst>
                <p:tags r:id="rId7"/>
              </p:custDataLst>
            </p:nvPr>
          </p:nvSpPr>
          <p:spPr>
            <a:xfrm>
              <a:off x="553" y="2586"/>
              <a:ext cx="1929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/>
                <a:t>全部注释</a:t>
              </a:r>
              <a:endParaRPr lang="zh-CN" altLang="en-US"/>
            </a:p>
          </p:txBody>
        </p:sp>
        <p:sp>
          <p:nvSpPr>
            <p:cNvPr id="13" name="文本框 12"/>
            <p:cNvSpPr txBox="1"/>
            <p:nvPr>
              <p:custDataLst>
                <p:tags r:id="rId8"/>
              </p:custDataLst>
            </p:nvPr>
          </p:nvSpPr>
          <p:spPr>
            <a:xfrm>
              <a:off x="3245" y="2586"/>
              <a:ext cx="2654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/>
                <a:t>放开</a:t>
              </a:r>
              <a:r>
                <a:rPr lang="en-US" altLang="zh-CN"/>
                <a:t>1</a:t>
              </a:r>
              <a:endParaRPr lang="en-US" altLang="zh-CN"/>
            </a:p>
          </p:txBody>
        </p:sp>
        <p:sp>
          <p:nvSpPr>
            <p:cNvPr id="15" name="文本框 14"/>
            <p:cNvSpPr txBox="1"/>
            <p:nvPr>
              <p:custDataLst>
                <p:tags r:id="rId9"/>
              </p:custDataLst>
            </p:nvPr>
          </p:nvSpPr>
          <p:spPr>
            <a:xfrm>
              <a:off x="5272" y="2586"/>
              <a:ext cx="2101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/>
                <a:t>放开</a:t>
              </a:r>
              <a:r>
                <a:rPr lang="en-US" altLang="zh-CN"/>
                <a:t>1</a:t>
              </a:r>
              <a:r>
                <a:rPr lang="zh-CN" altLang="en-US"/>
                <a:t>、</a:t>
              </a:r>
              <a:r>
                <a:rPr lang="en-US" altLang="zh-CN"/>
                <a:t>2</a:t>
              </a:r>
              <a:endParaRPr lang="en-US" altLang="zh-CN"/>
            </a:p>
          </p:txBody>
        </p:sp>
      </p:grpSp>
      <p:pic>
        <p:nvPicPr>
          <p:cNvPr id="11" name="图片 10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3505" y="2085340"/>
            <a:ext cx="1465580" cy="3872230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349375" y="3429000"/>
            <a:ext cx="2476500" cy="1341120"/>
          </a:xfrm>
          <a:prstGeom prst="rect">
            <a:avLst/>
          </a:prstGeom>
        </p:spPr>
      </p:pic>
      <p:pic>
        <p:nvPicPr>
          <p:cNvPr id="18" name="图片 17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373120" y="1997075"/>
            <a:ext cx="2438400" cy="131826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884545" y="2085340"/>
            <a:ext cx="1409700" cy="350520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148455" y="6031230"/>
            <a:ext cx="4335780" cy="35052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447915" y="2297430"/>
            <a:ext cx="2346960" cy="1402080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715375" y="4076700"/>
            <a:ext cx="2346960" cy="150114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1200785" y="1522095"/>
            <a:ext cx="802640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在数组中，越界访问可能导致内存中变量的布局发生了变化。如果一个内存越界破坏了一个不含指针的结构，程序虽然逻辑不对，但是不至于崩溃。但是如果增加变量后，内存访问越界破坏了一个指针，则会导致程序崩溃。</a:t>
            </a:r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1459230" y="822960"/>
            <a:ext cx="38601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为什么跳弹窗？</a:t>
            </a:r>
            <a:endParaRPr lang="zh-CN" alt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942340" y="1645920"/>
            <a:ext cx="819848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操作系统将内存分配给你的程序时，可能会在你分配的内存后面留有其他可用的内存空间。你的越界写入可能覆盖这些区域，但不会立即引发错误，直到你尝试访问受影响的内存。</a:t>
            </a:r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1325245" y="1090930"/>
            <a:ext cx="68865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越界访问赋值和越界赋值不出现</a:t>
            </a:r>
            <a:r>
              <a:rPr lang="en-US" altLang="zh-CN"/>
              <a:t>error</a:t>
            </a:r>
            <a:r>
              <a:rPr lang="zh-CN" altLang="en-US"/>
              <a:t>的原因：</a:t>
            </a:r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1123950" y="3159760"/>
            <a:ext cx="456882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为什么</a:t>
            </a:r>
            <a:r>
              <a:rPr lang="en-US" altLang="zh-CN"/>
              <a:t>1</a:t>
            </a:r>
            <a:r>
              <a:rPr lang="zh-CN" altLang="en-US"/>
              <a:t>、</a:t>
            </a:r>
            <a:r>
              <a:rPr lang="en-US" altLang="zh-CN"/>
              <a:t>2</a:t>
            </a:r>
            <a:r>
              <a:rPr lang="zh-CN" altLang="en-US"/>
              <a:t>会出现弹窗：</a:t>
            </a:r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798195" y="3954780"/>
            <a:ext cx="988504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在某些系统中，操作系统会实现内存保护机制，防止程序访问未分配的内存。如果程序在释放内存之前已经越界写入，可能会导致元数据损坏，从而在后续调用 free 时引发异常或错误。</a:t>
            </a:r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1267460" y="4893310"/>
            <a:ext cx="662813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因此，如果</a:t>
            </a:r>
            <a:r>
              <a:rPr lang="en-US" altLang="zh-CN"/>
              <a:t>1,2,3</a:t>
            </a:r>
            <a:r>
              <a:rPr lang="zh-CN" altLang="en-US"/>
              <a:t>同时放开，</a:t>
            </a:r>
            <a:r>
              <a:rPr lang="en-US" altLang="zh-CN"/>
              <a:t>free</a:t>
            </a:r>
            <a:r>
              <a:rPr lang="zh-CN" altLang="en-US"/>
              <a:t>无法检测到越界写入</a:t>
            </a:r>
            <a:endParaRPr lang="zh-CN" alt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1" name="文本框 20"/>
          <p:cNvSpPr txBox="1"/>
          <p:nvPr/>
        </p:nvSpPr>
        <p:spPr>
          <a:xfrm>
            <a:off x="1162050" y="257810"/>
            <a:ext cx="270192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b="1" dirty="0">
                <a:solidFill>
                  <a:schemeClr val="accent2"/>
                </a:solidFill>
                <a:latin typeface="+mn-ea"/>
                <a:sym typeface="+mn-ea"/>
              </a:rPr>
              <a:t>VS2022 x86/Release</a:t>
            </a:r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224155" y="1515110"/>
            <a:ext cx="12249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全部注释</a:t>
            </a:r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1933575" y="1515110"/>
            <a:ext cx="168529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放开</a:t>
            </a:r>
            <a:r>
              <a:rPr lang="en-US" altLang="zh-CN"/>
              <a:t>1</a:t>
            </a:r>
            <a:endParaRPr lang="en-US" altLang="zh-CN"/>
          </a:p>
        </p:txBody>
      </p:sp>
      <p:sp>
        <p:nvSpPr>
          <p:cNvPr id="5" name="文本框 4"/>
          <p:cNvSpPr txBox="1"/>
          <p:nvPr/>
        </p:nvSpPr>
        <p:spPr>
          <a:xfrm>
            <a:off x="3220720" y="1515110"/>
            <a:ext cx="13341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放开</a:t>
            </a:r>
            <a:r>
              <a:rPr lang="en-US" altLang="zh-CN"/>
              <a:t>1</a:t>
            </a:r>
            <a:r>
              <a:rPr lang="zh-CN" altLang="en-US"/>
              <a:t>、</a:t>
            </a:r>
            <a:r>
              <a:rPr lang="en-US" altLang="zh-CN"/>
              <a:t>2</a:t>
            </a:r>
            <a:endParaRPr lang="en-US" altLang="zh-CN"/>
          </a:p>
        </p:txBody>
      </p:sp>
      <p:sp>
        <p:nvSpPr>
          <p:cNvPr id="7" name="文本框 6"/>
          <p:cNvSpPr txBox="1"/>
          <p:nvPr/>
        </p:nvSpPr>
        <p:spPr>
          <a:xfrm>
            <a:off x="873760" y="1004570"/>
            <a:ext cx="24136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char [10]</a:t>
            </a:r>
            <a:endParaRPr lang="en-US" altLang="zh-CN"/>
          </a:p>
        </p:txBody>
      </p:sp>
      <p:sp>
        <p:nvSpPr>
          <p:cNvPr id="9" name="文本框 8"/>
          <p:cNvSpPr txBox="1"/>
          <p:nvPr/>
        </p:nvSpPr>
        <p:spPr>
          <a:xfrm>
            <a:off x="7215505" y="803275"/>
            <a:ext cx="24136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int [10]</a:t>
            </a:r>
            <a:endParaRPr lang="en-US" altLang="zh-CN"/>
          </a:p>
        </p:txBody>
      </p:sp>
      <p:grpSp>
        <p:nvGrpSpPr>
          <p:cNvPr id="14" name="组合 13"/>
          <p:cNvGrpSpPr/>
          <p:nvPr/>
        </p:nvGrpSpPr>
        <p:grpSpPr>
          <a:xfrm>
            <a:off x="6069330" y="1515110"/>
            <a:ext cx="4330065" cy="368300"/>
            <a:chOff x="553" y="2586"/>
            <a:chExt cx="6819" cy="580"/>
          </a:xfrm>
        </p:grpSpPr>
        <p:sp>
          <p:nvSpPr>
            <p:cNvPr id="12" name="文本框 11"/>
            <p:cNvSpPr txBox="1"/>
            <p:nvPr/>
          </p:nvSpPr>
          <p:spPr>
            <a:xfrm>
              <a:off x="553" y="2586"/>
              <a:ext cx="1929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/>
                <a:t>全部注释</a:t>
              </a:r>
              <a:endParaRPr lang="zh-CN" altLang="en-US"/>
            </a:p>
          </p:txBody>
        </p:sp>
        <p:sp>
          <p:nvSpPr>
            <p:cNvPr id="13" name="文本框 12"/>
            <p:cNvSpPr txBox="1"/>
            <p:nvPr/>
          </p:nvSpPr>
          <p:spPr>
            <a:xfrm>
              <a:off x="3245" y="2586"/>
              <a:ext cx="2654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/>
                <a:t>放开</a:t>
              </a:r>
              <a:r>
                <a:rPr lang="en-US" altLang="zh-CN"/>
                <a:t>1</a:t>
              </a:r>
              <a:endParaRPr lang="en-US" altLang="zh-CN"/>
            </a:p>
          </p:txBody>
        </p:sp>
        <p:sp>
          <p:nvSpPr>
            <p:cNvPr id="15" name="文本框 14"/>
            <p:cNvSpPr txBox="1"/>
            <p:nvPr/>
          </p:nvSpPr>
          <p:spPr>
            <a:xfrm>
              <a:off x="5272" y="2586"/>
              <a:ext cx="2101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/>
                <a:t>放开</a:t>
              </a:r>
              <a:r>
                <a:rPr lang="en-US" altLang="zh-CN"/>
                <a:t>1</a:t>
              </a:r>
              <a:r>
                <a:rPr lang="zh-CN" altLang="en-US"/>
                <a:t>、</a:t>
              </a:r>
              <a:r>
                <a:rPr lang="en-US" altLang="zh-CN"/>
                <a:t>2</a:t>
              </a:r>
              <a:endParaRPr lang="en-US" altLang="zh-CN"/>
            </a:p>
          </p:txBody>
        </p:sp>
      </p:grpSp>
      <p:pic>
        <p:nvPicPr>
          <p:cNvPr id="10" name="图片 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675" y="2025650"/>
            <a:ext cx="1539875" cy="400177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1805" y="2155190"/>
            <a:ext cx="1545590" cy="3872230"/>
          </a:xfrm>
          <a:prstGeom prst="rect">
            <a:avLst/>
          </a:prstGeom>
        </p:spPr>
      </p:pic>
      <p:pic>
        <p:nvPicPr>
          <p:cNvPr id="17" name="图片 1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650" y="2050415"/>
            <a:ext cx="1551940" cy="390969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08770" y="2680335"/>
            <a:ext cx="2087880" cy="360426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21575" y="2438400"/>
            <a:ext cx="1402080" cy="3589020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83250" y="2226945"/>
            <a:ext cx="1592580" cy="359664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1" name="文本框 20"/>
          <p:cNvSpPr txBox="1"/>
          <p:nvPr/>
        </p:nvSpPr>
        <p:spPr>
          <a:xfrm>
            <a:off x="1162050" y="257810"/>
            <a:ext cx="270192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kumimoji="1" lang="en-US" altLang="zh-CN" b="1" dirty="0">
                <a:solidFill>
                  <a:schemeClr val="accent2"/>
                </a:solidFill>
                <a:latin typeface="+mn-ea"/>
                <a:sym typeface="+mn-ea"/>
              </a:rPr>
              <a:t>Dev 32bit-Debug</a:t>
            </a:r>
            <a:endParaRPr lang="zh-CN" altLang="en-US"/>
          </a:p>
        </p:txBody>
      </p:sp>
      <p:sp>
        <p:nvSpPr>
          <p:cNvPr id="2" name="文本框 1"/>
          <p:cNvSpPr txBox="1"/>
          <p:nvPr>
            <p:custDataLst>
              <p:tags r:id="rId1"/>
            </p:custDataLst>
          </p:nvPr>
        </p:nvSpPr>
        <p:spPr>
          <a:xfrm>
            <a:off x="224155" y="1515110"/>
            <a:ext cx="12249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全部注释</a:t>
            </a:r>
            <a:endParaRPr lang="zh-CN" altLang="en-US"/>
          </a:p>
        </p:txBody>
      </p:sp>
      <p:sp>
        <p:nvSpPr>
          <p:cNvPr id="4" name="文本框 3"/>
          <p:cNvSpPr txBox="1"/>
          <p:nvPr>
            <p:custDataLst>
              <p:tags r:id="rId2"/>
            </p:custDataLst>
          </p:nvPr>
        </p:nvSpPr>
        <p:spPr>
          <a:xfrm>
            <a:off x="1933575" y="1515110"/>
            <a:ext cx="168529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放开</a:t>
            </a:r>
            <a:r>
              <a:rPr lang="en-US" altLang="zh-CN"/>
              <a:t>1</a:t>
            </a:r>
            <a:endParaRPr lang="en-US" altLang="zh-CN"/>
          </a:p>
        </p:txBody>
      </p:sp>
      <p:sp>
        <p:nvSpPr>
          <p:cNvPr id="5" name="文本框 4"/>
          <p:cNvSpPr txBox="1"/>
          <p:nvPr>
            <p:custDataLst>
              <p:tags r:id="rId3"/>
            </p:custDataLst>
          </p:nvPr>
        </p:nvSpPr>
        <p:spPr>
          <a:xfrm>
            <a:off x="3220720" y="1515110"/>
            <a:ext cx="13341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放开</a:t>
            </a:r>
            <a:r>
              <a:rPr lang="en-US" altLang="zh-CN"/>
              <a:t>1</a:t>
            </a:r>
            <a:r>
              <a:rPr lang="zh-CN" altLang="en-US"/>
              <a:t>、</a:t>
            </a:r>
            <a:r>
              <a:rPr lang="en-US" altLang="zh-CN"/>
              <a:t>2</a:t>
            </a:r>
            <a:endParaRPr lang="en-US" altLang="zh-CN"/>
          </a:p>
        </p:txBody>
      </p:sp>
      <p:sp>
        <p:nvSpPr>
          <p:cNvPr id="7" name="文本框 6"/>
          <p:cNvSpPr txBox="1"/>
          <p:nvPr>
            <p:custDataLst>
              <p:tags r:id="rId4"/>
            </p:custDataLst>
          </p:nvPr>
        </p:nvSpPr>
        <p:spPr>
          <a:xfrm>
            <a:off x="873760" y="1004570"/>
            <a:ext cx="24136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char [10]</a:t>
            </a:r>
            <a:endParaRPr lang="en-US" altLang="zh-CN"/>
          </a:p>
        </p:txBody>
      </p:sp>
      <p:sp>
        <p:nvSpPr>
          <p:cNvPr id="9" name="文本框 8"/>
          <p:cNvSpPr txBox="1"/>
          <p:nvPr>
            <p:custDataLst>
              <p:tags r:id="rId5"/>
            </p:custDataLst>
          </p:nvPr>
        </p:nvSpPr>
        <p:spPr>
          <a:xfrm>
            <a:off x="7215505" y="803275"/>
            <a:ext cx="24136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int [10]</a:t>
            </a:r>
            <a:endParaRPr lang="en-US" altLang="zh-CN"/>
          </a:p>
        </p:txBody>
      </p:sp>
      <p:grpSp>
        <p:nvGrpSpPr>
          <p:cNvPr id="14" name="组合 13"/>
          <p:cNvGrpSpPr/>
          <p:nvPr>
            <p:custDataLst>
              <p:tags r:id="rId6"/>
            </p:custDataLst>
          </p:nvPr>
        </p:nvGrpSpPr>
        <p:grpSpPr>
          <a:xfrm>
            <a:off x="6069330" y="1515110"/>
            <a:ext cx="4330065" cy="368300"/>
            <a:chOff x="553" y="2586"/>
            <a:chExt cx="6819" cy="580"/>
          </a:xfrm>
        </p:grpSpPr>
        <p:sp>
          <p:nvSpPr>
            <p:cNvPr id="12" name="文本框 11"/>
            <p:cNvSpPr txBox="1"/>
            <p:nvPr>
              <p:custDataLst>
                <p:tags r:id="rId7"/>
              </p:custDataLst>
            </p:nvPr>
          </p:nvSpPr>
          <p:spPr>
            <a:xfrm>
              <a:off x="553" y="2586"/>
              <a:ext cx="1929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/>
                <a:t>全部注释</a:t>
              </a:r>
              <a:endParaRPr lang="zh-CN" altLang="en-US"/>
            </a:p>
          </p:txBody>
        </p:sp>
        <p:sp>
          <p:nvSpPr>
            <p:cNvPr id="13" name="文本框 12"/>
            <p:cNvSpPr txBox="1"/>
            <p:nvPr>
              <p:custDataLst>
                <p:tags r:id="rId8"/>
              </p:custDataLst>
            </p:nvPr>
          </p:nvSpPr>
          <p:spPr>
            <a:xfrm>
              <a:off x="3245" y="2586"/>
              <a:ext cx="2654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/>
                <a:t>放开</a:t>
              </a:r>
              <a:r>
                <a:rPr lang="en-US" altLang="zh-CN"/>
                <a:t>1</a:t>
              </a:r>
              <a:endParaRPr lang="en-US" altLang="zh-CN"/>
            </a:p>
          </p:txBody>
        </p:sp>
        <p:sp>
          <p:nvSpPr>
            <p:cNvPr id="15" name="文本框 14"/>
            <p:cNvSpPr txBox="1"/>
            <p:nvPr>
              <p:custDataLst>
                <p:tags r:id="rId9"/>
              </p:custDataLst>
            </p:nvPr>
          </p:nvSpPr>
          <p:spPr>
            <a:xfrm>
              <a:off x="5272" y="2586"/>
              <a:ext cx="2101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/>
                <a:t>放开</a:t>
              </a:r>
              <a:r>
                <a:rPr lang="en-US" altLang="zh-CN"/>
                <a:t>1</a:t>
              </a:r>
              <a:r>
                <a:rPr lang="zh-CN" altLang="en-US"/>
                <a:t>、</a:t>
              </a:r>
              <a:r>
                <a:rPr lang="en-US" altLang="zh-CN"/>
                <a:t>2</a:t>
              </a:r>
              <a:endParaRPr lang="en-US" altLang="zh-CN"/>
            </a:p>
          </p:txBody>
        </p:sp>
      </p:grpSp>
      <p:pic>
        <p:nvPicPr>
          <p:cNvPr id="3" name="图片 2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11"/>
          <a:stretch>
            <a:fillRect/>
          </a:stretch>
        </p:blipFill>
        <p:spPr>
          <a:xfrm>
            <a:off x="111760" y="2101215"/>
            <a:ext cx="1449705" cy="384111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13"/>
          <a:stretch>
            <a:fillRect/>
          </a:stretch>
        </p:blipFill>
        <p:spPr>
          <a:xfrm>
            <a:off x="1722755" y="2101215"/>
            <a:ext cx="1564640" cy="3869055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>
            <p:custDataLst>
              <p:tags r:id="rId14"/>
            </p:custDataLst>
          </p:nvPr>
        </p:nvPicPr>
        <p:blipFill>
          <a:blip r:embed="rId15"/>
          <a:stretch>
            <a:fillRect/>
          </a:stretch>
        </p:blipFill>
        <p:spPr>
          <a:xfrm>
            <a:off x="3448685" y="2026285"/>
            <a:ext cx="1424940" cy="3943985"/>
          </a:xfrm>
          <a:prstGeom prst="rect">
            <a:avLst/>
          </a:prstGeom>
        </p:spPr>
      </p:pic>
      <p:pic>
        <p:nvPicPr>
          <p:cNvPr id="17" name="图片 16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289040" y="5798185"/>
            <a:ext cx="4823460" cy="777240"/>
          </a:xfrm>
          <a:prstGeom prst="rect">
            <a:avLst/>
          </a:prstGeom>
        </p:spPr>
      </p:pic>
      <p:pic>
        <p:nvPicPr>
          <p:cNvPr id="18" name="图片 17"/>
          <p:cNvPicPr>
            <a:picLocks noChangeAspect="1"/>
          </p:cNvPicPr>
          <p:nvPr>
            <p:custDataLst>
              <p:tags r:id="rId17"/>
            </p:custDataLst>
          </p:nvPr>
        </p:nvPicPr>
        <p:blipFill>
          <a:blip r:embed="rId18"/>
          <a:stretch>
            <a:fillRect/>
          </a:stretch>
        </p:blipFill>
        <p:spPr>
          <a:xfrm>
            <a:off x="5866765" y="2087880"/>
            <a:ext cx="1348740" cy="3505200"/>
          </a:xfrm>
          <a:prstGeom prst="rect">
            <a:avLst/>
          </a:prstGeom>
        </p:spPr>
      </p:pic>
      <p:pic>
        <p:nvPicPr>
          <p:cNvPr id="19" name="图片 18"/>
          <p:cNvPicPr>
            <a:picLocks noChangeAspect="1"/>
          </p:cNvPicPr>
          <p:nvPr>
            <p:custDataLst>
              <p:tags r:id="rId19"/>
            </p:custDataLst>
          </p:nvPr>
        </p:nvPicPr>
        <p:blipFill>
          <a:blip r:embed="rId20"/>
          <a:stretch>
            <a:fillRect/>
          </a:stretch>
        </p:blipFill>
        <p:spPr>
          <a:xfrm>
            <a:off x="7294245" y="4526915"/>
            <a:ext cx="4770120" cy="75438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文本框 4"/>
          <p:cNvSpPr txBox="1"/>
          <p:nvPr/>
        </p:nvSpPr>
        <p:spPr>
          <a:xfrm>
            <a:off x="961390" y="2096770"/>
            <a:ext cx="778700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在不同的运行环境中，内存布局会有所不同。在 Debug 模式下，编译器可能以不同的方式分配内存，导致越界访问可能恰好没有触碰到其他重要的内存区域。</a:t>
            </a:r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855345" y="1261745"/>
            <a:ext cx="35820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为什么</a:t>
            </a:r>
            <a:r>
              <a:rPr lang="en-US" altLang="zh-CN"/>
              <a:t>dev</a:t>
            </a:r>
            <a:r>
              <a:rPr lang="zh-CN" altLang="en-US"/>
              <a:t>的</a:t>
            </a:r>
            <a:r>
              <a:rPr lang="en-US" altLang="zh-CN"/>
              <a:t>debug</a:t>
            </a:r>
            <a:r>
              <a:rPr lang="zh-CN" altLang="en-US"/>
              <a:t>不弹窗？</a:t>
            </a:r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1095375" y="3743960"/>
            <a:ext cx="365887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为什么</a:t>
            </a:r>
            <a:r>
              <a:rPr lang="en-US" altLang="zh-CN"/>
              <a:t>release</a:t>
            </a:r>
            <a:r>
              <a:rPr lang="zh-CN" altLang="en-US"/>
              <a:t>情况下不输出</a:t>
            </a:r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961390" y="4519930"/>
            <a:ext cx="731774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不同的编译器或版本可能在 Release 模式下处理未定义行为的方式不同，</a:t>
            </a:r>
            <a:r>
              <a:rPr lang="en-US" altLang="zh-CN"/>
              <a:t>dev</a:t>
            </a:r>
            <a:r>
              <a:rPr lang="zh-CN" altLang="en-US"/>
              <a:t>可能在发现异常时会直接终止程序而不产生任何输出。</a:t>
            </a:r>
            <a:endParaRPr lang="zh-CN" alt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1" name="文本框 20"/>
          <p:cNvSpPr txBox="1"/>
          <p:nvPr/>
        </p:nvSpPr>
        <p:spPr>
          <a:xfrm>
            <a:off x="1162050" y="257810"/>
            <a:ext cx="270192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b="1" dirty="0">
                <a:solidFill>
                  <a:schemeClr val="accent2"/>
                </a:solidFill>
                <a:latin typeface="+mn-ea"/>
                <a:sym typeface="+mn-ea"/>
              </a:rPr>
              <a:t>Dev 32bit-Release</a:t>
            </a:r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224155" y="1515110"/>
            <a:ext cx="12249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全部注释</a:t>
            </a:r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1933575" y="1515110"/>
            <a:ext cx="168529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放开</a:t>
            </a:r>
            <a:r>
              <a:rPr lang="en-US" altLang="zh-CN"/>
              <a:t>1</a:t>
            </a:r>
            <a:endParaRPr lang="en-US" altLang="zh-CN"/>
          </a:p>
        </p:txBody>
      </p:sp>
      <p:sp>
        <p:nvSpPr>
          <p:cNvPr id="5" name="文本框 4"/>
          <p:cNvSpPr txBox="1"/>
          <p:nvPr/>
        </p:nvSpPr>
        <p:spPr>
          <a:xfrm>
            <a:off x="3220720" y="1515110"/>
            <a:ext cx="13341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放开</a:t>
            </a:r>
            <a:r>
              <a:rPr lang="en-US" altLang="zh-CN"/>
              <a:t>1</a:t>
            </a:r>
            <a:r>
              <a:rPr lang="zh-CN" altLang="en-US"/>
              <a:t>、</a:t>
            </a:r>
            <a:r>
              <a:rPr lang="en-US" altLang="zh-CN"/>
              <a:t>2</a:t>
            </a:r>
            <a:endParaRPr lang="en-US" altLang="zh-CN"/>
          </a:p>
        </p:txBody>
      </p:sp>
      <p:sp>
        <p:nvSpPr>
          <p:cNvPr id="7" name="文本框 6"/>
          <p:cNvSpPr txBox="1"/>
          <p:nvPr/>
        </p:nvSpPr>
        <p:spPr>
          <a:xfrm>
            <a:off x="873760" y="1004570"/>
            <a:ext cx="24136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char [10]</a:t>
            </a:r>
            <a:endParaRPr lang="en-US" altLang="zh-CN"/>
          </a:p>
        </p:txBody>
      </p:sp>
      <p:sp>
        <p:nvSpPr>
          <p:cNvPr id="9" name="文本框 8"/>
          <p:cNvSpPr txBox="1"/>
          <p:nvPr/>
        </p:nvSpPr>
        <p:spPr>
          <a:xfrm>
            <a:off x="7215505" y="803275"/>
            <a:ext cx="24136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int [10]</a:t>
            </a:r>
            <a:endParaRPr lang="en-US" altLang="zh-CN"/>
          </a:p>
        </p:txBody>
      </p:sp>
      <p:grpSp>
        <p:nvGrpSpPr>
          <p:cNvPr id="14" name="组合 13"/>
          <p:cNvGrpSpPr/>
          <p:nvPr/>
        </p:nvGrpSpPr>
        <p:grpSpPr>
          <a:xfrm>
            <a:off x="6069330" y="1515110"/>
            <a:ext cx="4330065" cy="368300"/>
            <a:chOff x="553" y="2586"/>
            <a:chExt cx="6819" cy="580"/>
          </a:xfrm>
        </p:grpSpPr>
        <p:sp>
          <p:nvSpPr>
            <p:cNvPr id="12" name="文本框 11"/>
            <p:cNvSpPr txBox="1"/>
            <p:nvPr/>
          </p:nvSpPr>
          <p:spPr>
            <a:xfrm>
              <a:off x="553" y="2586"/>
              <a:ext cx="1929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/>
                <a:t>全部注释</a:t>
              </a:r>
              <a:endParaRPr lang="zh-CN" altLang="en-US"/>
            </a:p>
          </p:txBody>
        </p:sp>
        <p:sp>
          <p:nvSpPr>
            <p:cNvPr id="13" name="文本框 12"/>
            <p:cNvSpPr txBox="1"/>
            <p:nvPr/>
          </p:nvSpPr>
          <p:spPr>
            <a:xfrm>
              <a:off x="3245" y="2586"/>
              <a:ext cx="2654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/>
                <a:t>放开</a:t>
              </a:r>
              <a:r>
                <a:rPr lang="en-US" altLang="zh-CN"/>
                <a:t>1</a:t>
              </a:r>
              <a:endParaRPr lang="en-US" altLang="zh-CN"/>
            </a:p>
          </p:txBody>
        </p:sp>
        <p:sp>
          <p:nvSpPr>
            <p:cNvPr id="15" name="文本框 14"/>
            <p:cNvSpPr txBox="1"/>
            <p:nvPr/>
          </p:nvSpPr>
          <p:spPr>
            <a:xfrm>
              <a:off x="5272" y="2586"/>
              <a:ext cx="2101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/>
                <a:t>放开</a:t>
              </a:r>
              <a:r>
                <a:rPr lang="en-US" altLang="zh-CN"/>
                <a:t>1</a:t>
              </a:r>
              <a:r>
                <a:rPr lang="zh-CN" altLang="en-US"/>
                <a:t>、</a:t>
              </a:r>
              <a:r>
                <a:rPr lang="en-US" altLang="zh-CN"/>
                <a:t>2</a:t>
              </a:r>
              <a:endParaRPr lang="en-US" altLang="zh-CN"/>
            </a:p>
          </p:txBody>
        </p:sp>
      </p:grp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4155" y="2221865"/>
            <a:ext cx="1448435" cy="3728085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2920" y="2235200"/>
            <a:ext cx="1514475" cy="3714750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08375" y="2301240"/>
            <a:ext cx="1545590" cy="3648710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6130" y="3071495"/>
            <a:ext cx="4853940" cy="982980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30875" y="5832475"/>
            <a:ext cx="4846320" cy="92011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70855" y="1955165"/>
            <a:ext cx="1443990" cy="4015105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文本框 6"/>
          <p:cNvSpPr txBox="1"/>
          <p:nvPr/>
        </p:nvSpPr>
        <p:spPr>
          <a:xfrm>
            <a:off x="1276985" y="1607820"/>
            <a:ext cx="365887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为什么</a:t>
            </a:r>
            <a:r>
              <a:rPr lang="en-US" altLang="zh-CN"/>
              <a:t>linux</a:t>
            </a:r>
            <a:r>
              <a:rPr lang="zh-CN" altLang="en-US"/>
              <a:t>情况下不输出</a:t>
            </a:r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1076325" y="2585085"/>
            <a:ext cx="731774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不同的编译器或版本可能在 Release 模式下处理未定义行为的方式不同，</a:t>
            </a:r>
            <a:r>
              <a:rPr lang="en-US" altLang="zh-CN"/>
              <a:t>dev</a:t>
            </a:r>
            <a:r>
              <a:rPr lang="zh-CN" altLang="en-US"/>
              <a:t>可能在发现异常时会直接终止程序而不产生任何输出。</a:t>
            </a:r>
            <a:endParaRPr lang="zh-CN" alt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1" name="文本框 20"/>
          <p:cNvSpPr txBox="1"/>
          <p:nvPr/>
        </p:nvSpPr>
        <p:spPr>
          <a:xfrm>
            <a:off x="1162050" y="257810"/>
            <a:ext cx="270192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kumimoji="1" lang="en-US" altLang="zh-CN" b="1" dirty="0">
                <a:solidFill>
                  <a:schemeClr val="accent2"/>
                </a:solidFill>
                <a:latin typeface="+mn-ea"/>
                <a:sym typeface="+mn-ea"/>
              </a:rPr>
              <a:t>Linux</a:t>
            </a:r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224155" y="1515110"/>
            <a:ext cx="12249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全部注释</a:t>
            </a:r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1933575" y="1515110"/>
            <a:ext cx="168529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放开</a:t>
            </a:r>
            <a:r>
              <a:rPr lang="en-US" altLang="zh-CN"/>
              <a:t>1</a:t>
            </a:r>
            <a:endParaRPr lang="en-US" altLang="zh-CN"/>
          </a:p>
        </p:txBody>
      </p:sp>
      <p:sp>
        <p:nvSpPr>
          <p:cNvPr id="5" name="文本框 4"/>
          <p:cNvSpPr txBox="1"/>
          <p:nvPr/>
        </p:nvSpPr>
        <p:spPr>
          <a:xfrm>
            <a:off x="3220720" y="1515110"/>
            <a:ext cx="13341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放开</a:t>
            </a:r>
            <a:r>
              <a:rPr lang="en-US" altLang="zh-CN"/>
              <a:t>1</a:t>
            </a:r>
            <a:r>
              <a:rPr lang="zh-CN" altLang="en-US"/>
              <a:t>、</a:t>
            </a:r>
            <a:r>
              <a:rPr lang="en-US" altLang="zh-CN"/>
              <a:t>2</a:t>
            </a:r>
            <a:endParaRPr lang="en-US" altLang="zh-CN"/>
          </a:p>
        </p:txBody>
      </p:sp>
      <p:sp>
        <p:nvSpPr>
          <p:cNvPr id="7" name="文本框 6"/>
          <p:cNvSpPr txBox="1"/>
          <p:nvPr/>
        </p:nvSpPr>
        <p:spPr>
          <a:xfrm>
            <a:off x="873760" y="1004570"/>
            <a:ext cx="24136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char [10]</a:t>
            </a:r>
            <a:endParaRPr lang="en-US" altLang="zh-CN"/>
          </a:p>
        </p:txBody>
      </p:sp>
      <p:sp>
        <p:nvSpPr>
          <p:cNvPr id="9" name="文本框 8"/>
          <p:cNvSpPr txBox="1"/>
          <p:nvPr/>
        </p:nvSpPr>
        <p:spPr>
          <a:xfrm>
            <a:off x="7215505" y="803275"/>
            <a:ext cx="24136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int [10]</a:t>
            </a:r>
            <a:endParaRPr lang="en-US" altLang="zh-CN"/>
          </a:p>
        </p:txBody>
      </p:sp>
      <p:grpSp>
        <p:nvGrpSpPr>
          <p:cNvPr id="14" name="组合 13"/>
          <p:cNvGrpSpPr/>
          <p:nvPr/>
        </p:nvGrpSpPr>
        <p:grpSpPr>
          <a:xfrm>
            <a:off x="6069330" y="1515110"/>
            <a:ext cx="4330065" cy="368300"/>
            <a:chOff x="553" y="2586"/>
            <a:chExt cx="6819" cy="580"/>
          </a:xfrm>
        </p:grpSpPr>
        <p:sp>
          <p:nvSpPr>
            <p:cNvPr id="12" name="文本框 11"/>
            <p:cNvSpPr txBox="1"/>
            <p:nvPr/>
          </p:nvSpPr>
          <p:spPr>
            <a:xfrm>
              <a:off x="553" y="2586"/>
              <a:ext cx="1929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/>
                <a:t>全部注释</a:t>
              </a:r>
              <a:endParaRPr lang="zh-CN" altLang="en-US"/>
            </a:p>
          </p:txBody>
        </p:sp>
        <p:sp>
          <p:nvSpPr>
            <p:cNvPr id="13" name="文本框 12"/>
            <p:cNvSpPr txBox="1"/>
            <p:nvPr/>
          </p:nvSpPr>
          <p:spPr>
            <a:xfrm>
              <a:off x="3245" y="2586"/>
              <a:ext cx="2654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/>
                <a:t>放开</a:t>
              </a:r>
              <a:r>
                <a:rPr lang="en-US" altLang="zh-CN"/>
                <a:t>1</a:t>
              </a:r>
              <a:endParaRPr lang="en-US" altLang="zh-CN"/>
            </a:p>
          </p:txBody>
        </p:sp>
        <p:sp>
          <p:nvSpPr>
            <p:cNvPr id="15" name="文本框 14"/>
            <p:cNvSpPr txBox="1"/>
            <p:nvPr/>
          </p:nvSpPr>
          <p:spPr>
            <a:xfrm>
              <a:off x="5272" y="2586"/>
              <a:ext cx="2101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/>
                <a:t>放开</a:t>
              </a:r>
              <a:r>
                <a:rPr lang="en-US" altLang="zh-CN"/>
                <a:t>1</a:t>
              </a:r>
              <a:r>
                <a:rPr lang="zh-CN" altLang="en-US"/>
                <a:t>、</a:t>
              </a:r>
              <a:r>
                <a:rPr lang="en-US" altLang="zh-CN"/>
                <a:t>2</a:t>
              </a:r>
              <a:endParaRPr lang="en-US" altLang="zh-CN"/>
            </a:p>
          </p:txBody>
        </p:sp>
      </p:grp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965" y="2025650"/>
            <a:ext cx="1471295" cy="385445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1805" y="2025650"/>
            <a:ext cx="1295400" cy="3785235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87395" y="2041525"/>
            <a:ext cx="1648460" cy="3769360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59095" y="2227580"/>
            <a:ext cx="1676400" cy="3583305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00925" y="3257550"/>
            <a:ext cx="1470660" cy="342900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57385" y="3295650"/>
            <a:ext cx="1546860" cy="3048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关于动态内存申请后越界访问的深度讨论</a:t>
            </a:r>
            <a:endParaRPr lang="zh-CN" altLang="en-US" sz="2800" b="1" dirty="0">
              <a:latin typeface="+mn-ea"/>
            </a:endParaRPr>
          </a:p>
          <a:p>
            <a:pPr algn="l"/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★ </a:t>
            </a:r>
            <a:r>
              <a:rPr lang="zh-CN" altLang="en-US" sz="1600" b="1" dirty="0">
                <a:latin typeface="+mn-ea"/>
              </a:rPr>
              <a:t>最后一页：仔细总结本作业（多种形式的测试程序</a:t>
            </a:r>
            <a:r>
              <a:rPr lang="en-US" altLang="zh-CN" sz="1600" b="1" dirty="0">
                <a:latin typeface="+mn-ea"/>
              </a:rPr>
              <a:t>/</a:t>
            </a:r>
            <a:r>
              <a:rPr lang="zh-CN" altLang="en-US" sz="1600" b="1" dirty="0">
                <a:latin typeface="+mn-ea"/>
              </a:rPr>
              <a:t>多个编译器环境</a:t>
            </a:r>
            <a:r>
              <a:rPr lang="en-US" altLang="zh-CN" sz="1600" b="1" dirty="0">
                <a:latin typeface="+mn-ea"/>
              </a:rPr>
              <a:t>/</a:t>
            </a:r>
            <a:r>
              <a:rPr lang="zh-CN" altLang="en-US" sz="1600" b="1" dirty="0">
                <a:latin typeface="+mn-ea"/>
              </a:rPr>
              <a:t>不同结论），谈谈你对内存越界访问的整体理解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          </a:t>
            </a:r>
            <a:r>
              <a:rPr lang="zh-CN" altLang="en-US" sz="1600" b="1" dirty="0">
                <a:latin typeface="+mn-ea"/>
              </a:rPr>
              <a:t>包括但不限于操作系统</a:t>
            </a:r>
            <a:r>
              <a:rPr lang="en-US" altLang="zh-CN" sz="1600" b="1" dirty="0">
                <a:latin typeface="+mn-ea"/>
              </a:rPr>
              <a:t>/</a:t>
            </a:r>
            <a:r>
              <a:rPr lang="zh-CN" altLang="en-US" sz="1600" b="1" dirty="0">
                <a:latin typeface="+mn-ea"/>
              </a:rPr>
              <a:t>编译器如何防范越界、你应该养成怎样的使用习惯来尽量防范越界</a:t>
            </a:r>
            <a:endParaRPr lang="zh-CN" altLang="en-US" sz="1600" b="1" dirty="0">
              <a:latin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936625" y="2106295"/>
            <a:ext cx="390842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数组越界</a:t>
            </a:r>
            <a:r>
              <a:rPr lang="en-US" altLang="zh-CN"/>
              <a:t>/</a:t>
            </a:r>
            <a:r>
              <a:rPr lang="zh-CN" altLang="en-US"/>
              <a:t>申请空间越界差别</a:t>
            </a:r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927100" y="2585085"/>
            <a:ext cx="1049718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不少编译器会为动态申请空间预留部分空间来处理越界情况，但是数组不具备这样的性质，数组越界有些编译器不报错可能是因为内存分配的方式不同导致的</a:t>
            </a:r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1049020" y="3561715"/>
            <a:ext cx="288099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编译器预防越界方式不同</a:t>
            </a:r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1252855" y="4098290"/>
            <a:ext cx="875474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不同编译器对越界的处理方式不同，有些可能对输出内容仍然正常输出，但是</a:t>
            </a:r>
            <a:r>
              <a:rPr lang="en-US" altLang="zh-CN"/>
              <a:t>return</a:t>
            </a:r>
            <a:r>
              <a:rPr lang="zh-CN" altLang="en-US"/>
              <a:t>的值不再是</a:t>
            </a:r>
            <a:r>
              <a:rPr lang="en-US" altLang="zh-CN"/>
              <a:t>0.</a:t>
            </a:r>
            <a:r>
              <a:rPr lang="zh-CN" altLang="en-US"/>
              <a:t>有些可能对越界后输出内容直接不输出。</a:t>
            </a:r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1099820" y="5209540"/>
            <a:ext cx="11207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养成习惯</a:t>
            </a:r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984885" y="5563870"/>
            <a:ext cx="94151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1.</a:t>
            </a:r>
            <a:r>
              <a:rPr lang="zh-CN" altLang="en-US"/>
              <a:t>做好注释，时刻提醒自己某些步骤可能出现越界行为，提前预防</a:t>
            </a:r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994410" y="6100445"/>
            <a:ext cx="944372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2.</a:t>
            </a:r>
            <a:r>
              <a:rPr lang="zh-CN" altLang="en-US"/>
              <a:t>在使用时适当开更大空间，防止不必要的越界</a:t>
            </a:r>
            <a:endParaRPr lang="zh-CN" altLang="en-US"/>
          </a:p>
        </p:txBody>
      </p:sp>
    </p:spTree>
  </p:cSld>
  <p:clrMapOvr>
    <a:masterClrMapping/>
  </p:clrMapOvr>
  <p:transition/>
</p:sld>
</file>

<file path=ppt/tags/tag1.xml><?xml version="1.0" encoding="utf-8"?>
<p:tagLst xmlns:p="http://schemas.openxmlformats.org/presentationml/2006/main">
  <p:tag name="KSO_WM_DIAGRAM_VIRTUALLY_FRAME" val="{&quot;height&quot;:419.55,&quot;left&quot;:8.6,&quot;top&quot;:63.25,&quot;width&quot;:810.25}"/>
</p:tagLst>
</file>

<file path=ppt/tags/tag2.xml><?xml version="1.0" encoding="utf-8"?>
<p:tagLst xmlns:p="http://schemas.openxmlformats.org/presentationml/2006/main">
  <p:tag name="KSO_WM_DIAGRAM_VIRTUALLY_FRAME" val="{&quot;height&quot;:419.55,&quot;left&quot;:8.6,&quot;top&quot;:63.25,&quot;width&quot;:810.25}"/>
</p:tagLst>
</file>

<file path=ppt/tags/tag3.xml><?xml version="1.0" encoding="utf-8"?>
<p:tagLst xmlns:p="http://schemas.openxmlformats.org/presentationml/2006/main">
  <p:tag name="KSO_WM_DIAGRAM_VIRTUALLY_FRAME" val="{&quot;height&quot;:419.55,&quot;left&quot;:8.6,&quot;top&quot;:63.25,&quot;width&quot;:810.25}"/>
</p:tagLst>
</file>

<file path=ppt/tags/tag4.xml><?xml version="1.0" encoding="utf-8"?>
<p:tagLst xmlns:p="http://schemas.openxmlformats.org/presentationml/2006/main">
  <p:tag name="KSO_WM_DIAGRAM_VIRTUALLY_FRAME" val="{&quot;height&quot;:419.55,&quot;left&quot;:8.6,&quot;top&quot;:63.25,&quot;width&quot;:810.25}"/>
</p:tagLst>
</file>

<file path=ppt/tags/tag5.xml><?xml version="1.0" encoding="utf-8"?>
<p:tagLst xmlns:p="http://schemas.openxmlformats.org/presentationml/2006/main">
  <p:tag name="KSO_WM_DIAGRAM_VIRTUALLY_FRAME" val="{&quot;height&quot;:419.55,&quot;left&quot;:8.6,&quot;top&quot;:63.25,&quot;width&quot;:810.25}"/>
</p:tagLst>
</file>

<file path=ppt/tags/tag6.xml><?xml version="1.0" encoding="utf-8"?>
<p:tagLst xmlns:p="http://schemas.openxmlformats.org/presentationml/2006/main">
  <p:tag name="KSO_WM_DIAGRAM_VIRTUALLY_FRAME" val="{&quot;height&quot;:419.55,&quot;left&quot;:8.6,&quot;top&quot;:63.25,&quot;width&quot;:810.25}"/>
</p:tagLst>
</file>

<file path=ppt/tags/tag7.xml><?xml version="1.0" encoding="utf-8"?>
<p:tagLst xmlns:p="http://schemas.openxmlformats.org/presentationml/2006/main">
  <p:tag name="KSO_WM_DIAGRAM_VIRTUALLY_FRAME" val="{&quot;height&quot;:419.55,&quot;left&quot;:8.6,&quot;top&quot;:63.25,&quot;width&quot;:810.25}"/>
</p:tagLst>
</file>

<file path=ppt/tags/tag8.xml><?xml version="1.0" encoding="utf-8"?>
<p:tagLst xmlns:p="http://schemas.openxmlformats.org/presentationml/2006/main">
  <p:tag name="KSO_WM_DIAGRAM_VIRTUALLY_FRAME" val="{&quot;height&quot;:419.55,&quot;left&quot;:8.6,&quot;top&quot;:63.25,&quot;width&quot;:810.25}"/>
</p:tagLst>
</file>

<file path=ppt/tags/tag9.xml><?xml version="1.0" encoding="utf-8"?>
<p:tagLst xmlns:p="http://schemas.openxmlformats.org/presentationml/2006/main">
  <p:tag name="KSO_WM_DIAGRAM_VIRTUALLY_FRAME" val="{&quot;height&quot;:419.55,&quot;left&quot;:8.6,&quot;top&quot;:63.25,&quot;width&quot;:810.25}"/>
</p:tagLst>
</file>

<file path=ppt/tags/tag10.xml><?xml version="1.0" encoding="utf-8"?>
<p:tagLst xmlns:p="http://schemas.openxmlformats.org/presentationml/2006/main">
  <p:tag name="KSO_WM_DIAGRAM_VIRTUALLY_FRAME" val="{&quot;height&quot;:419.55,&quot;left&quot;:8.6,&quot;top&quot;:63.25,&quot;width&quot;:810.25}"/>
</p:tagLst>
</file>

<file path=ppt/tags/tag11.xml><?xml version="1.0" encoding="utf-8"?>
<p:tagLst xmlns:p="http://schemas.openxmlformats.org/presentationml/2006/main">
  <p:tag name="KSO_WM_DIAGRAM_VIRTUALLY_FRAME" val="{&quot;height&quot;:419.55,&quot;left&quot;:8.6,&quot;top&quot;:63.25,&quot;width&quot;:810.25}"/>
</p:tagLst>
</file>

<file path=ppt/tags/tag12.xml><?xml version="1.0" encoding="utf-8"?>
<p:tagLst xmlns:p="http://schemas.openxmlformats.org/presentationml/2006/main">
  <p:tag name="KSO_WM_DIAGRAM_VIRTUALLY_FRAME" val="{&quot;height&quot;:419.55,&quot;left&quot;:8.6,&quot;top&quot;:63.25,&quot;width&quot;:810.25}"/>
</p:tagLst>
</file>

<file path=ppt/tags/tag13.xml><?xml version="1.0" encoding="utf-8"?>
<p:tagLst xmlns:p="http://schemas.openxmlformats.org/presentationml/2006/main">
  <p:tag name="KSO_WM_DIAGRAM_VIRTUALLY_FRAME" val="{&quot;height&quot;:417.35,&quot;left&quot;:1.05,&quot;top&quot;:63.25,&quot;width&quot;:817.8}"/>
</p:tagLst>
</file>

<file path=ppt/tags/tag14.xml><?xml version="1.0" encoding="utf-8"?>
<p:tagLst xmlns:p="http://schemas.openxmlformats.org/presentationml/2006/main">
  <p:tag name="KSO_WM_DIAGRAM_VIRTUALLY_FRAME" val="{&quot;height&quot;:417.35,&quot;left&quot;:1.05,&quot;top&quot;:63.25,&quot;width&quot;:817.8}"/>
</p:tagLst>
</file>

<file path=ppt/tags/tag15.xml><?xml version="1.0" encoding="utf-8"?>
<p:tagLst xmlns:p="http://schemas.openxmlformats.org/presentationml/2006/main">
  <p:tag name="KSO_WM_DIAGRAM_VIRTUALLY_FRAME" val="{&quot;height&quot;:417.35,&quot;left&quot;:1.05,&quot;top&quot;:63.25,&quot;width&quot;:817.8}"/>
</p:tagLst>
</file>

<file path=ppt/tags/tag16.xml><?xml version="1.0" encoding="utf-8"?>
<p:tagLst xmlns:p="http://schemas.openxmlformats.org/presentationml/2006/main">
  <p:tag name="KSO_WM_DIAGRAM_VIRTUALLY_FRAME" val="{&quot;height&quot;:417.35,&quot;left&quot;:1.05,&quot;top&quot;:63.25,&quot;width&quot;:817.8}"/>
</p:tagLst>
</file>

<file path=ppt/tags/tag17.xml><?xml version="1.0" encoding="utf-8"?>
<p:tagLst xmlns:p="http://schemas.openxmlformats.org/presentationml/2006/main">
  <p:tag name="KSO_WM_DIAGRAM_VIRTUALLY_FRAME" val="{&quot;height&quot;:417.35,&quot;left&quot;:1.05,&quot;top&quot;:63.25,&quot;width&quot;:817.8}"/>
</p:tagLst>
</file>

<file path=ppt/tags/tag18.xml><?xml version="1.0" encoding="utf-8"?>
<p:tagLst xmlns:p="http://schemas.openxmlformats.org/presentationml/2006/main">
  <p:tag name="KSO_WM_DIAGRAM_VIRTUALLY_FRAME" val="{&quot;height&quot;:417.35,&quot;left&quot;:1.05,&quot;top&quot;:63.25,&quot;width&quot;:817.8}"/>
</p:tagLst>
</file>

<file path=ppt/tags/tag19.xml><?xml version="1.0" encoding="utf-8"?>
<p:tagLst xmlns:p="http://schemas.openxmlformats.org/presentationml/2006/main">
  <p:tag name="KSO_WM_DIAGRAM_VIRTUALLY_FRAME" val="{&quot;height&quot;:417.35,&quot;left&quot;:1.05,&quot;top&quot;:63.25,&quot;width&quot;:817.8}"/>
</p:tagLst>
</file>

<file path=ppt/tags/tag20.xml><?xml version="1.0" encoding="utf-8"?>
<p:tagLst xmlns:p="http://schemas.openxmlformats.org/presentationml/2006/main">
  <p:tag name="KSO_WM_DIAGRAM_VIRTUALLY_FRAME" val="{&quot;height&quot;:417.35,&quot;left&quot;:1.05,&quot;top&quot;:63.25,&quot;width&quot;:817.8}"/>
</p:tagLst>
</file>

<file path=ppt/tags/tag21.xml><?xml version="1.0" encoding="utf-8"?>
<p:tagLst xmlns:p="http://schemas.openxmlformats.org/presentationml/2006/main">
  <p:tag name="KSO_WM_DIAGRAM_VIRTUALLY_FRAME" val="{&quot;height&quot;:417.35,&quot;left&quot;:1.05,&quot;top&quot;:63.25,&quot;width&quot;:817.8}"/>
</p:tagLst>
</file>

<file path=ppt/tags/tag22.xml><?xml version="1.0" encoding="utf-8"?>
<p:tagLst xmlns:p="http://schemas.openxmlformats.org/presentationml/2006/main">
  <p:tag name="KSO_WM_DIAGRAM_VIRTUALLY_FRAME" val="{&quot;height&quot;:417.35,&quot;left&quot;:1.05,&quot;top&quot;:63.25,&quot;width&quot;:817.8}"/>
</p:tagLst>
</file>

<file path=ppt/tags/tag23.xml><?xml version="1.0" encoding="utf-8"?>
<p:tagLst xmlns:p="http://schemas.openxmlformats.org/presentationml/2006/main">
  <p:tag name="KSO_WM_DIAGRAM_VIRTUALLY_FRAME" val="{&quot;height&quot;:417.35,&quot;left&quot;:1.05,&quot;top&quot;:63.25,&quot;width&quot;:817.8}"/>
</p:tagLst>
</file>

<file path=ppt/tags/tag24.xml><?xml version="1.0" encoding="utf-8"?>
<p:tagLst xmlns:p="http://schemas.openxmlformats.org/presentationml/2006/main">
  <p:tag name="KSO_WM_DIAGRAM_VIRTUALLY_FRAME" val="{&quot;height&quot;:417.35,&quot;left&quot;:1.05,&quot;top&quot;:63.25,&quot;width&quot;:817.8}"/>
</p:tagLst>
</file>

<file path=ppt/tags/tag25.xml><?xml version="1.0" encoding="utf-8"?>
<p:tagLst xmlns:p="http://schemas.openxmlformats.org/presentationml/2006/main">
  <p:tag name="KSO_WM_DIAGRAM_VIRTUALLY_FRAME" val="{&quot;height&quot;:423.95,&quot;left&quot;:11.65,&quot;top&quot;:63.25,&quot;width&quot;:807.2}"/>
</p:tagLst>
</file>

<file path=ppt/tags/tag26.xml><?xml version="1.0" encoding="utf-8"?>
<p:tagLst xmlns:p="http://schemas.openxmlformats.org/presentationml/2006/main">
  <p:tag name="KSO_WM_DIAGRAM_VIRTUALLY_FRAME" val="{&quot;height&quot;:423.95,&quot;left&quot;:11.65,&quot;top&quot;:63.25,&quot;width&quot;:807.2}"/>
</p:tagLst>
</file>

<file path=ppt/tags/tag27.xml><?xml version="1.0" encoding="utf-8"?>
<p:tagLst xmlns:p="http://schemas.openxmlformats.org/presentationml/2006/main">
  <p:tag name="KSO_WM_DIAGRAM_VIRTUALLY_FRAME" val="{&quot;height&quot;:423.95,&quot;left&quot;:11.65,&quot;top&quot;:63.25,&quot;width&quot;:807.2}"/>
</p:tagLst>
</file>

<file path=ppt/tags/tag28.xml><?xml version="1.0" encoding="utf-8"?>
<p:tagLst xmlns:p="http://schemas.openxmlformats.org/presentationml/2006/main">
  <p:tag name="KSO_WM_DIAGRAM_VIRTUALLY_FRAME" val="{&quot;height&quot;:423.95,&quot;left&quot;:11.65,&quot;top&quot;:63.25,&quot;width&quot;:807.2}"/>
</p:tagLst>
</file>

<file path=ppt/tags/tag29.xml><?xml version="1.0" encoding="utf-8"?>
<p:tagLst xmlns:p="http://schemas.openxmlformats.org/presentationml/2006/main">
  <p:tag name="KSO_WM_DIAGRAM_VIRTUALLY_FRAME" val="{&quot;height&quot;:423.95,&quot;left&quot;:11.65,&quot;top&quot;:63.25,&quot;width&quot;:807.2}"/>
</p:tagLst>
</file>

<file path=ppt/tags/tag30.xml><?xml version="1.0" encoding="utf-8"?>
<p:tagLst xmlns:p="http://schemas.openxmlformats.org/presentationml/2006/main">
  <p:tag name="KSO_WM_DIAGRAM_VIRTUALLY_FRAME" val="{&quot;height&quot;:423.95,&quot;left&quot;:11.65,&quot;top&quot;:63.25,&quot;width&quot;:807.2}"/>
</p:tagLst>
</file>

<file path=ppt/tags/tag31.xml><?xml version="1.0" encoding="utf-8"?>
<p:tagLst xmlns:p="http://schemas.openxmlformats.org/presentationml/2006/main">
  <p:tag name="KSO_WM_DIAGRAM_VIRTUALLY_FRAME" val="{&quot;height&quot;:423.95,&quot;left&quot;:11.65,&quot;top&quot;:63.25,&quot;width&quot;:807.2}"/>
</p:tagLst>
</file>

<file path=ppt/tags/tag32.xml><?xml version="1.0" encoding="utf-8"?>
<p:tagLst xmlns:p="http://schemas.openxmlformats.org/presentationml/2006/main">
  <p:tag name="KSO_WM_DIAGRAM_VIRTUALLY_FRAME" val="{&quot;height&quot;:423.95,&quot;left&quot;:11.65,&quot;top&quot;:63.25,&quot;width&quot;:807.2}"/>
</p:tagLst>
</file>

<file path=ppt/tags/tag33.xml><?xml version="1.0" encoding="utf-8"?>
<p:tagLst xmlns:p="http://schemas.openxmlformats.org/presentationml/2006/main">
  <p:tag name="KSO_WM_DIAGRAM_VIRTUALLY_FRAME" val="{&quot;height&quot;:423.95,&quot;left&quot;:11.65,&quot;top&quot;:63.25,&quot;width&quot;:807.2}"/>
</p:tagLst>
</file>

<file path=ppt/tags/tag34.xml><?xml version="1.0" encoding="utf-8"?>
<p:tagLst xmlns:p="http://schemas.openxmlformats.org/presentationml/2006/main">
  <p:tag name="KSO_WM_DIAGRAM_VIRTUALLY_FRAME" val="{&quot;height&quot;:94.1,&quot;left&quot;:17.65,&quot;top&quot;:63.25,&quot;width&quot;:801.2}"/>
</p:tagLst>
</file>

<file path=ppt/tags/tag35.xml><?xml version="1.0" encoding="utf-8"?>
<p:tagLst xmlns:p="http://schemas.openxmlformats.org/presentationml/2006/main">
  <p:tag name="KSO_WM_DIAGRAM_VIRTUALLY_FRAME" val="{&quot;height&quot;:94.1,&quot;left&quot;:17.65,&quot;top&quot;:63.25,&quot;width&quot;:801.2}"/>
</p:tagLst>
</file>

<file path=ppt/tags/tag36.xml><?xml version="1.0" encoding="utf-8"?>
<p:tagLst xmlns:p="http://schemas.openxmlformats.org/presentationml/2006/main">
  <p:tag name="KSO_WM_DIAGRAM_VIRTUALLY_FRAME" val="{&quot;height&quot;:94.1,&quot;left&quot;:17.65,&quot;top&quot;:63.25,&quot;width&quot;:801.2}"/>
</p:tagLst>
</file>

<file path=ppt/tags/tag37.xml><?xml version="1.0" encoding="utf-8"?>
<p:tagLst xmlns:p="http://schemas.openxmlformats.org/presentationml/2006/main">
  <p:tag name="KSO_WM_DIAGRAM_VIRTUALLY_FRAME" val="{&quot;height&quot;:94.1,&quot;left&quot;:17.65,&quot;top&quot;:63.25,&quot;width&quot;:801.2}"/>
</p:tagLst>
</file>

<file path=ppt/tags/tag38.xml><?xml version="1.0" encoding="utf-8"?>
<p:tagLst xmlns:p="http://schemas.openxmlformats.org/presentationml/2006/main">
  <p:tag name="KSO_WM_DIAGRAM_VIRTUALLY_FRAME" val="{&quot;height&quot;:94.1,&quot;left&quot;:17.65,&quot;top&quot;:63.25,&quot;width&quot;:801.2}"/>
</p:tagLst>
</file>

<file path=ppt/tags/tag39.xml><?xml version="1.0" encoding="utf-8"?>
<p:tagLst xmlns:p="http://schemas.openxmlformats.org/presentationml/2006/main">
  <p:tag name="KSO_WM_DIAGRAM_VIRTUALLY_FRAME" val="{&quot;height&quot;:94.1,&quot;left&quot;:17.65,&quot;top&quot;:63.25,&quot;width&quot;:801.2}"/>
</p:tagLst>
</file>

<file path=ppt/tags/tag40.xml><?xml version="1.0" encoding="utf-8"?>
<p:tagLst xmlns:p="http://schemas.openxmlformats.org/presentationml/2006/main">
  <p:tag name="KSO_WM_DIAGRAM_VIRTUALLY_FRAME" val="{&quot;height&quot;:94.1,&quot;left&quot;:17.65,&quot;top&quot;:63.25,&quot;width&quot;:801.2}"/>
</p:tagLst>
</file>

<file path=ppt/tags/tag41.xml><?xml version="1.0" encoding="utf-8"?>
<p:tagLst xmlns:p="http://schemas.openxmlformats.org/presentationml/2006/main">
  <p:tag name="KSO_WM_DIAGRAM_VIRTUALLY_FRAME" val="{&quot;height&quot;:94.1,&quot;left&quot;:17.65,&quot;top&quot;:63.25,&quot;width&quot;:801.2}"/>
</p:tagLst>
</file>

<file path=ppt/tags/tag42.xml><?xml version="1.0" encoding="utf-8"?>
<p:tagLst xmlns:p="http://schemas.openxmlformats.org/presentationml/2006/main">
  <p:tag name="KSO_WM_DIAGRAM_VIRTUALLY_FRAME" val="{&quot;height&quot;:94.1,&quot;left&quot;:17.65,&quot;top&quot;:63.25,&quot;width&quot;:801.2}"/>
</p:tagLst>
</file>

<file path=ppt/tags/tag43.xml><?xml version="1.0" encoding="utf-8"?>
<p:tagLst xmlns:p="http://schemas.openxmlformats.org/presentationml/2006/main">
  <p:tag name="KSO_WM_DIAGRAM_VIRTUALLY_FRAME" val="{&quot;height&quot;:406.85,&quot;left&quot;:8.8,&quot;top&quot;:63.25,&quot;width&quot;:941.15}"/>
</p:tagLst>
</file>

<file path=ppt/tags/tag44.xml><?xml version="1.0" encoding="utf-8"?>
<p:tagLst xmlns:p="http://schemas.openxmlformats.org/presentationml/2006/main">
  <p:tag name="KSO_WM_DIAGRAM_VIRTUALLY_FRAME" val="{&quot;height&quot;:406.85,&quot;left&quot;:8.8,&quot;top&quot;:63.25,&quot;width&quot;:941.15}"/>
</p:tagLst>
</file>

<file path=ppt/tags/tag45.xml><?xml version="1.0" encoding="utf-8"?>
<p:tagLst xmlns:p="http://schemas.openxmlformats.org/presentationml/2006/main">
  <p:tag name="KSO_WM_DIAGRAM_VIRTUALLY_FRAME" val="{&quot;height&quot;:406.85,&quot;left&quot;:8.8,&quot;top&quot;:63.25,&quot;width&quot;:941.15}"/>
</p:tagLst>
</file>

<file path=ppt/tags/tag46.xml><?xml version="1.0" encoding="utf-8"?>
<p:tagLst xmlns:p="http://schemas.openxmlformats.org/presentationml/2006/main">
  <p:tag name="KSO_WM_DIAGRAM_VIRTUALLY_FRAME" val="{&quot;height&quot;:406.85,&quot;left&quot;:8.8,&quot;top&quot;:63.25,&quot;width&quot;:941.15}"/>
</p:tagLst>
</file>

<file path=ppt/tags/tag47.xml><?xml version="1.0" encoding="utf-8"?>
<p:tagLst xmlns:p="http://schemas.openxmlformats.org/presentationml/2006/main">
  <p:tag name="KSO_WM_DIAGRAM_VIRTUALLY_FRAME" val="{&quot;height&quot;:406.85,&quot;left&quot;:8.8,&quot;top&quot;:63.25,&quot;width&quot;:941.15}"/>
</p:tagLst>
</file>

<file path=ppt/tags/tag48.xml><?xml version="1.0" encoding="utf-8"?>
<p:tagLst xmlns:p="http://schemas.openxmlformats.org/presentationml/2006/main">
  <p:tag name="KSO_WM_DIAGRAM_VIRTUALLY_FRAME" val="{&quot;height&quot;:406.85,&quot;left&quot;:8.8,&quot;top&quot;:63.25,&quot;width&quot;:941.15}"/>
</p:tagLst>
</file>

<file path=ppt/tags/tag49.xml><?xml version="1.0" encoding="utf-8"?>
<p:tagLst xmlns:p="http://schemas.openxmlformats.org/presentationml/2006/main">
  <p:tag name="KSO_WM_DIAGRAM_VIRTUALLY_FRAME" val="{&quot;height&quot;:406.85,&quot;left&quot;:8.8,&quot;top&quot;:63.25,&quot;width&quot;:941.15}"/>
</p:tagLst>
</file>

<file path=ppt/tags/tag50.xml><?xml version="1.0" encoding="utf-8"?>
<p:tagLst xmlns:p="http://schemas.openxmlformats.org/presentationml/2006/main">
  <p:tag name="KSO_WM_DIAGRAM_VIRTUALLY_FRAME" val="{&quot;height&quot;:406.85,&quot;left&quot;:8.8,&quot;top&quot;:63.25,&quot;width&quot;:941.15}"/>
</p:tagLst>
</file>

<file path=ppt/tags/tag51.xml><?xml version="1.0" encoding="utf-8"?>
<p:tagLst xmlns:p="http://schemas.openxmlformats.org/presentationml/2006/main">
  <p:tag name="KSO_WM_DIAGRAM_VIRTUALLY_FRAME" val="{&quot;height&quot;:406.85,&quot;left&quot;:8.8,&quot;top&quot;:63.25,&quot;width&quot;:941.15}"/>
</p:tagLst>
</file>

<file path=ppt/tags/tag52.xml><?xml version="1.0" encoding="utf-8"?>
<p:tagLst xmlns:p="http://schemas.openxmlformats.org/presentationml/2006/main">
  <p:tag name="KSO_WM_DIAGRAM_VIRTUALLY_FRAME" val="{&quot;height&quot;:406.85,&quot;left&quot;:8.8,&quot;top&quot;:63.25,&quot;width&quot;:941.15}"/>
</p:tagLst>
</file>

<file path=ppt/tags/tag53.xml><?xml version="1.0" encoding="utf-8"?>
<p:tagLst xmlns:p="http://schemas.openxmlformats.org/presentationml/2006/main">
  <p:tag name="KSO_WM_DIAGRAM_VIRTUALLY_FRAME" val="{&quot;height&quot;:406.85,&quot;left&quot;:8.8,&quot;top&quot;:63.25,&quot;width&quot;:941.15}"/>
</p:tagLst>
</file>

<file path=ppt/tags/tag54.xml><?xml version="1.0" encoding="utf-8"?>
<p:tagLst xmlns:p="http://schemas.openxmlformats.org/presentationml/2006/main">
  <p:tag name="KSO_WM_DIAGRAM_VIRTUALLY_FRAME" val="{&quot;height&quot;:406.85,&quot;left&quot;:8.8,&quot;top&quot;:63.25,&quot;width&quot;:941.15}"/>
</p:tagLst>
</file>

<file path=ppt/tags/tag55.xml><?xml version="1.0" encoding="utf-8"?>
<p:tagLst xmlns:p="http://schemas.openxmlformats.org/presentationml/2006/main">
  <p:tag name="KSO_WM_DIAGRAM_VIRTUALLY_FRAME" val="{&quot;height&quot;:406.85,&quot;left&quot;:8.8,&quot;top&quot;:63.25,&quot;width&quot;:941.15}"/>
</p:tagLst>
</file>

<file path=ppt/tags/tag56.xml><?xml version="1.0" encoding="utf-8"?>
<p:tagLst xmlns:p="http://schemas.openxmlformats.org/presentationml/2006/main">
  <p:tag name="KSO_WM_DIAGRAM_VIRTUALLY_FRAME" val="{&quot;height&quot;:406.85,&quot;left&quot;:8.8,&quot;top&quot;:63.25,&quot;width&quot;:941.15}"/>
</p:tagLst>
</file>

<file path=ppt/tags/tag57.xml><?xml version="1.0" encoding="utf-8"?>
<p:tagLst xmlns:p="http://schemas.openxmlformats.org/presentationml/2006/main">
  <p:tag name="commondata" val="eyJoZGlkIjoiZDlhZjk3MDdmY2RjNDU5YmVmZjU5ZGI1MDk2NzM4OGUifQ=="/>
</p:tagLst>
</file>

<file path=ppt/theme/theme1.xml><?xml version="1.0" encoding="utf-8"?>
<a:theme xmlns:a="http://schemas.openxmlformats.org/drawingml/2006/main" name="默认设计模板">
  <a:themeElements>
    <a:clrScheme name="自定义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FF0000"/>
      </a:hlink>
      <a:folHlink>
        <a:srgbClr val="B2B2B2"/>
      </a:folHlink>
    </a:clrScheme>
    <a:fontScheme name="默认设计模板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7105</Words>
  <Application>WPS 演示</Application>
  <PresentationFormat>宽屏</PresentationFormat>
  <Paragraphs>608</Paragraphs>
  <Slides>35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35</vt:i4>
      </vt:variant>
    </vt:vector>
  </HeadingPairs>
  <TitlesOfParts>
    <vt:vector size="44" baseType="lpstr">
      <vt:lpstr>Arial</vt:lpstr>
      <vt:lpstr>宋体</vt:lpstr>
      <vt:lpstr>Wingdings</vt:lpstr>
      <vt:lpstr>Times New Roman</vt:lpstr>
      <vt:lpstr>微软雅黑</vt:lpstr>
      <vt:lpstr>Arial Unicode MS</vt:lpstr>
      <vt:lpstr>等线</vt:lpstr>
      <vt:lpstr>Calibri</vt:lpstr>
      <vt:lpstr>默认设计模板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Larry</dc:creator>
  <cp:lastModifiedBy>寅时请叫醒我.</cp:lastModifiedBy>
  <cp:revision>35</cp:revision>
  <dcterms:created xsi:type="dcterms:W3CDTF">2020-08-13T13:39:00Z</dcterms:created>
  <dcterms:modified xsi:type="dcterms:W3CDTF">2024-10-17T10:49:10Z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10D32AAEE1474386B022074A431E86F3_12</vt:lpwstr>
  </property>
  <property fmtid="{D5CDD505-2E9C-101B-9397-08002B2CF9AE}" pid="3" name="KSOProductBuildVer">
    <vt:lpwstr>2052-12.1.0.18276</vt:lpwstr>
  </property>
</Properties>
</file>