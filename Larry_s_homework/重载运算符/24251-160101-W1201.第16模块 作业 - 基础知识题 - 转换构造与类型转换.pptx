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49" r:id="rId3"/>
    <p:sldId id="1271" r:id="rId4"/>
    <p:sldId id="1266" r:id="rId5"/>
    <p:sldId id="994" r:id="rId7"/>
    <p:sldId id="1272" r:id="rId8"/>
    <p:sldId id="1273" r:id="rId9"/>
    <p:sldId id="1274" r:id="rId10"/>
    <p:sldId id="1275" r:id="rId11"/>
    <p:sldId id="1276" r:id="rId12"/>
    <p:sldId id="1277" r:id="rId13"/>
    <p:sldId id="1278" r:id="rId14"/>
    <p:sldId id="1279" r:id="rId15"/>
    <p:sldId id="1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1986" autoAdjust="0"/>
  </p:normalViewPr>
  <p:slideViewPr>
    <p:cSldViewPr snapToGrid="0">
      <p:cViewPr varScale="1">
        <p:scale>
          <a:sx n="91" d="100"/>
          <a:sy n="91" d="100"/>
        </p:scale>
        <p:origin x="96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§16.</a:t>
            </a:r>
            <a:r>
              <a:rPr lang="zh-CN" altLang="en-US" sz="2800" b="1" dirty="0">
                <a:latin typeface="+mn-ea"/>
              </a:rPr>
              <a:t>运算符重载 </a:t>
            </a:r>
            <a:r>
              <a:rPr lang="en-US" altLang="zh-CN" sz="2800" b="1" dirty="0">
                <a:latin typeface="+mn-ea"/>
              </a:rPr>
              <a:t>– </a:t>
            </a:r>
            <a:r>
              <a:rPr lang="zh-CN" altLang="en-US" sz="2800" b="1" dirty="0">
                <a:latin typeface="+mn-ea"/>
              </a:rPr>
              <a:t>转换构造和类型转换函数的使用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VS2022 + Linux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编译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截图（不允许手写、不允许手写拍照）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、为了保证一致性，先把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升级到最新版本后再做（截止</a:t>
            </a:r>
            <a:r>
              <a:rPr lang="en-US" altLang="zh-CN" sz="1600" b="1" dirty="0">
                <a:latin typeface="+mn-ea"/>
              </a:rPr>
              <a:t>2024-11-22</a:t>
            </a:r>
            <a:r>
              <a:rPr lang="zh-CN" altLang="en-US" sz="1600" b="1" dirty="0">
                <a:latin typeface="+mn-ea"/>
              </a:rPr>
              <a:t>的最新版本是</a:t>
            </a:r>
            <a:r>
              <a:rPr lang="en-US" altLang="zh-CN" sz="1600" b="1" dirty="0">
                <a:latin typeface="+mn-ea"/>
              </a:rPr>
              <a:t>17.11.6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72" y="3743461"/>
            <a:ext cx="3448050" cy="2009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§16.</a:t>
            </a:r>
            <a:r>
              <a:rPr lang="zh-CN" altLang="en-US" sz="2800" b="1" dirty="0">
                <a:latin typeface="+mn-ea"/>
              </a:rPr>
              <a:t>运算符重载 </a:t>
            </a:r>
            <a:r>
              <a:rPr lang="en-US" altLang="zh-CN" sz="2800" b="1" dirty="0">
                <a:latin typeface="+mn-ea"/>
              </a:rPr>
              <a:t>– </a:t>
            </a:r>
            <a:r>
              <a:rPr lang="zh-CN" altLang="en-US" sz="2800" b="1" dirty="0">
                <a:latin typeface="+mn-ea"/>
              </a:rPr>
              <a:t>转换构造和类型转换函数的使用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填写要求：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、依次用</a:t>
            </a:r>
            <a:r>
              <a:rPr lang="en-US" altLang="zh-CN" sz="1600" b="1" dirty="0">
                <a:latin typeface="+mn-ea"/>
              </a:rPr>
              <a:t>VS2022/Linux</a:t>
            </a:r>
            <a:r>
              <a:rPr lang="zh-CN" altLang="en-US" sz="1600" b="1" dirty="0">
                <a:latin typeface="+mn-ea"/>
              </a:rPr>
              <a:t>编译指定的源程序文件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如果编译正确，则对应位置填写运行结果并给出得到此结果的原因解释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如果编译错误，则对应位置填写该行的编译错误提示及错误原因分析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、如果编译器报多个错误，填写源程序文件对应行的错误提示即可，示例如下，将红色框截图即可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函数中某一句错误，则将该句及下面的打印语句全部注释掉，继续观察其余正确语句的运行结果（示例见上图）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、用蓝色加粗字体填写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、不需要填写的部分可以删除（例如：某句正确，则错误部分不填，或填写</a:t>
            </a:r>
            <a:r>
              <a:rPr lang="en-US" altLang="zh-CN" sz="1600" b="1" dirty="0">
                <a:latin typeface="+mn-ea"/>
              </a:rPr>
              <a:t>"/"</a:t>
            </a:r>
            <a:r>
              <a:rPr lang="zh-CN" altLang="en-US" sz="1600" b="1" dirty="0">
                <a:latin typeface="+mn-ea"/>
              </a:rPr>
              <a:t>即可）</a:t>
            </a:r>
            <a:endParaRPr lang="zh-CN" altLang="en-US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81" y="2167145"/>
            <a:ext cx="4895238" cy="3447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/>
          <p:nvPr/>
        </p:nvPicPr>
        <p:blipFill>
          <a:blip r:embed="rId2"/>
          <a:stretch>
            <a:fillRect/>
          </a:stretch>
        </p:blipFill>
        <p:spPr>
          <a:xfrm>
            <a:off x="8448733" y="4188373"/>
            <a:ext cx="3181985" cy="457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图片 18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733" y="5107446"/>
            <a:ext cx="2524125" cy="438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右箭头 11"/>
          <p:cNvSpPr/>
          <p:nvPr/>
        </p:nvSpPr>
        <p:spPr>
          <a:xfrm rot="5400000">
            <a:off x="9201045" y="4776041"/>
            <a:ext cx="504825" cy="200025"/>
          </a:xfrm>
          <a:prstGeom prst="rightArrow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§16.</a:t>
            </a:r>
            <a:r>
              <a:rPr lang="zh-CN" altLang="en-US" sz="2800" b="1" dirty="0">
                <a:latin typeface="+mn-ea"/>
              </a:rPr>
              <a:t>运算符重载 </a:t>
            </a:r>
            <a:r>
              <a:rPr lang="en-US" altLang="zh-CN" sz="2800" b="1" dirty="0">
                <a:latin typeface="+mn-ea"/>
              </a:rPr>
              <a:t>– </a:t>
            </a:r>
            <a:r>
              <a:rPr lang="zh-CN" altLang="en-US" sz="2800" b="1" dirty="0">
                <a:latin typeface="+mn-ea"/>
              </a:rPr>
              <a:t>转换构造和类型转换函数的使用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1.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无转换构造函数、无类型转换函数、友元方式实现复数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</a:rPr>
              <a:t>没有与参数列表匹配的构造函数</a:t>
            </a:r>
            <a:r>
              <a:rPr lang="en-US" altLang="zh-CN" sz="1200" b="1" dirty="0">
                <a:latin typeface="+mn-ea"/>
              </a:rPr>
              <a:t> "Complex::Complex" </a:t>
            </a:r>
            <a:r>
              <a:rPr lang="zh-CN" altLang="en-US" sz="1200" b="1" dirty="0">
                <a:latin typeface="+mn-ea"/>
              </a:rPr>
              <a:t>实例</a:t>
            </a:r>
            <a:r>
              <a:rPr lang="en-US" altLang="zh-CN" sz="1200" b="1" dirty="0">
                <a:latin typeface="+mn-ea"/>
              </a:rPr>
              <a:t>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____no matching function for call to ‘Complex::Complex(double)’_____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</a:rPr>
              <a:t>没有把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转复数的类型构造函数，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复数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endParaRPr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二元</a:t>
            </a:r>
            <a:r>
              <a:rPr lang="en-US" altLang="zh-CN" sz="1200" b="1" dirty="0">
                <a:latin typeface="+mn-ea"/>
                <a:sym typeface="+mn-ea"/>
              </a:rPr>
              <a:t>“+”: </a:t>
            </a:r>
            <a:r>
              <a:rPr lang="zh-CN" altLang="en-US" sz="1200" b="1" dirty="0">
                <a:latin typeface="+mn-ea"/>
                <a:sym typeface="+mn-ea"/>
              </a:rPr>
              <a:t>没有找到接受</a:t>
            </a:r>
            <a:r>
              <a:rPr lang="en-US" altLang="zh-CN" sz="1200" b="1" dirty="0">
                <a:latin typeface="+mn-ea"/>
                <a:sym typeface="+mn-ea"/>
              </a:rPr>
              <a:t>“double”</a:t>
            </a:r>
            <a:r>
              <a:rPr lang="zh-CN" altLang="en-US" sz="1200" b="1" dirty="0">
                <a:latin typeface="+mn-ea"/>
                <a:sym typeface="+mn-ea"/>
              </a:rPr>
              <a:t>类型的右操作数的运算符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或没有可接受的转换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en-US" altLang="zh-CN" sz="1200" b="1" dirty="0"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___no match for ‘operator+’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  <a:sym typeface="+mn-ea"/>
              </a:rPr>
              <a:t>没有把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转复数的类型转化函数，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复数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en-US" altLang="zh-CN" sz="1200" b="1" dirty="0">
                <a:latin typeface="+mn-ea"/>
              </a:rPr>
              <a:t>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  <a:sym typeface="+mn-ea"/>
              </a:rPr>
              <a:t>二进制</a:t>
            </a:r>
            <a:r>
              <a:rPr lang="en-US" altLang="zh-CN" sz="1200" b="1" dirty="0">
                <a:latin typeface="+mn-ea"/>
                <a:sym typeface="+mn-ea"/>
              </a:rPr>
              <a:t>“+”: </a:t>
            </a:r>
            <a:r>
              <a:rPr lang="zh-CN" altLang="en-US" sz="1200" b="1" dirty="0">
                <a:latin typeface="+mn-ea"/>
                <a:sym typeface="+mn-ea"/>
              </a:rPr>
              <a:t>没有找到接受</a:t>
            </a:r>
            <a:r>
              <a:rPr lang="en-US" altLang="zh-CN" sz="1200" b="1" dirty="0">
                <a:latin typeface="+mn-ea"/>
                <a:sym typeface="+mn-ea"/>
              </a:rPr>
              <a:t>“Complex”</a:t>
            </a:r>
            <a:r>
              <a:rPr lang="zh-CN" altLang="en-US" sz="1200" b="1" dirty="0">
                <a:latin typeface="+mn-ea"/>
                <a:sym typeface="+mn-ea"/>
              </a:rPr>
              <a:t>类型的全局运算符</a:t>
            </a:r>
            <a:r>
              <a:rPr lang="en-US" altLang="zh-CN" sz="1200" b="1" dirty="0">
                <a:latin typeface="+mn-ea"/>
                <a:sym typeface="+mn-ea"/>
              </a:rPr>
              <a:t>(</a:t>
            </a:r>
            <a:r>
              <a:rPr lang="zh-CN" altLang="en-US" sz="1200" b="1" dirty="0">
                <a:latin typeface="+mn-ea"/>
                <a:sym typeface="+mn-ea"/>
              </a:rPr>
              <a:t>或没有可接受的转换</a:t>
            </a:r>
            <a:r>
              <a:rPr lang="en-US" altLang="zh-CN" sz="1200" b="1" dirty="0">
                <a:latin typeface="+mn-ea"/>
                <a:sym typeface="+mn-ea"/>
              </a:rPr>
              <a:t>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_no match for ‘operator+’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没有定义</a:t>
            </a:r>
            <a:r>
              <a:rPr lang="en-US" altLang="zh-CN" sz="1200" b="1" dirty="0">
                <a:latin typeface="+mn-ea"/>
                <a:sym typeface="+mn-ea"/>
              </a:rPr>
              <a:t>double+</a:t>
            </a:r>
            <a:r>
              <a:rPr lang="zh-CN" altLang="en-US" sz="1200" b="1" dirty="0">
                <a:latin typeface="+mn-ea"/>
                <a:sym typeface="+mn-ea"/>
              </a:rPr>
              <a:t>复数的重载，单也没有类型转化函数，所以等号右边无法运算</a:t>
            </a:r>
            <a:r>
              <a:rPr lang="en-US" altLang="zh-CN" sz="1200" b="1" dirty="0">
                <a:latin typeface="+mn-ea"/>
              </a:rPr>
              <a:t>__</a:t>
            </a:r>
            <a:endParaRPr lang="en-US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★ </a:t>
            </a:r>
            <a:r>
              <a:rPr lang="zh-CN" altLang="en-US" sz="1200" b="1" dirty="0">
                <a:latin typeface="+mn-ea"/>
              </a:rPr>
              <a:t>每个输出的不匹配项可删除（例：若本项编译正确，则编译错误的几行内容直接删除即可）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★ </a:t>
            </a:r>
            <a:r>
              <a:rPr lang="zh-CN" altLang="en-US" sz="1200" b="1" dirty="0">
                <a:latin typeface="+mn-ea"/>
              </a:rPr>
              <a:t>分析正确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错误原因时，仿课件</a:t>
            </a:r>
            <a:r>
              <a:rPr lang="en-US" altLang="zh-CN" sz="1200" b="1" dirty="0">
                <a:latin typeface="+mn-ea"/>
              </a:rPr>
              <a:t>P.45~46</a:t>
            </a:r>
            <a:r>
              <a:rPr lang="zh-CN" altLang="en-US" sz="1200" b="1" dirty="0">
                <a:latin typeface="+mn-ea"/>
              </a:rPr>
              <a:t>的样式，需要将正确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错误原因交待清楚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★ </a:t>
            </a:r>
            <a:r>
              <a:rPr lang="zh-CN" altLang="en-US" sz="1200" b="1" dirty="0">
                <a:latin typeface="+mn-ea"/>
              </a:rPr>
              <a:t>后续页面要求相同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8058570" y="4169175"/>
            <a:ext cx="2952329" cy="15121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编译错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、无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的重载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、无 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复数转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的类型转换函数，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也无法理解为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double+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、无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转复数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的转换构造函数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 复数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 的重载，也无法理解为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8058571" y="5681344"/>
            <a:ext cx="2952329" cy="101409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2.5 + c1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因为没有定义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double+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复数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的重载，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因此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c1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被转换为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double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隐式调用类型转换函数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double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相加，得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5.5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6120511" y="6178266"/>
            <a:ext cx="19380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2.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无转换构造函数、无类型转换函数、成员方式实现复数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</a:rPr>
              <a:t>无法从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转为</a:t>
            </a:r>
            <a:r>
              <a:rPr lang="en-US" altLang="zh-CN" sz="1200" b="1" dirty="0">
                <a:latin typeface="+mn-ea"/>
              </a:rPr>
              <a:t>Complex______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____no matching function for call to ‘Complex::Complex(double)’______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  <a:sym typeface="+mn-ea"/>
              </a:rPr>
              <a:t>没有把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复数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en-US" altLang="zh-CN" sz="1200" b="1" dirty="0">
                <a:latin typeface="+mn-ea"/>
              </a:rPr>
              <a:t>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</a:rPr>
              <a:t>二元</a:t>
            </a:r>
            <a:r>
              <a:rPr lang="en-US" altLang="zh-CN" sz="1200" b="1" dirty="0">
                <a:latin typeface="+mn-ea"/>
              </a:rPr>
              <a:t>“+”: </a:t>
            </a:r>
            <a:r>
              <a:rPr lang="zh-CN" altLang="en-US" sz="1200" b="1" dirty="0">
                <a:latin typeface="+mn-ea"/>
              </a:rPr>
              <a:t>没有找到接受</a:t>
            </a:r>
            <a:r>
              <a:rPr lang="en-US" altLang="zh-CN" sz="1200" b="1" dirty="0">
                <a:latin typeface="+mn-ea"/>
              </a:rPr>
              <a:t>“double”</a:t>
            </a:r>
            <a:r>
              <a:rPr lang="zh-CN" altLang="en-US" sz="1200" b="1" dirty="0">
                <a:latin typeface="+mn-ea"/>
              </a:rPr>
              <a:t>类型的右操作数的运算符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或没有可接受的转换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en-US" altLang="zh-CN" sz="1200" b="1" dirty="0">
                <a:latin typeface="+mn-ea"/>
              </a:rPr>
              <a:t>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___no match for ‘operator+’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没有把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复数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endParaRPr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二进制</a:t>
            </a:r>
            <a:r>
              <a:rPr lang="en-US" altLang="zh-CN" sz="1200" b="1" dirty="0">
                <a:latin typeface="+mn-ea"/>
              </a:rPr>
              <a:t>“+”: </a:t>
            </a:r>
            <a:r>
              <a:rPr lang="zh-CN" altLang="en-US" sz="1200" b="1" dirty="0">
                <a:latin typeface="+mn-ea"/>
              </a:rPr>
              <a:t>没有找到接受</a:t>
            </a:r>
            <a:r>
              <a:rPr lang="en-US" altLang="zh-CN" sz="1200" b="1" dirty="0">
                <a:latin typeface="+mn-ea"/>
              </a:rPr>
              <a:t>“Complex”</a:t>
            </a:r>
            <a:r>
              <a:rPr lang="zh-CN" altLang="en-US" sz="1200" b="1" dirty="0">
                <a:latin typeface="+mn-ea"/>
              </a:rPr>
              <a:t>类型的全局运算符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或没有可接受的转换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____no match for ‘operator+’ (operand types are ‘double’ and ‘Complex’)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  <a:sym typeface="+mn-ea"/>
              </a:rPr>
              <a:t>没有把复数转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的类型构造函数，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double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3.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无转换构造函数、有类型转换函数、友元方式实现复数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</a:rPr>
              <a:t>没有与参数列表匹配的构造函数</a:t>
            </a:r>
            <a:r>
              <a:rPr lang="en-US" altLang="zh-CN" sz="1200" b="1" dirty="0">
                <a:latin typeface="+mn-ea"/>
              </a:rPr>
              <a:t> "Complex::Complex" </a:t>
            </a:r>
            <a:r>
              <a:rPr lang="zh-CN" altLang="en-US" sz="1200" b="1" dirty="0">
                <a:latin typeface="+mn-ea"/>
              </a:rPr>
              <a:t>实例</a:t>
            </a:r>
            <a:endParaRPr lang="zh-CN" altLang="en-US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__no matching function for call to ‘Complex::Complex(double)’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c3 = c1 + Complex(2.5);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没有把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复数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en-US" altLang="zh-CN" sz="1200" b="1" dirty="0">
                <a:latin typeface="+mn-ea"/>
                <a:sym typeface="+mn-ea"/>
              </a:rPr>
              <a:t>_</a:t>
            </a:r>
            <a:r>
              <a:rPr lang="en-US" altLang="zh-CN" sz="1200" b="1" dirty="0">
                <a:latin typeface="+mn-ea"/>
              </a:rPr>
              <a:t>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</a:rPr>
              <a:t>没有与这些操作数匹配的</a:t>
            </a:r>
            <a:r>
              <a:rPr lang="en-US" altLang="zh-CN" sz="1200" b="1" dirty="0">
                <a:latin typeface="+mn-ea"/>
              </a:rPr>
              <a:t> "=" </a:t>
            </a:r>
            <a:r>
              <a:rPr lang="zh-CN" altLang="en-US" sz="1200" b="1" dirty="0">
                <a:latin typeface="+mn-ea"/>
              </a:rPr>
              <a:t>运算符</a:t>
            </a:r>
            <a:endParaRPr lang="zh-CN" altLang="en-US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__no match for ‘operator=’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没有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转复数的类型构造函数，因此右边计算结果是被匹配为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和左边不匹配</a:t>
            </a:r>
            <a:r>
              <a:rPr lang="en-US" altLang="zh-CN" sz="1200" b="1" dirty="0">
                <a:latin typeface="+mn-ea"/>
              </a:rPr>
              <a:t>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没有与这些操作数匹配的</a:t>
            </a:r>
            <a:r>
              <a:rPr lang="en-US" altLang="zh-CN" sz="1200" b="1" dirty="0">
                <a:latin typeface="+mn-ea"/>
              </a:rPr>
              <a:t> "=" </a:t>
            </a:r>
            <a:r>
              <a:rPr lang="zh-CN" altLang="en-US" sz="1200" b="1" dirty="0">
                <a:latin typeface="+mn-ea"/>
              </a:rPr>
              <a:t>运算符</a:t>
            </a:r>
            <a:endParaRPr lang="zh-CN" altLang="en-US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__no match for ‘operator=’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  <a:sym typeface="+mn-ea"/>
              </a:rPr>
              <a:t>没有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转复数的类型构造函数，因此右边计算结果是被匹配为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和左边不匹配</a:t>
            </a:r>
            <a:r>
              <a:rPr lang="en-US" altLang="zh-CN" sz="1200" b="1" dirty="0">
                <a:latin typeface="+mn-ea"/>
              </a:rPr>
              <a:t>__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4.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无转换构造函数、有类型转换函数、成员方式实现复数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</a:rPr>
              <a:t>没有与参数列表匹配的构造函数</a:t>
            </a:r>
            <a:r>
              <a:rPr lang="en-US" altLang="zh-CN" sz="1200" b="1" dirty="0">
                <a:latin typeface="+mn-ea"/>
              </a:rPr>
              <a:t> "Complex::Complex" </a:t>
            </a:r>
            <a:r>
              <a:rPr lang="zh-CN" altLang="en-US" sz="1200" b="1" dirty="0">
                <a:latin typeface="+mn-ea"/>
              </a:rPr>
              <a:t>实例</a:t>
            </a:r>
            <a:endParaRPr lang="zh-CN" altLang="en-US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no matching function for call to ‘Complex::Complex(double)’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  <a:sym typeface="+mn-ea"/>
              </a:rPr>
              <a:t>  c3 = c1 + Complex(2.5);</a:t>
            </a:r>
            <a:endParaRPr lang="en-US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  <a:sym typeface="+mn-ea"/>
              </a:rPr>
              <a:t>没有把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</a:t>
            </a: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也无法理解为 复数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en-US" altLang="zh-CN" sz="1200" b="1" dirty="0">
                <a:latin typeface="+mn-ea"/>
              </a:rPr>
              <a:t>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  <a:sym typeface="+mn-ea"/>
              </a:rPr>
              <a:t>没有与这些操作数匹配的</a:t>
            </a:r>
            <a:r>
              <a:rPr lang="en-US" altLang="zh-CN" sz="1200" b="1" dirty="0">
                <a:latin typeface="+mn-ea"/>
                <a:sym typeface="+mn-ea"/>
              </a:rPr>
              <a:t> "=" </a:t>
            </a:r>
            <a:r>
              <a:rPr lang="zh-CN" altLang="en-US" sz="1200" b="1" dirty="0">
                <a:latin typeface="+mn-ea"/>
                <a:sym typeface="+mn-ea"/>
              </a:rPr>
              <a:t>运算符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latin typeface="+mn-ea"/>
                <a:sym typeface="+mn-ea"/>
              </a:rPr>
              <a:t>no match for ‘operator=’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没有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转复数的类型构造函数，因此右边计算结果是被匹配为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和左边不匹配</a:t>
            </a:r>
            <a:r>
              <a:rPr lang="en-US" altLang="zh-CN" sz="1200" b="1" dirty="0">
                <a:latin typeface="+mn-ea"/>
              </a:rPr>
              <a:t>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没有与这些操作数匹配的</a:t>
            </a:r>
            <a:r>
              <a:rPr lang="en-US" altLang="zh-CN" sz="1200" b="1" dirty="0">
                <a:latin typeface="+mn-ea"/>
                <a:sym typeface="+mn-ea"/>
              </a:rPr>
              <a:t> "=" </a:t>
            </a:r>
            <a:r>
              <a:rPr lang="zh-CN" altLang="en-US" sz="1200" b="1" dirty="0">
                <a:latin typeface="+mn-ea"/>
                <a:sym typeface="+mn-ea"/>
              </a:rPr>
              <a:t>运算符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no match for ‘operator=’ (operand types are ‘Complex’ and ‘double’)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  <a:sym typeface="+mn-ea"/>
              </a:rPr>
              <a:t>没有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转复数的类型构造函数，因此右边计算结果是被匹配为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和左边不匹配</a:t>
            </a:r>
            <a:r>
              <a:rPr lang="en-US" altLang="zh-CN" sz="1200" b="1" dirty="0">
                <a:latin typeface="+mn-ea"/>
              </a:rPr>
              <a:t>___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有转换构造函数、无类型转换函数、友元方式实现复数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___5.5+4i___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定义了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转</a:t>
            </a:r>
            <a:r>
              <a:rPr lang="en-US" altLang="zh-CN" sz="1200" b="1" dirty="0">
                <a:latin typeface="+mn-ea"/>
              </a:rPr>
              <a:t>complex</a:t>
            </a:r>
            <a:r>
              <a:rPr lang="zh-CN" altLang="en-US" sz="1200" b="1" dirty="0">
                <a:latin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</a:rPr>
              <a:t>complex</a:t>
            </a:r>
            <a:r>
              <a:rPr lang="zh-CN" altLang="en-US" sz="1200" b="1" dirty="0">
                <a:latin typeface="+mn-ea"/>
              </a:rPr>
              <a:t>构造赋值给左边</a:t>
            </a:r>
            <a:r>
              <a:rPr lang="en-US" altLang="zh-CN" sz="1200" b="1" dirty="0">
                <a:latin typeface="+mn-ea"/>
              </a:rPr>
              <a:t>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5.5+4i</a:t>
            </a:r>
            <a:r>
              <a:rPr lang="en-US" altLang="zh-CN" sz="1200" b="1" dirty="0">
                <a:latin typeface="+mn-ea"/>
              </a:rPr>
              <a:t>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定义了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构造赋值给左边</a:t>
            </a:r>
            <a:endParaRPr lang="zh-CN" altLang="en-US" sz="1200" b="1" dirty="0">
              <a:latin typeface="+mn-ea"/>
              <a:sym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5.5+4i</a:t>
            </a:r>
            <a:r>
              <a:rPr lang="en-US" altLang="zh-CN" sz="1200" b="1" dirty="0">
                <a:latin typeface="+mn-ea"/>
              </a:rPr>
              <a:t>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  <a:sym typeface="+mn-ea"/>
              </a:rPr>
              <a:t>定义了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构造赋值给左边</a:t>
            </a:r>
            <a:endParaRPr lang="zh-CN" altLang="en-US" sz="1200" b="1" dirty="0">
              <a:latin typeface="+mn-ea"/>
              <a:sym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6.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有转换构造函数、无类型转换函数、成员方式实现复数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  <a:sym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  <a:sym typeface="+mn-ea"/>
              </a:rPr>
              <a:t>编译正确，运行结果：</a:t>
            </a:r>
            <a:r>
              <a:rPr lang="en-US" altLang="zh-CN" sz="1200" b="1" dirty="0">
                <a:latin typeface="+mn-ea"/>
                <a:sym typeface="+mn-ea"/>
              </a:rPr>
              <a:t>___5.5+4i___</a:t>
            </a:r>
            <a:r>
              <a:rPr lang="zh-CN" altLang="zh-CN" sz="1200" b="1" dirty="0">
                <a:latin typeface="+mn-ea"/>
                <a:sym typeface="+mn-ea"/>
              </a:rPr>
              <a:t>，能得到此结果的原因：</a:t>
            </a:r>
            <a:r>
              <a:rPr lang="en-US" altLang="zh-CN" sz="1200" b="1" dirty="0">
                <a:latin typeface="+mn-ea"/>
                <a:sym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定义了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构造赋值给左边</a:t>
            </a:r>
            <a:r>
              <a:rPr lang="en-US" altLang="zh-CN" sz="1200" b="1" dirty="0">
                <a:latin typeface="+mn-ea"/>
                <a:sym typeface="+mn-ea"/>
              </a:rPr>
              <a:t>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  <a:sym typeface="+mn-ea"/>
              </a:rPr>
              <a:t>编译错误，</a:t>
            </a:r>
            <a:r>
              <a:rPr lang="en-US" altLang="zh-CN" sz="1200" b="1" dirty="0">
                <a:latin typeface="+mn-ea"/>
                <a:sym typeface="+mn-ea"/>
              </a:rPr>
              <a:t>VS2022</a:t>
            </a:r>
            <a:r>
              <a:rPr lang="zh-CN" altLang="zh-CN" sz="1200" b="1" dirty="0">
                <a:latin typeface="+mn-ea"/>
                <a:sym typeface="+mn-ea"/>
              </a:rPr>
              <a:t>下：</a:t>
            </a:r>
            <a:r>
              <a:rPr lang="en-US" altLang="zh-CN" sz="1200" b="1" dirty="0">
                <a:latin typeface="+mn-ea"/>
                <a:sym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  <a:sym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  <a:sym typeface="+mn-ea"/>
              </a:rPr>
              <a:t>          Linux</a:t>
            </a:r>
            <a:r>
              <a:rPr lang="zh-CN" altLang="zh-CN" sz="1200" b="1" dirty="0">
                <a:latin typeface="+mn-ea"/>
                <a:sym typeface="+mn-ea"/>
              </a:rPr>
              <a:t>下：</a:t>
            </a:r>
            <a:r>
              <a:rPr lang="en-US" altLang="zh-CN" sz="1200" b="1" dirty="0">
                <a:latin typeface="+mn-ea"/>
                <a:sym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  <a:sym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  <a:sym typeface="+mn-ea"/>
              </a:rPr>
              <a:t>          </a:t>
            </a:r>
            <a:r>
              <a:rPr lang="zh-CN" altLang="zh-CN" sz="1200" b="1" dirty="0">
                <a:latin typeface="+mn-ea"/>
                <a:sym typeface="+mn-ea"/>
              </a:rPr>
              <a:t>错误原因分析：</a:t>
            </a:r>
            <a:r>
              <a:rPr lang="en-US" altLang="zh-CN" sz="1200" b="1" dirty="0">
                <a:latin typeface="+mn-ea"/>
                <a:sym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  <a:sym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  <a:sym typeface="+mn-ea"/>
              </a:rPr>
              <a:t>编译正确，运行结果：</a:t>
            </a:r>
            <a:r>
              <a:rPr lang="en-US" altLang="zh-CN" sz="1200" b="1" dirty="0">
                <a:latin typeface="+mn-ea"/>
                <a:sym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5.5+4i</a:t>
            </a:r>
            <a:r>
              <a:rPr lang="en-US" altLang="zh-CN" sz="1200" b="1" dirty="0">
                <a:latin typeface="+mn-ea"/>
                <a:sym typeface="+mn-ea"/>
              </a:rPr>
              <a:t>_____</a:t>
            </a:r>
            <a:r>
              <a:rPr lang="zh-CN" altLang="zh-CN" sz="1200" b="1" dirty="0">
                <a:latin typeface="+mn-ea"/>
                <a:sym typeface="+mn-ea"/>
              </a:rPr>
              <a:t>，能得到此结果的原因：</a:t>
            </a:r>
            <a:r>
              <a:rPr lang="en-US" altLang="zh-CN" sz="1200" b="1" dirty="0">
                <a:latin typeface="+mn-ea"/>
                <a:sym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定义了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构造赋值给左边</a:t>
            </a:r>
            <a:endParaRPr lang="zh-CN" altLang="en-US" sz="1200" b="1" dirty="0">
              <a:latin typeface="+mn-ea"/>
              <a:sym typeface="+mn-ea"/>
            </a:endParaRPr>
          </a:p>
          <a:p>
            <a:pPr algn="l"/>
            <a:r>
              <a:rPr lang="zh-CN" altLang="zh-CN" sz="1200" b="1" dirty="0">
                <a:latin typeface="+mn-ea"/>
                <a:sym typeface="+mn-ea"/>
              </a:rPr>
              <a:t>编译错误，</a:t>
            </a:r>
            <a:r>
              <a:rPr lang="en-US" altLang="zh-CN" sz="1200" b="1" dirty="0">
                <a:latin typeface="+mn-ea"/>
                <a:sym typeface="+mn-ea"/>
              </a:rPr>
              <a:t>VS2022</a:t>
            </a:r>
            <a:r>
              <a:rPr lang="zh-CN" altLang="zh-CN" sz="1200" b="1" dirty="0">
                <a:latin typeface="+mn-ea"/>
                <a:sym typeface="+mn-ea"/>
              </a:rPr>
              <a:t>下：</a:t>
            </a:r>
            <a:r>
              <a:rPr lang="en-US" altLang="zh-CN" sz="1200" b="1" dirty="0">
                <a:latin typeface="+mn-ea"/>
                <a:sym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  <a:sym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</a:rPr>
              <a:t>没有与这些操作数匹配的</a:t>
            </a:r>
            <a:r>
              <a:rPr lang="en-US" altLang="zh-CN" sz="1200" b="1" dirty="0">
                <a:latin typeface="+mn-ea"/>
              </a:rPr>
              <a:t> "+" </a:t>
            </a:r>
            <a:r>
              <a:rPr lang="zh-CN" altLang="en-US" sz="1200" b="1" dirty="0">
                <a:latin typeface="+mn-ea"/>
              </a:rPr>
              <a:t>运算符</a:t>
            </a:r>
            <a:endParaRPr lang="zh-CN" altLang="en-US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___no match for ‘operator+’ (operand types are ‘double’ and ‘Complex’)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zh-CN" altLang="en-US" sz="1200" b="1" dirty="0">
                <a:latin typeface="+mn-ea"/>
              </a:rPr>
              <a:t>没有</a:t>
            </a:r>
            <a:r>
              <a:rPr lang="en-US" altLang="zh-CN" sz="1200" b="1" dirty="0">
                <a:latin typeface="+mn-ea"/>
              </a:rPr>
              <a:t>complex</a:t>
            </a:r>
            <a:r>
              <a:rPr lang="zh-CN" altLang="en-US" sz="1200" b="1" dirty="0">
                <a:latin typeface="+mn-ea"/>
              </a:rPr>
              <a:t>转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的类型转化函数，也无法理解为</a:t>
            </a:r>
            <a:r>
              <a:rPr lang="en-US" altLang="zh-CN" sz="1200" b="1" dirty="0">
                <a:latin typeface="+mn-ea"/>
              </a:rPr>
              <a:t>double+_____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7.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有转换构造函数、有类型转换函数、友元方式实现复数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</a:t>
            </a:r>
            <a:r>
              <a:rPr lang="zh-CN" altLang="zh-CN" sz="1200" b="1" dirty="0">
                <a:latin typeface="+mn-ea"/>
                <a:sym typeface="+mn-ea"/>
              </a:rPr>
              <a:t>运行结果：</a:t>
            </a:r>
            <a:r>
              <a:rPr lang="en-US" altLang="zh-CN" sz="1200" b="1" dirty="0">
                <a:latin typeface="+mn-ea"/>
                <a:sym typeface="+mn-ea"/>
              </a:rPr>
              <a:t>___5.5+4i___</a:t>
            </a:r>
            <a:r>
              <a:rPr lang="zh-CN" altLang="zh-CN" sz="1200" b="1" dirty="0">
                <a:latin typeface="+mn-ea"/>
                <a:sym typeface="+mn-ea"/>
              </a:rPr>
              <a:t>，能得到此结果的原因：</a:t>
            </a:r>
            <a:r>
              <a:rPr lang="en-US" altLang="zh-CN" sz="1200" b="1" dirty="0">
                <a:latin typeface="+mn-ea"/>
                <a:sym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定义了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构造赋值给左边</a:t>
            </a:r>
            <a:r>
              <a:rPr lang="en-US" altLang="zh-CN" sz="1200" b="1" dirty="0">
                <a:latin typeface="+mn-ea"/>
                <a:sym typeface="+mn-ea"/>
              </a:rPr>
              <a:t>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有多个运算符</a:t>
            </a:r>
            <a:r>
              <a:rPr lang="en-US" altLang="zh-CN" sz="1200" b="1" dirty="0">
                <a:latin typeface="+mn-ea"/>
              </a:rPr>
              <a:t> "+" </a:t>
            </a:r>
            <a:r>
              <a:rPr lang="zh-CN" altLang="en-US" sz="1200" b="1" dirty="0">
                <a:latin typeface="+mn-ea"/>
              </a:rPr>
              <a:t>与这些操作数匹配</a:t>
            </a:r>
            <a:r>
              <a:rPr lang="en-US" altLang="zh-CN" sz="1200" b="1" dirty="0">
                <a:latin typeface="+mn-ea"/>
              </a:rPr>
              <a:t>: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__ambiguous overload for ‘operator+’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___c1+2.5</a:t>
            </a:r>
            <a:r>
              <a:rPr lang="zh-CN" altLang="en-US" sz="1200" b="1" dirty="0">
                <a:latin typeface="+mn-ea"/>
              </a:rPr>
              <a:t>可以被理解为一个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或者一个复数，存在二义性</a:t>
            </a:r>
            <a:r>
              <a:rPr lang="en-US" altLang="zh-CN" sz="1200" b="1" dirty="0">
                <a:latin typeface="+mn-ea"/>
              </a:rPr>
              <a:t>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zh-CN" altLang="en-US" sz="1200" b="1" dirty="0">
                <a:latin typeface="+mn-ea"/>
              </a:rPr>
              <a:t>有多个运算符</a:t>
            </a:r>
            <a:r>
              <a:rPr lang="en-US" altLang="zh-CN" sz="1200" b="1" dirty="0">
                <a:latin typeface="+mn-ea"/>
              </a:rPr>
              <a:t> "+" </a:t>
            </a:r>
            <a:r>
              <a:rPr lang="zh-CN" altLang="en-US" sz="1200" b="1" dirty="0">
                <a:latin typeface="+mn-ea"/>
              </a:rPr>
              <a:t>与这些操作数匹配</a:t>
            </a:r>
            <a:r>
              <a:rPr lang="en-US" altLang="zh-CN" sz="1200" b="1" dirty="0">
                <a:latin typeface="+mn-ea"/>
              </a:rPr>
              <a:t>: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_____ambiguous overload for ‘operator+’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dirty="0">
                <a:latin typeface="+mn-ea"/>
                <a:sym typeface="+mn-ea"/>
              </a:rPr>
              <a:t>c1+2.5</a:t>
            </a:r>
            <a:r>
              <a:rPr lang="zh-CN" altLang="en-US" sz="1200" b="1" dirty="0">
                <a:latin typeface="+mn-ea"/>
                <a:sym typeface="+mn-ea"/>
              </a:rPr>
              <a:t>可以被理解为一个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或者一个复数，存在二义性</a:t>
            </a:r>
            <a:r>
              <a:rPr lang="en-US" altLang="zh-CN" sz="1200" b="1" dirty="0">
                <a:latin typeface="+mn-ea"/>
              </a:rPr>
              <a:t>_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8.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有转换构造函数、有类型转换函数、成员方式实现复数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5.5+4i___</a:t>
            </a:r>
            <a:r>
              <a:rPr lang="zh-CN" altLang="zh-CN" sz="1200" b="1" dirty="0">
                <a:latin typeface="+mn-ea"/>
                <a:sym typeface="+mn-ea"/>
              </a:rPr>
              <a:t>，能得到此结果的原因：</a:t>
            </a:r>
            <a:r>
              <a:rPr lang="en-US" altLang="zh-CN" sz="1200" b="1" dirty="0">
                <a:latin typeface="+mn-ea"/>
                <a:sym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定义了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的构造函数，因此右边运算得</a:t>
            </a:r>
            <a:r>
              <a:rPr lang="en-US" altLang="zh-CN" sz="1200" b="1" dirty="0">
                <a:latin typeface="+mn-ea"/>
                <a:sym typeface="+mn-ea"/>
              </a:rPr>
              <a:t>complex</a:t>
            </a:r>
            <a:r>
              <a:rPr lang="zh-CN" altLang="en-US" sz="1200" b="1" dirty="0">
                <a:latin typeface="+mn-ea"/>
                <a:sym typeface="+mn-ea"/>
              </a:rPr>
              <a:t>构造赋值给左边</a:t>
            </a:r>
            <a:r>
              <a:rPr lang="en-US" altLang="zh-CN" sz="1200" b="1" dirty="0">
                <a:latin typeface="+mn-ea"/>
                <a:sym typeface="+mn-ea"/>
              </a:rPr>
              <a:t>____________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latin typeface="+mn-ea"/>
              </a:rPr>
              <a:t>______________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zh-CN" altLang="en-US" sz="1200" b="1" dirty="0">
                <a:latin typeface="+mn-ea"/>
              </a:rPr>
              <a:t>有多个运算符</a:t>
            </a:r>
            <a:r>
              <a:rPr lang="en-US" altLang="zh-CN" sz="1200" b="1" dirty="0">
                <a:latin typeface="+mn-ea"/>
              </a:rPr>
              <a:t> "+" </a:t>
            </a:r>
            <a:r>
              <a:rPr lang="zh-CN" altLang="en-US" sz="1200" b="1" dirty="0">
                <a:latin typeface="+mn-ea"/>
              </a:rPr>
              <a:t>与这些操作数匹配</a:t>
            </a:r>
            <a:r>
              <a:rPr lang="en-US" altLang="zh-CN" sz="1200" b="1" dirty="0">
                <a:latin typeface="+mn-ea"/>
              </a:rPr>
              <a:t>: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dirty="0">
                <a:latin typeface="+mn-ea"/>
                <a:sym typeface="+mn-ea"/>
              </a:rPr>
              <a:t>ambiguous overload for ‘operator+’ (operand types are ‘Complex’ and ‘double’)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c1+2.5</a:t>
            </a:r>
            <a:r>
              <a:rPr lang="zh-CN" altLang="en-US" sz="1200" b="1" dirty="0">
                <a:latin typeface="+mn-ea"/>
                <a:sym typeface="+mn-ea"/>
              </a:rPr>
              <a:t>可以被理解为一个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或者一个复数，存在二义性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dirty="0">
                <a:latin typeface="+mn-ea"/>
                <a:sym typeface="+mn-ea"/>
              </a:rPr>
              <a:t>5.5+0i___</a:t>
            </a:r>
            <a:r>
              <a:rPr lang="zh-CN" altLang="zh-CN" sz="1200" b="1" dirty="0">
                <a:latin typeface="+mn-ea"/>
                <a:sym typeface="+mn-ea"/>
              </a:rPr>
              <a:t>，能得到此结果的原因：</a:t>
            </a:r>
            <a:r>
              <a:rPr lang="en-US" altLang="zh-CN" sz="1200" b="1" dirty="0">
                <a:latin typeface="+mn-ea"/>
                <a:sym typeface="+mn-ea"/>
              </a:rPr>
              <a:t>__</a:t>
            </a:r>
            <a:r>
              <a:rPr lang="zh-CN" altLang="en-US" sz="1200" b="1" dirty="0">
                <a:latin typeface="+mn-ea"/>
                <a:sym typeface="+mn-ea"/>
              </a:rPr>
              <a:t>定义了复数转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的函数，右边被解释为</a:t>
            </a:r>
            <a:r>
              <a:rPr lang="en-US" altLang="zh-CN" sz="1200" b="1" dirty="0">
                <a:latin typeface="+mn-ea"/>
                <a:sym typeface="+mn-ea"/>
              </a:rPr>
              <a:t>double</a:t>
            </a:r>
            <a:r>
              <a:rPr lang="zh-CN" altLang="en-US" sz="1200" b="1" dirty="0">
                <a:latin typeface="+mn-ea"/>
                <a:sym typeface="+mn-ea"/>
              </a:rPr>
              <a:t>转化构造给了左边</a:t>
            </a:r>
            <a:r>
              <a:rPr lang="en-US" altLang="zh-CN" sz="1200" b="1" dirty="0">
                <a:latin typeface="+mn-ea"/>
                <a:sym typeface="+mn-ea"/>
              </a:rPr>
              <a:t>____________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latin typeface="+mn-ea"/>
              </a:rPr>
              <a:t>________________________________</a:t>
            </a:r>
            <a:endParaRPr lang="zh-CN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9.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有转换构造函数、有类型转换函数、成员方式实现复数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、另有</a:t>
            </a: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double+Complex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zh-CN" altLang="en-US" sz="1600" b="1" dirty="0">
                <a:latin typeface="+mn-ea"/>
              </a:rPr>
              <a:t>仅讨论语句</a:t>
            </a:r>
            <a:r>
              <a:rPr lang="en-US" altLang="zh-CN" sz="1600" b="1" dirty="0">
                <a:latin typeface="+mn-ea"/>
              </a:rPr>
              <a:t>c3 = 2.5 + c1</a:t>
            </a:r>
            <a:r>
              <a:rPr lang="zh-CN" altLang="en-US" sz="1600" b="1" dirty="0">
                <a:latin typeface="+mn-ea"/>
              </a:rPr>
              <a:t>，回答下列问题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>
                <a:latin typeface="+mn-ea"/>
              </a:rPr>
              <a:t>、为什么</a:t>
            </a:r>
            <a:r>
              <a:rPr lang="zh-CN" altLang="en-US" sz="1600" b="1" dirty="0">
                <a:latin typeface="+mn-ea"/>
              </a:rPr>
              <a:t>编译不错？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因为正确重载了复数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，有</a:t>
            </a:r>
            <a:r>
              <a:rPr lang="en-US" altLang="zh-CN" sz="1600" b="1" dirty="0">
                <a:latin typeface="+mn-ea"/>
              </a:rPr>
              <a:t>double+Complex</a:t>
            </a:r>
            <a:r>
              <a:rPr lang="zh-CN" altLang="en-US" sz="1600" b="1" dirty="0">
                <a:latin typeface="+mn-ea"/>
              </a:rPr>
              <a:t>函数存在，能直接进行运行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、运行结果是多少？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5.5+4i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、为什么和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的结果不同？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是因为没有定义</a:t>
            </a:r>
            <a:r>
              <a:rPr lang="en-US" altLang="zh-CN" sz="1600" b="1" dirty="0">
                <a:latin typeface="+mn-ea"/>
              </a:rPr>
              <a:t>double+Compelx</a:t>
            </a:r>
            <a:r>
              <a:rPr lang="zh-CN" altLang="en-US" sz="1600" b="1" dirty="0">
                <a:latin typeface="+mn-ea"/>
              </a:rPr>
              <a:t>的函数，但是也无法理解为复数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，所以通过类型转化函数将</a:t>
            </a:r>
            <a:r>
              <a:rPr lang="en-US" altLang="zh-CN" sz="1600" b="1" dirty="0">
                <a:latin typeface="+mn-ea"/>
              </a:rPr>
              <a:t>c1</a:t>
            </a:r>
            <a:r>
              <a:rPr lang="zh-CN" altLang="en-US" sz="1600" b="1" dirty="0">
                <a:latin typeface="+mn-ea"/>
              </a:rPr>
              <a:t>转为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，计算得</a:t>
            </a:r>
            <a:r>
              <a:rPr lang="en-US" altLang="zh-CN" sz="1600" b="1" dirty="0">
                <a:latin typeface="+mn-ea"/>
              </a:rPr>
              <a:t>5.5</a:t>
            </a:r>
            <a:r>
              <a:rPr lang="zh-CN" altLang="en-US" sz="1600" b="1" dirty="0">
                <a:latin typeface="+mn-ea"/>
              </a:rPr>
              <a:t>时再转化构造为</a:t>
            </a:r>
            <a:r>
              <a:rPr lang="en-US" altLang="zh-CN" sz="1600" b="1" dirty="0">
                <a:latin typeface="+mn-ea"/>
              </a:rPr>
              <a:t>5.5+0i</a:t>
            </a:r>
            <a:r>
              <a:rPr lang="zh-CN" altLang="en-US" sz="1600" b="1" dirty="0">
                <a:latin typeface="+mn-ea"/>
              </a:rPr>
              <a:t>赋值。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10.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单独讨论有类型转换的情况下，</a:t>
            </a: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重载的输出结果与期望值不同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zh-CN" altLang="en-US" sz="1600" b="1" dirty="0">
                <a:latin typeface="+mn-ea"/>
              </a:rPr>
              <a:t>目前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函数中第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个输出语句与期望值不同，原因是：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发生了隐式转换为</a:t>
            </a:r>
            <a:r>
              <a:rPr lang="en-US" altLang="zh-CN" sz="1600" b="1" dirty="0">
                <a:latin typeface="+mn-ea"/>
              </a:rPr>
              <a:t>double___</a:t>
            </a:r>
            <a:endParaRPr lang="en-US" altLang="zh-CN" sz="1600" b="1" dirty="0">
              <a:latin typeface="+mn-ea"/>
            </a:endParaRPr>
          </a:p>
          <a:p>
            <a:pPr lvl="0" algn="l"/>
            <a:endParaRPr lang="en-US" altLang="zh-CN" sz="1600" b="1" dirty="0"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仅允许改动两行，使程序输出与期望值相同：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改动第</a:t>
            </a:r>
            <a:r>
              <a:rPr lang="en-US" altLang="zh-CN" sz="1600" b="1" dirty="0">
                <a:latin typeface="+mn-ea"/>
              </a:rPr>
              <a:t>___33___</a:t>
            </a:r>
            <a:r>
              <a:rPr lang="zh-CN" altLang="en-US" sz="1600" b="1" dirty="0">
                <a:latin typeface="+mn-ea"/>
              </a:rPr>
              <a:t>行，原内容：</a:t>
            </a:r>
            <a:r>
              <a:rPr lang="en-US" altLang="zh-CN" sz="1600" b="1" dirty="0">
                <a:latin typeface="+mn-ea"/>
              </a:rPr>
              <a:t>___friend ostream&amp; operator&lt;&lt;(ostream&amp; out,Complex&amp; c);_</a:t>
            </a:r>
            <a:endParaRPr lang="en-US" altLang="zh-CN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                    </a:t>
            </a:r>
            <a:r>
              <a:rPr lang="zh-CN" altLang="en-US" sz="1600" b="1" dirty="0">
                <a:latin typeface="+mn-ea"/>
              </a:rPr>
              <a:t>新内容：</a:t>
            </a:r>
            <a:r>
              <a:rPr lang="en-US" altLang="zh-CN" sz="1600" b="1" dirty="0">
                <a:latin typeface="+mn-ea"/>
              </a:rPr>
              <a:t>___friend ostream&amp; operator&lt;&lt;(ostream&amp; out, const Complex&amp; c);___</a:t>
            </a:r>
            <a:endParaRPr lang="en-US" altLang="zh-CN" sz="1600" b="1" dirty="0"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改动第</a:t>
            </a:r>
            <a:r>
              <a:rPr lang="en-US" altLang="zh-CN" sz="1600" b="1" dirty="0">
                <a:latin typeface="+mn-ea"/>
              </a:rPr>
              <a:t>___36_____</a:t>
            </a:r>
            <a:r>
              <a:rPr lang="zh-CN" altLang="en-US" sz="1600" b="1" dirty="0">
                <a:latin typeface="+mn-ea"/>
              </a:rPr>
              <a:t>行，原内容：</a:t>
            </a:r>
            <a:r>
              <a:rPr lang="en-US" altLang="zh-CN" sz="1600" b="1" dirty="0">
                <a:latin typeface="+mn-ea"/>
              </a:rPr>
              <a:t>__ostream&amp; operator&lt;&lt;(ostream&amp; out, Complex&amp; c)___</a:t>
            </a:r>
            <a:endParaRPr lang="en-US" altLang="zh-CN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                    </a:t>
            </a:r>
            <a:r>
              <a:rPr lang="zh-CN" altLang="en-US" sz="1600" b="1" dirty="0">
                <a:latin typeface="+mn-ea"/>
              </a:rPr>
              <a:t>新内容：</a:t>
            </a:r>
            <a:r>
              <a:rPr lang="en-US" altLang="zh-CN" sz="1600" b="1" dirty="0">
                <a:latin typeface="+mn-ea"/>
              </a:rPr>
              <a:t>__ostream&amp; operator&lt;&lt;(ostream&amp; out, const Complex&amp; c)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9063</Words>
  <Application>WPS 演示</Application>
  <PresentationFormat>宽屏</PresentationFormat>
  <Paragraphs>265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寅时请叫醒我.</cp:lastModifiedBy>
  <cp:revision>236</cp:revision>
  <dcterms:created xsi:type="dcterms:W3CDTF">2020-08-13T13:39:00Z</dcterms:created>
  <dcterms:modified xsi:type="dcterms:W3CDTF">2024-11-23T12:03:53Z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8091FC3A34734BAB9CE52316892EDC4E_13</vt:lpwstr>
  </property>
  <property fmtid="{D5CDD505-2E9C-101B-9397-08002B2CF9AE}" pid="3" name="KSOProductBuildVer">
    <vt:lpwstr>2052-12.1.0.18912</vt:lpwstr>
  </property>
</Properties>
</file>