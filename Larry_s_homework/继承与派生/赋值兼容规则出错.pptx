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838" r:id="rId3"/>
    <p:sldId id="839" r:id="rId4"/>
    <p:sldId id="841" r:id="rId5"/>
    <p:sldId id="844" r:id="rId6"/>
    <p:sldId id="845" r:id="rId7"/>
    <p:sldId id="84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2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F70F7F-BE43-4A8B-A1A7-C9743CA3AD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67A556-CD7F-4282-A801-91BB0424DFC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71AAC3-E1CF-43C0-B71B-89720A73C0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FFF43-CBE6-4A7F-B1EF-DF6F550F691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AFF3C-36C8-4D4A-97AC-FE8408D9023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E2A3C-C663-4861-8DD7-8E4A7DB9719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837D0-5604-4489-852A-B7F5ECB6A9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A35EC8-801C-4779-A815-950E7AF273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B6DF2-D4C6-44B5-980B-436D58DBD7F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0E30D-6F2E-407D-BF81-F9815A518C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5E2E0-709F-4ED7-8411-7FDA611BDE6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6E7D1CD2-4D70-4106-8549-A852E5E019D8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§17.</a:t>
            </a:r>
            <a:r>
              <a:rPr lang="zh-CN" altLang="en-US" sz="2800" b="1" dirty="0">
                <a:latin typeface="+mn-ea"/>
              </a:rPr>
              <a:t>继承与派生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画内存图并分析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要求：分析下面的程序为什么在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下运行会出错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main</a:t>
            </a:r>
            <a:r>
              <a:rPr lang="zh-CN" altLang="en-US" sz="1600" b="1" dirty="0">
                <a:latin typeface="+mn-ea"/>
              </a:rPr>
              <a:t>函数中红色的三句，每句均要画出当前的内存图（为方便阅读，一句可以多页），分析为什么会出错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可参考第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模块 </a:t>
            </a:r>
            <a:r>
              <a:rPr lang="en-US" altLang="zh-CN" sz="1600" b="1" dirty="0">
                <a:latin typeface="+mn-ea"/>
              </a:rPr>
              <a:t>P.90-92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P.113-115</a:t>
            </a:r>
            <a:r>
              <a:rPr lang="zh-CN" altLang="en-US" sz="1600" b="1" dirty="0">
                <a:latin typeface="+mn-ea"/>
              </a:rPr>
              <a:t>，第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模块 </a:t>
            </a:r>
            <a:r>
              <a:rPr lang="en-US" altLang="zh-CN" sz="1600" b="1" dirty="0">
                <a:latin typeface="+mn-ea"/>
              </a:rPr>
              <a:t>P.8-P.14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不允许手写、手写后贴图，转换为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后在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文档作业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中提交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2024.12.19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前）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894668" y="981843"/>
            <a:ext cx="4729445" cy="48943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200" b="1" dirty="0">
                <a:latin typeface="+mn-ea"/>
              </a:rPr>
              <a:t>#include &lt;iostream&gt;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using namespace std;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class A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private: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char* s;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public: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a;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A() { s = new char[20]; 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~A()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"A</a:t>
            </a:r>
            <a:r>
              <a:rPr lang="zh-CN" altLang="en-US" sz="1200" b="1" dirty="0">
                <a:latin typeface="+mn-ea"/>
              </a:rPr>
              <a:t>析构</a:t>
            </a:r>
            <a:r>
              <a:rPr lang="en-US" altLang="zh-CN" sz="1200" b="1" dirty="0">
                <a:latin typeface="+mn-ea"/>
              </a:rPr>
              <a:t>"</a:t>
            </a:r>
            <a:r>
              <a:rPr lang="zh-CN" altLang="en-US" sz="1200" b="1" dirty="0">
                <a:latin typeface="+mn-ea"/>
              </a:rPr>
              <a:t> </a:t>
            </a:r>
            <a:r>
              <a:rPr lang="en-US" altLang="zh-CN" sz="1200" b="1" dirty="0">
                <a:latin typeface="+mn-ea"/>
              </a:rPr>
              <a:t>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delete s;</a:t>
            </a:r>
            <a:endParaRPr lang="en-US" altLang="zh-CN" sz="1200" b="1" dirty="0">
              <a:latin typeface="+mn-ea"/>
            </a:endParaRPr>
          </a:p>
          <a:p>
            <a:r>
              <a:rPr lang="zh-CN" altLang="en-US" sz="1200" b="1" dirty="0">
                <a:latin typeface="+mn-ea"/>
              </a:rPr>
              <a:t>    </a:t>
            </a:r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class B :public A 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public: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int b;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~B() {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"B</a:t>
            </a:r>
            <a:r>
              <a:rPr lang="zh-CN" altLang="en-US" sz="1200" b="1" dirty="0">
                <a:latin typeface="+mn-ea"/>
              </a:rPr>
              <a:t>析构</a:t>
            </a:r>
            <a:r>
              <a:rPr lang="en-US" altLang="zh-CN" sz="1200" b="1" dirty="0">
                <a:latin typeface="+mn-ea"/>
              </a:rPr>
              <a:t>"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 }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{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B </a:t>
            </a:r>
            <a:r>
              <a:rPr lang="en-US" altLang="zh-CN" sz="1200" b="1" dirty="0" err="1">
                <a:latin typeface="+mn-ea"/>
              </a:rPr>
              <a:t>b</a:t>
            </a:r>
            <a:r>
              <a:rPr lang="en-US" altLang="zh-CN" sz="1200" b="1" dirty="0">
                <a:latin typeface="+mn-ea"/>
              </a:rPr>
              <a:t>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</a:t>
            </a:r>
            <a:r>
              <a:rPr lang="en-US" altLang="zh-CN" sz="1200" b="1" dirty="0" err="1">
                <a:solidFill>
                  <a:srgbClr val="FF0000"/>
                </a:solidFill>
                <a:latin typeface="+mn-ea"/>
              </a:rPr>
              <a:t>b.a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= 15;</a:t>
            </a:r>
            <a:endParaRPr lang="en-US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 a1(b);  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复制构造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A a2;</a:t>
            </a:r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   a2 = b;    //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赋值</a:t>
            </a:r>
            <a:endParaRPr lang="zh-CN" altLang="en-US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}</a:t>
            </a:r>
            <a:endParaRPr lang="en-US" altLang="zh-CN" sz="1200" b="1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72110" y="21971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>
                <a:latin typeface="+mn-ea"/>
                <a:sym typeface="+mn-ea"/>
              </a:rPr>
              <a:t>B </a:t>
            </a:r>
            <a:r>
              <a:rPr lang="en-US" altLang="zh-CN" b="1" dirty="0" err="1">
                <a:latin typeface="+mn-ea"/>
                <a:sym typeface="+mn-ea"/>
              </a:rPr>
              <a:t>b</a:t>
            </a:r>
            <a:r>
              <a:rPr lang="en-US" altLang="zh-CN" b="1" dirty="0">
                <a:latin typeface="+mn-ea"/>
                <a:sym typeface="+mn-ea"/>
              </a:rPr>
              <a:t>;</a:t>
            </a:r>
            <a:endParaRPr lang="en-US" altLang="zh-CN" b="1" dirty="0">
              <a:latin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b="1" dirty="0">
                <a:latin typeface="+mn-ea"/>
                <a:sym typeface="+mn-ea"/>
              </a:rPr>
              <a:t>b.a = 15;</a:t>
            </a:r>
            <a:endParaRPr lang="en-US" altLang="zh-CN" b="1" dirty="0">
              <a:latin typeface="+mn-ea"/>
            </a:endParaRPr>
          </a:p>
          <a:p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535420" y="694055"/>
            <a:ext cx="37445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创建一个</a:t>
            </a:r>
            <a:r>
              <a:rPr lang="en-US" altLang="zh-CN"/>
              <a:t> B </a:t>
            </a:r>
            <a:r>
              <a:rPr lang="zh-CN" altLang="en-US"/>
              <a:t>类的对象</a:t>
            </a:r>
            <a:r>
              <a:rPr lang="en-US" altLang="zh-CN"/>
              <a:t> b</a:t>
            </a:r>
            <a:r>
              <a:rPr lang="zh-CN" altLang="en-US"/>
              <a:t>，调用</a:t>
            </a:r>
            <a:r>
              <a:rPr lang="en-US" altLang="zh-CN"/>
              <a:t> B </a:t>
            </a:r>
            <a:r>
              <a:rPr lang="zh-CN" altLang="en-US"/>
              <a:t>的构造函数，</a:t>
            </a:r>
            <a:r>
              <a:rPr lang="en-US" altLang="zh-CN"/>
              <a:t>A </a:t>
            </a:r>
            <a:r>
              <a:rPr lang="zh-CN" altLang="en-US"/>
              <a:t>部分的构造函数也会被调用，为</a:t>
            </a:r>
            <a:r>
              <a:rPr lang="en-US" altLang="zh-CN"/>
              <a:t> s </a:t>
            </a:r>
            <a:r>
              <a:rPr lang="zh-CN" altLang="en-US"/>
              <a:t>分配内存。</a:t>
            </a:r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525145" y="1723390"/>
            <a:ext cx="2061845" cy="1556385"/>
            <a:chOff x="1386" y="2714"/>
            <a:chExt cx="3247" cy="2451"/>
          </a:xfrm>
        </p:grpSpPr>
        <p:sp>
          <p:nvSpPr>
            <p:cNvPr id="7" name="矩形 6"/>
            <p:cNvSpPr/>
            <p:nvPr/>
          </p:nvSpPr>
          <p:spPr>
            <a:xfrm>
              <a:off x="1386" y="2714"/>
              <a:ext cx="1327" cy="245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2000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2012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2713" y="2714"/>
              <a:ext cx="1920" cy="2451"/>
              <a:chOff x="2713" y="2714"/>
              <a:chExt cx="1920" cy="2451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713" y="2714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char*s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2713" y="3531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a=15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2713" y="4348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b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cxnSp>
        <p:nvCxnSpPr>
          <p:cNvPr id="13" name="直接箭头连接符 12"/>
          <p:cNvCxnSpPr/>
          <p:nvPr/>
        </p:nvCxnSpPr>
        <p:spPr>
          <a:xfrm flipV="1">
            <a:off x="2788285" y="1937385"/>
            <a:ext cx="659765" cy="101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5" name="矩形 14"/>
          <p:cNvSpPr/>
          <p:nvPr/>
        </p:nvSpPr>
        <p:spPr>
          <a:xfrm>
            <a:off x="3978910" y="1724025"/>
            <a:ext cx="1055370" cy="15557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10000</a:t>
            </a: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10020</a:t>
            </a: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747895" y="4091940"/>
            <a:ext cx="3856355" cy="5187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调用</a:t>
            </a:r>
            <a:r>
              <a:rPr lang="en-US" altLang="zh-CN" sz="2400" b="1" dirty="0">
                <a:latin typeface="+mn-ea"/>
                <a:sym typeface="+mn-ea"/>
              </a:rPr>
              <a:t>s = new char[20];</a:t>
            </a: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72110" y="2197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b="1" dirty="0">
                <a:latin typeface="+mn-ea"/>
                <a:sym typeface="+mn-ea"/>
              </a:rPr>
              <a:t>A a1(b);   //复制构造</a:t>
            </a:r>
            <a:endParaRPr lang="en-US" altLang="zh-CN" b="1" dirty="0"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65140" y="369570"/>
            <a:ext cx="4535170" cy="1415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使用</a:t>
            </a:r>
            <a:r>
              <a:rPr lang="en-US" altLang="zh-CN"/>
              <a:t> b </a:t>
            </a:r>
            <a:r>
              <a:rPr lang="zh-CN" altLang="en-US"/>
              <a:t>初始化</a:t>
            </a:r>
            <a:r>
              <a:rPr lang="en-US" altLang="zh-CN"/>
              <a:t> a1</a:t>
            </a:r>
            <a:r>
              <a:rPr lang="zh-CN" altLang="en-US"/>
              <a:t>，调用</a:t>
            </a:r>
            <a:r>
              <a:rPr lang="en-US" altLang="zh-CN"/>
              <a:t> A </a:t>
            </a:r>
            <a:r>
              <a:rPr lang="zh-CN" altLang="en-US"/>
              <a:t>的复制构造函数。由于</a:t>
            </a:r>
            <a:r>
              <a:rPr lang="en-US" altLang="zh-CN"/>
              <a:t> A </a:t>
            </a:r>
            <a:r>
              <a:rPr lang="zh-CN" altLang="en-US"/>
              <a:t>没有定义复制构造函数，系统会生成一个默认的复制构造函数，进行浅拷贝。这意味着</a:t>
            </a:r>
            <a:r>
              <a:rPr lang="en-US" altLang="zh-CN"/>
              <a:t> a1.s </a:t>
            </a:r>
            <a:r>
              <a:rPr lang="zh-CN" altLang="en-US"/>
              <a:t>和</a:t>
            </a:r>
            <a:r>
              <a:rPr lang="en-US" altLang="zh-CN"/>
              <a:t> b.s </a:t>
            </a:r>
            <a:r>
              <a:rPr lang="zh-CN" altLang="en-US"/>
              <a:t>会指向同一块内存。</a:t>
            </a:r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910590" y="4705350"/>
            <a:ext cx="2061845" cy="1556385"/>
            <a:chOff x="1386" y="2714"/>
            <a:chExt cx="3247" cy="2451"/>
          </a:xfrm>
        </p:grpSpPr>
        <p:sp>
          <p:nvSpPr>
            <p:cNvPr id="7" name="矩形 6"/>
            <p:cNvSpPr/>
            <p:nvPr/>
          </p:nvSpPr>
          <p:spPr>
            <a:xfrm>
              <a:off x="1386" y="2714"/>
              <a:ext cx="1327" cy="245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2000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2012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2713" y="2714"/>
              <a:ext cx="1920" cy="2451"/>
              <a:chOff x="2713" y="2714"/>
              <a:chExt cx="1920" cy="2451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713" y="2714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char*s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2713" y="3531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a=15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2713" y="4348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b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cxnSp>
        <p:nvCxnSpPr>
          <p:cNvPr id="13" name="直接箭头连接符 12"/>
          <p:cNvCxnSpPr/>
          <p:nvPr/>
        </p:nvCxnSpPr>
        <p:spPr>
          <a:xfrm flipV="1">
            <a:off x="3173730" y="4919345"/>
            <a:ext cx="659765" cy="101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5" name="矩形 14"/>
          <p:cNvSpPr/>
          <p:nvPr/>
        </p:nvSpPr>
        <p:spPr>
          <a:xfrm>
            <a:off x="4364355" y="4705985"/>
            <a:ext cx="1055370" cy="15557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10000</a:t>
            </a: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10020</a:t>
            </a: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186930" y="4705985"/>
            <a:ext cx="2061845" cy="1038225"/>
            <a:chOff x="1386" y="2714"/>
            <a:chExt cx="3247" cy="1635"/>
          </a:xfrm>
        </p:grpSpPr>
        <p:sp>
          <p:nvSpPr>
            <p:cNvPr id="4" name="矩形 3"/>
            <p:cNvSpPr/>
            <p:nvPr/>
          </p:nvSpPr>
          <p:spPr>
            <a:xfrm>
              <a:off x="1386" y="2714"/>
              <a:ext cx="1327" cy="163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a1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3008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2713" y="2714"/>
              <a:ext cx="1920" cy="1634"/>
              <a:chOff x="2713" y="2714"/>
              <a:chExt cx="1920" cy="1634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2713" y="2714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char*s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2713" y="3531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a=15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cxnSp>
        <p:nvCxnSpPr>
          <p:cNvPr id="20" name="直接箭头连接符 19"/>
          <p:cNvCxnSpPr/>
          <p:nvPr/>
        </p:nvCxnSpPr>
        <p:spPr>
          <a:xfrm flipH="1" flipV="1">
            <a:off x="6075680" y="4929505"/>
            <a:ext cx="770255" cy="101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pSp>
        <p:nvGrpSpPr>
          <p:cNvPr id="22" name="组合 21"/>
          <p:cNvGrpSpPr/>
          <p:nvPr/>
        </p:nvGrpSpPr>
        <p:grpSpPr>
          <a:xfrm>
            <a:off x="910590" y="1991995"/>
            <a:ext cx="2061845" cy="1556385"/>
            <a:chOff x="1386" y="2714"/>
            <a:chExt cx="3247" cy="2451"/>
          </a:xfrm>
        </p:grpSpPr>
        <p:sp>
          <p:nvSpPr>
            <p:cNvPr id="23" name="矩形 22"/>
            <p:cNvSpPr/>
            <p:nvPr/>
          </p:nvSpPr>
          <p:spPr>
            <a:xfrm>
              <a:off x="1386" y="2714"/>
              <a:ext cx="1327" cy="245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2000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2012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2713" y="2714"/>
              <a:ext cx="1920" cy="2451"/>
              <a:chOff x="2713" y="2714"/>
              <a:chExt cx="1920" cy="2451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2713" y="2714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char*s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2713" y="3531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a=15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2713" y="4348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b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cxnSp>
        <p:nvCxnSpPr>
          <p:cNvPr id="28" name="直接箭头连接符 27"/>
          <p:cNvCxnSpPr/>
          <p:nvPr/>
        </p:nvCxnSpPr>
        <p:spPr>
          <a:xfrm flipV="1">
            <a:off x="3173730" y="2205990"/>
            <a:ext cx="659765" cy="101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pSp>
        <p:nvGrpSpPr>
          <p:cNvPr id="30" name="组合 29"/>
          <p:cNvGrpSpPr/>
          <p:nvPr/>
        </p:nvGrpSpPr>
        <p:grpSpPr>
          <a:xfrm>
            <a:off x="4123690" y="1992630"/>
            <a:ext cx="2061845" cy="1038225"/>
            <a:chOff x="1386" y="2714"/>
            <a:chExt cx="3247" cy="1635"/>
          </a:xfrm>
        </p:grpSpPr>
        <p:sp>
          <p:nvSpPr>
            <p:cNvPr id="31" name="矩形 30"/>
            <p:cNvSpPr/>
            <p:nvPr/>
          </p:nvSpPr>
          <p:spPr>
            <a:xfrm>
              <a:off x="1386" y="2714"/>
              <a:ext cx="1327" cy="163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a1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3008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2713" y="2714"/>
              <a:ext cx="1920" cy="1634"/>
              <a:chOff x="2713" y="2714"/>
              <a:chExt cx="1920" cy="1634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2713" y="2714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char*s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713" y="3531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a=15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36" name="矩形 35"/>
          <p:cNvSpPr/>
          <p:nvPr/>
        </p:nvSpPr>
        <p:spPr>
          <a:xfrm>
            <a:off x="4966335" y="3014980"/>
            <a:ext cx="1219200" cy="5187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int b</a:t>
            </a: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4847590" y="3066415"/>
            <a:ext cx="1957705" cy="4972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直接连接符 37"/>
          <p:cNvCxnSpPr/>
          <p:nvPr/>
        </p:nvCxnSpPr>
        <p:spPr>
          <a:xfrm flipV="1">
            <a:off x="4731385" y="3066415"/>
            <a:ext cx="2073910" cy="54292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372110" y="2197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b="1" dirty="0">
                <a:latin typeface="+mn-ea"/>
                <a:sym typeface="+mn-ea"/>
              </a:rPr>
              <a:t>A a2;</a:t>
            </a:r>
            <a:endParaRPr lang="en-US" altLang="zh-CN" b="1" dirty="0">
              <a:latin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 b="1" dirty="0">
                <a:latin typeface="+mn-ea"/>
                <a:sym typeface="+mn-ea"/>
              </a:rPr>
              <a:t>a2 = b;    //赋值</a:t>
            </a:r>
            <a:endParaRPr lang="en-US" altLang="zh-CN" b="1" dirty="0"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78500" y="1162685"/>
            <a:ext cx="4535170" cy="725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创建一个</a:t>
            </a:r>
            <a:r>
              <a:rPr lang="en-US" altLang="zh-CN"/>
              <a:t> A </a:t>
            </a:r>
            <a:r>
              <a:rPr lang="zh-CN" altLang="en-US"/>
              <a:t>类的对象</a:t>
            </a:r>
            <a:r>
              <a:rPr lang="en-US" altLang="zh-CN"/>
              <a:t> a2</a:t>
            </a:r>
            <a:r>
              <a:rPr lang="zh-CN" altLang="en-US"/>
              <a:t>，调用</a:t>
            </a:r>
            <a:r>
              <a:rPr lang="en-US" altLang="zh-CN"/>
              <a:t> A </a:t>
            </a:r>
            <a:r>
              <a:rPr lang="zh-CN" altLang="en-US"/>
              <a:t>的构造函数，为</a:t>
            </a:r>
            <a:r>
              <a:rPr lang="en-US" altLang="zh-CN"/>
              <a:t> a2.s </a:t>
            </a:r>
            <a:r>
              <a:rPr lang="zh-CN" altLang="en-US"/>
              <a:t>分配内存。</a:t>
            </a:r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421640" y="1369695"/>
            <a:ext cx="2061845" cy="1038225"/>
            <a:chOff x="1386" y="2714"/>
            <a:chExt cx="3247" cy="1635"/>
          </a:xfrm>
        </p:grpSpPr>
        <p:sp>
          <p:nvSpPr>
            <p:cNvPr id="31" name="矩形 30"/>
            <p:cNvSpPr/>
            <p:nvPr/>
          </p:nvSpPr>
          <p:spPr>
            <a:xfrm>
              <a:off x="1386" y="2714"/>
              <a:ext cx="1327" cy="163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4000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a2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4008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2713" y="2714"/>
              <a:ext cx="1920" cy="1634"/>
              <a:chOff x="2713" y="2714"/>
              <a:chExt cx="1920" cy="1634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2713" y="2714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char*s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713" y="3531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a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cxnSp>
        <p:nvCxnSpPr>
          <p:cNvPr id="2" name="直接箭头连接符 1"/>
          <p:cNvCxnSpPr/>
          <p:nvPr/>
        </p:nvCxnSpPr>
        <p:spPr>
          <a:xfrm flipV="1">
            <a:off x="2759710" y="1553210"/>
            <a:ext cx="659765" cy="101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6" name="矩形 15"/>
          <p:cNvSpPr/>
          <p:nvPr/>
        </p:nvSpPr>
        <p:spPr>
          <a:xfrm>
            <a:off x="3761105" y="1369695"/>
            <a:ext cx="1055370" cy="15557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20000</a:t>
            </a: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20020</a:t>
            </a: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00735" y="4191635"/>
            <a:ext cx="2061845" cy="1556385"/>
            <a:chOff x="1386" y="2714"/>
            <a:chExt cx="3247" cy="2451"/>
          </a:xfrm>
        </p:grpSpPr>
        <p:sp>
          <p:nvSpPr>
            <p:cNvPr id="21" name="矩形 20"/>
            <p:cNvSpPr/>
            <p:nvPr/>
          </p:nvSpPr>
          <p:spPr>
            <a:xfrm>
              <a:off x="1386" y="2714"/>
              <a:ext cx="1327" cy="245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2000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2012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2713" y="2714"/>
              <a:ext cx="1920" cy="2451"/>
              <a:chOff x="2713" y="2714"/>
              <a:chExt cx="1920" cy="2451"/>
            </a:xfrm>
          </p:grpSpPr>
          <p:sp>
            <p:nvSpPr>
              <p:cNvPr id="35" name="矩形 34"/>
              <p:cNvSpPr/>
              <p:nvPr/>
            </p:nvSpPr>
            <p:spPr>
              <a:xfrm>
                <a:off x="2713" y="2714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char*s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2713" y="3531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a=15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2713" y="4348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b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cxnSp>
        <p:nvCxnSpPr>
          <p:cNvPr id="41" name="直接箭头连接符 40"/>
          <p:cNvCxnSpPr/>
          <p:nvPr/>
        </p:nvCxnSpPr>
        <p:spPr>
          <a:xfrm flipV="1">
            <a:off x="3063875" y="4405630"/>
            <a:ext cx="659765" cy="101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47" name="矩形 46"/>
          <p:cNvSpPr/>
          <p:nvPr/>
        </p:nvSpPr>
        <p:spPr>
          <a:xfrm>
            <a:off x="4856480" y="5214620"/>
            <a:ext cx="1219200" cy="5187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int b</a:t>
            </a: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48" name="直接连接符 47"/>
          <p:cNvCxnSpPr/>
          <p:nvPr/>
        </p:nvCxnSpPr>
        <p:spPr>
          <a:xfrm>
            <a:off x="4737735" y="5266055"/>
            <a:ext cx="1957705" cy="4972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" name="直接连接符 48"/>
          <p:cNvCxnSpPr/>
          <p:nvPr/>
        </p:nvCxnSpPr>
        <p:spPr>
          <a:xfrm flipV="1">
            <a:off x="4621530" y="5266055"/>
            <a:ext cx="2073910" cy="54292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" name="组合 49"/>
          <p:cNvGrpSpPr/>
          <p:nvPr/>
        </p:nvGrpSpPr>
        <p:grpSpPr>
          <a:xfrm>
            <a:off x="4013835" y="4191635"/>
            <a:ext cx="2061845" cy="1038225"/>
            <a:chOff x="1386" y="2714"/>
            <a:chExt cx="3247" cy="1635"/>
          </a:xfrm>
        </p:grpSpPr>
        <p:sp>
          <p:nvSpPr>
            <p:cNvPr id="51" name="矩形 50"/>
            <p:cNvSpPr/>
            <p:nvPr/>
          </p:nvSpPr>
          <p:spPr>
            <a:xfrm>
              <a:off x="1386" y="2714"/>
              <a:ext cx="1327" cy="163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4000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a2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4008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2713" y="2714"/>
              <a:ext cx="1920" cy="1634"/>
              <a:chOff x="2713" y="2714"/>
              <a:chExt cx="1920" cy="1634"/>
            </a:xfrm>
          </p:grpSpPr>
          <p:sp>
            <p:nvSpPr>
              <p:cNvPr id="53" name="矩形 52"/>
              <p:cNvSpPr/>
              <p:nvPr/>
            </p:nvSpPr>
            <p:spPr>
              <a:xfrm>
                <a:off x="2713" y="2714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char*s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2713" y="3531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a=15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cxnSp>
        <p:nvCxnSpPr>
          <p:cNvPr id="60" name="直接箭头连接符 59"/>
          <p:cNvCxnSpPr/>
          <p:nvPr/>
        </p:nvCxnSpPr>
        <p:spPr>
          <a:xfrm flipV="1">
            <a:off x="6695440" y="4405630"/>
            <a:ext cx="659765" cy="1016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61" name="矩形 60"/>
          <p:cNvSpPr/>
          <p:nvPr/>
        </p:nvSpPr>
        <p:spPr>
          <a:xfrm>
            <a:off x="7974965" y="4253230"/>
            <a:ext cx="1055370" cy="15557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10000</a:t>
            </a: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10020</a:t>
            </a: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" name="组合 11"/>
          <p:cNvGrpSpPr/>
          <p:nvPr/>
        </p:nvGrpSpPr>
        <p:grpSpPr>
          <a:xfrm>
            <a:off x="697865" y="4605020"/>
            <a:ext cx="2061845" cy="1556385"/>
            <a:chOff x="1386" y="2714"/>
            <a:chExt cx="3247" cy="2451"/>
          </a:xfrm>
        </p:grpSpPr>
        <p:sp>
          <p:nvSpPr>
            <p:cNvPr id="7" name="矩形 6"/>
            <p:cNvSpPr/>
            <p:nvPr/>
          </p:nvSpPr>
          <p:spPr>
            <a:xfrm>
              <a:off x="1386" y="2714"/>
              <a:ext cx="1327" cy="245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2000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2012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2713" y="2714"/>
              <a:ext cx="1920" cy="2451"/>
              <a:chOff x="2713" y="2714"/>
              <a:chExt cx="1920" cy="2451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713" y="2714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char*s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2713" y="3531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a=15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2713" y="4348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b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cxnSp>
        <p:nvCxnSpPr>
          <p:cNvPr id="13" name="直接箭头连接符 12"/>
          <p:cNvCxnSpPr/>
          <p:nvPr/>
        </p:nvCxnSpPr>
        <p:spPr>
          <a:xfrm flipV="1">
            <a:off x="3173730" y="3195320"/>
            <a:ext cx="1288415" cy="17341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5" name="矩形 14"/>
          <p:cNvSpPr/>
          <p:nvPr/>
        </p:nvSpPr>
        <p:spPr>
          <a:xfrm>
            <a:off x="4881245" y="2129155"/>
            <a:ext cx="1055370" cy="15557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10000</a:t>
            </a: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10020</a:t>
            </a: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186930" y="4705985"/>
            <a:ext cx="2061845" cy="1038225"/>
            <a:chOff x="1386" y="2714"/>
            <a:chExt cx="3247" cy="1635"/>
          </a:xfrm>
        </p:grpSpPr>
        <p:sp>
          <p:nvSpPr>
            <p:cNvPr id="4" name="矩形 3"/>
            <p:cNvSpPr/>
            <p:nvPr/>
          </p:nvSpPr>
          <p:spPr>
            <a:xfrm>
              <a:off x="1386" y="2714"/>
              <a:ext cx="1327" cy="163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a1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3008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2713" y="2714"/>
              <a:ext cx="1920" cy="1634"/>
              <a:chOff x="2713" y="2714"/>
              <a:chExt cx="1920" cy="1634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2713" y="2714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char*s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2713" y="3531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a=15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cxnSp>
        <p:nvCxnSpPr>
          <p:cNvPr id="20" name="直接箭头连接符 19"/>
          <p:cNvCxnSpPr/>
          <p:nvPr/>
        </p:nvCxnSpPr>
        <p:spPr>
          <a:xfrm flipH="1" flipV="1">
            <a:off x="6095365" y="3296920"/>
            <a:ext cx="750570" cy="16427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pSp>
        <p:nvGrpSpPr>
          <p:cNvPr id="30" name="组合 29"/>
          <p:cNvGrpSpPr/>
          <p:nvPr/>
        </p:nvGrpSpPr>
        <p:grpSpPr>
          <a:xfrm>
            <a:off x="421640" y="1369695"/>
            <a:ext cx="2061845" cy="1038225"/>
            <a:chOff x="1386" y="2714"/>
            <a:chExt cx="3247" cy="1635"/>
          </a:xfrm>
        </p:grpSpPr>
        <p:sp>
          <p:nvSpPr>
            <p:cNvPr id="31" name="矩形 30"/>
            <p:cNvSpPr/>
            <p:nvPr/>
          </p:nvSpPr>
          <p:spPr>
            <a:xfrm>
              <a:off x="1386" y="2714"/>
              <a:ext cx="1327" cy="163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4000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a2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4008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2713" y="2714"/>
              <a:ext cx="1920" cy="1634"/>
              <a:chOff x="2713" y="2714"/>
              <a:chExt cx="1920" cy="1634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2713" y="2714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char*s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713" y="3531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a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cxnSp>
        <p:nvCxnSpPr>
          <p:cNvPr id="2" name="直接箭头连接符 1"/>
          <p:cNvCxnSpPr/>
          <p:nvPr/>
        </p:nvCxnSpPr>
        <p:spPr>
          <a:xfrm>
            <a:off x="2759710" y="1563370"/>
            <a:ext cx="1682115" cy="11042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1" name="文本框 20"/>
          <p:cNvSpPr txBox="1"/>
          <p:nvPr/>
        </p:nvSpPr>
        <p:spPr>
          <a:xfrm>
            <a:off x="6156325" y="872490"/>
            <a:ext cx="3610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析构函数：当</a:t>
            </a:r>
            <a:r>
              <a:rPr lang="en-US" altLang="zh-CN"/>
              <a:t> main </a:t>
            </a:r>
            <a:r>
              <a:rPr lang="zh-CN" altLang="en-US"/>
              <a:t>函数结束时，</a:t>
            </a:r>
            <a:r>
              <a:rPr lang="en-US" altLang="zh-CN"/>
              <a:t>a1</a:t>
            </a:r>
            <a:r>
              <a:rPr lang="zh-CN" altLang="en-US"/>
              <a:t>、</a:t>
            </a:r>
            <a:r>
              <a:rPr lang="en-US" altLang="zh-CN"/>
              <a:t>a2 </a:t>
            </a:r>
            <a:r>
              <a:rPr lang="zh-CN" altLang="en-US"/>
              <a:t>和</a:t>
            </a:r>
            <a:r>
              <a:rPr lang="en-US" altLang="zh-CN"/>
              <a:t> b </a:t>
            </a:r>
            <a:r>
              <a:rPr lang="zh-CN" altLang="en-US"/>
              <a:t>的析构函数会被调用。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713855" y="2120265"/>
            <a:ext cx="44018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a1 </a:t>
            </a:r>
            <a:r>
              <a:rPr lang="zh-CN" altLang="en-US"/>
              <a:t>和</a:t>
            </a:r>
            <a:r>
              <a:rPr lang="en-US" altLang="zh-CN"/>
              <a:t> a2 </a:t>
            </a:r>
            <a:r>
              <a:rPr lang="zh-CN" altLang="en-US"/>
              <a:t>的析构函数会尝试释放</a:t>
            </a:r>
            <a:r>
              <a:rPr lang="en-US" altLang="zh-CN"/>
              <a:t> s </a:t>
            </a:r>
            <a:r>
              <a:rPr lang="zh-CN" altLang="en-US"/>
              <a:t>指向的内存，但由于</a:t>
            </a:r>
            <a:r>
              <a:rPr lang="en-US" altLang="zh-CN"/>
              <a:t> a1.s </a:t>
            </a:r>
            <a:r>
              <a:rPr lang="zh-CN" altLang="en-US"/>
              <a:t>和</a:t>
            </a:r>
            <a:r>
              <a:rPr lang="en-US" altLang="zh-CN"/>
              <a:t> a2.s </a:t>
            </a:r>
            <a:r>
              <a:rPr lang="zh-CN" altLang="en-US"/>
              <a:t>都指向了</a:t>
            </a:r>
            <a:r>
              <a:rPr lang="en-US" altLang="zh-CN"/>
              <a:t> b.s </a:t>
            </a:r>
            <a:r>
              <a:rPr lang="zh-CN" altLang="en-US"/>
              <a:t>所指向的内存，会导致同一块内存被释放两次，从而引发运行时错误。</a:t>
            </a:r>
            <a:endParaRPr lang="zh-CN" altLang="en-US"/>
          </a:p>
        </p:txBody>
      </p:sp>
      <p:cxnSp>
        <p:nvCxnSpPr>
          <p:cNvPr id="37" name="直接连接符 36"/>
          <p:cNvCxnSpPr/>
          <p:nvPr/>
        </p:nvCxnSpPr>
        <p:spPr>
          <a:xfrm>
            <a:off x="2954020" y="3562350"/>
            <a:ext cx="1957705" cy="4972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直接连接符 37"/>
          <p:cNvCxnSpPr/>
          <p:nvPr/>
        </p:nvCxnSpPr>
        <p:spPr>
          <a:xfrm flipV="1">
            <a:off x="2837815" y="3562350"/>
            <a:ext cx="2073910" cy="54292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" name="组合 11"/>
          <p:cNvGrpSpPr/>
          <p:nvPr/>
        </p:nvGrpSpPr>
        <p:grpSpPr>
          <a:xfrm>
            <a:off x="697865" y="4605020"/>
            <a:ext cx="2061845" cy="1556385"/>
            <a:chOff x="1386" y="2714"/>
            <a:chExt cx="3247" cy="2451"/>
          </a:xfrm>
        </p:grpSpPr>
        <p:sp>
          <p:nvSpPr>
            <p:cNvPr id="7" name="矩形 6"/>
            <p:cNvSpPr/>
            <p:nvPr/>
          </p:nvSpPr>
          <p:spPr>
            <a:xfrm>
              <a:off x="1386" y="2714"/>
              <a:ext cx="1327" cy="245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2000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2012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2713" y="2714"/>
              <a:ext cx="1920" cy="2451"/>
              <a:chOff x="2713" y="2714"/>
              <a:chExt cx="1920" cy="2451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713" y="2714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char*s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2713" y="3531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a=15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2713" y="4348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b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cxnSp>
        <p:nvCxnSpPr>
          <p:cNvPr id="13" name="直接箭头连接符 12"/>
          <p:cNvCxnSpPr/>
          <p:nvPr/>
        </p:nvCxnSpPr>
        <p:spPr>
          <a:xfrm flipV="1">
            <a:off x="3173730" y="3195320"/>
            <a:ext cx="1288415" cy="17341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5" name="矩形 14"/>
          <p:cNvSpPr/>
          <p:nvPr/>
        </p:nvSpPr>
        <p:spPr>
          <a:xfrm>
            <a:off x="4881245" y="2129155"/>
            <a:ext cx="1055370" cy="15557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accent1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10000</a:t>
            </a: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10020</a:t>
            </a: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186930" y="4705985"/>
            <a:ext cx="2061845" cy="1038225"/>
            <a:chOff x="1386" y="2714"/>
            <a:chExt cx="3247" cy="1635"/>
          </a:xfrm>
        </p:grpSpPr>
        <p:sp>
          <p:nvSpPr>
            <p:cNvPr id="4" name="矩形 3"/>
            <p:cNvSpPr/>
            <p:nvPr/>
          </p:nvSpPr>
          <p:spPr>
            <a:xfrm>
              <a:off x="1386" y="2714"/>
              <a:ext cx="1327" cy="163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a1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3008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2713" y="2714"/>
              <a:ext cx="1920" cy="1634"/>
              <a:chOff x="2713" y="2714"/>
              <a:chExt cx="1920" cy="1634"/>
            </a:xfrm>
          </p:grpSpPr>
          <p:sp>
            <p:nvSpPr>
              <p:cNvPr id="17" name="矩形 16"/>
              <p:cNvSpPr/>
              <p:nvPr/>
            </p:nvSpPr>
            <p:spPr>
              <a:xfrm>
                <a:off x="2713" y="2714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char*s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2713" y="3531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a=15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cxnSp>
        <p:nvCxnSpPr>
          <p:cNvPr id="20" name="直接箭头连接符 19"/>
          <p:cNvCxnSpPr/>
          <p:nvPr/>
        </p:nvCxnSpPr>
        <p:spPr>
          <a:xfrm flipH="1" flipV="1">
            <a:off x="6095365" y="3296920"/>
            <a:ext cx="750570" cy="164274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grpSp>
        <p:nvGrpSpPr>
          <p:cNvPr id="30" name="组合 29"/>
          <p:cNvGrpSpPr/>
          <p:nvPr/>
        </p:nvGrpSpPr>
        <p:grpSpPr>
          <a:xfrm>
            <a:off x="421640" y="1369695"/>
            <a:ext cx="2061845" cy="1038225"/>
            <a:chOff x="1386" y="2714"/>
            <a:chExt cx="3247" cy="1635"/>
          </a:xfrm>
        </p:grpSpPr>
        <p:sp>
          <p:nvSpPr>
            <p:cNvPr id="31" name="矩形 30"/>
            <p:cNvSpPr/>
            <p:nvPr/>
          </p:nvSpPr>
          <p:spPr>
            <a:xfrm>
              <a:off x="1386" y="2714"/>
              <a:ext cx="1327" cy="1635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 cap="flat" cmpd="sng" algn="ctr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4000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a2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4008</a:t>
              </a: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zh-CN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2713" y="2714"/>
              <a:ext cx="1920" cy="1634"/>
              <a:chOff x="2713" y="2714"/>
              <a:chExt cx="1920" cy="1634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2713" y="2714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char*s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713" y="3531"/>
                <a:ext cx="1920" cy="81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kumimoji="1" lang="en-US" altLang="zh-CN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int a</a:t>
                </a:r>
                <a:endParaRPr kumimoji="1" lang="en-US" altLang="zh-CN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cxnSp>
        <p:nvCxnSpPr>
          <p:cNvPr id="2" name="直接箭头连接符 1"/>
          <p:cNvCxnSpPr/>
          <p:nvPr/>
        </p:nvCxnSpPr>
        <p:spPr>
          <a:xfrm>
            <a:off x="2759710" y="1563370"/>
            <a:ext cx="1682115" cy="110426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1" name="文本框 20"/>
          <p:cNvSpPr txBox="1"/>
          <p:nvPr/>
        </p:nvSpPr>
        <p:spPr>
          <a:xfrm>
            <a:off x="6156325" y="872490"/>
            <a:ext cx="3610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析构函数：当</a:t>
            </a:r>
            <a:r>
              <a:rPr lang="en-US" altLang="zh-CN"/>
              <a:t> main </a:t>
            </a:r>
            <a:r>
              <a:rPr lang="zh-CN" altLang="en-US"/>
              <a:t>函数结束时，</a:t>
            </a:r>
            <a:r>
              <a:rPr lang="en-US" altLang="zh-CN"/>
              <a:t>a1</a:t>
            </a:r>
            <a:r>
              <a:rPr lang="zh-CN" altLang="en-US"/>
              <a:t>、</a:t>
            </a:r>
            <a:r>
              <a:rPr lang="en-US" altLang="zh-CN"/>
              <a:t>a2 </a:t>
            </a:r>
            <a:r>
              <a:rPr lang="zh-CN" altLang="en-US"/>
              <a:t>和</a:t>
            </a:r>
            <a:r>
              <a:rPr lang="en-US" altLang="zh-CN"/>
              <a:t> b </a:t>
            </a:r>
            <a:r>
              <a:rPr lang="zh-CN" altLang="en-US"/>
              <a:t>的析构函数会被调用。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713855" y="2120265"/>
            <a:ext cx="44018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a1 </a:t>
            </a:r>
            <a:r>
              <a:rPr lang="zh-CN" altLang="en-US"/>
              <a:t>和</a:t>
            </a:r>
            <a:r>
              <a:rPr lang="en-US" altLang="zh-CN"/>
              <a:t> a2 </a:t>
            </a:r>
            <a:r>
              <a:rPr lang="zh-CN" altLang="en-US"/>
              <a:t>的析构函数会尝试释放</a:t>
            </a:r>
            <a:r>
              <a:rPr lang="en-US" altLang="zh-CN"/>
              <a:t> s </a:t>
            </a:r>
            <a:r>
              <a:rPr lang="zh-CN" altLang="en-US"/>
              <a:t>指向的内存，但由于</a:t>
            </a:r>
            <a:r>
              <a:rPr lang="en-US" altLang="zh-CN"/>
              <a:t> a1.s </a:t>
            </a:r>
            <a:r>
              <a:rPr lang="zh-CN" altLang="en-US"/>
              <a:t>和</a:t>
            </a:r>
            <a:r>
              <a:rPr lang="en-US" altLang="zh-CN"/>
              <a:t> a2.s </a:t>
            </a:r>
            <a:r>
              <a:rPr lang="zh-CN" altLang="en-US"/>
              <a:t>都指向了</a:t>
            </a:r>
            <a:r>
              <a:rPr lang="en-US" altLang="zh-CN"/>
              <a:t> b.s </a:t>
            </a:r>
            <a:r>
              <a:rPr lang="zh-CN" altLang="en-US"/>
              <a:t>所指向的内存，会导致同一块内存被释放两次，从而引发运行时错误。</a:t>
            </a:r>
            <a:endParaRPr lang="zh-CN" altLang="en-US"/>
          </a:p>
        </p:txBody>
      </p:sp>
      <p:cxnSp>
        <p:nvCxnSpPr>
          <p:cNvPr id="37" name="直接连接符 36"/>
          <p:cNvCxnSpPr/>
          <p:nvPr/>
        </p:nvCxnSpPr>
        <p:spPr>
          <a:xfrm>
            <a:off x="2954020" y="3562350"/>
            <a:ext cx="1957705" cy="4972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" name="直接连接符 37"/>
          <p:cNvCxnSpPr/>
          <p:nvPr/>
        </p:nvCxnSpPr>
        <p:spPr>
          <a:xfrm flipV="1">
            <a:off x="2837815" y="3562350"/>
            <a:ext cx="2073910" cy="54292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" name="直接连接符 4"/>
          <p:cNvCxnSpPr/>
          <p:nvPr/>
        </p:nvCxnSpPr>
        <p:spPr>
          <a:xfrm>
            <a:off x="5704840" y="3740785"/>
            <a:ext cx="1957705" cy="49720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" name="直接连接符 5"/>
          <p:cNvCxnSpPr/>
          <p:nvPr/>
        </p:nvCxnSpPr>
        <p:spPr>
          <a:xfrm flipV="1">
            <a:off x="5588635" y="3740785"/>
            <a:ext cx="2073910" cy="54292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1419</Words>
  <Application>WPS 演示</Application>
  <PresentationFormat>宽屏</PresentationFormat>
  <Paragraphs>259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寅时请叫醒我.</cp:lastModifiedBy>
  <cp:revision>39</cp:revision>
  <dcterms:created xsi:type="dcterms:W3CDTF">2020-08-13T13:39:00Z</dcterms:created>
  <dcterms:modified xsi:type="dcterms:W3CDTF">2024-12-18T03:02:20Z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A8802F18326E42629702F0D64149F0AF_13</vt:lpwstr>
  </property>
  <property fmtid="{D5CDD505-2E9C-101B-9397-08002B2CF9AE}" pid="3" name="KSOProductBuildVer">
    <vt:lpwstr>2052-12.1.0.19302</vt:lpwstr>
  </property>
</Properties>
</file>