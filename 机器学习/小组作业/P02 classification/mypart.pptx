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12"/>
  </p:notesMasterIdLst>
  <p:handoutMasterIdLst>
    <p:handoutMasterId r:id="rId13"/>
  </p:handoutMasterIdLst>
  <p:sldIdLst>
    <p:sldId id="2657" r:id="rId2"/>
    <p:sldId id="5144" r:id="rId3"/>
    <p:sldId id="5150" r:id="rId4"/>
    <p:sldId id="5143" r:id="rId5"/>
    <p:sldId id="5153" r:id="rId6"/>
    <p:sldId id="5151" r:id="rId7"/>
    <p:sldId id="5145" r:id="rId8"/>
    <p:sldId id="5152" r:id="rId9"/>
    <p:sldId id="5147" r:id="rId10"/>
    <p:sldId id="5146" r:id="rId11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5144"/>
            <p14:sldId id="5150"/>
            <p14:sldId id="5143"/>
            <p14:sldId id="5153"/>
            <p14:sldId id="5151"/>
            <p14:sldId id="5145"/>
            <p14:sldId id="5152"/>
            <p14:sldId id="5147"/>
            <p14:sldId id="5146"/>
          </p14:sldIdLst>
        </p14:section>
      </p14:sectionLst>
    </p:ext>
    <p:ext uri="{EFAFB233-063F-42B5-8137-9DF3F51BA10A}">
      <p15:sldGuideLst xmlns:p15="http://schemas.microsoft.com/office/powerpoint/2012/main"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93775" autoAdjust="0"/>
  </p:normalViewPr>
  <p:slideViewPr>
    <p:cSldViewPr>
      <p:cViewPr varScale="1">
        <p:scale>
          <a:sx n="106" d="100"/>
          <a:sy n="106" d="100"/>
        </p:scale>
        <p:origin x="758" y="62"/>
      </p:cViewPr>
      <p:guideLst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80981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107396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8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913890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D42D23-9145-41EA-AB27-9AA088E35FFA}"/>
              </a:ext>
            </a:extLst>
          </p:cNvPr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zh-CN" sz="2800" b="1" dirty="0" err="1">
                <a:latin typeface="MiSans" pitchFamily="34" charset="-122"/>
                <a:ea typeface="MiSans" pitchFamily="34" charset="-122"/>
                <a:cs typeface="MiSans" pitchFamily="34" charset="-120"/>
              </a:rPr>
              <a:t>实验设计与方法</a:t>
            </a:r>
            <a:endParaRPr kumimoji="0" lang="en-US" altLang="zh-CN" sz="20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8E2A0A-490D-4FA0-814E-6AD027047792}"/>
              </a:ext>
            </a:extLst>
          </p:cNvPr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46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任务与数据：</a:t>
            </a:r>
            <a:r>
              <a:rPr lang="en-US" altLang="zh-CN" dirty="0"/>
              <a:t>MNIST </a:t>
            </a:r>
            <a:r>
              <a:rPr lang="zh-CN" altLang="en-US" dirty="0"/>
              <a:t>识别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F66697D0-0970-7F02-61EA-3E684E0AC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80" y="4876487"/>
            <a:ext cx="2939415" cy="13144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EFC9DEF-DEC6-9F9F-28E4-EC36601D095C}"/>
              </a:ext>
            </a:extLst>
          </p:cNvPr>
          <p:cNvSpPr/>
          <p:nvPr/>
        </p:nvSpPr>
        <p:spPr>
          <a:xfrm>
            <a:off x="551469" y="99969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任务定义</a:t>
            </a:r>
            <a:endParaRPr lang="en-US" sz="1600" b="1" dirty="0">
              <a:latin typeface="+mj-lt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75249D5-6FC4-D0DA-585F-012E02521A24}"/>
              </a:ext>
            </a:extLst>
          </p:cNvPr>
          <p:cNvSpPr/>
          <p:nvPr/>
        </p:nvSpPr>
        <p:spPr>
          <a:xfrm>
            <a:off x="381203" y="1491630"/>
            <a:ext cx="3470717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本次实验聚焦于MNIST手写数字识别，目标是通过神经网络模型准确区分0-9十个数字类别。输入数据为标准的28×28像素灰度图像，输出为对应的数字标签。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065A250-396F-62A3-2BB0-7B378F758EFA}"/>
              </a:ext>
            </a:extLst>
          </p:cNvPr>
          <p:cNvSpPr/>
          <p:nvPr/>
        </p:nvSpPr>
        <p:spPr>
          <a:xfrm>
            <a:off x="689716" y="2947245"/>
            <a:ext cx="285369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数据集规模</a:t>
            </a:r>
            <a:endParaRPr lang="en-US" sz="1600" b="1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7DB83DE-1879-2226-C557-92430FEE09E9}"/>
              </a:ext>
            </a:extLst>
          </p:cNvPr>
          <p:cNvSpPr/>
          <p:nvPr/>
        </p:nvSpPr>
        <p:spPr>
          <a:xfrm>
            <a:off x="381203" y="3320103"/>
            <a:ext cx="3470717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1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实验采用的MNIST数据集包含60000张训练图像和10000张测试图像，为模型训练与评估提供了充足的数据基础，确保结果具有统计意义。</a:t>
            </a:r>
          </a:p>
        </p:txBody>
      </p:sp>
      <p:pic>
        <p:nvPicPr>
          <p:cNvPr id="14" name="图片 13" descr="图片包含 日历&#10;&#10;AI 生成的内容可能不正确。">
            <a:extLst>
              <a:ext uri="{FF2B5EF4-FFF2-40B4-BE49-F238E27FC236}">
                <a16:creationId xmlns:a16="http://schemas.microsoft.com/office/drawing/2014/main" id="{3B1934E8-BCD0-414A-D411-B968B239E9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714" y="843558"/>
            <a:ext cx="5054578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60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74BD2A4-753C-64E0-07A6-35E5E29A1EF4}"/>
              </a:ext>
            </a:extLst>
          </p:cNvPr>
          <p:cNvSpPr/>
          <p:nvPr/>
        </p:nvSpPr>
        <p:spPr>
          <a:xfrm>
            <a:off x="459305" y="2449513"/>
            <a:ext cx="3672408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将图像像素值从0-255线性归一化到0-1区间，这一操作有助于加速神经网络的梯度下降过程，提高训练效率与收敛速度。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B2F7C05-5472-54BA-B8E5-C9AF9F8E183F}"/>
              </a:ext>
            </a:extLst>
          </p:cNvPr>
          <p:cNvSpPr/>
          <p:nvPr/>
        </p:nvSpPr>
        <p:spPr>
          <a:xfrm>
            <a:off x="5003800" y="2449513"/>
            <a:ext cx="3506986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为适配传统机器学习算法，将二维图像数据展平为784维向量；同时，针对神经网络采用One-hot编码处理标签，使其适用于交叉熵损失函数计算。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5B9817-981F-CED4-66CF-77C618CFA61E}"/>
              </a:ext>
            </a:extLst>
          </p:cNvPr>
          <p:cNvSpPr txBox="1"/>
          <p:nvPr/>
        </p:nvSpPr>
        <p:spPr>
          <a:xfrm>
            <a:off x="-318343" y="1938322"/>
            <a:ext cx="4912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b="1" dirty="0" err="1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归一化处理</a:t>
            </a:r>
            <a:endParaRPr lang="en-US" altLang="zh-CN" sz="1100" b="1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2C0B8627-82CE-3F00-95EF-893993270A67}"/>
              </a:ext>
            </a:extLst>
          </p:cNvPr>
          <p:cNvSpPr/>
          <p:nvPr/>
        </p:nvSpPr>
        <p:spPr>
          <a:xfrm>
            <a:off x="1698734" y="1239794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C9C9A55-AF50-CE02-2AF7-749D1DB9F91B}"/>
              </a:ext>
            </a:extLst>
          </p:cNvPr>
          <p:cNvSpPr/>
          <p:nvPr/>
        </p:nvSpPr>
        <p:spPr>
          <a:xfrm>
            <a:off x="5940152" y="1239794"/>
            <a:ext cx="878205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59B7FC4-684A-C47B-C717-318067533C2B}"/>
              </a:ext>
            </a:extLst>
          </p:cNvPr>
          <p:cNvSpPr/>
          <p:nvPr/>
        </p:nvSpPr>
        <p:spPr>
          <a:xfrm>
            <a:off x="3880211" y="194263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rgbClr val="0439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数据格式转换</a:t>
            </a:r>
            <a:endParaRPr lang="en-US" b="1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22992A75-FF80-E6B2-83D4-FBEAFB82BB55}"/>
              </a:ext>
            </a:extLst>
          </p:cNvPr>
          <p:cNvSpPr/>
          <p:nvPr/>
        </p:nvSpPr>
        <p:spPr>
          <a:xfrm>
            <a:off x="4594017" y="1419622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</p:spTree>
    <p:extLst>
      <p:ext uri="{BB962C8B-B14F-4D97-AF65-F5344CB8AC3E}">
        <p14:creationId xmlns:p14="http://schemas.microsoft.com/office/powerpoint/2010/main" val="78999310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8E29C-5329-4C24-9CFB-302A65E98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全连接网络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9584B86D-E3F9-704E-7169-10E759D5FBB8}"/>
              </a:ext>
            </a:extLst>
          </p:cNvPr>
          <p:cNvGrpSpPr/>
          <p:nvPr/>
        </p:nvGrpSpPr>
        <p:grpSpPr>
          <a:xfrm>
            <a:off x="177611" y="1093485"/>
            <a:ext cx="8723439" cy="3638504"/>
            <a:chOff x="1097915" y="2049780"/>
            <a:chExt cx="10081260" cy="4267200"/>
          </a:xfrm>
        </p:grpSpPr>
        <p:pic>
          <p:nvPicPr>
            <p:cNvPr id="71" name="Image 0" descr="https://kimi-img.moonshot.cn/pub/slides/slides_tmpl/image/25-10-09-16:35:25-d3jn7j8s8jdo4os5dj2g.png">
              <a:extLst>
                <a:ext uri="{FF2B5EF4-FFF2-40B4-BE49-F238E27FC236}">
                  <a16:creationId xmlns:a16="http://schemas.microsoft.com/office/drawing/2014/main" id="{76F9EF9C-9472-9C78-1390-ECD5F5B63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5" r="275"/>
            <a:stretch/>
          </p:blipFill>
          <p:spPr>
            <a:xfrm>
              <a:off x="2160905" y="2049780"/>
              <a:ext cx="688340" cy="691515"/>
            </a:xfrm>
            <a:prstGeom prst="rect">
              <a:avLst/>
            </a:prstGeom>
          </p:spPr>
        </p:pic>
        <p:pic>
          <p:nvPicPr>
            <p:cNvPr id="72" name="Image 1" descr="https://kimi-img.moonshot.cn/pub/slides/slides_tmpl/image/25-10-09-16:35:25-d3jn7j8s8jdo4os5dj3g.png">
              <a:extLst>
                <a:ext uri="{FF2B5EF4-FFF2-40B4-BE49-F238E27FC236}">
                  <a16:creationId xmlns:a16="http://schemas.microsoft.com/office/drawing/2014/main" id="{25565B85-4AF5-2E71-48B3-F9B1EC328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6740" y="2232025"/>
              <a:ext cx="1288415" cy="330200"/>
            </a:xfrm>
            <a:prstGeom prst="rect">
              <a:avLst/>
            </a:prstGeom>
          </p:spPr>
        </p:pic>
        <p:pic>
          <p:nvPicPr>
            <p:cNvPr id="73" name="Image 2" descr="https://kimi-img.moonshot.cn/pub/slides/slides_tmpl/image/25-10-09-16:35:25-d3jn7j8s8jdo4os5dj2g.png">
              <a:extLst>
                <a:ext uri="{FF2B5EF4-FFF2-40B4-BE49-F238E27FC236}">
                  <a16:creationId xmlns:a16="http://schemas.microsoft.com/office/drawing/2014/main" id="{93BC105F-5553-22F7-5342-704E683C2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5" r="275"/>
            <a:stretch/>
          </p:blipFill>
          <p:spPr>
            <a:xfrm>
              <a:off x="5796915" y="2049780"/>
              <a:ext cx="688340" cy="691515"/>
            </a:xfrm>
            <a:prstGeom prst="rect">
              <a:avLst/>
            </a:prstGeom>
          </p:spPr>
        </p:pic>
        <p:pic>
          <p:nvPicPr>
            <p:cNvPr id="74" name="Image 3" descr="https://kimi-img.moonshot.cn/pub/slides/slides_tmpl/image/25-10-09-16:35:25-d3jn7j8s8jdo4os5dj3g.png">
              <a:extLst>
                <a:ext uri="{FF2B5EF4-FFF2-40B4-BE49-F238E27FC236}">
                  <a16:creationId xmlns:a16="http://schemas.microsoft.com/office/drawing/2014/main" id="{77AEAE49-5304-760F-C5E6-69C245AB2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2115" y="2232025"/>
              <a:ext cx="1288415" cy="330200"/>
            </a:xfrm>
            <a:prstGeom prst="rect">
              <a:avLst/>
            </a:prstGeom>
          </p:spPr>
        </p:pic>
        <p:pic>
          <p:nvPicPr>
            <p:cNvPr id="75" name="Image 4" descr="https://kimi-img.moonshot.cn/pub/slides/slides_tmpl/image/25-10-09-16:35:25-d3jn7j8s8jdo4os5dj2g.png">
              <a:extLst>
                <a:ext uri="{FF2B5EF4-FFF2-40B4-BE49-F238E27FC236}">
                  <a16:creationId xmlns:a16="http://schemas.microsoft.com/office/drawing/2014/main" id="{9692F473-2681-328D-AD69-90773F643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5" r="275"/>
            <a:stretch/>
          </p:blipFill>
          <p:spPr>
            <a:xfrm>
              <a:off x="9434195" y="2049780"/>
              <a:ext cx="688340" cy="691515"/>
            </a:xfrm>
            <a:prstGeom prst="rect">
              <a:avLst/>
            </a:prstGeom>
          </p:spPr>
        </p:pic>
        <p:pic>
          <p:nvPicPr>
            <p:cNvPr id="76" name="Image 5" descr="https://kimi-img.moonshot.cn/pub/slides/slides_tmpl/image/25-10-09-16:35:25-d3jn7j8s8jdo4os5dj3g.png">
              <a:extLst>
                <a:ext uri="{FF2B5EF4-FFF2-40B4-BE49-F238E27FC236}">
                  <a16:creationId xmlns:a16="http://schemas.microsoft.com/office/drawing/2014/main" id="{188A89FA-B291-1E4E-DB40-AACD722CD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2570" y="2232025"/>
              <a:ext cx="1288415" cy="330200"/>
            </a:xfrm>
            <a:prstGeom prst="rect">
              <a:avLst/>
            </a:prstGeom>
          </p:spPr>
        </p:pic>
        <p:sp>
          <p:nvSpPr>
            <p:cNvPr id="77" name="Text 1">
              <a:extLst>
                <a:ext uri="{FF2B5EF4-FFF2-40B4-BE49-F238E27FC236}">
                  <a16:creationId xmlns:a16="http://schemas.microsoft.com/office/drawing/2014/main" id="{0FCE12EE-18D5-5046-3727-0A6372128BBA}"/>
                </a:ext>
              </a:extLst>
            </p:cNvPr>
            <p:cNvSpPr/>
            <p:nvPr/>
          </p:nvSpPr>
          <p:spPr>
            <a:xfrm>
              <a:off x="2152015" y="2136140"/>
              <a:ext cx="688975" cy="5365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78" name="Text 2">
              <a:extLst>
                <a:ext uri="{FF2B5EF4-FFF2-40B4-BE49-F238E27FC236}">
                  <a16:creationId xmlns:a16="http://schemas.microsoft.com/office/drawing/2014/main" id="{4CB788F3-2769-574A-E561-051B00C12273}"/>
                </a:ext>
              </a:extLst>
            </p:cNvPr>
            <p:cNvSpPr/>
            <p:nvPr/>
          </p:nvSpPr>
          <p:spPr>
            <a:xfrm>
              <a:off x="1097915" y="2960370"/>
              <a:ext cx="2805430" cy="786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网络结构</a:t>
              </a:r>
              <a:endParaRPr lang="en-US" sz="1600" dirty="0"/>
            </a:p>
          </p:txBody>
        </p:sp>
        <p:sp>
          <p:nvSpPr>
            <p:cNvPr id="79" name="Text 3">
              <a:extLst>
                <a:ext uri="{FF2B5EF4-FFF2-40B4-BE49-F238E27FC236}">
                  <a16:creationId xmlns:a16="http://schemas.microsoft.com/office/drawing/2014/main" id="{096FD728-E8D5-2A00-9EEA-5F548965511C}"/>
                </a:ext>
              </a:extLst>
            </p:cNvPr>
            <p:cNvSpPr/>
            <p:nvPr/>
          </p:nvSpPr>
          <p:spPr>
            <a:xfrm>
              <a:off x="1120140" y="3669665"/>
              <a:ext cx="2761615" cy="264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全连接神经网络采用简单的三层结构，输入层784个神经元对应图像展平后的维度，隐藏层500个神经元，输出层10个神经元对应十个数字类别。</a:t>
              </a: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E44BD865-9B61-342B-36F7-480CA63BC967}"/>
                </a:ext>
              </a:extLst>
            </p:cNvPr>
            <p:cNvSpPr/>
            <p:nvPr/>
          </p:nvSpPr>
          <p:spPr>
            <a:xfrm>
              <a:off x="5796598" y="2141855"/>
              <a:ext cx="688975" cy="5365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81" name="Text 5">
              <a:extLst>
                <a:ext uri="{FF2B5EF4-FFF2-40B4-BE49-F238E27FC236}">
                  <a16:creationId xmlns:a16="http://schemas.microsoft.com/office/drawing/2014/main" id="{21C9FDEB-BF32-CEF2-86AA-D80937AF48B5}"/>
                </a:ext>
              </a:extLst>
            </p:cNvPr>
            <p:cNvSpPr/>
            <p:nvPr/>
          </p:nvSpPr>
          <p:spPr>
            <a:xfrm>
              <a:off x="4733290" y="2960370"/>
              <a:ext cx="2805430" cy="786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激活与正则化</a:t>
              </a:r>
              <a:endParaRPr lang="en-US" sz="1600" dirty="0"/>
            </a:p>
          </p:txBody>
        </p:sp>
        <p:sp>
          <p:nvSpPr>
            <p:cNvPr id="82" name="Text 6">
              <a:extLst>
                <a:ext uri="{FF2B5EF4-FFF2-40B4-BE49-F238E27FC236}">
                  <a16:creationId xmlns:a16="http://schemas.microsoft.com/office/drawing/2014/main" id="{3D4DB2A5-37D4-DB37-D682-25AFFFA4AC9D}"/>
                </a:ext>
              </a:extLst>
            </p:cNvPr>
            <p:cNvSpPr/>
            <p:nvPr/>
          </p:nvSpPr>
          <p:spPr>
            <a:xfrm>
              <a:off x="4755515" y="3669665"/>
              <a:ext cx="2761615" cy="264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隐藏层使用ReLU激活函数引入非线性，同时在该层加入Dropout正则化，以应对高维输入可能带来的过拟合问题，提升模型的泛化性能。</a:t>
              </a:r>
            </a:p>
          </p:txBody>
        </p:sp>
        <p:sp>
          <p:nvSpPr>
            <p:cNvPr id="83" name="Text 7">
              <a:extLst>
                <a:ext uri="{FF2B5EF4-FFF2-40B4-BE49-F238E27FC236}">
                  <a16:creationId xmlns:a16="http://schemas.microsoft.com/office/drawing/2014/main" id="{38D10D6B-FD50-F6A9-412B-3F20E0D22670}"/>
                </a:ext>
              </a:extLst>
            </p:cNvPr>
            <p:cNvSpPr/>
            <p:nvPr/>
          </p:nvSpPr>
          <p:spPr>
            <a:xfrm>
              <a:off x="9433560" y="2145665"/>
              <a:ext cx="688975" cy="5365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3200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84" name="Text 8">
              <a:extLst>
                <a:ext uri="{FF2B5EF4-FFF2-40B4-BE49-F238E27FC236}">
                  <a16:creationId xmlns:a16="http://schemas.microsoft.com/office/drawing/2014/main" id="{F9D7F30D-7A67-E74E-86B1-972D8D3B6492}"/>
                </a:ext>
              </a:extLst>
            </p:cNvPr>
            <p:cNvSpPr/>
            <p:nvPr/>
          </p:nvSpPr>
          <p:spPr>
            <a:xfrm>
              <a:off x="8373745" y="2960370"/>
              <a:ext cx="2805430" cy="7867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适用场景</a:t>
              </a:r>
              <a:endParaRPr lang="en-US" sz="1600" dirty="0"/>
            </a:p>
          </p:txBody>
        </p:sp>
        <p:sp>
          <p:nvSpPr>
            <p:cNvPr id="85" name="Text 9">
              <a:extLst>
                <a:ext uri="{FF2B5EF4-FFF2-40B4-BE49-F238E27FC236}">
                  <a16:creationId xmlns:a16="http://schemas.microsoft.com/office/drawing/2014/main" id="{F688D66B-E480-5D58-A9ED-AD27C40AC2C9}"/>
                </a:ext>
              </a:extLst>
            </p:cNvPr>
            <p:cNvSpPr/>
            <p:nvPr/>
          </p:nvSpPr>
          <p:spPr>
            <a:xfrm>
              <a:off x="8395970" y="3669665"/>
              <a:ext cx="2761615" cy="26473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 err="1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该模型参数量小，训练与推理速度快，适合在资源受限或需要快速原型开发的场景中使用，为实验提供了一个高效的基线对比</a:t>
              </a: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773275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全连接网络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66D7261-A03C-0DEA-AAB1-8AEE690C61B7}"/>
              </a:ext>
            </a:extLst>
          </p:cNvPr>
          <p:cNvGrpSpPr/>
          <p:nvPr/>
        </p:nvGrpSpPr>
        <p:grpSpPr>
          <a:xfrm>
            <a:off x="5743226" y="904744"/>
            <a:ext cx="7397726" cy="2850073"/>
            <a:chOff x="880104" y="1559966"/>
            <a:chExt cx="10820406" cy="4657483"/>
          </a:xfrm>
        </p:grpSpPr>
        <p:pic>
          <p:nvPicPr>
            <p:cNvPr id="8" name="Image 1" descr="https://kimi-img.moonshot.cn/pub/slides/slides_tmpl/image/25-10-09-16:35:26-d3jn7jgs8jdo4os5dj5g.png">
              <a:extLst>
                <a:ext uri="{FF2B5EF4-FFF2-40B4-BE49-F238E27FC236}">
                  <a16:creationId xmlns:a16="http://schemas.microsoft.com/office/drawing/2014/main" id="{1AEE4295-10B6-A023-B1A7-5D441D97F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35571" y="1559966"/>
              <a:ext cx="3642996" cy="459899"/>
            </a:xfrm>
            <a:prstGeom prst="rect">
              <a:avLst/>
            </a:prstGeom>
          </p:spPr>
        </p:pic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56B0760C-0443-81B3-5883-7D85E7BAF1EA}"/>
                </a:ext>
              </a:extLst>
            </p:cNvPr>
            <p:cNvSpPr/>
            <p:nvPr/>
          </p:nvSpPr>
          <p:spPr>
            <a:xfrm>
              <a:off x="11490960" y="6078220"/>
              <a:ext cx="209550" cy="42238"/>
            </a:xfrm>
            <a:prstGeom prst="rect">
              <a:avLst/>
            </a:prstGeom>
            <a:noFill/>
            <a:ln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4F48CC12-7BA3-1B6C-D0EA-CBD534B4E665}"/>
                </a:ext>
              </a:extLst>
            </p:cNvPr>
            <p:cNvSpPr/>
            <p:nvPr/>
          </p:nvSpPr>
          <p:spPr>
            <a:xfrm>
              <a:off x="11490960" y="6175211"/>
              <a:ext cx="209550" cy="42238"/>
            </a:xfrm>
            <a:prstGeom prst="rect">
              <a:avLst/>
            </a:prstGeom>
            <a:noFill/>
            <a:ln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3763928A-5AF7-6077-AA39-8A1883CD5F66}"/>
                </a:ext>
              </a:extLst>
            </p:cNvPr>
            <p:cNvSpPr/>
            <p:nvPr/>
          </p:nvSpPr>
          <p:spPr>
            <a:xfrm>
              <a:off x="1527447" y="1577651"/>
              <a:ext cx="3642995" cy="349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zh-CN" altLang="en-US" b="1" dirty="0">
                  <a:solidFill>
                    <a:srgbClr val="0439E1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输入层</a:t>
              </a:r>
              <a:endParaRPr lang="en-US" b="1" dirty="0">
                <a:latin typeface="+mj-lt"/>
              </a:endParaRPr>
            </a:p>
          </p:txBody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F0FA18FF-760A-F292-754D-8FC25BE15F83}"/>
                </a:ext>
              </a:extLst>
            </p:cNvPr>
            <p:cNvSpPr/>
            <p:nvPr/>
          </p:nvSpPr>
          <p:spPr>
            <a:xfrm>
              <a:off x="890270" y="2234565"/>
              <a:ext cx="4496435" cy="1709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784 </a:t>
              </a:r>
              <a:r>
                <a:rPr lang="zh-CN" altLang="en-US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维 </a:t>
              </a:r>
              <a:r>
                <a:rPr lang="en-US" altLang="zh-CN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(28×28 </a:t>
              </a:r>
              <a:r>
                <a:rPr lang="zh-CN" altLang="en-US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图像展平</a:t>
              </a:r>
              <a:r>
                <a:rPr lang="en-US" altLang="zh-CN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)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9B952EE-54C3-FC68-A8A7-0D8B2DEC7641}"/>
                </a:ext>
              </a:extLst>
            </p:cNvPr>
            <p:cNvSpPr/>
            <p:nvPr/>
          </p:nvSpPr>
          <p:spPr>
            <a:xfrm>
              <a:off x="880104" y="3645640"/>
              <a:ext cx="4496434" cy="565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500 </a:t>
              </a:r>
              <a:r>
                <a:rPr lang="zh-CN" altLang="en-US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个神经元，使用 </a:t>
              </a:r>
              <a:r>
                <a:rPr lang="en-US" altLang="zh-CN" sz="1400" dirty="0" err="1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ReLU</a:t>
              </a:r>
              <a:r>
                <a:rPr lang="en-US" altLang="zh-CN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 </a:t>
              </a:r>
              <a:r>
                <a:rPr lang="zh-CN" altLang="en-US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激活函数</a:t>
              </a:r>
              <a:endParaRPr lang="en-US" sz="1600" dirty="0">
                <a:latin typeface="+mj-lt"/>
              </a:endParaRPr>
            </a:p>
          </p:txBody>
        </p:sp>
      </p:grpSp>
      <p:pic>
        <p:nvPicPr>
          <p:cNvPr id="30" name="Image 1" descr="https://kimi-img.moonshot.cn/pub/slides/slides_tmpl/image/25-10-09-16:35:26-d3jn7jgs8jdo4os5dj5g.png">
            <a:extLst>
              <a:ext uri="{FF2B5EF4-FFF2-40B4-BE49-F238E27FC236}">
                <a16:creationId xmlns:a16="http://schemas.microsoft.com/office/drawing/2014/main" id="{F701E82E-ACD5-6DEA-A6AE-B260E63CC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96136" y="1779662"/>
            <a:ext cx="2490654" cy="281428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0A3A9680-D844-4A26-81C3-27DDCE146ADD}"/>
              </a:ext>
            </a:extLst>
          </p:cNvPr>
          <p:cNvSpPr/>
          <p:nvPr/>
        </p:nvSpPr>
        <p:spPr>
          <a:xfrm>
            <a:off x="6200791" y="1790484"/>
            <a:ext cx="2490653" cy="21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隐藏层</a:t>
            </a:r>
            <a:endParaRPr lang="en-US" b="1" dirty="0">
              <a:latin typeface="+mj-lt"/>
            </a:endParaRPr>
          </a:p>
        </p:txBody>
      </p:sp>
      <p:pic>
        <p:nvPicPr>
          <p:cNvPr id="32" name="Image 1" descr="https://kimi-img.moonshot.cn/pub/slides/slides_tmpl/image/25-10-09-16:35:26-d3jn7jgs8jdo4os5dj5g.png">
            <a:extLst>
              <a:ext uri="{FF2B5EF4-FFF2-40B4-BE49-F238E27FC236}">
                <a16:creationId xmlns:a16="http://schemas.microsoft.com/office/drawing/2014/main" id="{A548C1B1-3502-B871-9163-52274CBFA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96136" y="2650362"/>
            <a:ext cx="2490654" cy="281428"/>
          </a:xfrm>
          <a:prstGeom prst="rect">
            <a:avLst/>
          </a:prstGeom>
        </p:spPr>
      </p:pic>
      <p:sp>
        <p:nvSpPr>
          <p:cNvPr id="33" name="Text 8">
            <a:extLst>
              <a:ext uri="{FF2B5EF4-FFF2-40B4-BE49-F238E27FC236}">
                <a16:creationId xmlns:a16="http://schemas.microsoft.com/office/drawing/2014/main" id="{EE36CDA3-2341-731A-D26D-46EBCA834A16}"/>
              </a:ext>
            </a:extLst>
          </p:cNvPr>
          <p:cNvSpPr/>
          <p:nvPr/>
        </p:nvSpPr>
        <p:spPr>
          <a:xfrm>
            <a:off x="6200791" y="2661184"/>
            <a:ext cx="2490653" cy="21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Dropout</a:t>
            </a:r>
            <a:r>
              <a:rPr lang="zh-CN" altLang="en-US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设置</a:t>
            </a:r>
            <a:endParaRPr lang="en-US" b="1" dirty="0">
              <a:latin typeface="+mj-lt"/>
            </a:endParaRPr>
          </a:p>
        </p:txBody>
      </p:sp>
      <p:pic>
        <p:nvPicPr>
          <p:cNvPr id="34" name="Image 1" descr="https://kimi-img.moonshot.cn/pub/slides/slides_tmpl/image/25-10-09-16:35:26-d3jn7jgs8jdo4os5dj5g.png">
            <a:extLst>
              <a:ext uri="{FF2B5EF4-FFF2-40B4-BE49-F238E27FC236}">
                <a16:creationId xmlns:a16="http://schemas.microsoft.com/office/drawing/2014/main" id="{F46DC523-2CFE-DA72-7D16-F4E64879A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796136" y="3514458"/>
            <a:ext cx="2490654" cy="281428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0F3CC9F8-93C0-5329-0388-60ADD3441C4C}"/>
              </a:ext>
            </a:extLst>
          </p:cNvPr>
          <p:cNvSpPr/>
          <p:nvPr/>
        </p:nvSpPr>
        <p:spPr>
          <a:xfrm>
            <a:off x="6200791" y="3525280"/>
            <a:ext cx="2490653" cy="21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输出层</a:t>
            </a: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153A47F9-4D23-82E8-DFC9-62FCAA9CC757}"/>
              </a:ext>
            </a:extLst>
          </p:cNvPr>
          <p:cNvSpPr/>
          <p:nvPr/>
        </p:nvSpPr>
        <p:spPr>
          <a:xfrm>
            <a:off x="5796136" y="3017673"/>
            <a:ext cx="3074135" cy="34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Dropout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保留率：</a:t>
            </a: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0.9</a:t>
            </a:r>
            <a:endParaRPr lang="en-US" sz="1600" dirty="0">
              <a:latin typeface="+mj-lt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A25806CE-A50E-A5FD-EB94-4269359A7526}"/>
              </a:ext>
            </a:extLst>
          </p:cNvPr>
          <p:cNvSpPr/>
          <p:nvPr/>
        </p:nvSpPr>
        <p:spPr>
          <a:xfrm>
            <a:off x="5796136" y="3809761"/>
            <a:ext cx="3074135" cy="34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10 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个神经元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9ADDCD-996A-946D-8828-4E51323AF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5" y="968459"/>
            <a:ext cx="5621914" cy="369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658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r>
              <a:rPr lang="zh-CN" altLang="en-US" dirty="0"/>
              <a:t>架构：卷积提取空间特征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7509F51-8CED-D1C1-184F-0E9C8CAC5095}"/>
              </a:ext>
            </a:extLst>
          </p:cNvPr>
          <p:cNvGrpSpPr/>
          <p:nvPr/>
        </p:nvGrpSpPr>
        <p:grpSpPr>
          <a:xfrm>
            <a:off x="395536" y="932855"/>
            <a:ext cx="4369421" cy="1706406"/>
            <a:chOff x="777875" y="1838960"/>
            <a:chExt cx="5057140" cy="1801495"/>
          </a:xfrm>
        </p:grpSpPr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7F860776-8350-39DE-E080-7EF0ED92ECEE}"/>
                </a:ext>
              </a:extLst>
            </p:cNvPr>
            <p:cNvSpPr/>
            <p:nvPr/>
          </p:nvSpPr>
          <p:spPr>
            <a:xfrm>
              <a:off x="777875" y="1838960"/>
              <a:ext cx="5057140" cy="401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卷积层设计</a:t>
              </a:r>
              <a:endParaRPr lang="en-US" sz="1600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5F5E6F06-C9CD-FCB8-6393-D5D42DA0BCE3}"/>
                </a:ext>
              </a:extLst>
            </p:cNvPr>
            <p:cNvSpPr/>
            <p:nvPr/>
          </p:nvSpPr>
          <p:spPr>
            <a:xfrm>
              <a:off x="777875" y="2275840"/>
              <a:ext cx="5057140" cy="1364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采用两层5×5卷积，分别输出32和64个特征通道，搭配ReLU激活函数与2×2最大池化操作，有效提取图像的空间局部特征并降低参数数量。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C1DCC98-0E82-BF98-F816-5D6D5BDEB2F6}"/>
              </a:ext>
            </a:extLst>
          </p:cNvPr>
          <p:cNvGrpSpPr/>
          <p:nvPr/>
        </p:nvGrpSpPr>
        <p:grpSpPr>
          <a:xfrm>
            <a:off x="4827929" y="911675"/>
            <a:ext cx="4321974" cy="1725890"/>
            <a:chOff x="6499860" y="1838960"/>
            <a:chExt cx="5058410" cy="1778635"/>
          </a:xfrm>
        </p:grpSpPr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270DBE22-3D6F-4302-708F-42A279F1F7FA}"/>
                </a:ext>
              </a:extLst>
            </p:cNvPr>
            <p:cNvSpPr/>
            <p:nvPr/>
          </p:nvSpPr>
          <p:spPr>
            <a:xfrm>
              <a:off x="6499860" y="1838960"/>
              <a:ext cx="5058410" cy="436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输出层设置</a:t>
              </a:r>
              <a:endParaRPr lang="en-US" sz="16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6A00053C-336D-048B-F4F7-234C62DA358B}"/>
                </a:ext>
              </a:extLst>
            </p:cNvPr>
            <p:cNvSpPr/>
            <p:nvPr/>
          </p:nvSpPr>
          <p:spPr>
            <a:xfrm>
              <a:off x="6499860" y="2252980"/>
              <a:ext cx="5057775" cy="1364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最终输出层包含10个神经元，对应0-9十个数字类别，使用Softmax函数将输出转换为概率分布，便于进行分类预测。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A490375-0BB4-F8CF-E432-E02D61F210C8}"/>
              </a:ext>
            </a:extLst>
          </p:cNvPr>
          <p:cNvGrpSpPr/>
          <p:nvPr/>
        </p:nvGrpSpPr>
        <p:grpSpPr>
          <a:xfrm>
            <a:off x="2009" y="2789970"/>
            <a:ext cx="8871650" cy="1780443"/>
            <a:chOff x="0" y="3603625"/>
            <a:chExt cx="12192000" cy="2802255"/>
          </a:xfrm>
        </p:grpSpPr>
        <p:pic>
          <p:nvPicPr>
            <p:cNvPr id="3" name="Image 0" descr="https://kimi-img.moonshot.cn/pub/slides/slides_tmpl/image/25-10-09-16:35:26-d3jn7jgs8jdo4os5dj6g.png">
              <a:extLst>
                <a:ext uri="{FF2B5EF4-FFF2-40B4-BE49-F238E27FC236}">
                  <a16:creationId xmlns:a16="http://schemas.microsoft.com/office/drawing/2014/main" id="{0C409DA4-1093-E410-5E28-A9553404C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8400" y="3603625"/>
              <a:ext cx="10088880" cy="1542415"/>
            </a:xfrm>
            <a:prstGeom prst="rect">
              <a:avLst/>
            </a:prstGeom>
          </p:spPr>
        </p:pic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6FB69DC4-BB69-7BE4-BAE4-79AEACABBFF4}"/>
                </a:ext>
              </a:extLst>
            </p:cNvPr>
            <p:cNvSpPr/>
            <p:nvPr/>
          </p:nvSpPr>
          <p:spPr>
            <a:xfrm>
              <a:off x="0" y="4094480"/>
              <a:ext cx="12192000" cy="236855"/>
            </a:xfrm>
            <a:prstGeom prst="rect">
              <a:avLst/>
            </a:prstGeom>
            <a:solidFill>
              <a:srgbClr val="5B78BC">
                <a:alpha val="20000"/>
              </a:srgbClr>
            </a:solidFill>
            <a:ln/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275EE257-19A8-7082-BAE9-2F6AEF2E482C}"/>
                </a:ext>
              </a:extLst>
            </p:cNvPr>
            <p:cNvSpPr/>
            <p:nvPr/>
          </p:nvSpPr>
          <p:spPr>
            <a:xfrm>
              <a:off x="0" y="4094480"/>
              <a:ext cx="12192000" cy="236855"/>
            </a:xfrm>
            <a:prstGeom prst="rect">
              <a:avLst/>
            </a:prstGeom>
            <a:noFill/>
            <a:ln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57571409-732B-90E3-9858-53361C15A631}"/>
                </a:ext>
              </a:extLst>
            </p:cNvPr>
            <p:cNvSpPr/>
            <p:nvPr/>
          </p:nvSpPr>
          <p:spPr>
            <a:xfrm>
              <a:off x="777875" y="4626610"/>
              <a:ext cx="5057140" cy="462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全连接层配置</a:t>
              </a:r>
              <a:endParaRPr lang="en-US" sz="1600" dirty="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5C474E0D-C74E-B161-AC3D-77309F308AFA}"/>
                </a:ext>
              </a:extLst>
            </p:cNvPr>
            <p:cNvSpPr/>
            <p:nvPr/>
          </p:nvSpPr>
          <p:spPr>
            <a:xfrm>
              <a:off x="777875" y="5041265"/>
              <a:ext cx="5057140" cy="1364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将卷积层输出的特征图展平后，接入1024神经元的全连接层，并在该层后加入Dropout正则化，保留率为0.9，以防止过拟合现象发生。</a:t>
              </a:r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D072BA1E-B4A4-C63D-BAE2-1F8369866234}"/>
                </a:ext>
              </a:extLst>
            </p:cNvPr>
            <p:cNvSpPr/>
            <p:nvPr/>
          </p:nvSpPr>
          <p:spPr>
            <a:xfrm>
              <a:off x="6499860" y="4626610"/>
              <a:ext cx="5058410" cy="436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solidFill>
                    <a:srgbClr val="0439E1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结构优势</a:t>
              </a:r>
              <a:endParaRPr lang="en-US" sz="1600" dirty="0"/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0E188C13-281D-9818-F778-D3314D03771A}"/>
                </a:ext>
              </a:extLst>
            </p:cNvPr>
            <p:cNvSpPr/>
            <p:nvPr/>
          </p:nvSpPr>
          <p:spPr>
            <a:xfrm>
              <a:off x="6499860" y="5040630"/>
              <a:ext cx="5057775" cy="1364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dirty="0" err="1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CNN通过卷积操作自动学习图像的层次化特征表示，无需人工设计特征，同时保持了图像的空间局部性和平移不变性，具有较强的泛化能力</a:t>
              </a:r>
              <a:r>
                <a:rPr lang="en-US" dirty="0"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41744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CF888-7A1A-41B9-83DD-691819A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CNN</a:t>
            </a:r>
            <a:r>
              <a:rPr lang="zh-CN" altLang="en-US" dirty="0"/>
              <a:t>架构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805BB5-8DE1-B010-E9C7-FE2120978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4417"/>
            <a:ext cx="5052729" cy="4085605"/>
          </a:xfrm>
          <a:prstGeom prst="rect">
            <a:avLst/>
          </a:prstGeom>
        </p:spPr>
      </p:pic>
      <p:grpSp>
        <p:nvGrpSpPr>
          <p:cNvPr id="29" name="组合 28">
            <a:extLst>
              <a:ext uri="{FF2B5EF4-FFF2-40B4-BE49-F238E27FC236}">
                <a16:creationId xmlns:a16="http://schemas.microsoft.com/office/drawing/2014/main" id="{B66D7261-A03C-0DEA-AAB1-8AEE690C61B7}"/>
              </a:ext>
            </a:extLst>
          </p:cNvPr>
          <p:cNvGrpSpPr/>
          <p:nvPr/>
        </p:nvGrpSpPr>
        <p:grpSpPr>
          <a:xfrm>
            <a:off x="5743226" y="904744"/>
            <a:ext cx="7397726" cy="2850073"/>
            <a:chOff x="880104" y="1559966"/>
            <a:chExt cx="10820406" cy="4657483"/>
          </a:xfrm>
        </p:grpSpPr>
        <p:pic>
          <p:nvPicPr>
            <p:cNvPr id="8" name="Image 1" descr="https://kimi-img.moonshot.cn/pub/slides/slides_tmpl/image/25-10-09-16:35:26-d3jn7jgs8jdo4os5dj5g.png">
              <a:extLst>
                <a:ext uri="{FF2B5EF4-FFF2-40B4-BE49-F238E27FC236}">
                  <a16:creationId xmlns:a16="http://schemas.microsoft.com/office/drawing/2014/main" id="{1AEE4295-10B6-A023-B1A7-5D441D97F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935571" y="1559966"/>
              <a:ext cx="3642996" cy="459899"/>
            </a:xfrm>
            <a:prstGeom prst="rect">
              <a:avLst/>
            </a:prstGeom>
          </p:spPr>
        </p:pic>
        <p:sp>
          <p:nvSpPr>
            <p:cNvPr id="14" name="Text 3">
              <a:extLst>
                <a:ext uri="{FF2B5EF4-FFF2-40B4-BE49-F238E27FC236}">
                  <a16:creationId xmlns:a16="http://schemas.microsoft.com/office/drawing/2014/main" id="{56B0760C-0443-81B3-5883-7D85E7BAF1EA}"/>
                </a:ext>
              </a:extLst>
            </p:cNvPr>
            <p:cNvSpPr/>
            <p:nvPr/>
          </p:nvSpPr>
          <p:spPr>
            <a:xfrm>
              <a:off x="11490960" y="6078220"/>
              <a:ext cx="209550" cy="42238"/>
            </a:xfrm>
            <a:prstGeom prst="rect">
              <a:avLst/>
            </a:prstGeom>
            <a:noFill/>
            <a:ln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4F48CC12-7BA3-1B6C-D0EA-CBD534B4E665}"/>
                </a:ext>
              </a:extLst>
            </p:cNvPr>
            <p:cNvSpPr/>
            <p:nvPr/>
          </p:nvSpPr>
          <p:spPr>
            <a:xfrm>
              <a:off x="11490960" y="6175211"/>
              <a:ext cx="209550" cy="42238"/>
            </a:xfrm>
            <a:prstGeom prst="rect">
              <a:avLst/>
            </a:prstGeom>
            <a:noFill/>
            <a:ln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3763928A-5AF7-6077-AA39-8A1883CD5F66}"/>
                </a:ext>
              </a:extLst>
            </p:cNvPr>
            <p:cNvSpPr/>
            <p:nvPr/>
          </p:nvSpPr>
          <p:spPr>
            <a:xfrm>
              <a:off x="1527447" y="1577651"/>
              <a:ext cx="3642995" cy="349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00000"/>
                </a:lnSpc>
              </a:pPr>
              <a:r>
                <a:rPr lang="en-US" b="1" dirty="0" err="1">
                  <a:solidFill>
                    <a:srgbClr val="0439E1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优化器选择</a:t>
              </a:r>
              <a:endParaRPr lang="en-US" b="1" dirty="0">
                <a:latin typeface="+mj-lt"/>
              </a:endParaRPr>
            </a:p>
          </p:txBody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F0FA18FF-760A-F292-754D-8FC25BE15F83}"/>
                </a:ext>
              </a:extLst>
            </p:cNvPr>
            <p:cNvSpPr/>
            <p:nvPr/>
          </p:nvSpPr>
          <p:spPr>
            <a:xfrm>
              <a:off x="890270" y="2234565"/>
              <a:ext cx="4496435" cy="1709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sz="1400" dirty="0" err="1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统一采用Adam优化器</a:t>
              </a:r>
              <a:r>
                <a:rPr lang="en-US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(学习率0.001)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9B952EE-54C3-FC68-A8A7-0D8B2DEC7641}"/>
                </a:ext>
              </a:extLst>
            </p:cNvPr>
            <p:cNvSpPr/>
            <p:nvPr/>
          </p:nvSpPr>
          <p:spPr>
            <a:xfrm>
              <a:off x="880104" y="3645640"/>
              <a:ext cx="4496434" cy="5656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ct val="150000"/>
                </a:lnSpc>
              </a:pPr>
              <a:r>
                <a:rPr lang="en-US" sz="1400" dirty="0">
                  <a:solidFill>
                    <a:srgbClr val="262626"/>
                  </a:solidFill>
                  <a:latin typeface="+mj-lt"/>
                  <a:ea typeface="MiSans" pitchFamily="34" charset="-122"/>
                  <a:cs typeface="MiSans" pitchFamily="34" charset="-120"/>
                </a:rPr>
                <a:t>设置批次大小为100，训练步数为1000</a:t>
              </a:r>
              <a:endParaRPr lang="en-US" sz="1600" dirty="0">
                <a:latin typeface="+mj-lt"/>
              </a:endParaRPr>
            </a:p>
          </p:txBody>
        </p:sp>
      </p:grpSp>
      <p:pic>
        <p:nvPicPr>
          <p:cNvPr id="30" name="Image 1" descr="https://kimi-img.moonshot.cn/pub/slides/slides_tmpl/image/25-10-09-16:35:26-d3jn7jgs8jdo4os5dj5g.png">
            <a:extLst>
              <a:ext uri="{FF2B5EF4-FFF2-40B4-BE49-F238E27FC236}">
                <a16:creationId xmlns:a16="http://schemas.microsoft.com/office/drawing/2014/main" id="{F701E82E-ACD5-6DEA-A6AE-B260E63CC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6136" y="1779662"/>
            <a:ext cx="2490654" cy="281428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0A3A9680-D844-4A26-81C3-27DDCE146ADD}"/>
              </a:ext>
            </a:extLst>
          </p:cNvPr>
          <p:cNvSpPr/>
          <p:nvPr/>
        </p:nvSpPr>
        <p:spPr>
          <a:xfrm>
            <a:off x="6200791" y="1790484"/>
            <a:ext cx="2490653" cy="21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训练参数</a:t>
            </a:r>
            <a:endParaRPr lang="en-US" b="1" dirty="0">
              <a:latin typeface="+mj-lt"/>
            </a:endParaRPr>
          </a:p>
        </p:txBody>
      </p:sp>
      <p:pic>
        <p:nvPicPr>
          <p:cNvPr id="32" name="Image 1" descr="https://kimi-img.moonshot.cn/pub/slides/slides_tmpl/image/25-10-09-16:35:26-d3jn7jgs8jdo4os5dj5g.png">
            <a:extLst>
              <a:ext uri="{FF2B5EF4-FFF2-40B4-BE49-F238E27FC236}">
                <a16:creationId xmlns:a16="http://schemas.microsoft.com/office/drawing/2014/main" id="{A548C1B1-3502-B871-9163-52274CBFA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6136" y="2650362"/>
            <a:ext cx="2490654" cy="281428"/>
          </a:xfrm>
          <a:prstGeom prst="rect">
            <a:avLst/>
          </a:prstGeom>
        </p:spPr>
      </p:pic>
      <p:sp>
        <p:nvSpPr>
          <p:cNvPr id="33" name="Text 8">
            <a:extLst>
              <a:ext uri="{FF2B5EF4-FFF2-40B4-BE49-F238E27FC236}">
                <a16:creationId xmlns:a16="http://schemas.microsoft.com/office/drawing/2014/main" id="{EE36CDA3-2341-731A-D26D-46EBCA834A16}"/>
              </a:ext>
            </a:extLst>
          </p:cNvPr>
          <p:cNvSpPr/>
          <p:nvPr/>
        </p:nvSpPr>
        <p:spPr>
          <a:xfrm>
            <a:off x="6200791" y="2661184"/>
            <a:ext cx="2490653" cy="21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Dropout</a:t>
            </a:r>
            <a:r>
              <a:rPr lang="zh-CN" altLang="en-US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设置</a:t>
            </a:r>
            <a:endParaRPr lang="en-US" b="1" dirty="0">
              <a:latin typeface="+mj-lt"/>
            </a:endParaRPr>
          </a:p>
        </p:txBody>
      </p:sp>
      <p:pic>
        <p:nvPicPr>
          <p:cNvPr id="34" name="Image 1" descr="https://kimi-img.moonshot.cn/pub/slides/slides_tmpl/image/25-10-09-16:35:26-d3jn7jgs8jdo4os5dj5g.png">
            <a:extLst>
              <a:ext uri="{FF2B5EF4-FFF2-40B4-BE49-F238E27FC236}">
                <a16:creationId xmlns:a16="http://schemas.microsoft.com/office/drawing/2014/main" id="{F46DC523-2CFE-DA72-7D16-F4E64879A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6136" y="3514458"/>
            <a:ext cx="2490654" cy="281428"/>
          </a:xfrm>
          <a:prstGeom prst="rect">
            <a:avLst/>
          </a:prstGeom>
        </p:spPr>
      </p:pic>
      <p:sp>
        <p:nvSpPr>
          <p:cNvPr id="35" name="Text 8">
            <a:extLst>
              <a:ext uri="{FF2B5EF4-FFF2-40B4-BE49-F238E27FC236}">
                <a16:creationId xmlns:a16="http://schemas.microsoft.com/office/drawing/2014/main" id="{0F3CC9F8-93C0-5329-0388-60ADD3441C4C}"/>
              </a:ext>
            </a:extLst>
          </p:cNvPr>
          <p:cNvSpPr/>
          <p:nvPr/>
        </p:nvSpPr>
        <p:spPr>
          <a:xfrm>
            <a:off x="6200791" y="3525280"/>
            <a:ext cx="2490653" cy="213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439E1"/>
                </a:solidFill>
                <a:latin typeface="+mj-lt"/>
                <a:ea typeface="MiSans" pitchFamily="34" charset="-122"/>
                <a:cs typeface="MiSans" pitchFamily="34" charset="-120"/>
              </a:rPr>
              <a:t>硬件支持</a:t>
            </a: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153A47F9-4D23-82E8-DFC9-62FCAA9CC757}"/>
              </a:ext>
            </a:extLst>
          </p:cNvPr>
          <p:cNvSpPr/>
          <p:nvPr/>
        </p:nvSpPr>
        <p:spPr>
          <a:xfrm>
            <a:off x="5796136" y="3017673"/>
            <a:ext cx="3074135" cy="34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Dropout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保留率：</a:t>
            </a: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0.9</a:t>
            </a:r>
            <a:endParaRPr lang="en-US" sz="1600" dirty="0">
              <a:latin typeface="+mj-lt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A25806CE-A50E-A5FD-EB94-4269359A7526}"/>
              </a:ext>
            </a:extLst>
          </p:cNvPr>
          <p:cNvSpPr/>
          <p:nvPr/>
        </p:nvSpPr>
        <p:spPr>
          <a:xfrm>
            <a:off x="5796136" y="3809761"/>
            <a:ext cx="3074135" cy="346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所有模型训练均在</a:t>
            </a: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GPU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上完成，借助</a:t>
            </a: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TensorFlow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框架和</a:t>
            </a: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CUDA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技术，充分利用</a:t>
            </a:r>
            <a:r>
              <a:rPr lang="en-US" altLang="zh-CN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GPU</a:t>
            </a:r>
            <a:r>
              <a:rPr lang="zh-CN" altLang="en-US" sz="1400" dirty="0">
                <a:solidFill>
                  <a:srgbClr val="262626"/>
                </a:solidFill>
                <a:latin typeface="+mj-lt"/>
                <a:ea typeface="MiSans" pitchFamily="34" charset="-122"/>
                <a:cs typeface="MiSans" pitchFamily="34" charset="-120"/>
              </a:rPr>
              <a:t>的并行计算能力，大幅缩短训练时间。</a:t>
            </a:r>
          </a:p>
        </p:txBody>
      </p:sp>
    </p:spTree>
    <p:extLst>
      <p:ext uri="{BB962C8B-B14F-4D97-AF65-F5344CB8AC3E}">
        <p14:creationId xmlns:p14="http://schemas.microsoft.com/office/powerpoint/2010/main" val="15797701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AD42D23-9145-41EA-AB27-9AA088E35FFA}"/>
              </a:ext>
            </a:extLst>
          </p:cNvPr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zh-CN" altLang="en-US" sz="2800" b="1" dirty="0">
                <a:latin typeface="MiSans" pitchFamily="34" charset="-122"/>
                <a:ea typeface="MiSans" pitchFamily="34" charset="-122"/>
                <a:cs typeface="MiSans" pitchFamily="34" charset="-120"/>
              </a:rPr>
              <a:t>实验结果对比</a:t>
            </a:r>
            <a:endParaRPr kumimoji="0" lang="en-US" altLang="zh-CN" sz="20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8E2A0A-490D-4FA0-814E-6AD027047792}"/>
              </a:ext>
            </a:extLst>
          </p:cNvPr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36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ED880-9912-471B-AE0A-AF8D2C68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总体性能对比</a:t>
            </a:r>
          </a:p>
        </p:txBody>
      </p:sp>
      <p:pic>
        <p:nvPicPr>
          <p:cNvPr id="6" name="图片 5" descr="图表, 雷达图&#10;&#10;AI 生成的内容可能不正确。">
            <a:extLst>
              <a:ext uri="{FF2B5EF4-FFF2-40B4-BE49-F238E27FC236}">
                <a16:creationId xmlns:a16="http://schemas.microsoft.com/office/drawing/2014/main" id="{3AE323BE-668B-E7E8-3F83-786511E94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9" y="1131590"/>
            <a:ext cx="5181197" cy="34388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12B55A2-8B1F-9A5A-E8A8-CBA8B0AF8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1131590"/>
            <a:ext cx="3711283" cy="88973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D816A1-0FDC-5256-00CE-5C0C23CC6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152" y="2021323"/>
            <a:ext cx="3668677" cy="188155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FFCA28B-818C-7142-5EF6-B6A7DBF6F22A}"/>
              </a:ext>
            </a:extLst>
          </p:cNvPr>
          <p:cNvSpPr txBox="1"/>
          <p:nvPr/>
        </p:nvSpPr>
        <p:spPr>
          <a:xfrm>
            <a:off x="5274020" y="3807382"/>
            <a:ext cx="3782939" cy="121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深度学习：</a:t>
            </a:r>
            <a:r>
              <a:rPr lang="en-US" altLang="zh-CN" dirty="0"/>
              <a:t> CNN</a:t>
            </a:r>
            <a:r>
              <a:rPr lang="zh-CN" altLang="en-US" dirty="0"/>
              <a:t>（</a:t>
            </a:r>
            <a:r>
              <a:rPr lang="en-US" altLang="zh-CN" dirty="0"/>
              <a:t> 98.60% </a:t>
            </a:r>
            <a:r>
              <a:rPr lang="zh-CN" altLang="en-US" dirty="0"/>
              <a:t>）在图像识别中的显著优势。</a:t>
            </a:r>
            <a:endParaRPr lang="en-US" altLang="zh-CN" dirty="0"/>
          </a:p>
          <a:p>
            <a:r>
              <a:rPr lang="zh-CN" altLang="en-US" dirty="0"/>
              <a:t>传统方法中：</a:t>
            </a:r>
            <a:r>
              <a:rPr lang="en-US" altLang="zh-CN" dirty="0"/>
              <a:t>SVM</a:t>
            </a:r>
            <a:r>
              <a:rPr lang="zh-CN" altLang="en-US" dirty="0"/>
              <a:t>（</a:t>
            </a:r>
            <a:r>
              <a:rPr lang="en-US" altLang="zh-CN" dirty="0"/>
              <a:t>96.90%</a:t>
            </a:r>
            <a:r>
              <a:rPr lang="zh-CN" altLang="en-US" dirty="0"/>
              <a:t>）和随机森林（</a:t>
            </a:r>
            <a:r>
              <a:rPr lang="en-US" altLang="zh-CN" dirty="0"/>
              <a:t>96.60%</a:t>
            </a:r>
            <a:r>
              <a:rPr lang="zh-CN" altLang="en-US" dirty="0"/>
              <a:t>）表现接近，均超过</a:t>
            </a:r>
            <a:r>
              <a:rPr lang="en-US" altLang="zh-CN" dirty="0"/>
              <a:t>96%</a:t>
            </a:r>
            <a:r>
              <a:rPr lang="zh-CN" altLang="en-US" dirty="0"/>
              <a:t>，在许多实际应用中已足够使用。</a:t>
            </a:r>
          </a:p>
        </p:txBody>
      </p:sp>
    </p:spTree>
    <p:extLst>
      <p:ext uri="{BB962C8B-B14F-4D97-AF65-F5344CB8AC3E}">
        <p14:creationId xmlns:p14="http://schemas.microsoft.com/office/powerpoint/2010/main" val="429218624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E64BF-D08F-4F7A-AF84-BB7E39A5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深度学习模型分析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27ECD-38B1-9E6E-898E-A1E8306BA6BE}"/>
              </a:ext>
            </a:extLst>
          </p:cNvPr>
          <p:cNvSpPr txBox="1"/>
          <p:nvPr/>
        </p:nvSpPr>
        <p:spPr>
          <a:xfrm>
            <a:off x="827584" y="4011910"/>
            <a:ext cx="7992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CNN</a:t>
            </a:r>
            <a:r>
              <a:rPr lang="zh-CN" altLang="en-US" dirty="0"/>
              <a:t>性能卓越：达到</a:t>
            </a:r>
            <a:r>
              <a:rPr lang="en-US" altLang="zh-CN" dirty="0"/>
              <a:t>98.60%</a:t>
            </a:r>
            <a:r>
              <a:rPr lang="zh-CN" altLang="en-US" dirty="0"/>
              <a:t>准确率，在数字</a:t>
            </a:r>
            <a:r>
              <a:rPr lang="en-US" altLang="zh-CN" dirty="0"/>
              <a:t>1</a:t>
            </a:r>
            <a:r>
              <a:rPr lang="zh-CN" altLang="en-US" dirty="0"/>
              <a:t>识别上表现最佳（</a:t>
            </a:r>
            <a:r>
              <a:rPr lang="en-US" altLang="zh-CN" dirty="0"/>
              <a:t>99.32%</a:t>
            </a:r>
            <a:r>
              <a:rPr lang="zh-CN" altLang="en-US" dirty="0"/>
              <a:t>），数字</a:t>
            </a:r>
            <a:r>
              <a:rPr lang="en-US" altLang="zh-CN" dirty="0"/>
              <a:t>8</a:t>
            </a:r>
            <a:r>
              <a:rPr lang="zh-CN" altLang="en-US" dirty="0"/>
              <a:t>相对较弱 （</a:t>
            </a:r>
            <a:r>
              <a:rPr lang="en-US" altLang="zh-CN" dirty="0"/>
              <a:t>97.85%</a:t>
            </a:r>
            <a:r>
              <a:rPr lang="zh-CN" altLang="en-US" dirty="0"/>
              <a:t>）。训练过程收敛良好，前</a:t>
            </a:r>
            <a:r>
              <a:rPr lang="en-US" altLang="zh-CN" dirty="0"/>
              <a:t>500</a:t>
            </a:r>
            <a:r>
              <a:rPr lang="zh-CN" altLang="en-US" dirty="0"/>
              <a:t>步损失快速下降，未出现过拟合。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907FA0-FA00-69F9-7732-3BBAAAF79499}"/>
              </a:ext>
            </a:extLst>
          </p:cNvPr>
          <p:cNvSpPr txBox="1"/>
          <p:nvPr/>
        </p:nvSpPr>
        <p:spPr>
          <a:xfrm>
            <a:off x="806480" y="4640237"/>
            <a:ext cx="758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全连接网络：</a:t>
            </a:r>
            <a:r>
              <a:rPr lang="en-US" altLang="zh-CN" dirty="0"/>
              <a:t>96.78%</a:t>
            </a:r>
            <a:r>
              <a:rPr lang="zh-CN" altLang="en-US" dirty="0"/>
              <a:t>准确率，训练稳定，</a:t>
            </a:r>
            <a:r>
              <a:rPr lang="en-US" altLang="zh-CN" dirty="0"/>
              <a:t>Dropout</a:t>
            </a:r>
            <a:r>
              <a:rPr lang="zh-CN" altLang="en-US" dirty="0"/>
              <a:t>有效防止过拟合，性能居中但训练效率较高。</a:t>
            </a: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389850AC-E44E-D9DA-A07C-E29D5A7A47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929713"/>
            <a:ext cx="4230996" cy="297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6593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24593</TotalTime>
  <Words>386</Words>
  <Application>Microsoft Office PowerPoint</Application>
  <PresentationFormat>全屏显示(16:9)</PresentationFormat>
  <Paragraphs>61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MiSans</vt:lpstr>
      <vt:lpstr>微软雅黑</vt:lpstr>
      <vt:lpstr>Arial</vt:lpstr>
      <vt:lpstr>Times New Roman</vt:lpstr>
      <vt:lpstr>Trebuchet MS</vt:lpstr>
      <vt:lpstr>默认设计模板</vt:lpstr>
      <vt:lpstr>PowerPoint 演示文稿</vt:lpstr>
      <vt:lpstr>任务与数据：MNIST 识别</vt:lpstr>
      <vt:lpstr>数据预处理</vt:lpstr>
      <vt:lpstr>全连接网络</vt:lpstr>
      <vt:lpstr>全连接网络</vt:lpstr>
      <vt:lpstr>CNN架构：卷积提取空间特征</vt:lpstr>
      <vt:lpstr>CNN架构</vt:lpstr>
      <vt:lpstr>PowerPoint 演示文稿</vt:lpstr>
      <vt:lpstr>总体性能对比</vt:lpstr>
      <vt:lpstr>深度学习模型分析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盛鹏 李</cp:lastModifiedBy>
  <cp:revision>1789</cp:revision>
  <dcterms:created xsi:type="dcterms:W3CDTF">2007-09-26T12:04:45Z</dcterms:created>
  <dcterms:modified xsi:type="dcterms:W3CDTF">2025-11-30T11:45:55Z</dcterms:modified>
</cp:coreProperties>
</file>