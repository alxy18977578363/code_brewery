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83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8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56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 panose="020B0604020202020204"/>
              </a:defRPr>
            </a:pPr>
            <a:r>
              <a:t>Chennai Restaurant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Arial" panose="020B0604020202020204"/>
              </a:defRPr>
            </a:pPr>
            <a:r>
              <a:t>Data Analysis &amp; Visualization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931920"/>
            <a:ext cx="4572000" cy="457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 panose="020B0604020202020204"/>
              </a:defRPr>
            </a:pPr>
            <a:r>
              <a:t>基于 Zomato 平台的 Chennai 餐饮市场数据分析与可视化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0584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rial" panose="020B0604020202020204"/>
              </a:defRPr>
            </a:pPr>
            <a:r>
              <a:rPr lang="zh-CN"/>
              <a:t>汇报人：</a:t>
            </a:r>
            <a:r>
              <a:rPr lang="en-US" altLang="zh-CN"/>
              <a:t>2351136 </a:t>
            </a:r>
            <a:r>
              <a:rPr lang="zh-CN" altLang="en-US"/>
              <a:t>李盛鹏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 panose="020B0604020202020204"/>
              </a:defRPr>
            </a:pPr>
            <a:r>
              <a:t>Outline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645920"/>
            <a:ext cx="640080" cy="640080"/>
          </a:xfrm>
          <a:prstGeom prst="ellipse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 panose="020B0604020202020204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691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676"/>
                </a:solidFill>
                <a:latin typeface="Arial" panose="020B0604020202020204"/>
              </a:defRPr>
            </a:pPr>
            <a:r>
              <a:t>Project Background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011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Arial" panose="020B0604020202020204"/>
              </a:defRPr>
            </a:pPr>
            <a:r>
              <a:t>项目背景与研究意义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651760"/>
            <a:ext cx="640080" cy="640080"/>
          </a:xfrm>
          <a:prstGeom prst="ellipse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 panose="020B0604020202020204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697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676"/>
                </a:solidFill>
                <a:latin typeface="Arial" panose="020B0604020202020204"/>
              </a:defRPr>
            </a:pPr>
            <a:r>
              <a:t>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017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Arial" panose="020B0604020202020204"/>
              </a:defRPr>
            </a:pPr>
            <a:r>
              <a:t>数据集介绍与预处理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657600"/>
            <a:ext cx="640080" cy="640080"/>
          </a:xfrm>
          <a:prstGeom prst="ellipse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7490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 panose="020B0604020202020204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703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676"/>
                </a:solidFill>
                <a:latin typeface="Arial" panose="020B0604020202020204"/>
              </a:defRPr>
            </a:pPr>
            <a:r>
              <a:t>Technology Stack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023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Arial" panose="020B0604020202020204"/>
              </a:defRPr>
            </a:pPr>
            <a:r>
              <a:t>技术栈与架构设计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663440"/>
            <a:ext cx="640080" cy="640080"/>
          </a:xfrm>
          <a:prstGeom prst="ellipse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7548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 panose="020B0604020202020204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709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676"/>
                </a:solidFill>
                <a:latin typeface="Arial" panose="020B0604020202020204"/>
              </a:defRPr>
            </a:pPr>
            <a:r>
              <a:t>EDA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029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Arial" panose="020B0604020202020204"/>
              </a:defRPr>
            </a:pPr>
            <a:r>
              <a:t>数据探索性分析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5669280"/>
            <a:ext cx="640080" cy="640080"/>
          </a:xfrm>
          <a:prstGeom prst="ellipse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7607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 panose="020B0604020202020204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715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676"/>
                </a:solidFill>
                <a:latin typeface="Arial" panose="020B0604020202020204"/>
              </a:defRPr>
            </a:pPr>
            <a:r>
              <a:t>Conclusions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6035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Arial" panose="020B0604020202020204"/>
              </a:defRPr>
            </a:pPr>
            <a:r>
              <a:t>总结与展望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56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86C00"/>
                </a:solidFill>
                <a:latin typeface="Arial" panose="020B0604020202020204"/>
              </a:defRPr>
            </a:pPr>
            <a:r>
              <a:t>Part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 panose="020B0604020202020204"/>
              </a:defRPr>
            </a:pPr>
            <a:r>
              <a:t>Project Background &amp; Research Significance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 panose="020B0604020202020204"/>
              </a:defRPr>
            </a:pPr>
            <a:r>
              <a:t>项目背景与研究意义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 panose="020B0604020202020204"/>
              </a:defRPr>
            </a:pPr>
            <a:r>
              <a:t>1.1 Research Background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676"/>
                </a:solidFill>
                <a:latin typeface="Arial" panose="020B0604020202020204"/>
              </a:defRPr>
            </a:pPr>
            <a:r>
              <a:t>背景概述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Arial" panose="020B0604020202020204"/>
              </a:defRPr>
            </a:pPr>
            <a:r>
              <a:t>• Zomato 是印度最大的在线餐饮平台之一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Arial" panose="020B0604020202020204"/>
              </a:defRPr>
            </a:pPr>
            <a:r>
              <a:t>• Chennai 作为南印度文化与美食中心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Arial" panose="020B0604020202020204"/>
              </a:defRPr>
            </a:pPr>
            <a:r>
              <a:t>• 餐饮市场竞争激烈且极具多样性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Arial" panose="020B0604020202020204"/>
              </a:defRPr>
            </a:pPr>
            <a:r>
              <a:t>• 消费者面临信息过载问题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Arial" panose="020B0604020202020204"/>
              </a:defRPr>
            </a:pPr>
            <a:r>
              <a:t>• 难以快速判断餐厅质量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6C00"/>
                </a:solidFill>
                <a:latin typeface="Arial" panose="020B0604020202020204"/>
              </a:defRPr>
            </a:pPr>
            <a:r>
              <a:t>研究意义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Arial" panose="020B0604020202020204"/>
              </a:defRPr>
            </a:pPr>
            <a:r>
              <a:t>• 市场洞察：理解 market_segment 对评分的影响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Arial" panose="020B0604020202020204"/>
              </a:defRPr>
            </a:pPr>
            <a:r>
              <a:t>• 地理分析：揭示各区域餐饮供给密度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Arial" panose="020B0604020202020204"/>
              </a:defRPr>
            </a:pPr>
            <a:r>
              <a:t>• 消费者决策：提供直观的比较可视化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Arial" panose="020B0604020202020204"/>
              </a:defRPr>
            </a:pPr>
            <a:r>
              <a:t>• 商业选址：为新餐厅选址提供数据支撑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 panose="020B0604020202020204"/>
              </a:defRPr>
            </a:pPr>
            <a:r>
              <a:t>1.2 Research Goals &amp; Deliverables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515600" cy="100584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91440" cy="1005840"/>
          </a:xfrm>
          <a:prstGeom prst="rect">
            <a:avLst/>
          </a:prstGeom>
          <a:solidFill>
            <a:srgbClr val="1A5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63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76"/>
                </a:solidFill>
                <a:latin typeface="Arial" panose="020B0604020202020204"/>
              </a:defRPr>
            </a:pPr>
            <a:r>
              <a:t>Goal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Arial" panose="020B0604020202020204"/>
              </a:defRPr>
            </a:pPr>
            <a:r>
              <a:t>全面描述 Chennai 餐饮市场整体格局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560320"/>
            <a:ext cx="10515600" cy="100584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560320"/>
            <a:ext cx="91440" cy="1005840"/>
          </a:xfrm>
          <a:prstGeom prst="rect">
            <a:avLst/>
          </a:prstGeom>
          <a:solidFill>
            <a:srgbClr val="1A5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651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76"/>
                </a:solidFill>
                <a:latin typeface="Arial" panose="020B0604020202020204"/>
              </a:defRPr>
            </a:pPr>
            <a:r>
              <a:t>Goal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Arial" panose="020B0604020202020204"/>
              </a:defRPr>
            </a:pPr>
            <a:r>
              <a:t>探究 market_segment/area/cuisine 与 rating 关系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749040"/>
            <a:ext cx="10515600" cy="100584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749040"/>
            <a:ext cx="91440" cy="1005840"/>
          </a:xfrm>
          <a:prstGeom prst="rect">
            <a:avLst/>
          </a:prstGeom>
          <a:solidFill>
            <a:srgbClr val="1A5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840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76"/>
                </a:solidFill>
                <a:latin typeface="Arial" panose="020B0604020202020204"/>
              </a:defRPr>
            </a:pPr>
            <a:r>
              <a:t>Goal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Arial" panose="020B0604020202020204"/>
              </a:defRPr>
            </a:pPr>
            <a:r>
              <a:t>分析空间分布特征，识别高密度/低评分区域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937760"/>
            <a:ext cx="10515600" cy="100584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937760"/>
            <a:ext cx="91440" cy="1005840"/>
          </a:xfrm>
          <a:prstGeom prst="rect">
            <a:avLst/>
          </a:prstGeom>
          <a:solidFill>
            <a:srgbClr val="1A5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029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76"/>
                </a:solidFill>
                <a:latin typeface="Arial" panose="020B0604020202020204"/>
              </a:defRPr>
            </a:pPr>
            <a:r>
              <a:t>Goal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394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Arial" panose="020B0604020202020204"/>
              </a:defRPr>
            </a:pPr>
            <a:r>
              <a:t>构建 ML 模型，预测评分并解读关键驱动因素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C00"/>
                </a:solidFill>
                <a:latin typeface="Arial" panose="020B0604020202020204"/>
              </a:defRPr>
            </a:pPr>
            <a:r>
              <a:t>项目成果：基于 Flask 的交互式 Web 可视化平台（5 个页面）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56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86C00"/>
                </a:solidFill>
                <a:latin typeface="Arial" panose="020B0604020202020204"/>
              </a:defRPr>
            </a:pPr>
            <a:r>
              <a:t>Part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 panose="020B0604020202020204"/>
              </a:defRPr>
            </a:pPr>
            <a:r>
              <a:t>Dataset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 panose="020B0604020202020204"/>
              </a:defRPr>
            </a:pPr>
            <a:r>
              <a:t>数据集介绍与预处理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 panose="020B0604020202020204"/>
              </a:defRPr>
            </a:pPr>
            <a:r>
              <a:t>2.1 Dataset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560320" cy="16459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5676"/>
                </a:solidFill>
                <a:latin typeface="Arial" panose="020B0604020202020204"/>
              </a:defRPr>
            </a:pPr>
            <a:r>
              <a:t>11,848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Arial" panose="020B0604020202020204"/>
              </a:defRPr>
            </a:pPr>
            <a:r>
              <a:t>Total Restaurants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1371600"/>
            <a:ext cx="2560320" cy="16459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5544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5676"/>
                </a:solidFill>
                <a:latin typeface="Arial" panose="020B0604020202020204"/>
              </a:defRPr>
            </a:pPr>
            <a:r>
              <a:t>268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Arial" panose="020B0604020202020204"/>
              </a:defRPr>
            </a:pPr>
            <a:r>
              <a:t>Areas Covered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371600"/>
            <a:ext cx="2560320" cy="16459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5676"/>
                </a:solidFill>
                <a:latin typeface="Arial" panose="020B0604020202020204"/>
              </a:defRPr>
            </a:pPr>
            <a: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Arial" panose="020B0604020202020204"/>
              </a:defRPr>
            </a:pPr>
            <a:r>
              <a:t>Market Segments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1371600"/>
            <a:ext cx="2560320" cy="16459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15544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5676"/>
                </a:solidFill>
                <a:latin typeface="Arial" panose="020B0604020202020204"/>
              </a:defRPr>
            </a:pPr>
            <a:r>
              <a:t>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Arial" panose="020B0604020202020204"/>
              </a:defRPr>
            </a:pPr>
            <a:r>
              <a:t>Original Fields</a:t>
            </a:r>
          </a:p>
        </p:txBody>
      </p:sp>
      <p:pic>
        <p:nvPicPr>
          <p:cNvPr id="16" name="Picture 15" descr="01_scorecar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0"/>
            <a:ext cx="10515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 panose="020B0604020202020204"/>
              </a:defRPr>
            </a:pPr>
            <a:r>
              <a:t>2.2 Data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676"/>
                </a:solidFill>
                <a:latin typeface="Arial" panose="020B0604020202020204"/>
              </a:defRPr>
            </a:pPr>
            <a:r>
              <a:t>处理流程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Arial" panose="020B0604020202020204"/>
              </a:defRPr>
            </a:pPr>
            <a:r>
              <a:t>✓ 检查数据完整性（无缺失值）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Arial" panose="020B0604020202020204"/>
              </a:defRPr>
            </a:pPr>
            <a:r>
              <a:t>✓ 列名规范化（小写、去特殊字符）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Arial" panose="020B0604020202020204"/>
              </a:defRPr>
            </a:pPr>
            <a:r>
              <a:t>✓ 列验证与选择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Arial" panose="020B0604020202020204"/>
              </a:defRPr>
            </a:pPr>
            <a:r>
              <a:t>✓ 衍生特征工程（4个新列）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Arial" panose="020B0604020202020204"/>
              </a:defRPr>
            </a:pPr>
            <a:r>
              <a:t>✓ 评分分段（fragile → elite）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6C00"/>
                </a:solidFill>
                <a:latin typeface="Arial" panose="020B0604020202020204"/>
              </a:defRPr>
            </a:pPr>
            <a:r>
              <a:t>衍生特征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2011680"/>
            <a:ext cx="5029200" cy="59436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057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76"/>
                </a:solidFill>
                <a:latin typeface="Arial" panose="020B0604020202020204"/>
              </a:defRPr>
            </a:pPr>
            <a:r>
              <a:t>restaurant_id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331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rial" panose="020B0604020202020204"/>
              </a:defRPr>
            </a:pPr>
            <a:r>
              <a:t>唯一标识符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743200"/>
            <a:ext cx="5029200" cy="59436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788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76"/>
                </a:solidFill>
                <a:latin typeface="Arial" panose="020B0604020202020204"/>
              </a:defRPr>
            </a:pPr>
            <a:r>
              <a:t>rating_band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063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rial" panose="020B0604020202020204"/>
              </a:defRPr>
            </a:pPr>
            <a:r>
              <a:t>评分分段等级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3474720"/>
            <a:ext cx="5029200" cy="59436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3520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76"/>
                </a:solidFill>
                <a:latin typeface="Arial" panose="020B0604020202020204"/>
              </a:defRPr>
            </a:pPr>
            <a:r>
              <a:t>same_name_outlets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794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rial" panose="020B0604020202020204"/>
              </a:defRPr>
            </a:pPr>
            <a:r>
              <a:t>同名门店数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4206240"/>
            <a:ext cx="5029200" cy="59436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4251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76"/>
                </a:solidFill>
                <a:latin typeface="Arial" panose="020B0604020202020204"/>
              </a:defRPr>
            </a:pPr>
            <a:r>
              <a:t>is_multi_outlet_name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526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rial" panose="020B0604020202020204"/>
              </a:defRPr>
            </a:pPr>
            <a:r>
              <a:t>是否连锁品牌</a:t>
            </a:r>
          </a:p>
        </p:txBody>
      </p:sp>
      <p:pic>
        <p:nvPicPr>
          <p:cNvPr id="19" name="Picture 18" descr="02_segment_analysi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846320"/>
            <a:ext cx="50292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56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86C00"/>
                </a:solidFill>
                <a:latin typeface="Arial" panose="020B0604020202020204"/>
              </a:defRPr>
            </a:pPr>
            <a:r>
              <a:t>Part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 panose="020B0604020202020204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 panose="020B0604020202020204"/>
              </a:defRPr>
            </a:pPr>
            <a:r>
              <a:t>技术栈与架构设计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 panose="020B0604020202020204"/>
              </a:defRPr>
            </a:pPr>
            <a:r>
              <a:t>3.1 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103120" cy="548640"/>
          </a:xfrm>
          <a:prstGeom prst="rect">
            <a:avLst/>
          </a:prstGeom>
          <a:solidFill>
            <a:srgbClr val="1A5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 panose="020B0604020202020204"/>
              </a:defRPr>
            </a:pPr>
            <a:r>
              <a:t>Backend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210312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488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Arial" panose="020B0604020202020204"/>
              </a:defRPr>
            </a:pPr>
            <a:r>
              <a:t>Flask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834640"/>
            <a:ext cx="210312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8803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Arial" panose="020B0604020202020204"/>
              </a:defRPr>
            </a:pPr>
            <a:r>
              <a:t>Blueprint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566160"/>
            <a:ext cx="210312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6118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Arial" panose="020B0604020202020204"/>
              </a:defRPr>
            </a:pPr>
            <a:r>
              <a:t>Service-Route-Template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1371600"/>
            <a:ext cx="2103120" cy="5486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1417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 panose="020B0604020202020204"/>
              </a:defRPr>
            </a:pPr>
            <a:r>
              <a:t>Data Processing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2103120"/>
            <a:ext cx="210312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21488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Arial" panose="020B0604020202020204"/>
              </a:defRPr>
            </a:pPr>
            <a:r>
              <a:t>Pandas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834640"/>
            <a:ext cx="210312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8803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Arial" panose="020B0604020202020204"/>
              </a:defRPr>
            </a:pPr>
            <a:r>
              <a:t>NumPy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0" y="3566160"/>
            <a:ext cx="210312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0" y="36118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Arial" panose="020B0604020202020204"/>
              </a:defRPr>
            </a:pPr>
            <a:r>
              <a:t>SciPy (KDE)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1371600"/>
            <a:ext cx="2103120" cy="5486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1417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 panose="020B0604020202020204"/>
              </a:defRPr>
            </a:pPr>
            <a:r>
              <a:t>Visualization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0" y="2103120"/>
            <a:ext cx="210312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21488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Arial" panose="020B0604020202020204"/>
              </a:defRPr>
            </a:pPr>
            <a:r>
              <a:t>Plotly.js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0" y="2834640"/>
            <a:ext cx="210312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0" y="28803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Arial" panose="020B0604020202020204"/>
              </a:defRPr>
            </a:pPr>
            <a:r>
              <a:t>ECharts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0" y="3566160"/>
            <a:ext cx="210312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0" y="36118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Arial" panose="020B0604020202020204"/>
              </a:defRPr>
            </a:pPr>
            <a:r>
              <a:t>Plotly Mapbox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0" y="1371600"/>
            <a:ext cx="2103120" cy="54864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0" y="1417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 panose="020B0604020202020204"/>
              </a:defRPr>
            </a:pPr>
            <a:r>
              <a:t>Machine Learning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0" y="2103120"/>
            <a:ext cx="210312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21488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Arial" panose="020B0604020202020204"/>
              </a:defRPr>
            </a:pPr>
            <a:r>
              <a:t>scikit-learn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0" y="2834640"/>
            <a:ext cx="210312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0" y="28803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Arial" panose="020B0604020202020204"/>
              </a:defRPr>
            </a:pPr>
            <a:r>
              <a:t>XGBoost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0" y="3566160"/>
            <a:ext cx="210312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0" y="36118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Arial" panose="020B0604020202020204"/>
              </a:defRPr>
            </a:pPr>
            <a:r>
              <a:t>LightGBM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01200" y="1371600"/>
            <a:ext cx="2103120" cy="548640"/>
          </a:xfrm>
          <a:prstGeom prst="rect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0" y="1417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 panose="020B0604020202020204"/>
              </a:defRPr>
            </a:pPr>
            <a:r>
              <a:t>Frontend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01200" y="2103120"/>
            <a:ext cx="210312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0" y="21488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Arial" panose="020B0604020202020204"/>
              </a:defRPr>
            </a:pPr>
            <a:r>
              <a:t>JavaScript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01200" y="2834640"/>
            <a:ext cx="210312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01200" y="28803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Arial" panose="020B0604020202020204"/>
              </a:defRPr>
            </a:pPr>
            <a:r>
              <a:t>CSS Theme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01200" y="3566160"/>
            <a:ext cx="210312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0" y="36118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Arial" panose="020B0604020202020204"/>
              </a:defRPr>
            </a:pPr>
            <a:r>
              <a:t>CDN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 panose="020B0604020202020204"/>
              </a:defRPr>
            </a:pPr>
            <a:r>
              <a:t>3.2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657600" cy="6400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 panose="020B0604020202020204"/>
              </a:defRPr>
            </a:pPr>
            <a:r>
              <a:t>User Browser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560320"/>
            <a:ext cx="3657600" cy="640080"/>
          </a:xfrm>
          <a:prstGeom prst="rect">
            <a:avLst/>
          </a:prstGeom>
          <a:solidFill>
            <a:srgbClr val="1A5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 panose="020B0604020202020204"/>
              </a:defRPr>
            </a:pPr>
            <a:r>
              <a:t>Flask (run.py)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474720"/>
            <a:ext cx="3657600" cy="64008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 panose="020B0604020202020204"/>
              </a:defRPr>
            </a:pPr>
            <a:r>
              <a:t>Route Layer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389120"/>
            <a:ext cx="3657600" cy="64008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480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 panose="020B0604020202020204"/>
              </a:defRPr>
            </a:pPr>
            <a:r>
              <a:t>Service Layer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5303520"/>
            <a:ext cx="3657600" cy="640080"/>
          </a:xfrm>
          <a:prstGeom prst="rect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94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 panose="020B0604020202020204"/>
              </a:defRPr>
            </a:pPr>
            <a:r>
              <a:t>Data Layer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2560320" y="2286000"/>
            <a:ext cx="365760" cy="274320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own Arrow 14"/>
          <p:cNvSpPr/>
          <p:nvPr/>
        </p:nvSpPr>
        <p:spPr>
          <a:xfrm>
            <a:off x="2560320" y="3200400"/>
            <a:ext cx="365760" cy="274320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wn Arrow 15"/>
          <p:cNvSpPr/>
          <p:nvPr/>
        </p:nvSpPr>
        <p:spPr>
          <a:xfrm>
            <a:off x="2560320" y="4114800"/>
            <a:ext cx="365760" cy="274320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wn Arrow 16"/>
          <p:cNvSpPr/>
          <p:nvPr/>
        </p:nvSpPr>
        <p:spPr>
          <a:xfrm>
            <a:off x="2560320" y="5029200"/>
            <a:ext cx="365760" cy="274320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0" y="16459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676"/>
                </a:solidFill>
                <a:latin typeface="Arial" panose="020B0604020202020204"/>
              </a:defRPr>
            </a:pPr>
            <a:r>
              <a:t>Routes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19456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Arial" panose="020B0604020202020204"/>
              </a:defRPr>
            </a:pPr>
            <a:r>
              <a:t>• / → overview.html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Arial" panose="020B0604020202020204"/>
              </a:defRPr>
            </a:pPr>
            <a:r>
              <a:t>• /spatial-diagnostics → spatial_diagnostics.html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Arial" panose="020B0604020202020204"/>
              </a:defRPr>
            </a:pPr>
            <a:r>
              <a:t>• /market-segment-rating → market_segment_rating.html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Arial" panose="020B0604020202020204"/>
              </a:defRPr>
            </a:pPr>
            <a:r>
              <a:t>• /prediction-analysis → prediction_analysis.html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Arial" panose="020B0604020202020204"/>
              </a:defRPr>
            </a:pPr>
            <a:r>
              <a:t>• /dashboard → Zomato_Chennai_Dashboard.html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41148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676"/>
                </a:solidFill>
                <a:latin typeface="Arial" panose="020B0604020202020204"/>
              </a:defRPr>
            </a:pPr>
            <a:r>
              <a:t>Services (with Memory Cache)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466344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Arial" panose="020B0604020202020204"/>
              </a:defRPr>
            </a:pPr>
            <a:r>
              <a:t>• OverviewService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Arial" panose="020B0604020202020204"/>
              </a:defRPr>
            </a:pPr>
            <a:r>
              <a:t>• SpatialService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Arial" panose="020B0604020202020204"/>
              </a:defRPr>
            </a:pPr>
            <a:r>
              <a:t>• MarketSegmentRatingService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Arial" panose="020B0604020202020204"/>
              </a:defRPr>
            </a:pPr>
            <a:r>
              <a:t>• PredictionAnalysisService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56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86C00"/>
                </a:solidFill>
                <a:latin typeface="Arial" panose="020B0604020202020204"/>
              </a:defRPr>
            </a:pPr>
            <a:r>
              <a:t>Part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 panose="020B0604020202020204"/>
              </a:defRPr>
            </a:pPr>
            <a:r>
              <a:t>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 panose="020B0604020202020204"/>
              </a:defRPr>
            </a:pPr>
            <a:r>
              <a:t>数据探索性分析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 panose="020B0604020202020204"/>
              </a:defRPr>
            </a:pPr>
            <a:r>
              <a:t>4.1 Overview Analysis</a:t>
            </a:r>
          </a:p>
        </p:txBody>
      </p:sp>
      <p:pic>
        <p:nvPicPr>
          <p:cNvPr id="4" name="Picture 3" descr="overvie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109728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C00"/>
                </a:solidFill>
                <a:latin typeface="Arial" panose="020B0604020202020204"/>
              </a:defRPr>
            </a:pPr>
            <a:r>
              <a:t>Key Findings: 平均评分 3.52 | Cloud Kitchen 评分最高 (3.68) | Dine-out 数量最大 (5,292)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 panose="020B0604020202020204"/>
              </a:defRPr>
            </a:pPr>
            <a:r>
              <a:t>4.1 Market Segment &amp; Area Rating Distribution</a:t>
            </a:r>
          </a:p>
        </p:txBody>
      </p:sp>
      <p:pic>
        <p:nvPicPr>
          <p:cNvPr id="4" name="Picture 3" descr="Market Segment 评分直方图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80160"/>
            <a:ext cx="5760720" cy="5029200"/>
          </a:xfrm>
          <a:prstGeom prst="rect">
            <a:avLst/>
          </a:prstGeom>
        </p:spPr>
      </p:pic>
      <p:pic>
        <p:nvPicPr>
          <p:cNvPr id="5" name="Picture 4" descr="Area 评分直方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80160"/>
            <a:ext cx="57607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 panose="020B0604020202020204"/>
              </a:defRPr>
            </a:pPr>
            <a:r>
              <a:t>4.2 Spatial Analysis - Word Cloud &amp; Box Plot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76"/>
                </a:solidFill>
                <a:latin typeface="Arial" panose="020B0604020202020204"/>
              </a:defRPr>
            </a:pPr>
            <a:r>
              <a:t>Area Name Word Cloud</a:t>
            </a:r>
          </a:p>
        </p:txBody>
      </p:sp>
      <p:pic>
        <p:nvPicPr>
          <p:cNvPr id="5" name="Picture 4" descr="词云图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37360"/>
            <a:ext cx="548640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76"/>
                </a:solidFill>
                <a:latin typeface="Arial" panose="020B0604020202020204"/>
              </a:defRPr>
            </a:pPr>
            <a:r>
              <a:t>Top Areas Rating Distribution</a:t>
            </a:r>
          </a:p>
        </p:txBody>
      </p:sp>
      <p:pic>
        <p:nvPicPr>
          <p:cNvPr id="7" name="Picture 6" descr="箱线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48640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 panose="020B0604020202020204"/>
              </a:defRPr>
            </a:pPr>
            <a:r>
              <a:t>4.2 Spatial Analysis - Stacked Bar &amp; Bubble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76"/>
                </a:solidFill>
                <a:latin typeface="Arial" panose="020B0604020202020204"/>
              </a:defRPr>
            </a:pPr>
            <a:r>
              <a:t>Rating Band Distribution by Area</a:t>
            </a:r>
          </a:p>
        </p:txBody>
      </p:sp>
      <p:pic>
        <p:nvPicPr>
          <p:cNvPr id="5" name="Picture 4" descr="堆叠图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37360"/>
            <a:ext cx="548640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76"/>
                </a:solidFill>
                <a:latin typeface="Arial" panose="020B0604020202020204"/>
              </a:defRPr>
            </a:pPr>
            <a:r>
              <a:t>Restaurant Count vs Average Rating</a:t>
            </a:r>
          </a:p>
        </p:txBody>
      </p:sp>
      <p:pic>
        <p:nvPicPr>
          <p:cNvPr id="7" name="Picture 6" descr="气泡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48640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 panose="020B0604020202020204"/>
              </a:defRPr>
            </a:pPr>
            <a:r>
              <a:t>4.2 Spatial Analysis - Heatmap &amp; Quadrant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8655" y="130683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76"/>
                </a:solidFill>
                <a:latin typeface="Arial" panose="020B0604020202020204"/>
              </a:defRPr>
            </a:pPr>
            <a:r>
              <a:t>Density Heatmap</a:t>
            </a:r>
          </a:p>
        </p:txBody>
      </p:sp>
      <p:pic>
        <p:nvPicPr>
          <p:cNvPr id="5" name="Picture 4" descr="核函数热力图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1948815"/>
            <a:ext cx="10846435" cy="43002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 panose="020B0604020202020204"/>
              </a:defRPr>
            </a:pPr>
            <a:r>
              <a:t>4.2 Spatial Analysis - Heatmap &amp; Quadrant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1990" y="1331595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76"/>
                </a:solidFill>
                <a:latin typeface="Arial" panose="020B0604020202020204"/>
              </a:defRPr>
            </a:pPr>
            <a:r>
              <a:t>Four Quadrant Strategic Matrix</a:t>
            </a:r>
          </a:p>
        </p:txBody>
      </p:sp>
      <p:pic>
        <p:nvPicPr>
          <p:cNvPr id="7" name="Picture 6" descr="四象限图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990" y="1931670"/>
            <a:ext cx="10385425" cy="435419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 panose="020B0604020202020204"/>
              </a:defRPr>
            </a:pPr>
            <a:r>
              <a:t>4.3 Segment &amp; Rating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76"/>
                </a:solidFill>
                <a:latin typeface="Arial" panose="020B0604020202020204"/>
              </a:defRPr>
            </a:pPr>
            <a:r>
              <a:t>Rating Ridgeline by Market Segment</a:t>
            </a:r>
          </a:p>
        </p:txBody>
      </p:sp>
      <p:pic>
        <p:nvPicPr>
          <p:cNvPr id="5" name="Picture 4" descr="脊图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37360"/>
            <a:ext cx="548640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76"/>
                </a:solidFill>
                <a:latin typeface="Arial" panose="020B0604020202020204"/>
              </a:defRPr>
            </a:pPr>
            <a:r>
              <a:t>Grouped Bar Chart by Rating Band</a:t>
            </a:r>
          </a:p>
        </p:txBody>
      </p:sp>
      <p:pic>
        <p:nvPicPr>
          <p:cNvPr id="7" name="Picture 6" descr="分组柱形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48640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 panose="020B0604020202020204"/>
              </a:defRPr>
            </a:pPr>
            <a:r>
              <a:t>4.3 Feature Heatmap &amp; Cuisine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76"/>
                </a:solidFill>
                <a:latin typeface="Arial" panose="020B0604020202020204"/>
              </a:defRPr>
            </a:pPr>
            <a:r>
              <a:t>Service Feature Adoption Rate (%)</a:t>
            </a:r>
          </a:p>
        </p:txBody>
      </p:sp>
      <p:pic>
        <p:nvPicPr>
          <p:cNvPr id="5" name="Picture 4" descr="菜系结构提供服务特色比例图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37360"/>
            <a:ext cx="548640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76"/>
                </a:solidFill>
                <a:latin typeface="Arial" panose="020B0604020202020204"/>
              </a:defRPr>
            </a:pPr>
            <a:r>
              <a:t>Top Cuisines &amp; Signature Dishes</a:t>
            </a:r>
          </a:p>
        </p:txBody>
      </p:sp>
      <p:pic>
        <p:nvPicPr>
          <p:cNvPr id="7" name="Picture 6" descr="最受喜爱的菜品和当地菜品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486400" cy="4754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6C00"/>
                </a:solidFill>
                <a:latin typeface="Arial" panose="020B0604020202020204"/>
              </a:defRPr>
            </a:pPr>
            <a:r>
              <a:t>Key Findings: Home Delivery (71.6%) &amp; Indoor Seating (70.8%) are most common | Chinese is top cuisine | Filter Coffee is top dish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 panose="020B0604020202020204"/>
              </a:defRPr>
            </a:pPr>
            <a:r>
              <a:t>4.4 Machine Learning - Model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76"/>
                </a:solidFill>
                <a:latin typeface="Arial" panose="020B0604020202020204"/>
              </a:defRPr>
            </a:pPr>
            <a:r>
              <a:t>Model Leaderboard</a:t>
            </a:r>
          </a:p>
        </p:txBody>
      </p:sp>
      <p:pic>
        <p:nvPicPr>
          <p:cNvPr id="5" name="Picture 4" descr="模型排行榜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37360"/>
            <a:ext cx="548640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76"/>
                </a:solidFill>
                <a:latin typeface="Arial" panose="020B0604020202020204"/>
              </a:defRPr>
            </a:pPr>
            <a:r>
              <a:t>Feature Importance</a:t>
            </a:r>
          </a:p>
        </p:txBody>
      </p:sp>
      <p:pic>
        <p:nvPicPr>
          <p:cNvPr id="7" name="Picture 6" descr="重要性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48640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 panose="020B0604020202020204"/>
              </a:defRPr>
            </a:pPr>
            <a:r>
              <a:t>4.4 Machine Learning - Residual &amp; Error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76"/>
                </a:solidFill>
                <a:latin typeface="Arial" panose="020B0604020202020204"/>
              </a:defRPr>
            </a:pPr>
            <a:r>
              <a:t>Actual vs Predicted (Hexbin Density)</a:t>
            </a:r>
          </a:p>
        </p:txBody>
      </p:sp>
      <p:pic>
        <p:nvPicPr>
          <p:cNvPr id="5" name="Picture 4" descr="六边形密度图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37360"/>
            <a:ext cx="548640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76"/>
                </a:solidFill>
                <a:latin typeface="Arial" panose="020B0604020202020204"/>
              </a:defRPr>
            </a:pPr>
            <a:r>
              <a:t>Residual Distribution</a:t>
            </a:r>
          </a:p>
        </p:txBody>
      </p:sp>
      <p:pic>
        <p:nvPicPr>
          <p:cNvPr id="7" name="Picture 6" descr="残差分析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48640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 panose="020B0604020202020204"/>
              </a:defRPr>
            </a:pPr>
            <a:r>
              <a:t>4.4 Machine Learning - Error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76"/>
                </a:solidFill>
                <a:latin typeface="Arial" panose="020B0604020202020204"/>
              </a:defRPr>
            </a:pPr>
            <a:r>
              <a:t>MAE + Bias by Market Segment</a:t>
            </a:r>
          </a:p>
        </p:txBody>
      </p:sp>
      <p:pic>
        <p:nvPicPr>
          <p:cNvPr id="5" name="Picture 4" descr="Market Segment分解 MAE + Bia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37360"/>
            <a:ext cx="548640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76"/>
                </a:solidFill>
                <a:latin typeface="Arial" panose="020B0604020202020204"/>
              </a:defRPr>
            </a:pPr>
            <a:r>
              <a:t>MAE + Bias by Area</a:t>
            </a:r>
          </a:p>
        </p:txBody>
      </p:sp>
      <p:pic>
        <p:nvPicPr>
          <p:cNvPr id="7" name="Picture 6" descr="Area 分解 MAE + B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48640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 panose="020B0604020202020204"/>
              </a:defRPr>
            </a:pPr>
            <a:r>
              <a:t>4.4 Machine Learning - Ridge Coefficients &amp; PDP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76"/>
                </a:solidFill>
                <a:latin typeface="Arial" panose="020B0604020202020204"/>
              </a:defRPr>
            </a:pPr>
            <a:r>
              <a:t>Ridge Coefficient Direction</a:t>
            </a:r>
          </a:p>
        </p:txBody>
      </p:sp>
      <p:pic>
        <p:nvPicPr>
          <p:cNvPr id="5" name="Picture 4" descr="脊线系数方向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37360"/>
            <a:ext cx="548640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C00"/>
                </a:solidFill>
                <a:latin typeface="Arial" panose="020B0604020202020204"/>
              </a:defRPr>
            </a:pPr>
            <a:r>
              <a:t>Key ML 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333333"/>
                </a:solidFill>
                <a:latin typeface="Arial" panose="020B0604020202020204"/>
              </a:defRPr>
            </a:pPr>
            <a:r>
              <a:t>• 品牌足迹（同名门店数）是评分最强正向预测因子</a:t>
            </a:r>
          </a:p>
          <a:p>
            <a:pPr>
              <a:spcAft>
                <a:spcPts val="1400"/>
              </a:spcAft>
              <a:defRPr sz="1500">
                <a:solidFill>
                  <a:srgbClr val="333333"/>
                </a:solidFill>
                <a:latin typeface="Arial" panose="020B0604020202020204"/>
              </a:defRPr>
            </a:pPr>
            <a:r>
              <a:t>• 距离市中心越远评分倾向越低</a:t>
            </a:r>
          </a:p>
          <a:p>
            <a:pPr>
              <a:spcAft>
                <a:spcPts val="1400"/>
              </a:spcAft>
              <a:defRPr sz="1500">
                <a:solidFill>
                  <a:srgbClr val="333333"/>
                </a:solidFill>
                <a:latin typeface="Arial" panose="020B0604020202020204"/>
              </a:defRPr>
            </a:pPr>
            <a:r>
              <a:t>• 招牌菜丰富度对评分有正向贡献</a:t>
            </a:r>
          </a:p>
          <a:p>
            <a:pPr>
              <a:spcAft>
                <a:spcPts val="1400"/>
              </a:spcAft>
              <a:defRPr sz="1500">
                <a:solidFill>
                  <a:srgbClr val="333333"/>
                </a:solidFill>
                <a:latin typeface="Arial" panose="020B0604020202020204"/>
              </a:defRPr>
            </a:pPr>
            <a:r>
              <a:t>• Cloud Kitchen / Dine-out 预测评分最高</a:t>
            </a:r>
          </a:p>
          <a:p>
            <a:pPr>
              <a:spcAft>
                <a:spcPts val="1400"/>
              </a:spcAft>
              <a:defRPr sz="1500">
                <a:solidFill>
                  <a:srgbClr val="333333"/>
                </a:solidFill>
                <a:latin typeface="Arial" panose="020B0604020202020204"/>
              </a:defRPr>
            </a:pPr>
            <a:r>
              <a:t>• HistGradientBoosting 表现最优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56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86C00"/>
                </a:solidFill>
                <a:latin typeface="Arial" panose="020B0604020202020204"/>
              </a:defRPr>
            </a:pPr>
            <a:r>
              <a:t>Part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 panose="020B0604020202020204"/>
              </a:defRPr>
            </a:pPr>
            <a:r>
              <a:t>Conclusions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 panose="020B0604020202020204"/>
              </a:defRPr>
            </a:pPr>
            <a:r>
              <a:t>总结与展望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 panose="020B0604020202020204"/>
              </a:defRPr>
            </a:pPr>
            <a:r>
              <a:t>5.1 Main Conclusions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0972800" cy="109728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731520" cy="1097280"/>
          </a:xfrm>
          <a:prstGeom prst="rect">
            <a:avLst/>
          </a:prstGeom>
          <a:solidFill>
            <a:srgbClr val="1A5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 panose="020B0604020202020204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4630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Arial" panose="020B0604020202020204"/>
              </a:defRPr>
            </a:pPr>
            <a:r>
              <a:t>Chennai 餐饮市场以 Dine-out 为主导，Cloud Kitchen 评分最高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202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Arial" panose="020B0604020202020204"/>
              </a:defRPr>
            </a:pPr>
            <a:r>
              <a:t>Dine-out 数量最大（5,292家），Cloud Kitchen 平均评分最高（3.68）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51760"/>
            <a:ext cx="10972800" cy="109728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651760"/>
            <a:ext cx="731520" cy="1097280"/>
          </a:xfrm>
          <a:prstGeom prst="rect">
            <a:avLst/>
          </a:prstGeom>
          <a:solidFill>
            <a:srgbClr val="1A5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9260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 panose="020B0604020202020204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7432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Arial" panose="020B0604020202020204"/>
              </a:defRPr>
            </a:pPr>
            <a:r>
              <a:t>空间分布不均匀，T. Nagar / Anna Nagar 为核心优质区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2004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Arial" panose="020B0604020202020204"/>
              </a:defRPr>
            </a:pPr>
            <a:r>
              <a:t>Porur 密度最高但评分偏低，竞争激烈；部分低供给区域存在商业机会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931920"/>
            <a:ext cx="10972800" cy="109728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931920"/>
            <a:ext cx="731520" cy="1097280"/>
          </a:xfrm>
          <a:prstGeom prst="rect">
            <a:avLst/>
          </a:prstGeom>
          <a:solidFill>
            <a:srgbClr val="1A5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 panose="020B0604020202020204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0233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Arial" panose="020B0604020202020204"/>
              </a:defRPr>
            </a:pPr>
            <a:r>
              <a:t>品牌连锁效应（多门店）对评分有显著正向影响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4805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Arial" panose="020B0604020202020204"/>
              </a:defRPr>
            </a:pPr>
            <a:r>
              <a:t>同名门店数是 ML 模型中最强正向预测因子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212080"/>
            <a:ext cx="10972800" cy="109728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5212080"/>
            <a:ext cx="731520" cy="1097280"/>
          </a:xfrm>
          <a:prstGeom prst="rect">
            <a:avLst/>
          </a:prstGeom>
          <a:solidFill>
            <a:srgbClr val="1A5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4864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 panose="020B0604020202020204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3035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Arial" panose="020B0604020202020204"/>
              </a:defRPr>
            </a:pPr>
            <a:r>
              <a:t>ML 模型能有效预测评分，品牌足迹和菜系多样性为关键特征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7607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Arial" panose="020B0604020202020204"/>
              </a:defRPr>
            </a:pPr>
            <a:r>
              <a:t>HistGradientBoosting 表现最优，可解释性分析揭示了关键驱动因素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 panose="020B0604020202020204"/>
              </a:defRPr>
            </a:pPr>
            <a:r>
              <a:t>5.2 Limitations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6C00"/>
                </a:solidFill>
                <a:latin typeface="Arial" panose="020B0604020202020204"/>
              </a:defRPr>
            </a:pPr>
            <a:r>
              <a:t>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  <a:latin typeface="Arial" panose="020B0604020202020204"/>
              </a:defRPr>
            </a:pPr>
            <a:r>
              <a:t>• 数据时效性：Zomato 评分可能随时间变化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  <a:latin typeface="Arial" panose="020B0604020202020204"/>
              </a:defRPr>
            </a:pPr>
            <a:r>
              <a:t>• 特征扩展：可加入价格区间、评论数、照片数等维度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  <a:latin typeface="Arial" panose="020B0604020202020204"/>
              </a:defRPr>
            </a:pPr>
            <a:r>
              <a:t>• 样本偏差：仅覆盖 Chennai 城市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88"/>
                </a:solidFill>
                <a:latin typeface="Arial" panose="020B0604020202020204"/>
              </a:defRPr>
            </a:pPr>
            <a:r>
              <a:t>Future Directions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9202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  <a:latin typeface="Arial" panose="020B0604020202020204"/>
              </a:defRPr>
            </a:pPr>
            <a:r>
              <a:t>• 时序分析：跟踪评分趋势变化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  <a:latin typeface="Arial" panose="020B0604020202020204"/>
              </a:defRPr>
            </a:pPr>
            <a:r>
              <a:t>• 推荐系统：基于用户画像的个性化推荐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  <a:latin typeface="Arial" panose="020B0604020202020204"/>
              </a:defRPr>
            </a:pPr>
            <a:r>
              <a:t>• 多城市对比：扩展到 Mumbai / Delhi 等城市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  <a:latin typeface="Arial" panose="020B0604020202020204"/>
              </a:defRPr>
            </a:pPr>
            <a:r>
              <a:t>• 实时数据：接入 Zomato API 获取实时数据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56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Arial" panose="020B0604020202020204"/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3474720"/>
            <a:ext cx="3657600" cy="457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Arial" panose="020B0604020202020204"/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rial" panose="020B0604020202020204"/>
              </a:defRPr>
            </a:pPr>
            <a:r>
              <a:t>基于 Zomato 平台的 Chennai 餐饮市场数据分析与可视化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3600</Words>
  <Application>WPS 演示</Application>
  <PresentationFormat>On-screen Show (4:3)</PresentationFormat>
  <Paragraphs>339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6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WPS_1695304595</cp:lastModifiedBy>
  <cp:revision>4</cp:revision>
  <dcterms:created xsi:type="dcterms:W3CDTF">2013-01-27T09:14:00Z</dcterms:created>
  <dcterms:modified xsi:type="dcterms:W3CDTF">2026-05-16T02:19:48Z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E09EC6CBE56A49D9A7C9323359D30E4C_12</vt:lpwstr>
  </property>
  <property fmtid="{D5CDD505-2E9C-101B-9397-08002B2CF9AE}" pid="3" name="KSOProductBuildVer">
    <vt:lpwstr>2052-12.1.0.26375</vt:lpwstr>
  </property>
</Properties>
</file>