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9"/>
  </p:notesMasterIdLst>
  <p:sldIdLst>
    <p:sldId id="261" r:id="rId3"/>
    <p:sldId id="265" r:id="rId4"/>
    <p:sldId id="15717687" r:id="rId5"/>
    <p:sldId id="15717696" r:id="rId6"/>
    <p:sldId id="15717705" r:id="rId7"/>
    <p:sldId id="15717712" r:id="rId8"/>
    <p:sldId id="15717701" r:id="rId9"/>
    <p:sldId id="15717714" r:id="rId10"/>
    <p:sldId id="15717707" r:id="rId11"/>
    <p:sldId id="15717716" r:id="rId12"/>
    <p:sldId id="15717706" r:id="rId13"/>
    <p:sldId id="15717717" r:id="rId14"/>
    <p:sldId id="15717718" r:id="rId15"/>
    <p:sldId id="15717720" r:id="rId16"/>
    <p:sldId id="15717721" r:id="rId17"/>
    <p:sldId id="1571771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6E95"/>
    <a:srgbClr val="2B6587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6578" autoAdjust="0"/>
  </p:normalViewPr>
  <p:slideViewPr>
    <p:cSldViewPr snapToGrid="0">
      <p:cViewPr varScale="1">
        <p:scale>
          <a:sx n="83" d="100"/>
          <a:sy n="83" d="100"/>
        </p:scale>
        <p:origin x="101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D35CEC-B10B-4D65-A5C8-9A96ADCA04DF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A0D5A9-774B-4D3E-AD47-0275D9A497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206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A0D5A9-774B-4D3E-AD47-0275D9A4979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135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A0D5A9-774B-4D3E-AD47-0275D9A4979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981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13040, 13077, 13064, 13065, 12991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A0D5A9-774B-4D3E-AD47-0275D9A4979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401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61833D-B3A1-206C-6A82-D909CB33D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7E6352-BA7D-1DC9-A0FC-B56978D6D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FF6C28-6BB0-AFCD-A340-B49C32043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2AD7D4-DB05-6F69-9375-7E707FF67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8F7E02-DEBE-82EF-2E9C-624DA528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892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DC90D-87C2-AB72-4182-0DC5B5303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EFDA47-1FA0-0591-DF4C-C54010858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FC952F-EBA8-D775-BAD2-9F7EC49D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25351E-7E42-3E1E-6D8B-B45F76F3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A81E87-D203-8AA5-FA91-CBD2C0B5B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748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F473D-8D3E-06DA-253B-04A244B52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B95E03-EE4C-2F91-CB4B-9E8B72C0C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8BD948-2DF6-1E33-1F84-436A25C59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7B20D9-6D00-9F18-1B7D-3B4275994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6ED8C9-0C44-4BDA-7340-6AC5815C7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581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9E3AAE-B332-E269-6BE7-D92B72BAF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06A08-3523-0EEB-ADA4-7512EFB90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E6CA63-9638-6A77-5319-A1B0094FD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0E4A47-44BA-7A8D-B40F-BC693AB8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532EAC-9CC7-867F-B322-6FFBE188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5DFA52-A61E-9ED4-00FC-C792C1A5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533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B02631-3413-D2F3-FC29-530BCC3A8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0B23DB-8CF5-0473-47F3-BA0666446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A9B044-394C-24F3-5AC3-E5A4FE021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A68BA3-8B62-D62A-ECDB-40959FC37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7D8B3B-F443-EBCF-0209-3585005F2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7978FB7-4AEA-4373-3CD5-ECC143F8E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C96FB2-FFBF-81BE-D026-4E57F52C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6E355E-4818-8774-E745-15F1D241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499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655B7-C020-1634-857F-14D274CF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B9235D-2433-A99A-5580-9E1D30AED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CCED8A-3751-1244-E017-497FC2582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9DEEF0-5095-A2E6-4321-2C6023B00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882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ECC7AD-555D-1B11-82CD-872196A8E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7E6092-E75D-3804-2DFE-809EAACEA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0BFEBC-C9B0-69F8-205F-68C25F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746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11EC3-2B1B-6D55-BD9E-E46D998BE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F4DBFD-3D94-76F8-3F56-46DC38879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41F375-6AD4-15CC-2880-EEC93F152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887DC8-ABE4-6F9B-8902-6BCF7CA59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4D84E1-D26F-7586-96CD-5C3EFC402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A46595-8684-DDD5-CBD5-556F5A5A2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844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EA6ED-6657-E0B0-9CFD-4670E6FF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21F8E8-2B09-BAC6-094E-FC885EBA4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F719FA-E622-1B30-E298-14F232B17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16844B-0B32-098A-DEDC-BB3AB6A6B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76E53B-C57C-2F52-B015-18ED64C21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0ABB25-D7F9-406E-2DFF-35336E4D9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927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87905-D082-C620-052E-02F67EF93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C70982-1D4B-0756-F7A8-139A32090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6D970A-A3B4-6B82-16AF-A233F0121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0BAFD6-6983-64FB-7A0E-F41C6EECD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7BF377-163A-5F3B-F0E6-FBC70499D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463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EBCACE-E46B-1AB7-4087-8B04A287C0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B21664-32EE-7B63-393C-5736A3CB6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473554-DF20-4E43-D04C-6A83BDE6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39595A-745C-0701-36F5-19D81956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62E427-AEE4-2324-A20C-E5C1E5E71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498272" y="-9951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下载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3950141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2025/11/13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340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2025/11/13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101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732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53CFC3-6627-DEE5-4835-103D24221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1941BE-D5DF-9C46-60A5-1AA334D0D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823193-21F5-2F01-C0D4-D2F1BB933F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90C43-44E2-4CD1-8424-5A1A2C18FA1F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218957-A82E-0F2F-8711-461A1182A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2F78BD-D0A1-76C4-9434-F53AA94A7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BAF24-162C-4BF9-BDC2-9400672B4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54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714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82D69C5F-D87B-FC99-023A-4F75D1C6104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9ACC6E1-9CF3-416F-7BE0-DB2850C26E4F}"/>
              </a:ext>
            </a:extLst>
          </p:cNvPr>
          <p:cNvSpPr/>
          <p:nvPr/>
        </p:nvSpPr>
        <p:spPr>
          <a:xfrm>
            <a:off x="255094" y="2336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0E1026-6911-51E1-2343-44F5E0ADC198}"/>
              </a:ext>
            </a:extLst>
          </p:cNvPr>
          <p:cNvSpPr txBox="1"/>
          <p:nvPr/>
        </p:nvSpPr>
        <p:spPr>
          <a:xfrm>
            <a:off x="618565" y="2694610"/>
            <a:ext cx="1097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4000" dirty="0"/>
              <a:t>流数据处理：从原理到实时日志告警系统的实践</a:t>
            </a:r>
            <a:endParaRPr lang="zh-CN" altLang="en-US" sz="4000" spc="6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C0B95F7-68E8-D22C-EE22-93C3AC2170EA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36C8250-DE55-6AEF-4FE3-01AC38C53DE3}"/>
              </a:ext>
            </a:extLst>
          </p:cNvPr>
          <p:cNvSpPr/>
          <p:nvPr/>
        </p:nvSpPr>
        <p:spPr>
          <a:xfrm>
            <a:off x="4960620" y="6435323"/>
            <a:ext cx="2270760" cy="1383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2247F13-8C10-F54C-779B-5ED3AB6FA044}"/>
              </a:ext>
            </a:extLst>
          </p:cNvPr>
          <p:cNvCxnSpPr/>
          <p:nvPr/>
        </p:nvCxnSpPr>
        <p:spPr>
          <a:xfrm>
            <a:off x="5771786" y="4193208"/>
            <a:ext cx="648429" cy="0"/>
          </a:xfrm>
          <a:prstGeom prst="line">
            <a:avLst/>
          </a:prstGeom>
          <a:ln w="57150" cap="rnd">
            <a:solidFill>
              <a:srgbClr val="2B65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DFAE01FE-47DC-8E6F-37E8-39271CAD8177}"/>
              </a:ext>
            </a:extLst>
          </p:cNvPr>
          <p:cNvSpPr txBox="1"/>
          <p:nvPr/>
        </p:nvSpPr>
        <p:spPr>
          <a:xfrm>
            <a:off x="2673804" y="3423633"/>
            <a:ext cx="6844392" cy="335989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Id4"/>
                  <a:srcRect/>
                  <a:stretch>
                    <a:fillRect/>
                  </a:stretch>
                </a:blipFill>
              </a:defRPr>
            </a:lvl1pPr>
          </a:lstStyle>
          <a:p>
            <a:pPr>
              <a:lnSpc>
                <a:spcPts val="2200"/>
              </a:lnSpc>
            </a:pPr>
            <a:endParaRPr lang="zh-CN" altLang="en-US" sz="1050" b="0" dirty="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0C8355B-4FCC-A617-B7DD-AE882FC84DB7}"/>
              </a:ext>
            </a:extLst>
          </p:cNvPr>
          <p:cNvSpPr txBox="1"/>
          <p:nvPr/>
        </p:nvSpPr>
        <p:spPr>
          <a:xfrm>
            <a:off x="4554071" y="390907"/>
            <a:ext cx="3092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4800" b="1" spc="600" dirty="0">
                <a:solidFill>
                  <a:srgbClr val="2B6587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字魂35号-经典雅黑" panose="00000500000000000000" pitchFamily="2" charset="-122"/>
              </a:rPr>
              <a:t>期中汇报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284D516-6F8C-4F7F-DD00-E3E71D735509}"/>
              </a:ext>
            </a:extLst>
          </p:cNvPr>
          <p:cNvGrpSpPr/>
          <p:nvPr/>
        </p:nvGrpSpPr>
        <p:grpSpPr>
          <a:xfrm>
            <a:off x="4132728" y="4513181"/>
            <a:ext cx="3926544" cy="310294"/>
            <a:chOff x="4281678" y="4675456"/>
            <a:chExt cx="4432222" cy="438894"/>
          </a:xfrm>
        </p:grpSpPr>
        <p:sp>
          <p:nvSpPr>
            <p:cNvPr id="17" name="文本框 6">
              <a:extLst>
                <a:ext uri="{FF2B5EF4-FFF2-40B4-BE49-F238E27FC236}">
                  <a16:creationId xmlns:a16="http://schemas.microsoft.com/office/drawing/2014/main" id="{393CD4D9-1BC4-004B-D8A8-463E722E0AF3}"/>
                </a:ext>
              </a:extLst>
            </p:cNvPr>
            <p:cNvSpPr txBox="1"/>
            <p:nvPr/>
          </p:nvSpPr>
          <p:spPr>
            <a:xfrm>
              <a:off x="4281678" y="4679016"/>
              <a:ext cx="1983369" cy="435334"/>
            </a:xfrm>
            <a:prstGeom prst="roundRect">
              <a:avLst>
                <a:gd name="adj" fmla="val 0"/>
              </a:avLst>
            </a:prstGeom>
            <a:solidFill>
              <a:srgbClr val="2B6587"/>
            </a:solidFill>
            <a:ln>
              <a:solidFill>
                <a:srgbClr val="2B6587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r>
                <a:rPr lang="zh-CN" altLang="en-US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汇报人：李盛鹏</a:t>
              </a:r>
              <a:endPara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endParaRPr>
            </a:p>
          </p:txBody>
        </p:sp>
        <p:sp>
          <p:nvSpPr>
            <p:cNvPr id="18" name="文本框 7">
              <a:extLst>
                <a:ext uri="{FF2B5EF4-FFF2-40B4-BE49-F238E27FC236}">
                  <a16:creationId xmlns:a16="http://schemas.microsoft.com/office/drawing/2014/main" id="{163C3A77-A816-6FFE-5ECA-921CC55632DC}"/>
                </a:ext>
              </a:extLst>
            </p:cNvPr>
            <p:cNvSpPr txBox="1"/>
            <p:nvPr/>
          </p:nvSpPr>
          <p:spPr>
            <a:xfrm>
              <a:off x="6730531" y="4675456"/>
              <a:ext cx="1983369" cy="435334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2B6587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时间：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字魂35号-经典雅黑" panose="00000500000000000000" pitchFamily="2" charset="-122"/>
                </a:rPr>
                <a:t>2025.11.14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7687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18492C4-A7CC-99F0-9040-27DE6605FB5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B371CAE-A754-0CFE-CFD6-2CE04CF95F8F}"/>
              </a:ext>
            </a:extLst>
          </p:cNvPr>
          <p:cNvSpPr/>
          <p:nvPr/>
        </p:nvSpPr>
        <p:spPr>
          <a:xfrm>
            <a:off x="255094" y="2336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9FC08D8-B037-5736-3B64-02A44B87A20E}"/>
              </a:ext>
            </a:extLst>
          </p:cNvPr>
          <p:cNvGrpSpPr/>
          <p:nvPr/>
        </p:nvGrpSpPr>
        <p:grpSpPr>
          <a:xfrm>
            <a:off x="260032" y="1143317"/>
            <a:ext cx="2940685" cy="304800"/>
            <a:chOff x="285750" y="741680"/>
            <a:chExt cx="5601970" cy="30480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20E29B6-CC3A-1BA2-04BF-0916F2E91568}"/>
                </a:ext>
              </a:extLst>
            </p:cNvPr>
            <p:cNvSpPr/>
            <p:nvPr/>
          </p:nvSpPr>
          <p:spPr>
            <a:xfrm flipH="1">
              <a:off x="285750" y="741680"/>
              <a:ext cx="5029835" cy="304800"/>
            </a:xfrm>
            <a:prstGeom prst="rect">
              <a:avLst/>
            </a:pr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0684D8F-FBD1-CB67-5BEA-011145066271}"/>
                </a:ext>
              </a:extLst>
            </p:cNvPr>
            <p:cNvSpPr/>
            <p:nvPr/>
          </p:nvSpPr>
          <p:spPr>
            <a:xfrm flipH="1">
              <a:off x="5315585" y="741680"/>
              <a:ext cx="572135" cy="3048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4E4FC4C-AC8B-CC11-A4B2-1B4EC1A26D4D}"/>
              </a:ext>
            </a:extLst>
          </p:cNvPr>
          <p:cNvSpPr txBox="1"/>
          <p:nvPr/>
        </p:nvSpPr>
        <p:spPr>
          <a:xfrm>
            <a:off x="3335693" y="804485"/>
            <a:ext cx="304282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rgbClr val="2F6E95"/>
                </a:solidFill>
                <a:effectLst/>
                <a:uLnTx/>
                <a:uFillTx/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rPr>
              <a:t>C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rPr>
              <a:t>ONTENTS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EBB0A2F-813E-A091-C6EB-36010E785023}"/>
              </a:ext>
            </a:extLst>
          </p:cNvPr>
          <p:cNvGrpSpPr/>
          <p:nvPr/>
        </p:nvGrpSpPr>
        <p:grpSpPr>
          <a:xfrm>
            <a:off x="1010602" y="2862262"/>
            <a:ext cx="10146030" cy="2292764"/>
            <a:chOff x="1010602" y="2862262"/>
            <a:chExt cx="10146030" cy="2292764"/>
          </a:xfrm>
        </p:grpSpPr>
        <p:sp>
          <p:nvSpPr>
            <p:cNvPr id="17" name="图形">
              <a:extLst>
                <a:ext uri="{FF2B5EF4-FFF2-40B4-BE49-F238E27FC236}">
                  <a16:creationId xmlns:a16="http://schemas.microsoft.com/office/drawing/2014/main" id="{24F9D2FB-9658-1DB7-BE02-14C114DD974B}"/>
                </a:ext>
              </a:extLst>
            </p:cNvPr>
            <p:cNvSpPr/>
            <p:nvPr/>
          </p:nvSpPr>
          <p:spPr>
            <a:xfrm>
              <a:off x="1060767" y="3965892"/>
              <a:ext cx="10095865" cy="154940"/>
            </a:xfrm>
            <a:prstGeom prst="rect">
              <a:avLst/>
            </a:prstGeom>
            <a:solidFill>
              <a:schemeClr val="bg1">
                <a:lumMod val="75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8" name="图形">
              <a:extLst>
                <a:ext uri="{FF2B5EF4-FFF2-40B4-BE49-F238E27FC236}">
                  <a16:creationId xmlns:a16="http://schemas.microsoft.com/office/drawing/2014/main" id="{6756A010-B76C-2241-65C3-4C5D2E6CA91A}"/>
                </a:ext>
              </a:extLst>
            </p:cNvPr>
            <p:cNvSpPr txBox="1"/>
            <p:nvPr/>
          </p:nvSpPr>
          <p:spPr>
            <a:xfrm>
              <a:off x="1010602" y="4334192"/>
              <a:ext cx="233108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+mn-lt"/>
                </a:rPr>
                <a:t>理论概述</a:t>
              </a:r>
            </a:p>
          </p:txBody>
        </p:sp>
        <p:sp>
          <p:nvSpPr>
            <p:cNvPr id="19" name="图形">
              <a:extLst>
                <a:ext uri="{FF2B5EF4-FFF2-40B4-BE49-F238E27FC236}">
                  <a16:creationId xmlns:a16="http://schemas.microsoft.com/office/drawing/2014/main" id="{0D0377D7-3C84-151F-CC5E-D2DC376A927C}"/>
                </a:ext>
              </a:extLst>
            </p:cNvPr>
            <p:cNvSpPr txBox="1"/>
            <p:nvPr/>
          </p:nvSpPr>
          <p:spPr>
            <a:xfrm>
              <a:off x="3615372" y="4334192"/>
              <a:ext cx="233108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+mn-lt"/>
                </a:rPr>
                <a:t>技术核心</a:t>
              </a:r>
            </a:p>
          </p:txBody>
        </p:sp>
        <p:sp>
          <p:nvSpPr>
            <p:cNvPr id="20" name="图形">
              <a:extLst>
                <a:ext uri="{FF2B5EF4-FFF2-40B4-BE49-F238E27FC236}">
                  <a16:creationId xmlns:a16="http://schemas.microsoft.com/office/drawing/2014/main" id="{D00AE3BA-43C2-4972-4511-FA1A97692267}"/>
                </a:ext>
              </a:extLst>
            </p:cNvPr>
            <p:cNvSpPr txBox="1"/>
            <p:nvPr/>
          </p:nvSpPr>
          <p:spPr>
            <a:xfrm>
              <a:off x="6220142" y="4334192"/>
              <a:ext cx="233108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+mn-lt"/>
                </a:rPr>
                <a:t>项目实践</a:t>
              </a:r>
            </a:p>
          </p:txBody>
        </p:sp>
        <p:sp>
          <p:nvSpPr>
            <p:cNvPr id="21" name="图形">
              <a:extLst>
                <a:ext uri="{FF2B5EF4-FFF2-40B4-BE49-F238E27FC236}">
                  <a16:creationId xmlns:a16="http://schemas.microsoft.com/office/drawing/2014/main" id="{52075439-7A42-D97E-55E1-EF25E22B2120}"/>
                </a:ext>
              </a:extLst>
            </p:cNvPr>
            <p:cNvSpPr txBox="1"/>
            <p:nvPr/>
          </p:nvSpPr>
          <p:spPr>
            <a:xfrm>
              <a:off x="8824912" y="4334192"/>
              <a:ext cx="233108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+mn-lt"/>
                </a:rPr>
                <a:t>总结致谢</a:t>
              </a:r>
            </a:p>
          </p:txBody>
        </p:sp>
        <p:sp>
          <p:nvSpPr>
            <p:cNvPr id="22" name="图形">
              <a:extLst>
                <a:ext uri="{FF2B5EF4-FFF2-40B4-BE49-F238E27FC236}">
                  <a16:creationId xmlns:a16="http://schemas.microsoft.com/office/drawing/2014/main" id="{1A2DF93C-8A21-AC05-4BA8-04F7A08508BB}"/>
                </a:ext>
              </a:extLst>
            </p:cNvPr>
            <p:cNvSpPr/>
            <p:nvPr/>
          </p:nvSpPr>
          <p:spPr>
            <a:xfrm>
              <a:off x="1060767" y="2862262"/>
              <a:ext cx="2146300" cy="482600"/>
            </a:xfrm>
            <a:prstGeom prst="rect">
              <a:avLst/>
            </a:prstGeom>
            <a:solidFill>
              <a:srgbClr val="2F6E9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+mn-lt"/>
                </a:rPr>
                <a:t>PART ONE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3" name="图形">
              <a:extLst>
                <a:ext uri="{FF2B5EF4-FFF2-40B4-BE49-F238E27FC236}">
                  <a16:creationId xmlns:a16="http://schemas.microsoft.com/office/drawing/2014/main" id="{FB8A37E8-0D8C-2AF2-9DE0-D1F97C62AC5E}"/>
                </a:ext>
              </a:extLst>
            </p:cNvPr>
            <p:cNvSpPr/>
            <p:nvPr/>
          </p:nvSpPr>
          <p:spPr>
            <a:xfrm>
              <a:off x="3710622" y="2862262"/>
              <a:ext cx="2146300" cy="482600"/>
            </a:xfrm>
            <a:prstGeom prst="rect">
              <a:avLst/>
            </a:prstGeom>
            <a:solidFill>
              <a:srgbClr val="2F6E9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+mn-lt"/>
                </a:rPr>
                <a:t>PART TWO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4" name="图形">
              <a:extLst>
                <a:ext uri="{FF2B5EF4-FFF2-40B4-BE49-F238E27FC236}">
                  <a16:creationId xmlns:a16="http://schemas.microsoft.com/office/drawing/2014/main" id="{51C57AA5-A227-0948-A6CE-2A953BA76AB2}"/>
                </a:ext>
              </a:extLst>
            </p:cNvPr>
            <p:cNvSpPr/>
            <p:nvPr/>
          </p:nvSpPr>
          <p:spPr>
            <a:xfrm>
              <a:off x="9010332" y="2862262"/>
              <a:ext cx="2146300" cy="482600"/>
            </a:xfrm>
            <a:prstGeom prst="rect">
              <a:avLst/>
            </a:prstGeom>
            <a:solidFill>
              <a:srgbClr val="2F6E9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+mn-lt"/>
                </a:rPr>
                <a:t>PART FOUR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5" name="图形">
              <a:extLst>
                <a:ext uri="{FF2B5EF4-FFF2-40B4-BE49-F238E27FC236}">
                  <a16:creationId xmlns:a16="http://schemas.microsoft.com/office/drawing/2014/main" id="{90E2F430-04CD-A487-B0CF-0C77EBBC895A}"/>
                </a:ext>
              </a:extLst>
            </p:cNvPr>
            <p:cNvSpPr/>
            <p:nvPr/>
          </p:nvSpPr>
          <p:spPr>
            <a:xfrm>
              <a:off x="6360477" y="2862262"/>
              <a:ext cx="2146300" cy="482600"/>
            </a:xfrm>
            <a:prstGeom prst="rect">
              <a:avLst/>
            </a:prstGeom>
            <a:solidFill>
              <a:srgbClr val="2F6E9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+mn-lt"/>
                </a:rPr>
                <a:t>PART THREE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6" name="图形">
              <a:extLst>
                <a:ext uri="{FF2B5EF4-FFF2-40B4-BE49-F238E27FC236}">
                  <a16:creationId xmlns:a16="http://schemas.microsoft.com/office/drawing/2014/main" id="{C699B279-EC0F-EB3F-ACED-B97220E62AA7}"/>
                </a:ext>
              </a:extLst>
            </p:cNvPr>
            <p:cNvSpPr txBox="1"/>
            <p:nvPr/>
          </p:nvSpPr>
          <p:spPr>
            <a:xfrm>
              <a:off x="1016952" y="4856162"/>
              <a:ext cx="2330450" cy="298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Theoretical Overview</a:t>
              </a:r>
              <a:endPara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27" name="图形">
              <a:extLst>
                <a:ext uri="{FF2B5EF4-FFF2-40B4-BE49-F238E27FC236}">
                  <a16:creationId xmlns:a16="http://schemas.microsoft.com/office/drawing/2014/main" id="{4B7C148D-12E3-2848-8019-3C6545AEF32B}"/>
                </a:ext>
              </a:extLst>
            </p:cNvPr>
            <p:cNvSpPr txBox="1"/>
            <p:nvPr/>
          </p:nvSpPr>
          <p:spPr>
            <a:xfrm>
              <a:off x="3647122" y="4856162"/>
              <a:ext cx="2330450" cy="298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Technical Core</a:t>
              </a:r>
              <a:endPara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28" name="图形">
              <a:extLst>
                <a:ext uri="{FF2B5EF4-FFF2-40B4-BE49-F238E27FC236}">
                  <a16:creationId xmlns:a16="http://schemas.microsoft.com/office/drawing/2014/main" id="{F32D7E46-2FD0-F623-BAA9-4EC59B59B263}"/>
                </a:ext>
              </a:extLst>
            </p:cNvPr>
            <p:cNvSpPr txBox="1"/>
            <p:nvPr/>
          </p:nvSpPr>
          <p:spPr>
            <a:xfrm>
              <a:off x="6214427" y="4856162"/>
              <a:ext cx="2330450" cy="298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Project Practice</a:t>
              </a:r>
              <a:endPara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29" name="图形">
              <a:extLst>
                <a:ext uri="{FF2B5EF4-FFF2-40B4-BE49-F238E27FC236}">
                  <a16:creationId xmlns:a16="http://schemas.microsoft.com/office/drawing/2014/main" id="{23197A78-F021-F926-BCE5-100F27FE88A9}"/>
                </a:ext>
              </a:extLst>
            </p:cNvPr>
            <p:cNvSpPr txBox="1"/>
            <p:nvPr/>
          </p:nvSpPr>
          <p:spPr>
            <a:xfrm>
              <a:off x="8826182" y="4856162"/>
              <a:ext cx="2330450" cy="298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Summary</a:t>
              </a:r>
              <a:endPara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34" name="图形">
              <a:extLst>
                <a:ext uri="{FF2B5EF4-FFF2-40B4-BE49-F238E27FC236}">
                  <a16:creationId xmlns:a16="http://schemas.microsoft.com/office/drawing/2014/main" id="{A15D0E2A-B0EE-A317-E622-8D952F0E3CDB}"/>
                </a:ext>
              </a:extLst>
            </p:cNvPr>
            <p:cNvSpPr txBox="1"/>
            <p:nvPr/>
          </p:nvSpPr>
          <p:spPr>
            <a:xfrm>
              <a:off x="1723072" y="3562667"/>
              <a:ext cx="77025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35" name="图形">
              <a:extLst>
                <a:ext uri="{FF2B5EF4-FFF2-40B4-BE49-F238E27FC236}">
                  <a16:creationId xmlns:a16="http://schemas.microsoft.com/office/drawing/2014/main" id="{4A2CB471-ACBA-405D-8884-44574C5659CB}"/>
                </a:ext>
              </a:extLst>
            </p:cNvPr>
            <p:cNvSpPr txBox="1"/>
            <p:nvPr/>
          </p:nvSpPr>
          <p:spPr>
            <a:xfrm>
              <a:off x="4318952" y="3562667"/>
              <a:ext cx="88773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+mn-lt"/>
                </a:rPr>
                <a:t>02</a:t>
              </a:r>
            </a:p>
          </p:txBody>
        </p:sp>
        <p:sp>
          <p:nvSpPr>
            <p:cNvPr id="36" name="图形">
              <a:extLst>
                <a:ext uri="{FF2B5EF4-FFF2-40B4-BE49-F238E27FC236}">
                  <a16:creationId xmlns:a16="http://schemas.microsoft.com/office/drawing/2014/main" id="{5DECFF70-CA1A-4C40-4816-7318AAB3A898}"/>
                </a:ext>
              </a:extLst>
            </p:cNvPr>
            <p:cNvSpPr txBox="1"/>
            <p:nvPr/>
          </p:nvSpPr>
          <p:spPr>
            <a:xfrm>
              <a:off x="6918007" y="3562667"/>
              <a:ext cx="88773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37" name="图形">
              <a:extLst>
                <a:ext uri="{FF2B5EF4-FFF2-40B4-BE49-F238E27FC236}">
                  <a16:creationId xmlns:a16="http://schemas.microsoft.com/office/drawing/2014/main" id="{689BD59B-5C21-94EA-9697-6BECD48622BC}"/>
                </a:ext>
              </a:extLst>
            </p:cNvPr>
            <p:cNvSpPr txBox="1"/>
            <p:nvPr/>
          </p:nvSpPr>
          <p:spPr>
            <a:xfrm>
              <a:off x="9631362" y="3562667"/>
              <a:ext cx="88773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+mn-lt"/>
                </a:rPr>
                <a:t>04</a:t>
              </a:r>
            </a:p>
          </p:txBody>
        </p:sp>
      </p:grpSp>
      <p:sp>
        <p:nvSpPr>
          <p:cNvPr id="30" name="TextBox 9">
            <a:extLst>
              <a:ext uri="{FF2B5EF4-FFF2-40B4-BE49-F238E27FC236}">
                <a16:creationId xmlns:a16="http://schemas.microsoft.com/office/drawing/2014/main" id="{FF11A90E-4E60-197F-DCE6-A43776017FDA}"/>
              </a:ext>
            </a:extLst>
          </p:cNvPr>
          <p:cNvSpPr txBox="1"/>
          <p:nvPr/>
        </p:nvSpPr>
        <p:spPr>
          <a:xfrm>
            <a:off x="0" y="-10694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下载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898432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46F5EEE-9701-F787-C914-DA6C6016327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solidFill>
              <a:srgbClr val="2B65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7D44D7-954A-3823-05F7-DDCC199994D8}"/>
              </a:ext>
            </a:extLst>
          </p:cNvPr>
          <p:cNvSpPr/>
          <p:nvPr/>
        </p:nvSpPr>
        <p:spPr>
          <a:xfrm>
            <a:off x="4960620" y="6446662"/>
            <a:ext cx="2270760" cy="1383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0BB6BB39-9480-5094-61FE-BB90371263D5}"/>
              </a:ext>
            </a:extLst>
          </p:cNvPr>
          <p:cNvSpPr txBox="1"/>
          <p:nvPr/>
        </p:nvSpPr>
        <p:spPr>
          <a:xfrm>
            <a:off x="1003301" y="3425100"/>
            <a:ext cx="3050540" cy="3092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Theoretical Overview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A60B25-27C0-8827-E755-4AE80C8BBEDE}"/>
              </a:ext>
            </a:extLst>
          </p:cNvPr>
          <p:cNvSpPr/>
          <p:nvPr/>
        </p:nvSpPr>
        <p:spPr>
          <a:xfrm>
            <a:off x="4420695" y="2724872"/>
            <a:ext cx="7517306" cy="1270348"/>
          </a:xfrm>
          <a:prstGeom prst="rect">
            <a:avLst/>
          </a:prstGeom>
          <a:solidFill>
            <a:srgbClr val="2F6E95"/>
          </a:solidFill>
          <a:ln>
            <a:solidFill>
              <a:srgbClr val="2B65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90E4AF0E-5705-A543-67B6-B81AD6516F57}"/>
              </a:ext>
            </a:extLst>
          </p:cNvPr>
          <p:cNvSpPr txBox="1"/>
          <p:nvPr/>
        </p:nvSpPr>
        <p:spPr>
          <a:xfrm>
            <a:off x="4483820" y="2898381"/>
            <a:ext cx="4371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Playfair Display" charset="0"/>
              </a:rPr>
              <a:t>PART ONE</a:t>
            </a:r>
            <a:endParaRPr lang="en-US" sz="54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字魂95号-手刻宋" panose="00000500000000000000" pitchFamily="2" charset="-122"/>
              <a:ea typeface="字魂95号-手刻宋" panose="00000500000000000000" pitchFamily="2" charset="-122"/>
              <a:cs typeface="Playfair Display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4EE538-D4E7-2468-384A-9D78B1E3B3D2}"/>
              </a:ext>
            </a:extLst>
          </p:cNvPr>
          <p:cNvSpPr txBox="1"/>
          <p:nvPr/>
        </p:nvSpPr>
        <p:spPr>
          <a:xfrm>
            <a:off x="1003300" y="2840325"/>
            <a:ext cx="2476500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理论概述</a:t>
            </a:r>
          </a:p>
        </p:txBody>
      </p:sp>
    </p:spTree>
    <p:extLst>
      <p:ext uri="{BB962C8B-B14F-4D97-AF65-F5344CB8AC3E}">
        <p14:creationId xmlns:p14="http://schemas.microsoft.com/office/powerpoint/2010/main" val="3027342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367866" y="909196"/>
            <a:ext cx="3455197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4CB167F5-DFED-8415-4F26-9D834A271C83}"/>
              </a:ext>
            </a:extLst>
          </p:cNvPr>
          <p:cNvSpPr txBox="1"/>
          <p:nvPr/>
        </p:nvSpPr>
        <p:spPr>
          <a:xfrm>
            <a:off x="731593" y="1445281"/>
            <a:ext cx="9864690" cy="196977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流数据是指一种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连续生成的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实时的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、且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动态变化的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数据形式。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endParaRPr lang="en-US" sz="1400" dirty="0">
              <a:solidFill>
                <a:schemeClr val="tx1">
                  <a:alpha val="7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批处理是处理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有界数据流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时的工作范例。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更讲究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先存储，后计算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流处理涉及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无界数据流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，输入可能永远不会结束。</a:t>
            </a:r>
          </a:p>
        </p:txBody>
      </p:sp>
      <p:sp>
        <p:nvSpPr>
          <p:cNvPr id="32" name="TextBox 7">
            <a:extLst>
              <a:ext uri="{FF2B5EF4-FFF2-40B4-BE49-F238E27FC236}">
                <a16:creationId xmlns:a16="http://schemas.microsoft.com/office/drawing/2014/main" id="{46CA06D8-ED12-A7B7-83AE-C2A89A9E05A7}"/>
              </a:ext>
            </a:extLst>
          </p:cNvPr>
          <p:cNvSpPr txBox="1"/>
          <p:nvPr/>
        </p:nvSpPr>
        <p:spPr>
          <a:xfrm>
            <a:off x="533587" y="288923"/>
            <a:ext cx="3289476" cy="107721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01.</a:t>
            </a:r>
            <a:r>
              <a:rPr lang="zh-CN" altLang="en-US" sz="3200" dirty="0">
                <a:solidFill>
                  <a:srgbClr val="383838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流数据的概念</a:t>
            </a:r>
            <a:endParaRPr lang="en-US" altLang="zh-CN" sz="3200" dirty="0">
              <a:solidFill>
                <a:srgbClr val="383838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  <a:p>
            <a:pPr algn="dist"/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C41D79D-09B4-5713-BD92-3CF80C135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87" y="3938365"/>
            <a:ext cx="10565304" cy="223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92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253999" y="1102503"/>
            <a:ext cx="3869765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4" name="1">
            <a:extLst>
              <a:ext uri="{FF2B5EF4-FFF2-40B4-BE49-F238E27FC236}">
                <a16:creationId xmlns:a16="http://schemas.microsoft.com/office/drawing/2014/main" id="{297BF117-65A0-E71A-5BAB-5C804789C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864" y="4511191"/>
            <a:ext cx="11871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层级结构</a:t>
            </a:r>
          </a:p>
        </p:txBody>
      </p:sp>
      <p:sp>
        <p:nvSpPr>
          <p:cNvPr id="16" name="1">
            <a:extLst>
              <a:ext uri="{FF2B5EF4-FFF2-40B4-BE49-F238E27FC236}">
                <a16:creationId xmlns:a16="http://schemas.microsoft.com/office/drawing/2014/main" id="{0667D5D1-2B44-2522-D6C0-3E71C51E5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471" y="4990654"/>
            <a:ext cx="2654514" cy="534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ts val="2200"/>
              </a:lnSpc>
            </a:pP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数据输入层、消息传输层、流处理层、存储层和应用层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8" name="1">
            <a:extLst>
              <a:ext uri="{FF2B5EF4-FFF2-40B4-BE49-F238E27FC236}">
                <a16:creationId xmlns:a16="http://schemas.microsoft.com/office/drawing/2014/main" id="{01760622-5CB0-CA03-D3B1-34F0D638D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7733" y="4511113"/>
            <a:ext cx="15895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各层工作形式</a:t>
            </a:r>
          </a:p>
        </p:txBody>
      </p:sp>
      <p:sp>
        <p:nvSpPr>
          <p:cNvPr id="20" name="1">
            <a:extLst>
              <a:ext uri="{FF2B5EF4-FFF2-40B4-BE49-F238E27FC236}">
                <a16:creationId xmlns:a16="http://schemas.microsoft.com/office/drawing/2014/main" id="{A42980E3-92D4-8DE5-0B01-F969D89C7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7732" y="4901257"/>
            <a:ext cx="2893985" cy="1662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ts val="2200"/>
              </a:lnSpc>
            </a:pP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数据输入层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– 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采集实时数据</a:t>
            </a: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消息传输层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– 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数据的缓冲和分发</a:t>
            </a: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流处理层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-  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数据的实时计算，聚合和分析 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存储层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-  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数据存入数据库</a:t>
            </a: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4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字魂35号-经典雅黑" panose="00000500000000000000" pitchFamily="2" charset="-122"/>
              </a:rPr>
              <a:t>应用层  </a:t>
            </a:r>
            <a:r>
              <a:rPr lang="en-US" altLang="zh-CN" sz="14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字魂35号-经典雅黑" panose="00000500000000000000" pitchFamily="2" charset="-122"/>
              </a:rPr>
              <a:t>- </a:t>
            </a:r>
            <a:r>
              <a:rPr lang="zh-CN" altLang="en-US" sz="14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字魂35号-经典雅黑" panose="00000500000000000000" pitchFamily="2" charset="-122"/>
              </a:rPr>
              <a:t>监控预警，业务决策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22" name="1">
            <a:extLst>
              <a:ext uri="{FF2B5EF4-FFF2-40B4-BE49-F238E27FC236}">
                <a16:creationId xmlns:a16="http://schemas.microsoft.com/office/drawing/2014/main" id="{A3113140-1AD6-E2CD-CCFF-3AD38A75C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0806" y="4481761"/>
            <a:ext cx="11871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设计理念</a:t>
            </a:r>
          </a:p>
        </p:txBody>
      </p:sp>
      <p:sp>
        <p:nvSpPr>
          <p:cNvPr id="24" name="1">
            <a:extLst>
              <a:ext uri="{FF2B5EF4-FFF2-40B4-BE49-F238E27FC236}">
                <a16:creationId xmlns:a16="http://schemas.microsoft.com/office/drawing/2014/main" id="{380851EA-89A9-245F-0E28-AB1090E54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0806" y="4901257"/>
            <a:ext cx="2654514" cy="53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ts val="22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高并发、低延迟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提高吞吐和确保数据质量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CFB4216A-3320-55A7-9A86-55609A4333FC}"/>
              </a:ext>
            </a:extLst>
          </p:cNvPr>
          <p:cNvSpPr txBox="1"/>
          <p:nvPr/>
        </p:nvSpPr>
        <p:spPr>
          <a:xfrm>
            <a:off x="416928" y="517728"/>
            <a:ext cx="4657096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01.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流处理系统的通用架构</a:t>
            </a:r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E9296F-3577-7591-9521-9A594421E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28" y="1977048"/>
            <a:ext cx="6164745" cy="194965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8DFF2E0-4151-55EA-67FF-753785525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989" y="1935765"/>
            <a:ext cx="4831697" cy="209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728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46F5EEE-9701-F787-C914-DA6C6016327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7D44D7-954A-3823-05F7-DDCC199994D8}"/>
              </a:ext>
            </a:extLst>
          </p:cNvPr>
          <p:cNvSpPr/>
          <p:nvPr/>
        </p:nvSpPr>
        <p:spPr>
          <a:xfrm>
            <a:off x="4960620" y="6446662"/>
            <a:ext cx="2270760" cy="1383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82FEB9FE-A9FD-3F37-A7B9-3C4926D2F2BF}"/>
              </a:ext>
            </a:extLst>
          </p:cNvPr>
          <p:cNvSpPr txBox="1"/>
          <p:nvPr/>
        </p:nvSpPr>
        <p:spPr>
          <a:xfrm>
            <a:off x="1003300" y="2840325"/>
            <a:ext cx="2476500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技术核心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0BB6BB39-9480-5094-61FE-BB90371263D5}"/>
              </a:ext>
            </a:extLst>
          </p:cNvPr>
          <p:cNvSpPr txBox="1"/>
          <p:nvPr/>
        </p:nvSpPr>
        <p:spPr>
          <a:xfrm>
            <a:off x="1003301" y="3425100"/>
            <a:ext cx="3050540" cy="28193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Technical Core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7E9733-D338-7A1F-E19F-5426866C35A3}"/>
              </a:ext>
            </a:extLst>
          </p:cNvPr>
          <p:cNvSpPr/>
          <p:nvPr/>
        </p:nvSpPr>
        <p:spPr>
          <a:xfrm>
            <a:off x="4419600" y="2754266"/>
            <a:ext cx="7517306" cy="1270348"/>
          </a:xfrm>
          <a:prstGeom prst="rect">
            <a:avLst/>
          </a:prstGeom>
          <a:solidFill>
            <a:srgbClr val="2F6E95"/>
          </a:solidFill>
          <a:ln>
            <a:solidFill>
              <a:srgbClr val="2B65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90E4AF0E-5705-A543-67B6-B81AD6516F57}"/>
              </a:ext>
            </a:extLst>
          </p:cNvPr>
          <p:cNvSpPr txBox="1"/>
          <p:nvPr/>
        </p:nvSpPr>
        <p:spPr>
          <a:xfrm>
            <a:off x="4483820" y="2898381"/>
            <a:ext cx="4371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Playfair Display" charset="0"/>
              </a:rPr>
              <a:t>PART TWO</a:t>
            </a:r>
            <a:endParaRPr lang="en-US" sz="54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字魂95号-手刻宋" panose="00000500000000000000" pitchFamily="2" charset="-122"/>
              <a:ea typeface="字魂95号-手刻宋" panose="00000500000000000000" pitchFamily="2" charset="-122"/>
              <a:cs typeface="Playfair Displ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594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253999" y="1047051"/>
            <a:ext cx="3223957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6" name="圆角矩形 23">
            <a:extLst>
              <a:ext uri="{FF2B5EF4-FFF2-40B4-BE49-F238E27FC236}">
                <a16:creationId xmlns:a16="http://schemas.microsoft.com/office/drawing/2014/main" id="{56D5B0D0-1420-4BD4-4A8D-BAD79DADFE15}"/>
              </a:ext>
            </a:extLst>
          </p:cNvPr>
          <p:cNvSpPr/>
          <p:nvPr/>
        </p:nvSpPr>
        <p:spPr>
          <a:xfrm rot="10800000" flipV="1">
            <a:off x="650910" y="4431535"/>
            <a:ext cx="272237" cy="276076"/>
          </a:xfrm>
          <a:prstGeom prst="roundRect">
            <a:avLst>
              <a:gd name="adj" fmla="val 5039"/>
            </a:avLst>
          </a:prstGeom>
          <a:solidFill>
            <a:srgbClr val="2B658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BF51CF-FBF8-BFA4-3278-E96D9435D1FD}"/>
              </a:ext>
            </a:extLst>
          </p:cNvPr>
          <p:cNvSpPr txBox="1"/>
          <p:nvPr/>
        </p:nvSpPr>
        <p:spPr>
          <a:xfrm>
            <a:off x="985626" y="4344079"/>
            <a:ext cx="1210584" cy="400108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lvl="0">
              <a:spcBef>
                <a:spcPct val="0"/>
              </a:spcBef>
              <a:buSzPct val="25000"/>
              <a:defRPr/>
            </a:pPr>
            <a:r>
              <a:rPr lang="zh-CN" altLang="en-US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窗口技术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20E7E51-6C9E-B4A8-E370-E6CE3FC7F291}"/>
              </a:ext>
            </a:extLst>
          </p:cNvPr>
          <p:cNvCxnSpPr/>
          <p:nvPr/>
        </p:nvCxnSpPr>
        <p:spPr>
          <a:xfrm>
            <a:off x="1047103" y="4768559"/>
            <a:ext cx="2229467" cy="14627"/>
          </a:xfrm>
          <a:prstGeom prst="line">
            <a:avLst/>
          </a:prstGeom>
          <a:ln w="3175">
            <a:solidFill>
              <a:srgbClr val="2B6587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32809B6B-E1B0-C2EF-2556-AE4D1C5EBF8F}"/>
              </a:ext>
            </a:extLst>
          </p:cNvPr>
          <p:cNvSpPr/>
          <p:nvPr/>
        </p:nvSpPr>
        <p:spPr>
          <a:xfrm>
            <a:off x="882545" y="4846446"/>
            <a:ext cx="2397220" cy="1757274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解决痛点：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  <a:p>
            <a:pPr>
              <a:lnSpc>
                <a:spcPts val="2200"/>
              </a:lnSpc>
            </a:pPr>
            <a:r>
              <a:rPr lang="zh-CN" altLang="zh-CN" sz="1400" dirty="0"/>
              <a:t>无界数据流具有理论上无限的特点，无法</a:t>
            </a:r>
            <a:r>
              <a:rPr lang="zh-CN" altLang="en-US" sz="1400" dirty="0"/>
              <a:t>处理</a:t>
            </a:r>
            <a:r>
              <a:rPr lang="zh-CN" altLang="zh-CN" sz="1400" dirty="0"/>
              <a:t>。</a:t>
            </a:r>
            <a:endParaRPr lang="en-US" altLang="zh-CN" sz="1400" dirty="0"/>
          </a:p>
          <a:p>
            <a:pPr>
              <a:lnSpc>
                <a:spcPts val="2200"/>
              </a:lnSpc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依据窗口特性共划分出四种类型窗口。</a:t>
            </a:r>
          </a:p>
        </p:txBody>
      </p:sp>
      <p:sp>
        <p:nvSpPr>
          <p:cNvPr id="12" name="圆角矩形 28">
            <a:extLst>
              <a:ext uri="{FF2B5EF4-FFF2-40B4-BE49-F238E27FC236}">
                <a16:creationId xmlns:a16="http://schemas.microsoft.com/office/drawing/2014/main" id="{36E5228C-0A3B-973D-0720-7D2ED6C34670}"/>
              </a:ext>
            </a:extLst>
          </p:cNvPr>
          <p:cNvSpPr/>
          <p:nvPr/>
        </p:nvSpPr>
        <p:spPr>
          <a:xfrm rot="10800000" flipV="1">
            <a:off x="4930509" y="4431535"/>
            <a:ext cx="272237" cy="276076"/>
          </a:xfrm>
          <a:prstGeom prst="roundRect">
            <a:avLst>
              <a:gd name="adj" fmla="val 5039"/>
            </a:avLst>
          </a:prstGeom>
          <a:solidFill>
            <a:srgbClr val="2B658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83A710F-EADD-98A8-5057-8C0782D05C1C}"/>
              </a:ext>
            </a:extLst>
          </p:cNvPr>
          <p:cNvSpPr txBox="1"/>
          <p:nvPr/>
        </p:nvSpPr>
        <p:spPr>
          <a:xfrm>
            <a:off x="5338131" y="4352761"/>
            <a:ext cx="1467064" cy="400108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lvl="0">
              <a:spcBef>
                <a:spcPct val="0"/>
              </a:spcBef>
              <a:buSzPct val="25000"/>
              <a:defRPr/>
            </a:pPr>
            <a:r>
              <a:rPr lang="zh-CN" altLang="en-US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流计算模型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7021721-35D4-56BC-E4DA-3E5FF157A388}"/>
              </a:ext>
            </a:extLst>
          </p:cNvPr>
          <p:cNvCxnSpPr/>
          <p:nvPr/>
        </p:nvCxnSpPr>
        <p:spPr>
          <a:xfrm>
            <a:off x="5316580" y="4795454"/>
            <a:ext cx="2229467" cy="14627"/>
          </a:xfrm>
          <a:prstGeom prst="line">
            <a:avLst/>
          </a:prstGeom>
          <a:ln w="3175">
            <a:solidFill>
              <a:srgbClr val="2B6587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06DB754D-642D-9126-C944-93D40E5B557B}"/>
              </a:ext>
            </a:extLst>
          </p:cNvPr>
          <p:cNvSpPr/>
          <p:nvPr/>
        </p:nvSpPr>
        <p:spPr>
          <a:xfrm>
            <a:off x="5232703" y="4846446"/>
            <a:ext cx="2397220" cy="1469054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400" dirty="0">
                <a:sym typeface="字魂35号-经典雅黑" panose="00000500000000000000" pitchFamily="2" charset="-122"/>
              </a:rPr>
              <a:t>Dataflow</a:t>
            </a:r>
            <a:r>
              <a:rPr lang="zh-CN" altLang="en-US" sz="1400" dirty="0">
                <a:sym typeface="字魂35号-经典雅黑" panose="00000500000000000000" pitchFamily="2" charset="-122"/>
              </a:rPr>
              <a:t>都是以一个或多个</a:t>
            </a:r>
            <a:r>
              <a:rPr lang="en-US" altLang="zh-CN" sz="1400" dirty="0">
                <a:sym typeface="字魂35号-经典雅黑" panose="00000500000000000000" pitchFamily="2" charset="-122"/>
              </a:rPr>
              <a:t>Source</a:t>
            </a:r>
            <a:r>
              <a:rPr lang="zh-CN" altLang="en-US" sz="1400" dirty="0">
                <a:sym typeface="字魂35号-经典雅黑" panose="00000500000000000000" pitchFamily="2" charset="-122"/>
              </a:rPr>
              <a:t>开始、以一个或多个</a:t>
            </a:r>
            <a:r>
              <a:rPr lang="en-US" altLang="zh-CN" sz="1400" dirty="0">
                <a:sym typeface="字魂35号-经典雅黑" panose="00000500000000000000" pitchFamily="2" charset="-122"/>
              </a:rPr>
              <a:t>Sink</a:t>
            </a:r>
            <a:r>
              <a:rPr lang="zh-CN" altLang="en-US" sz="1400" dirty="0">
                <a:sym typeface="字魂35号-经典雅黑" panose="00000500000000000000" pitchFamily="2" charset="-122"/>
              </a:rPr>
              <a:t>结束的</a:t>
            </a:r>
            <a:endParaRPr lang="en-US" altLang="zh-CN" sz="1400" dirty="0">
              <a:sym typeface="字魂35号-经典雅黑" panose="00000500000000000000" pitchFamily="2" charset="-122"/>
            </a:endParaRPr>
          </a:p>
          <a:p>
            <a:pPr>
              <a:lnSpc>
                <a:spcPts val="2200"/>
              </a:lnSpc>
            </a:pPr>
            <a:endParaRPr lang="en-US" altLang="zh-CN" sz="1400" dirty="0">
              <a:sym typeface="字魂35号-经典雅黑" panose="00000500000000000000" pitchFamily="2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400" dirty="0">
                <a:sym typeface="字魂35号-经典雅黑" panose="00000500000000000000" pitchFamily="2" charset="-122"/>
              </a:rPr>
              <a:t>形成有向无环图（</a:t>
            </a:r>
            <a:r>
              <a:rPr lang="en-US" altLang="zh-CN" sz="1400" dirty="0">
                <a:sym typeface="字魂35号-经典雅黑" panose="00000500000000000000" pitchFamily="2" charset="-122"/>
              </a:rPr>
              <a:t>DAG</a:t>
            </a:r>
            <a:r>
              <a:rPr lang="zh-CN" altLang="en-US" sz="1400" dirty="0">
                <a:sym typeface="字魂35号-经典雅黑" panose="00000500000000000000" pitchFamily="2" charset="-122"/>
              </a:rPr>
              <a:t>）</a:t>
            </a:r>
          </a:p>
        </p:txBody>
      </p:sp>
      <p:sp>
        <p:nvSpPr>
          <p:cNvPr id="16" name="圆角矩形 32">
            <a:extLst>
              <a:ext uri="{FF2B5EF4-FFF2-40B4-BE49-F238E27FC236}">
                <a16:creationId xmlns:a16="http://schemas.microsoft.com/office/drawing/2014/main" id="{62938287-7205-9382-7BDA-9616BD5FD0B0}"/>
              </a:ext>
            </a:extLst>
          </p:cNvPr>
          <p:cNvSpPr/>
          <p:nvPr/>
        </p:nvSpPr>
        <p:spPr>
          <a:xfrm rot="10800000" flipV="1">
            <a:off x="8418896" y="4431535"/>
            <a:ext cx="272237" cy="276076"/>
          </a:xfrm>
          <a:prstGeom prst="roundRect">
            <a:avLst>
              <a:gd name="adj" fmla="val 5039"/>
            </a:avLst>
          </a:prstGeom>
          <a:solidFill>
            <a:srgbClr val="2B658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014FB1-FF33-BDB2-34C2-076C0E9F8162}"/>
              </a:ext>
            </a:extLst>
          </p:cNvPr>
          <p:cNvSpPr txBox="1"/>
          <p:nvPr/>
        </p:nvSpPr>
        <p:spPr>
          <a:xfrm>
            <a:off x="8843261" y="4344079"/>
            <a:ext cx="1210584" cy="400108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lvl="0">
              <a:spcBef>
                <a:spcPct val="0"/>
              </a:spcBef>
              <a:buSzPct val="25000"/>
              <a:defRPr/>
            </a:pPr>
            <a:r>
              <a:rPr lang="zh-CN" altLang="en-US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状态管理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72F5050-2F5F-06C7-40F7-474374651595}"/>
              </a:ext>
            </a:extLst>
          </p:cNvPr>
          <p:cNvCxnSpPr/>
          <p:nvPr/>
        </p:nvCxnSpPr>
        <p:spPr>
          <a:xfrm>
            <a:off x="8931632" y="4768559"/>
            <a:ext cx="2229467" cy="14627"/>
          </a:xfrm>
          <a:prstGeom prst="line">
            <a:avLst/>
          </a:prstGeom>
          <a:ln w="3175">
            <a:solidFill>
              <a:srgbClr val="2B6587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706D7A39-F72F-7AED-FB78-FBCCDAF58D86}"/>
              </a:ext>
            </a:extLst>
          </p:cNvPr>
          <p:cNvSpPr/>
          <p:nvPr/>
        </p:nvSpPr>
        <p:spPr>
          <a:xfrm>
            <a:off x="8839200" y="4846446"/>
            <a:ext cx="2922494" cy="1762532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400" dirty="0">
                <a:sym typeface="字魂35号-经典雅黑" panose="00000500000000000000" pitchFamily="2" charset="-122"/>
              </a:rPr>
              <a:t>State </a:t>
            </a:r>
            <a:r>
              <a:rPr lang="zh-CN" altLang="en-US" sz="1400" dirty="0">
                <a:sym typeface="字魂35号-经典雅黑" panose="00000500000000000000" pitchFamily="2" charset="-122"/>
              </a:rPr>
              <a:t>分类</a:t>
            </a:r>
            <a:r>
              <a:rPr lang="en-US" altLang="zh-CN" sz="1400" dirty="0">
                <a:sym typeface="字魂35号-经典雅黑" panose="00000500000000000000" pitchFamily="2" charset="-122"/>
              </a:rPr>
              <a:t>:</a:t>
            </a:r>
            <a:r>
              <a:rPr lang="zh-CN" altLang="en-US" sz="1400" dirty="0">
                <a:sym typeface="字魂35号-经典雅黑" panose="00000500000000000000" pitchFamily="2" charset="-122"/>
              </a:rPr>
              <a:t>算子状态和键控状态</a:t>
            </a:r>
            <a:endParaRPr lang="en-US" altLang="zh-CN" sz="1400" dirty="0">
              <a:sym typeface="字魂35号-经典雅黑" panose="00000500000000000000" pitchFamily="2" charset="-122"/>
            </a:endParaRPr>
          </a:p>
          <a:p>
            <a:pPr>
              <a:lnSpc>
                <a:spcPts val="2200"/>
              </a:lnSpc>
            </a:pPr>
            <a:endParaRPr lang="en-US" altLang="zh-CN" sz="1400" dirty="0">
              <a:sym typeface="字魂35号-经典雅黑" panose="00000500000000000000" pitchFamily="2" charset="-122"/>
            </a:endParaRPr>
          </a:p>
          <a:p>
            <a:pPr>
              <a:lnSpc>
                <a:spcPts val="2200"/>
              </a:lnSpc>
            </a:pPr>
            <a:r>
              <a:rPr lang="en-US" altLang="zh-CN" sz="1400" dirty="0">
                <a:sym typeface="字魂35号-经典雅黑" panose="00000500000000000000" pitchFamily="2" charset="-122"/>
              </a:rPr>
              <a:t>Checkpoint : </a:t>
            </a:r>
            <a:r>
              <a:rPr lang="zh-CN" altLang="en-US" sz="1400" dirty="0">
                <a:sym typeface="字魂35号-经典雅黑" panose="00000500000000000000" pitchFamily="2" charset="-122"/>
              </a:rPr>
              <a:t>利用快照恢复到正常状态。</a:t>
            </a:r>
            <a:endParaRPr lang="en-US" altLang="zh-CN" sz="1400" dirty="0">
              <a:sym typeface="字魂35号-经典雅黑" panose="00000500000000000000" pitchFamily="2" charset="-122"/>
            </a:endParaRPr>
          </a:p>
          <a:p>
            <a:pPr>
              <a:lnSpc>
                <a:spcPts val="2200"/>
              </a:lnSpc>
            </a:pPr>
            <a:endParaRPr lang="en-US" altLang="zh-CN" sz="1400" dirty="0">
              <a:sym typeface="字魂35号-经典雅黑" panose="00000500000000000000" pitchFamily="2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400" dirty="0">
                <a:sym typeface="字魂35号-经典雅黑" panose="00000500000000000000" pitchFamily="2" charset="-122"/>
              </a:rPr>
              <a:t>状态后端： </a:t>
            </a:r>
            <a:r>
              <a:rPr lang="zh-CN" altLang="en-US" sz="1400" dirty="0"/>
              <a:t>管理和存储状态的组件</a:t>
            </a:r>
            <a:endParaRPr lang="zh-CN" altLang="en-US" sz="1400" dirty="0">
              <a:sym typeface="字魂35号-经典雅黑" panose="00000500000000000000" pitchFamily="2" charset="-122"/>
            </a:endParaRP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0BBD0778-C513-A677-A8CB-198404FE25A4}"/>
              </a:ext>
            </a:extLst>
          </p:cNvPr>
          <p:cNvSpPr txBox="1"/>
          <p:nvPr/>
        </p:nvSpPr>
        <p:spPr>
          <a:xfrm>
            <a:off x="385507" y="45965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02.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技术核心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8E50CEA-BA3E-A0E1-105B-3651F91377F6}"/>
              </a:ext>
            </a:extLst>
          </p:cNvPr>
          <p:cNvGrpSpPr/>
          <p:nvPr/>
        </p:nvGrpSpPr>
        <p:grpSpPr>
          <a:xfrm>
            <a:off x="609622" y="1739359"/>
            <a:ext cx="3679380" cy="2288059"/>
            <a:chOff x="385506" y="1945547"/>
            <a:chExt cx="3679380" cy="2288059"/>
          </a:xfrm>
        </p:grpSpPr>
        <p:pic>
          <p:nvPicPr>
            <p:cNvPr id="1026" name="图片 1">
              <a:extLst>
                <a:ext uri="{FF2B5EF4-FFF2-40B4-BE49-F238E27FC236}">
                  <a16:creationId xmlns:a16="http://schemas.microsoft.com/office/drawing/2014/main" id="{085B1B7B-E80A-EE90-463E-680C8781B1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506" y="1945547"/>
              <a:ext cx="1828887" cy="1138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" name="图片 1">
              <a:extLst>
                <a:ext uri="{FF2B5EF4-FFF2-40B4-BE49-F238E27FC236}">
                  <a16:creationId xmlns:a16="http://schemas.microsoft.com/office/drawing/2014/main" id="{EF6C3430-8292-2026-5231-A1D5CA83E3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4393" y="1945547"/>
              <a:ext cx="1850493" cy="1187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" name="图片 1">
              <a:extLst>
                <a:ext uri="{FF2B5EF4-FFF2-40B4-BE49-F238E27FC236}">
                  <a16:creationId xmlns:a16="http://schemas.microsoft.com/office/drawing/2014/main" id="{48B1CCA6-3766-95B2-6D21-B8D1FB6D2F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507" y="3139645"/>
              <a:ext cx="1828887" cy="1093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" name="图片 1">
              <a:extLst>
                <a:ext uri="{FF2B5EF4-FFF2-40B4-BE49-F238E27FC236}">
                  <a16:creationId xmlns:a16="http://schemas.microsoft.com/office/drawing/2014/main" id="{159D77BA-AE87-C2BA-4642-2C03658CB1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4394" y="3139645"/>
              <a:ext cx="1776369" cy="1076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9D751D22-6F98-010B-CBA9-AE9B1757FB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3644" y="1431204"/>
            <a:ext cx="2780243" cy="2641231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73991045-8092-584C-398D-BA9030BCCC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8950" y="2445242"/>
            <a:ext cx="3769079" cy="143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265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46F5EEE-9701-F787-C914-DA6C6016327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7D44D7-954A-3823-05F7-DDCC199994D8}"/>
              </a:ext>
            </a:extLst>
          </p:cNvPr>
          <p:cNvSpPr/>
          <p:nvPr/>
        </p:nvSpPr>
        <p:spPr>
          <a:xfrm>
            <a:off x="4960620" y="6446662"/>
            <a:ext cx="2270760" cy="1383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82FEB9FE-A9FD-3F37-A7B9-3C4926D2F2BF}"/>
              </a:ext>
            </a:extLst>
          </p:cNvPr>
          <p:cNvSpPr txBox="1"/>
          <p:nvPr/>
        </p:nvSpPr>
        <p:spPr>
          <a:xfrm>
            <a:off x="1003300" y="2840325"/>
            <a:ext cx="2476500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项目实践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0BB6BB39-9480-5094-61FE-BB90371263D5}"/>
              </a:ext>
            </a:extLst>
          </p:cNvPr>
          <p:cNvSpPr txBox="1"/>
          <p:nvPr/>
        </p:nvSpPr>
        <p:spPr>
          <a:xfrm>
            <a:off x="1003301" y="3425100"/>
            <a:ext cx="3050540" cy="3092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Project Practice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049467-221E-004F-31BC-104E4C0D4CF0}"/>
              </a:ext>
            </a:extLst>
          </p:cNvPr>
          <p:cNvSpPr/>
          <p:nvPr/>
        </p:nvSpPr>
        <p:spPr>
          <a:xfrm>
            <a:off x="4415368" y="2791254"/>
            <a:ext cx="7517306" cy="1270348"/>
          </a:xfrm>
          <a:prstGeom prst="rect">
            <a:avLst/>
          </a:prstGeom>
          <a:solidFill>
            <a:srgbClr val="2F6E95"/>
          </a:solidFill>
          <a:ln>
            <a:solidFill>
              <a:srgbClr val="2B65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90E4AF0E-5705-A543-67B6-B81AD6516F57}"/>
              </a:ext>
            </a:extLst>
          </p:cNvPr>
          <p:cNvSpPr txBox="1"/>
          <p:nvPr/>
        </p:nvSpPr>
        <p:spPr>
          <a:xfrm>
            <a:off x="4483820" y="2898381"/>
            <a:ext cx="4685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Playfair Display" charset="0"/>
              </a:rPr>
              <a:t>PART Three</a:t>
            </a:r>
            <a:endParaRPr lang="en-US" sz="54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字魂95号-手刻宋" panose="00000500000000000000" pitchFamily="2" charset="-122"/>
              <a:ea typeface="字魂95号-手刻宋" panose="00000500000000000000" pitchFamily="2" charset="-122"/>
              <a:cs typeface="Playfair Displ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115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58979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254000" y="984848"/>
            <a:ext cx="3475318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D9075B5F-0629-A2E8-B488-953677B99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3680" y="1904719"/>
            <a:ext cx="3738861" cy="1106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ts val="2200"/>
              </a:lnSpc>
            </a:pP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Flink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本地模式需要在 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linux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环境下运行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  <a:p>
            <a:pPr>
              <a:lnSpc>
                <a:spcPts val="22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失败原因猜测：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Socket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连接不成功，导致没向端口输入数据而失败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49A46-F0B8-5A18-937A-F718133415E9}"/>
              </a:ext>
            </a:extLst>
          </p:cNvPr>
          <p:cNvSpPr/>
          <p:nvPr/>
        </p:nvSpPr>
        <p:spPr>
          <a:xfrm>
            <a:off x="5854947" y="709110"/>
            <a:ext cx="47654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>
              <a:defRPr/>
            </a:pPr>
            <a:r>
              <a:rPr lang="en-US" altLang="zh-CN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wordCount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 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程序（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docker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方式）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2D46CE-5358-627A-A09F-DFF4165CD308}"/>
              </a:ext>
            </a:extLst>
          </p:cNvPr>
          <p:cNvSpPr/>
          <p:nvPr/>
        </p:nvSpPr>
        <p:spPr>
          <a:xfrm>
            <a:off x="5996886" y="1228899"/>
            <a:ext cx="355600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zh-CN" altLang="en-US">
              <a:solidFill>
                <a:prstClr val="black">
                  <a:lumMod val="65000"/>
                  <a:lumOff val="35000"/>
                </a:prstClr>
              </a:solidFill>
              <a:latin typeface="Source Han Serif SC" panose="02020700000000000000" pitchFamily="18" charset="-122"/>
              <a:ea typeface="Source Han Serif SC" panose="02020700000000000000" pitchFamily="18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5837AD0C-259A-6B86-6810-4BDB3773BE98}"/>
              </a:ext>
            </a:extLst>
          </p:cNvPr>
          <p:cNvSpPr txBox="1"/>
          <p:nvPr/>
        </p:nvSpPr>
        <p:spPr>
          <a:xfrm>
            <a:off x="479798" y="392558"/>
            <a:ext cx="3249519" cy="107721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03.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项目实践</a:t>
            </a:r>
          </a:p>
          <a:p>
            <a:pPr algn="dist"/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5A7A3177-4D47-1424-08B5-E214E47DF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424" y="1622516"/>
            <a:ext cx="4652682" cy="430887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# 拉取Flink镜像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docker pull flink:1.16.0-scala_2.12-java8</a:t>
            </a:r>
            <a:endParaRPr kumimoji="0" lang="en-US" altLang="zh-CN" sz="10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# 创建Flink网络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docker network create flink-network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000" b="0" i="1" u="none" strike="noStrike" cap="none" normalizeH="0" baseline="0" dirty="0">
              <a:ln>
                <a:noFill/>
              </a:ln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# 启动JobManager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docker run -d --name flink-jobmanager --network flink-network -p 8081:8081 -e FLINK_PROPERTIES=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"jobmanager.rpc.address: flink-jobmanager"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flink:1.16.0-scala_2.12-java8 jobmanager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000" b="0" i="1" u="none" strike="noStrike" cap="none" normalizeH="0" baseline="0" dirty="0">
              <a:ln>
                <a:noFill/>
              </a:ln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# 启动TaskManager  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docker run -d --name flink-taskmanager --network flink-network -e FLINK_PROPERTIES=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"jobmanager.rpc.address: flink-jobmanager"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flink:1.16.0-scala_2.12-java8 taskmanager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000" b="0" i="1" u="none" strike="noStrike" cap="none" normalizeH="0" baseline="0" dirty="0">
              <a:ln>
                <a:noFill/>
              </a:ln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# 检查容器是否运行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docker 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000" b="0" i="1" u="none" strike="noStrike" cap="none" normalizeH="0" baseline="0" dirty="0">
              <a:ln>
                <a:noFill/>
              </a:ln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# 进入JobManager容器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docker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exec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-it flink-jobmanager 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000" b="0" i="1" u="none" strike="noStrike" cap="none" normalizeH="0" baseline="0" dirty="0">
              <a:ln>
                <a:noFill/>
              </a:ln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# 在容器内查看WordCount示例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ls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examples/streaming/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000" b="0" i="1" u="none" strike="noStrike" cap="none" normalizeH="0" baseline="0" dirty="0">
              <a:ln>
                <a:noFill/>
              </a:ln>
              <a:solidFill>
                <a:srgbClr val="A0A1A7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# 运行WordCount Socket示例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/opt/flink/bin/flink run -d examples/streaming/WordCount.jar --hostname host.docker.internal --port 9999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图片 1">
            <a:extLst>
              <a:ext uri="{FF2B5EF4-FFF2-40B4-BE49-F238E27FC236}">
                <a16:creationId xmlns:a16="http://schemas.microsoft.com/office/drawing/2014/main" id="{3822B16F-1EBE-80D5-4F5B-F7C39D7A1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947" y="3448604"/>
            <a:ext cx="5770853" cy="246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1">
            <a:extLst>
              <a:ext uri="{FF2B5EF4-FFF2-40B4-BE49-F238E27FC236}">
                <a16:creationId xmlns:a16="http://schemas.microsoft.com/office/drawing/2014/main" id="{55D1597E-E983-95E1-6F05-DF1C52ED2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1167" y="5951446"/>
            <a:ext cx="3279195" cy="248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ts val="2200"/>
              </a:lnSpc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Docker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命令</a:t>
            </a:r>
          </a:p>
        </p:txBody>
      </p:sp>
      <p:sp>
        <p:nvSpPr>
          <p:cNvPr id="19" name="1">
            <a:extLst>
              <a:ext uri="{FF2B5EF4-FFF2-40B4-BE49-F238E27FC236}">
                <a16:creationId xmlns:a16="http://schemas.microsoft.com/office/drawing/2014/main" id="{7FA2B1B9-9BC6-7B9D-F88F-65C1F0DF5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767" y="5913767"/>
            <a:ext cx="2211211" cy="248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ts val="22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在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Flink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 Web UI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上显示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failed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2473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58979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254000" y="984848"/>
            <a:ext cx="3475318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D9075B5F-0629-A2E8-B488-953677B99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379" y="1924118"/>
            <a:ext cx="3738861" cy="1388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ts val="2200"/>
              </a:lnSpc>
            </a:pP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Intellij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 idea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： 集成环境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  <a:p>
            <a:pPr>
              <a:lnSpc>
                <a:spcPts val="22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Maven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：管理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java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项目依赖和构建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  <a:p>
            <a:pPr>
              <a:lnSpc>
                <a:spcPts val="22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  <a:p>
            <a:pPr>
              <a:lnSpc>
                <a:spcPts val="2200"/>
              </a:lnSpc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49A46-F0B8-5A18-937A-F718133415E9}"/>
              </a:ext>
            </a:extLst>
          </p:cNvPr>
          <p:cNvSpPr/>
          <p:nvPr/>
        </p:nvSpPr>
        <p:spPr>
          <a:xfrm>
            <a:off x="4115795" y="709110"/>
            <a:ext cx="77462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>
              <a:defRPr/>
            </a:pPr>
            <a:r>
              <a:rPr lang="en-US" altLang="zh-CN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wordCount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 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程序（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java + maven + </a:t>
            </a:r>
            <a:r>
              <a:rPr lang="en-US" altLang="zh-CN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intellij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 idea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方式）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2D46CE-5358-627A-A09F-DFF4165CD308}"/>
              </a:ext>
            </a:extLst>
          </p:cNvPr>
          <p:cNvSpPr/>
          <p:nvPr/>
        </p:nvSpPr>
        <p:spPr>
          <a:xfrm>
            <a:off x="4264761" y="1167973"/>
            <a:ext cx="2270509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zh-CN" altLang="en-US">
              <a:solidFill>
                <a:prstClr val="black">
                  <a:lumMod val="65000"/>
                  <a:lumOff val="35000"/>
                </a:prstClr>
              </a:solidFill>
              <a:latin typeface="Source Han Serif SC" panose="02020700000000000000" pitchFamily="18" charset="-122"/>
              <a:ea typeface="Source Han Serif SC" panose="02020700000000000000" pitchFamily="18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5837AD0C-259A-6B86-6810-4BDB3773BE98}"/>
              </a:ext>
            </a:extLst>
          </p:cNvPr>
          <p:cNvSpPr txBox="1"/>
          <p:nvPr/>
        </p:nvSpPr>
        <p:spPr>
          <a:xfrm>
            <a:off x="479798" y="392558"/>
            <a:ext cx="3249519" cy="107721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03.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项目实践</a:t>
            </a:r>
          </a:p>
          <a:p>
            <a:pPr algn="dist"/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  <p:sp>
        <p:nvSpPr>
          <p:cNvPr id="18" name="1">
            <a:extLst>
              <a:ext uri="{FF2B5EF4-FFF2-40B4-BE49-F238E27FC236}">
                <a16:creationId xmlns:a16="http://schemas.microsoft.com/office/drawing/2014/main" id="{55D1597E-E983-95E1-6F05-DF1C52ED2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4111" y="5441818"/>
            <a:ext cx="3279195" cy="248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ts val="22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在终端显示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wordcount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结果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183037-90B0-C67B-10C4-15D498191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98" y="1836013"/>
            <a:ext cx="5167822" cy="3577723"/>
          </a:xfrm>
          <a:prstGeom prst="rect">
            <a:avLst/>
          </a:prstGeom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AC9C2681-AE96-A246-456E-9CA2F24D9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891" y="2855575"/>
            <a:ext cx="4819177" cy="2484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1">
            <a:extLst>
              <a:ext uri="{FF2B5EF4-FFF2-40B4-BE49-F238E27FC236}">
                <a16:creationId xmlns:a16="http://schemas.microsoft.com/office/drawing/2014/main" id="{3C3BC943-3AD4-0A4D-F0AE-AC4F9BBFA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3045" y="5475309"/>
            <a:ext cx="3279195" cy="248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ts val="22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在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flink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 Web UI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中 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finished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0508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253999" y="1037826"/>
            <a:ext cx="3320243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6ACE751-1047-A546-B3A2-1EEF973583D2}"/>
              </a:ext>
            </a:extLst>
          </p:cNvPr>
          <p:cNvGrpSpPr/>
          <p:nvPr/>
        </p:nvGrpSpPr>
        <p:grpSpPr>
          <a:xfrm>
            <a:off x="954508" y="1628862"/>
            <a:ext cx="10923950" cy="4591356"/>
            <a:chOff x="954508" y="1628862"/>
            <a:chExt cx="10923950" cy="4591356"/>
          </a:xfrm>
        </p:grpSpPr>
        <p:sp>
          <p:nvSpPr>
            <p:cNvPr id="2" name="Oval 14">
              <a:extLst>
                <a:ext uri="{FF2B5EF4-FFF2-40B4-BE49-F238E27FC236}">
                  <a16:creationId xmlns:a16="http://schemas.microsoft.com/office/drawing/2014/main" id="{E0968B17-DE2B-E1B4-B2C5-1E3105369103}"/>
                </a:ext>
              </a:extLst>
            </p:cNvPr>
            <p:cNvSpPr/>
            <p:nvPr/>
          </p:nvSpPr>
          <p:spPr>
            <a:xfrm>
              <a:off x="954508" y="3204467"/>
              <a:ext cx="698205" cy="698205"/>
            </a:xfrm>
            <a:prstGeom prst="ellipse">
              <a:avLst/>
            </a:prstGeom>
            <a:solidFill>
              <a:srgbClr val="203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4" name="Straight Connector 15">
              <a:extLst>
                <a:ext uri="{FF2B5EF4-FFF2-40B4-BE49-F238E27FC236}">
                  <a16:creationId xmlns:a16="http://schemas.microsoft.com/office/drawing/2014/main" id="{BFED5AFE-5E8D-7075-B092-31E192BB7F6C}"/>
                </a:ext>
              </a:extLst>
            </p:cNvPr>
            <p:cNvCxnSpPr/>
            <p:nvPr/>
          </p:nvCxnSpPr>
          <p:spPr>
            <a:xfrm>
              <a:off x="1798458" y="3553569"/>
              <a:ext cx="10080000" cy="0"/>
            </a:xfrm>
            <a:prstGeom prst="line">
              <a:avLst/>
            </a:prstGeom>
            <a:ln w="28575">
              <a:solidFill>
                <a:srgbClr val="15213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20">
              <a:extLst>
                <a:ext uri="{FF2B5EF4-FFF2-40B4-BE49-F238E27FC236}">
                  <a16:creationId xmlns:a16="http://schemas.microsoft.com/office/drawing/2014/main" id="{66295514-D08B-53E2-C0E6-0D947ABF06D6}"/>
                </a:ext>
              </a:extLst>
            </p:cNvPr>
            <p:cNvCxnSpPr/>
            <p:nvPr/>
          </p:nvCxnSpPr>
          <p:spPr>
            <a:xfrm>
              <a:off x="3597350" y="2926257"/>
              <a:ext cx="0" cy="548640"/>
            </a:xfrm>
            <a:prstGeom prst="line">
              <a:avLst/>
            </a:prstGeom>
            <a:ln>
              <a:solidFill>
                <a:srgbClr val="2B6587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23">
              <a:extLst>
                <a:ext uri="{FF2B5EF4-FFF2-40B4-BE49-F238E27FC236}">
                  <a16:creationId xmlns:a16="http://schemas.microsoft.com/office/drawing/2014/main" id="{A9160EB7-BE9B-95A6-B052-1132E4AEFB5B}"/>
                </a:ext>
              </a:extLst>
            </p:cNvPr>
            <p:cNvSpPr/>
            <p:nvPr/>
          </p:nvSpPr>
          <p:spPr>
            <a:xfrm>
              <a:off x="3501657" y="3457876"/>
              <a:ext cx="191386" cy="19138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2B65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Teardrop 24">
              <a:extLst>
                <a:ext uri="{FF2B5EF4-FFF2-40B4-BE49-F238E27FC236}">
                  <a16:creationId xmlns:a16="http://schemas.microsoft.com/office/drawing/2014/main" id="{6A974A18-54CE-8DFF-BB4D-B039A3E84B4A}"/>
                </a:ext>
              </a:extLst>
            </p:cNvPr>
            <p:cNvSpPr/>
            <p:nvPr/>
          </p:nvSpPr>
          <p:spPr>
            <a:xfrm>
              <a:off x="3302901" y="2258687"/>
              <a:ext cx="588898" cy="588898"/>
            </a:xfrm>
            <a:prstGeom prst="teardrop">
              <a:avLst/>
            </a:pr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0" name="Straight Connector 25">
              <a:extLst>
                <a:ext uri="{FF2B5EF4-FFF2-40B4-BE49-F238E27FC236}">
                  <a16:creationId xmlns:a16="http://schemas.microsoft.com/office/drawing/2014/main" id="{B26945B4-889F-9430-0934-F8841F2E72A1}"/>
                </a:ext>
              </a:extLst>
            </p:cNvPr>
            <p:cNvCxnSpPr/>
            <p:nvPr/>
          </p:nvCxnSpPr>
          <p:spPr>
            <a:xfrm>
              <a:off x="3597350" y="1963131"/>
              <a:ext cx="0" cy="182880"/>
            </a:xfrm>
            <a:prstGeom prst="line">
              <a:avLst/>
            </a:prstGeom>
            <a:ln>
              <a:solidFill>
                <a:srgbClr val="0E589D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26">
              <a:extLst>
                <a:ext uri="{FF2B5EF4-FFF2-40B4-BE49-F238E27FC236}">
                  <a16:creationId xmlns:a16="http://schemas.microsoft.com/office/drawing/2014/main" id="{14DD56AC-C008-AD1B-6B7B-212F354E7DAA}"/>
                </a:ext>
              </a:extLst>
            </p:cNvPr>
            <p:cNvCxnSpPr/>
            <p:nvPr/>
          </p:nvCxnSpPr>
          <p:spPr>
            <a:xfrm>
              <a:off x="3599545" y="1956929"/>
              <a:ext cx="584508" cy="0"/>
            </a:xfrm>
            <a:prstGeom prst="line">
              <a:avLst/>
            </a:prstGeom>
            <a:ln>
              <a:solidFill>
                <a:srgbClr val="0E589D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28">
              <a:extLst>
                <a:ext uri="{FF2B5EF4-FFF2-40B4-BE49-F238E27FC236}">
                  <a16:creationId xmlns:a16="http://schemas.microsoft.com/office/drawing/2014/main" id="{DAB76526-711A-A2D4-5F93-6F9BD8425EAD}"/>
                </a:ext>
              </a:extLst>
            </p:cNvPr>
            <p:cNvSpPr/>
            <p:nvPr/>
          </p:nvSpPr>
          <p:spPr>
            <a:xfrm>
              <a:off x="4463786" y="3457876"/>
              <a:ext cx="191386" cy="19138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3" name="Straight Connector 29">
              <a:extLst>
                <a:ext uri="{FF2B5EF4-FFF2-40B4-BE49-F238E27FC236}">
                  <a16:creationId xmlns:a16="http://schemas.microsoft.com/office/drawing/2014/main" id="{84A66E58-D1EC-B0F4-28CE-089CC98855ED}"/>
                </a:ext>
              </a:extLst>
            </p:cNvPr>
            <p:cNvCxnSpPr/>
            <p:nvPr/>
          </p:nvCxnSpPr>
          <p:spPr>
            <a:xfrm>
              <a:off x="4541252" y="3689773"/>
              <a:ext cx="0" cy="548640"/>
            </a:xfrm>
            <a:prstGeom prst="line">
              <a:avLst/>
            </a:prstGeom>
            <a:ln>
              <a:solidFill>
                <a:srgbClr val="2B6587"/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ardrop 30">
              <a:extLst>
                <a:ext uri="{FF2B5EF4-FFF2-40B4-BE49-F238E27FC236}">
                  <a16:creationId xmlns:a16="http://schemas.microsoft.com/office/drawing/2014/main" id="{FB4238EA-4C55-E015-F647-A80070CC076D}"/>
                </a:ext>
              </a:extLst>
            </p:cNvPr>
            <p:cNvSpPr/>
            <p:nvPr/>
          </p:nvSpPr>
          <p:spPr>
            <a:xfrm>
              <a:off x="4265030" y="4366012"/>
              <a:ext cx="588898" cy="588898"/>
            </a:xfrm>
            <a:prstGeom prst="teardrop">
              <a:avLst/>
            </a:prstGeom>
            <a:solidFill>
              <a:srgbClr val="203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A4A85ED9-5AF0-2660-DDE7-103D38D86843}"/>
                </a:ext>
              </a:extLst>
            </p:cNvPr>
            <p:cNvCxnSpPr/>
            <p:nvPr/>
          </p:nvCxnSpPr>
          <p:spPr>
            <a:xfrm>
              <a:off x="4559479" y="5015114"/>
              <a:ext cx="0" cy="182880"/>
            </a:xfrm>
            <a:prstGeom prst="line">
              <a:avLst/>
            </a:prstGeom>
            <a:ln>
              <a:solidFill>
                <a:srgbClr val="2B6587"/>
              </a:solidFill>
              <a:prstDash val="dash"/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32">
              <a:extLst>
                <a:ext uri="{FF2B5EF4-FFF2-40B4-BE49-F238E27FC236}">
                  <a16:creationId xmlns:a16="http://schemas.microsoft.com/office/drawing/2014/main" id="{596E05C3-B080-42D7-E9E5-2177B1FA27B0}"/>
                </a:ext>
              </a:extLst>
            </p:cNvPr>
            <p:cNvCxnSpPr/>
            <p:nvPr/>
          </p:nvCxnSpPr>
          <p:spPr>
            <a:xfrm>
              <a:off x="3979420" y="5195268"/>
              <a:ext cx="584508" cy="0"/>
            </a:xfrm>
            <a:prstGeom prst="line">
              <a:avLst/>
            </a:prstGeom>
            <a:ln>
              <a:solidFill>
                <a:srgbClr val="2B6587"/>
              </a:solidFill>
              <a:prstDash val="dash"/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34">
              <a:extLst>
                <a:ext uri="{FF2B5EF4-FFF2-40B4-BE49-F238E27FC236}">
                  <a16:creationId xmlns:a16="http://schemas.microsoft.com/office/drawing/2014/main" id="{D0C435A6-7FF6-F562-EFAC-C280DB196B8D}"/>
                </a:ext>
              </a:extLst>
            </p:cNvPr>
            <p:cNvCxnSpPr/>
            <p:nvPr/>
          </p:nvCxnSpPr>
          <p:spPr>
            <a:xfrm>
              <a:off x="7380996" y="2926257"/>
              <a:ext cx="0" cy="548640"/>
            </a:xfrm>
            <a:prstGeom prst="line">
              <a:avLst/>
            </a:prstGeom>
            <a:ln>
              <a:solidFill>
                <a:srgbClr val="203864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35">
              <a:extLst>
                <a:ext uri="{FF2B5EF4-FFF2-40B4-BE49-F238E27FC236}">
                  <a16:creationId xmlns:a16="http://schemas.microsoft.com/office/drawing/2014/main" id="{14BCE33C-2229-EF92-E6DD-413EA81AF452}"/>
                </a:ext>
              </a:extLst>
            </p:cNvPr>
            <p:cNvSpPr/>
            <p:nvPr/>
          </p:nvSpPr>
          <p:spPr>
            <a:xfrm>
              <a:off x="7285303" y="3457876"/>
              <a:ext cx="191386" cy="19138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Teardrop 36">
              <a:extLst>
                <a:ext uri="{FF2B5EF4-FFF2-40B4-BE49-F238E27FC236}">
                  <a16:creationId xmlns:a16="http://schemas.microsoft.com/office/drawing/2014/main" id="{D60B8404-C995-931C-5892-3259FE57FC7A}"/>
                </a:ext>
              </a:extLst>
            </p:cNvPr>
            <p:cNvSpPr/>
            <p:nvPr/>
          </p:nvSpPr>
          <p:spPr>
            <a:xfrm>
              <a:off x="7086547" y="2258687"/>
              <a:ext cx="588898" cy="588898"/>
            </a:xfrm>
            <a:prstGeom prst="teardrop">
              <a:avLst/>
            </a:prstGeom>
            <a:solidFill>
              <a:srgbClr val="203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20" name="Straight Connector 37">
              <a:extLst>
                <a:ext uri="{FF2B5EF4-FFF2-40B4-BE49-F238E27FC236}">
                  <a16:creationId xmlns:a16="http://schemas.microsoft.com/office/drawing/2014/main" id="{B9BBAACC-D80A-8469-A8DA-51CAACC4C22E}"/>
                </a:ext>
              </a:extLst>
            </p:cNvPr>
            <p:cNvCxnSpPr/>
            <p:nvPr/>
          </p:nvCxnSpPr>
          <p:spPr>
            <a:xfrm>
              <a:off x="7380996" y="1963131"/>
              <a:ext cx="0" cy="182880"/>
            </a:xfrm>
            <a:prstGeom prst="line">
              <a:avLst/>
            </a:prstGeom>
            <a:ln>
              <a:solidFill>
                <a:srgbClr val="203864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38">
              <a:extLst>
                <a:ext uri="{FF2B5EF4-FFF2-40B4-BE49-F238E27FC236}">
                  <a16:creationId xmlns:a16="http://schemas.microsoft.com/office/drawing/2014/main" id="{E18B5201-9AEF-F8FF-BA51-4B5106C056A7}"/>
                </a:ext>
              </a:extLst>
            </p:cNvPr>
            <p:cNvCxnSpPr/>
            <p:nvPr/>
          </p:nvCxnSpPr>
          <p:spPr>
            <a:xfrm>
              <a:off x="7383191" y="1956929"/>
              <a:ext cx="584508" cy="0"/>
            </a:xfrm>
            <a:prstGeom prst="line">
              <a:avLst/>
            </a:prstGeom>
            <a:ln>
              <a:solidFill>
                <a:srgbClr val="203864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40">
              <a:extLst>
                <a:ext uri="{FF2B5EF4-FFF2-40B4-BE49-F238E27FC236}">
                  <a16:creationId xmlns:a16="http://schemas.microsoft.com/office/drawing/2014/main" id="{BF96C154-135D-A726-6C8C-2CA04159C00B}"/>
                </a:ext>
              </a:extLst>
            </p:cNvPr>
            <p:cNvSpPr/>
            <p:nvPr/>
          </p:nvSpPr>
          <p:spPr>
            <a:xfrm>
              <a:off x="8553253" y="3457876"/>
              <a:ext cx="191386" cy="19138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2B65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23" name="4">
              <a:extLst>
                <a:ext uri="{FF2B5EF4-FFF2-40B4-BE49-F238E27FC236}">
                  <a16:creationId xmlns:a16="http://schemas.microsoft.com/office/drawing/2014/main" id="{FA6FE478-DAA1-DD42-077C-7649E76ED3A7}"/>
                </a:ext>
              </a:extLst>
            </p:cNvPr>
            <p:cNvCxnSpPr/>
            <p:nvPr/>
          </p:nvCxnSpPr>
          <p:spPr>
            <a:xfrm>
              <a:off x="8630719" y="3689773"/>
              <a:ext cx="0" cy="548640"/>
            </a:xfrm>
            <a:prstGeom prst="line">
              <a:avLst/>
            </a:prstGeom>
            <a:ln>
              <a:solidFill>
                <a:srgbClr val="2B6587"/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ardrop 42">
              <a:extLst>
                <a:ext uri="{FF2B5EF4-FFF2-40B4-BE49-F238E27FC236}">
                  <a16:creationId xmlns:a16="http://schemas.microsoft.com/office/drawing/2014/main" id="{19418997-CD3C-C66C-8829-631B5E3150A6}"/>
                </a:ext>
              </a:extLst>
            </p:cNvPr>
            <p:cNvSpPr/>
            <p:nvPr/>
          </p:nvSpPr>
          <p:spPr>
            <a:xfrm>
              <a:off x="8354497" y="4366012"/>
              <a:ext cx="588898" cy="588898"/>
            </a:xfrm>
            <a:prstGeom prst="teardrop">
              <a:avLst/>
            </a:pr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25" name="3">
              <a:extLst>
                <a:ext uri="{FF2B5EF4-FFF2-40B4-BE49-F238E27FC236}">
                  <a16:creationId xmlns:a16="http://schemas.microsoft.com/office/drawing/2014/main" id="{F47C5C52-393C-4C8E-C3AE-84BC293792F7}"/>
                </a:ext>
              </a:extLst>
            </p:cNvPr>
            <p:cNvCxnSpPr/>
            <p:nvPr/>
          </p:nvCxnSpPr>
          <p:spPr>
            <a:xfrm>
              <a:off x="8648946" y="5015114"/>
              <a:ext cx="0" cy="182880"/>
            </a:xfrm>
            <a:prstGeom prst="line">
              <a:avLst/>
            </a:prstGeom>
            <a:ln>
              <a:solidFill>
                <a:srgbClr val="0E589D"/>
              </a:solidFill>
              <a:prstDash val="dash"/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2">
              <a:extLst>
                <a:ext uri="{FF2B5EF4-FFF2-40B4-BE49-F238E27FC236}">
                  <a16:creationId xmlns:a16="http://schemas.microsoft.com/office/drawing/2014/main" id="{81E84805-8DD5-7DB2-B8E9-64903F5CBAB8}"/>
                </a:ext>
              </a:extLst>
            </p:cNvPr>
            <p:cNvCxnSpPr/>
            <p:nvPr/>
          </p:nvCxnSpPr>
          <p:spPr>
            <a:xfrm>
              <a:off x="8068887" y="5195268"/>
              <a:ext cx="584508" cy="0"/>
            </a:xfrm>
            <a:prstGeom prst="line">
              <a:avLst/>
            </a:prstGeom>
            <a:ln>
              <a:solidFill>
                <a:srgbClr val="0E589D"/>
              </a:solidFill>
              <a:prstDash val="dash"/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13">
              <a:extLst>
                <a:ext uri="{FF2B5EF4-FFF2-40B4-BE49-F238E27FC236}">
                  <a16:creationId xmlns:a16="http://schemas.microsoft.com/office/drawing/2014/main" id="{C835E5FC-6A9B-439B-F173-387016E6644F}"/>
                </a:ext>
              </a:extLst>
            </p:cNvPr>
            <p:cNvSpPr txBox="1"/>
            <p:nvPr/>
          </p:nvSpPr>
          <p:spPr>
            <a:xfrm>
              <a:off x="2254878" y="4899802"/>
              <a:ext cx="1665553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rgbClr val="0F1115"/>
                  </a:solidFill>
                  <a:effectLst/>
                  <a:latin typeface="quote-cjk-patch"/>
                </a:rPr>
                <a:t>项目结构设置</a:t>
              </a:r>
            </a:p>
          </p:txBody>
        </p:sp>
        <p:sp>
          <p:nvSpPr>
            <p:cNvPr id="28" name="TextBox 13">
              <a:extLst>
                <a:ext uri="{FF2B5EF4-FFF2-40B4-BE49-F238E27FC236}">
                  <a16:creationId xmlns:a16="http://schemas.microsoft.com/office/drawing/2014/main" id="{0643315A-42AD-EA2B-4BA4-FE14B7C70194}"/>
                </a:ext>
              </a:extLst>
            </p:cNvPr>
            <p:cNvSpPr txBox="1"/>
            <p:nvPr/>
          </p:nvSpPr>
          <p:spPr>
            <a:xfrm>
              <a:off x="2272419" y="5221803"/>
              <a:ext cx="1992611" cy="99841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删去 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java 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下的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app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类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endParaRPr>
            </a:p>
            <a:p>
              <a:pPr>
                <a:lnSpc>
                  <a:spcPts val="2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添加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WordCount.java 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和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WordCountData.java</a:t>
              </a:r>
            </a:p>
            <a:p>
              <a:pPr>
                <a:lnSpc>
                  <a:spcPts val="2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编写相应程序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endParaRPr>
            </a:p>
          </p:txBody>
        </p:sp>
        <p:sp>
          <p:nvSpPr>
            <p:cNvPr id="29" name="TextBox 13">
              <a:extLst>
                <a:ext uri="{FF2B5EF4-FFF2-40B4-BE49-F238E27FC236}">
                  <a16:creationId xmlns:a16="http://schemas.microsoft.com/office/drawing/2014/main" id="{6A2B75D3-E8BA-CC4A-C450-E52D0A95F17E}"/>
                </a:ext>
              </a:extLst>
            </p:cNvPr>
            <p:cNvSpPr txBox="1"/>
            <p:nvPr/>
          </p:nvSpPr>
          <p:spPr>
            <a:xfrm>
              <a:off x="6299741" y="4899802"/>
              <a:ext cx="1361146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lvl="0">
                <a:spcBef>
                  <a:spcPct val="0"/>
                </a:spcBef>
                <a:buSzPct val="25000"/>
                <a:defRPr/>
              </a:pPr>
              <a:r>
                <a:rPr lang="zh-CN" altLang="en-US" sz="200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+mn-lt"/>
                </a:rPr>
                <a:t>打包部署</a:t>
              </a:r>
            </a:p>
          </p:txBody>
        </p:sp>
        <p:sp>
          <p:nvSpPr>
            <p:cNvPr id="30" name="TextBox 13">
              <a:extLst>
                <a:ext uri="{FF2B5EF4-FFF2-40B4-BE49-F238E27FC236}">
                  <a16:creationId xmlns:a16="http://schemas.microsoft.com/office/drawing/2014/main" id="{8058ECFE-C997-7ED4-3971-A8FF876742E0}"/>
                </a:ext>
              </a:extLst>
            </p:cNvPr>
            <p:cNvSpPr txBox="1"/>
            <p:nvPr/>
          </p:nvSpPr>
          <p:spPr>
            <a:xfrm>
              <a:off x="6310265" y="5221803"/>
              <a:ext cx="1665554" cy="74193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zh-CN"/>
              </a:defPPr>
              <a:lvl1pPr>
                <a:lnSpc>
                  <a:spcPts val="2000"/>
                </a:lnSpc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defRPr>
              </a:lvl1pPr>
            </a:lstStyle>
            <a:p>
              <a:r>
                <a:rPr lang="zh-CN" altLang="en-US" dirty="0">
                  <a:sym typeface="字魂35号-经典雅黑" panose="00000500000000000000" pitchFamily="2" charset="-122"/>
                </a:rPr>
                <a:t>将刚才的项目打包为</a:t>
              </a:r>
              <a:r>
                <a:rPr lang="en-US" altLang="zh-CN" dirty="0">
                  <a:sym typeface="字魂35号-经典雅黑" panose="00000500000000000000" pitchFamily="2" charset="-122"/>
                </a:rPr>
                <a:t>jar</a:t>
              </a:r>
              <a:r>
                <a:rPr lang="zh-CN" altLang="en-US" dirty="0">
                  <a:sym typeface="字魂35号-经典雅黑" panose="00000500000000000000" pitchFamily="2" charset="-122"/>
                </a:rPr>
                <a:t>包，并上传到 </a:t>
              </a:r>
              <a:r>
                <a:rPr lang="en-US" altLang="zh-CN" dirty="0" err="1">
                  <a:sym typeface="字魂35号-经典雅黑" panose="00000500000000000000" pitchFamily="2" charset="-122"/>
                </a:rPr>
                <a:t>flink</a:t>
              </a:r>
              <a:r>
                <a:rPr lang="en-US" altLang="zh-CN" dirty="0">
                  <a:sym typeface="字魂35号-经典雅黑" panose="00000500000000000000" pitchFamily="2" charset="-122"/>
                </a:rPr>
                <a:t> web UI</a:t>
              </a:r>
              <a:r>
                <a:rPr lang="zh-CN" altLang="en-US" dirty="0">
                  <a:sym typeface="字魂35号-经典雅黑" panose="00000500000000000000" pitchFamily="2" charset="-122"/>
                </a:rPr>
                <a:t>处理</a:t>
              </a:r>
            </a:p>
          </p:txBody>
        </p:sp>
        <p:sp>
          <p:nvSpPr>
            <p:cNvPr id="31" name="TextBox 13">
              <a:extLst>
                <a:ext uri="{FF2B5EF4-FFF2-40B4-BE49-F238E27FC236}">
                  <a16:creationId xmlns:a16="http://schemas.microsoft.com/office/drawing/2014/main" id="{83CD2214-A7F3-AD21-488E-3715E5D05F63}"/>
                </a:ext>
              </a:extLst>
            </p:cNvPr>
            <p:cNvSpPr txBox="1"/>
            <p:nvPr/>
          </p:nvSpPr>
          <p:spPr>
            <a:xfrm>
              <a:off x="4319979" y="1628862"/>
              <a:ext cx="1619093" cy="307777"/>
            </a:xfrm>
            <a:prstGeom prst="rect">
              <a:avLst/>
            </a:prstGeom>
          </p:spPr>
          <p:txBody>
            <a:bodyPr wrap="square" lIns="0" tIns="0" rIns="0" bIns="0" rtlCol="0" anchor="t" anchorCtr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rgbClr val="0F1115"/>
                  </a:solidFill>
                  <a:effectLst/>
                  <a:latin typeface="quote-cjk-patch"/>
                </a:rPr>
                <a:t>配置 </a:t>
              </a:r>
              <a:r>
                <a:rPr lang="en-US" altLang="zh-CN" sz="2000" b="1" dirty="0">
                  <a:solidFill>
                    <a:srgbClr val="0F1115"/>
                  </a:solidFill>
                  <a:effectLst/>
                  <a:latin typeface="quote-cjk-patch"/>
                </a:rPr>
                <a:t>pom.xml</a:t>
              </a:r>
            </a:p>
          </p:txBody>
        </p:sp>
        <p:sp>
          <p:nvSpPr>
            <p:cNvPr id="32" name="TextBox 13">
              <a:extLst>
                <a:ext uri="{FF2B5EF4-FFF2-40B4-BE49-F238E27FC236}">
                  <a16:creationId xmlns:a16="http://schemas.microsoft.com/office/drawing/2014/main" id="{96E226F7-CB3E-16AF-FBA4-5329154ADE37}"/>
                </a:ext>
              </a:extLst>
            </p:cNvPr>
            <p:cNvSpPr txBox="1"/>
            <p:nvPr/>
          </p:nvSpPr>
          <p:spPr>
            <a:xfrm>
              <a:off x="4319980" y="1950863"/>
              <a:ext cx="1619094" cy="48545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zh-CN"/>
              </a:defPPr>
              <a:lvl1pPr>
                <a:lnSpc>
                  <a:spcPts val="2000"/>
                </a:lnSpc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defRPr>
              </a:lvl1pPr>
            </a:lstStyle>
            <a:p>
              <a:r>
                <a:rPr lang="zh-CN" altLang="en-US" dirty="0">
                  <a:sym typeface="字魂35号-经典雅黑" panose="00000500000000000000" pitchFamily="2" charset="-122"/>
                </a:rPr>
                <a:t>在 </a:t>
              </a:r>
              <a:r>
                <a:rPr lang="en-US" altLang="zh-CN" dirty="0">
                  <a:sym typeface="字魂35号-经典雅黑" panose="00000500000000000000" pitchFamily="2" charset="-122"/>
                </a:rPr>
                <a:t>pom.xml </a:t>
              </a:r>
              <a:r>
                <a:rPr lang="zh-CN" altLang="en-US" dirty="0">
                  <a:sym typeface="字魂35号-经典雅黑" panose="00000500000000000000" pitchFamily="2" charset="-122"/>
                </a:rPr>
                <a:t>中配置</a:t>
              </a:r>
              <a:r>
                <a:rPr lang="en-US" altLang="zh-CN" dirty="0" err="1">
                  <a:sym typeface="字魂35号-经典雅黑" panose="00000500000000000000" pitchFamily="2" charset="-122"/>
                </a:rPr>
                <a:t>flink</a:t>
              </a:r>
              <a:r>
                <a:rPr lang="en-US" altLang="zh-CN" dirty="0">
                  <a:sym typeface="字魂35号-经典雅黑" panose="00000500000000000000" pitchFamily="2" charset="-122"/>
                </a:rPr>
                <a:t> </a:t>
              </a:r>
              <a:r>
                <a:rPr lang="zh-CN" altLang="en-US" dirty="0">
                  <a:sym typeface="字魂35号-经典雅黑" panose="00000500000000000000" pitchFamily="2" charset="-122"/>
                </a:rPr>
                <a:t>依赖</a:t>
              </a:r>
            </a:p>
          </p:txBody>
        </p:sp>
        <p:sp>
          <p:nvSpPr>
            <p:cNvPr id="33" name="TextBox 13">
              <a:extLst>
                <a:ext uri="{FF2B5EF4-FFF2-40B4-BE49-F238E27FC236}">
                  <a16:creationId xmlns:a16="http://schemas.microsoft.com/office/drawing/2014/main" id="{C2A8AE1B-A9E7-813C-BE79-57D8A05D09D8}"/>
                </a:ext>
              </a:extLst>
            </p:cNvPr>
            <p:cNvSpPr txBox="1"/>
            <p:nvPr/>
          </p:nvSpPr>
          <p:spPr>
            <a:xfrm>
              <a:off x="8175274" y="1628862"/>
              <a:ext cx="1295287" cy="307777"/>
            </a:xfrm>
            <a:prstGeom prst="rect">
              <a:avLst/>
            </a:prstGeom>
          </p:spPr>
          <p:txBody>
            <a:bodyPr wrap="square" lIns="0" tIns="0" rIns="0" bIns="0" rtlCol="0" anchor="t" anchorCtr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rgbClr val="0F1115"/>
                  </a:solidFill>
                  <a:effectLst/>
                  <a:latin typeface="quote-cjk-patch"/>
                </a:rPr>
                <a:t>运行测试</a:t>
              </a:r>
            </a:p>
          </p:txBody>
        </p:sp>
        <p:sp>
          <p:nvSpPr>
            <p:cNvPr id="34" name="TextBox 13">
              <a:extLst>
                <a:ext uri="{FF2B5EF4-FFF2-40B4-BE49-F238E27FC236}">
                  <a16:creationId xmlns:a16="http://schemas.microsoft.com/office/drawing/2014/main" id="{66156565-CEAC-9754-54FB-6203DFA00696}"/>
                </a:ext>
              </a:extLst>
            </p:cNvPr>
            <p:cNvSpPr txBox="1"/>
            <p:nvPr/>
          </p:nvSpPr>
          <p:spPr>
            <a:xfrm>
              <a:off x="8175275" y="1950863"/>
              <a:ext cx="1619094" cy="48545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zh-CN"/>
              </a:defPPr>
              <a:lvl1pPr>
                <a:lnSpc>
                  <a:spcPts val="2000"/>
                </a:lnSpc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defRPr>
              </a:lvl1pPr>
            </a:lstStyle>
            <a:p>
              <a:r>
                <a:rPr lang="zh-CN" altLang="en-US" dirty="0">
                  <a:sym typeface="字魂35号-经典雅黑" panose="00000500000000000000" pitchFamily="2" charset="-122"/>
                </a:rPr>
                <a:t>从终端中观察</a:t>
              </a:r>
              <a:r>
                <a:rPr lang="en-US" altLang="zh-CN" dirty="0">
                  <a:sym typeface="字魂35号-经典雅黑" panose="00000500000000000000" pitchFamily="2" charset="-122"/>
                </a:rPr>
                <a:t>wordcount </a:t>
              </a:r>
              <a:r>
                <a:rPr lang="zh-CN" altLang="en-US" dirty="0">
                  <a:sym typeface="字魂35号-经典雅黑" panose="00000500000000000000" pitchFamily="2" charset="-122"/>
                </a:rPr>
                <a:t>运行结果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5D7516F-84A3-6D89-F86F-E00DF7C9D95F}"/>
                </a:ext>
              </a:extLst>
            </p:cNvPr>
            <p:cNvSpPr/>
            <p:nvPr/>
          </p:nvSpPr>
          <p:spPr>
            <a:xfrm>
              <a:off x="3378864" y="2312225"/>
              <a:ext cx="4411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SzPct val="25000"/>
                <a:defRPr/>
              </a:pPr>
              <a:r>
                <a:rPr lang="en-US" altLang="zh-CN" sz="2000" b="1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Arial" panose="020B0604020202020204" pitchFamily="34" charset="0"/>
                </a:rPr>
                <a:t>01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F73ACBE-C897-ECD5-C313-463F506E5B27}"/>
                </a:ext>
              </a:extLst>
            </p:cNvPr>
            <p:cNvSpPr/>
            <p:nvPr/>
          </p:nvSpPr>
          <p:spPr>
            <a:xfrm>
              <a:off x="4320186" y="4424995"/>
              <a:ext cx="47801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SzPct val="25000"/>
                <a:defRPr/>
              </a:pPr>
              <a:r>
                <a:rPr lang="en-US" altLang="zh-CN" sz="2000" b="1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Arial" panose="020B0604020202020204" pitchFamily="34" charset="0"/>
                </a:rPr>
                <a:t>02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9A02C84-E197-3E9B-EF33-691CD6661E3A}"/>
                </a:ext>
              </a:extLst>
            </p:cNvPr>
            <p:cNvSpPr/>
            <p:nvPr/>
          </p:nvSpPr>
          <p:spPr>
            <a:xfrm>
              <a:off x="7141989" y="2312225"/>
              <a:ext cx="47801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spcBef>
                  <a:spcPct val="0"/>
                </a:spcBef>
                <a:buSzPct val="25000"/>
                <a:defRPr/>
              </a:pPr>
              <a:r>
                <a:rPr lang="en-US" altLang="zh-CN" sz="2000" b="1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Arial" panose="020B0604020202020204" pitchFamily="34" charset="0"/>
                </a:rPr>
                <a:t>03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A048E03-3A5F-2B27-BE97-61F3C193F185}"/>
                </a:ext>
              </a:extLst>
            </p:cNvPr>
            <p:cNvSpPr/>
            <p:nvPr/>
          </p:nvSpPr>
          <p:spPr>
            <a:xfrm>
              <a:off x="8400321" y="4427971"/>
              <a:ext cx="49725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spcBef>
                  <a:spcPct val="0"/>
                </a:spcBef>
                <a:buSzPct val="25000"/>
                <a:defRPr/>
              </a:pPr>
              <a:r>
                <a:rPr lang="en-US" altLang="zh-CN" sz="2000" b="1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Arial" panose="020B0604020202020204" pitchFamily="34" charset="0"/>
                </a:rPr>
                <a:t>04</a:t>
              </a:r>
            </a:p>
          </p:txBody>
        </p:sp>
        <p:sp>
          <p:nvSpPr>
            <p:cNvPr id="41" name="1">
              <a:extLst>
                <a:ext uri="{FF2B5EF4-FFF2-40B4-BE49-F238E27FC236}">
                  <a16:creationId xmlns:a16="http://schemas.microsoft.com/office/drawing/2014/main" id="{96B57A44-7000-5B1F-FEB9-F0B8446A42C3}"/>
                </a:ext>
              </a:extLst>
            </p:cNvPr>
            <p:cNvSpPr/>
            <p:nvPr/>
          </p:nvSpPr>
          <p:spPr>
            <a:xfrm>
              <a:off x="1135759" y="3361223"/>
              <a:ext cx="403903" cy="384691"/>
            </a:xfrm>
            <a:custGeom>
              <a:avLst/>
              <a:gdLst>
                <a:gd name="connsiteX0" fmla="*/ 69048 w 609763"/>
                <a:gd name="connsiteY0" fmla="*/ 467002 h 580760"/>
                <a:gd name="connsiteX1" fmla="*/ 84749 w 609763"/>
                <a:gd name="connsiteY1" fmla="*/ 482703 h 580760"/>
                <a:gd name="connsiteX2" fmla="*/ 69048 w 609763"/>
                <a:gd name="connsiteY2" fmla="*/ 498404 h 580760"/>
                <a:gd name="connsiteX3" fmla="*/ 53347 w 609763"/>
                <a:gd name="connsiteY3" fmla="*/ 482703 h 580760"/>
                <a:gd name="connsiteX4" fmla="*/ 69048 w 609763"/>
                <a:gd name="connsiteY4" fmla="*/ 467002 h 580760"/>
                <a:gd name="connsiteX5" fmla="*/ 69048 w 609763"/>
                <a:gd name="connsiteY5" fmla="*/ 327212 h 580760"/>
                <a:gd name="connsiteX6" fmla="*/ 84749 w 609763"/>
                <a:gd name="connsiteY6" fmla="*/ 342913 h 580760"/>
                <a:gd name="connsiteX7" fmla="*/ 69048 w 609763"/>
                <a:gd name="connsiteY7" fmla="*/ 358614 h 580760"/>
                <a:gd name="connsiteX8" fmla="*/ 53347 w 609763"/>
                <a:gd name="connsiteY8" fmla="*/ 342913 h 580760"/>
                <a:gd name="connsiteX9" fmla="*/ 69048 w 609763"/>
                <a:gd name="connsiteY9" fmla="*/ 327212 h 580760"/>
                <a:gd name="connsiteX10" fmla="*/ 443351 w 609763"/>
                <a:gd name="connsiteY10" fmla="*/ 299768 h 580760"/>
                <a:gd name="connsiteX11" fmla="*/ 370388 w 609763"/>
                <a:gd name="connsiteY11" fmla="*/ 324702 h 580760"/>
                <a:gd name="connsiteX12" fmla="*/ 358882 w 609763"/>
                <a:gd name="connsiteY12" fmla="*/ 368686 h 580760"/>
                <a:gd name="connsiteX13" fmla="*/ 363653 w 609763"/>
                <a:gd name="connsiteY13" fmla="*/ 378772 h 580760"/>
                <a:gd name="connsiteX14" fmla="*/ 347096 w 609763"/>
                <a:gd name="connsiteY14" fmla="*/ 410429 h 580760"/>
                <a:gd name="connsiteX15" fmla="*/ 360285 w 609763"/>
                <a:gd name="connsiteY15" fmla="*/ 417153 h 580760"/>
                <a:gd name="connsiteX16" fmla="*/ 359163 w 609763"/>
                <a:gd name="connsiteY16" fmla="*/ 426118 h 580760"/>
                <a:gd name="connsiteX17" fmla="*/ 365056 w 609763"/>
                <a:gd name="connsiteY17" fmla="*/ 441526 h 580760"/>
                <a:gd name="connsiteX18" fmla="*/ 363933 w 609763"/>
                <a:gd name="connsiteY18" fmla="*/ 455534 h 580760"/>
                <a:gd name="connsiteX19" fmla="*/ 381332 w 609763"/>
                <a:gd name="connsiteY19" fmla="*/ 463658 h 580760"/>
                <a:gd name="connsiteX20" fmla="*/ 404063 w 609763"/>
                <a:gd name="connsiteY20" fmla="*/ 460016 h 580760"/>
                <a:gd name="connsiteX21" fmla="*/ 392277 w 609763"/>
                <a:gd name="connsiteY21" fmla="*/ 489993 h 580760"/>
                <a:gd name="connsiteX22" fmla="*/ 499476 w 609763"/>
                <a:gd name="connsiteY22" fmla="*/ 489993 h 580760"/>
                <a:gd name="connsiteX23" fmla="*/ 468888 w 609763"/>
                <a:gd name="connsiteY23" fmla="*/ 437884 h 580760"/>
                <a:gd name="connsiteX24" fmla="*/ 499196 w 609763"/>
                <a:gd name="connsiteY24" fmla="*/ 360842 h 580760"/>
                <a:gd name="connsiteX25" fmla="*/ 443351 w 609763"/>
                <a:gd name="connsiteY25" fmla="*/ 299768 h 580760"/>
                <a:gd name="connsiteX26" fmla="*/ 394522 w 609763"/>
                <a:gd name="connsiteY26" fmla="*/ 208438 h 580760"/>
                <a:gd name="connsiteX27" fmla="*/ 405466 w 609763"/>
                <a:gd name="connsiteY27" fmla="*/ 213481 h 580760"/>
                <a:gd name="connsiteX28" fmla="*/ 416972 w 609763"/>
                <a:gd name="connsiteY28" fmla="*/ 244578 h 580760"/>
                <a:gd name="connsiteX29" fmla="*/ 431845 w 609763"/>
                <a:gd name="connsiteY29" fmla="*/ 252702 h 580760"/>
                <a:gd name="connsiteX30" fmla="*/ 441106 w 609763"/>
                <a:gd name="connsiteY30" fmla="*/ 245699 h 580760"/>
                <a:gd name="connsiteX31" fmla="*/ 455137 w 609763"/>
                <a:gd name="connsiteY31" fmla="*/ 215162 h 580760"/>
                <a:gd name="connsiteX32" fmla="*/ 466082 w 609763"/>
                <a:gd name="connsiteY32" fmla="*/ 211240 h 580760"/>
                <a:gd name="connsiteX33" fmla="*/ 534555 w 609763"/>
                <a:gd name="connsiteY33" fmla="*/ 242617 h 580760"/>
                <a:gd name="connsiteX34" fmla="*/ 538764 w 609763"/>
                <a:gd name="connsiteY34" fmla="*/ 253823 h 580760"/>
                <a:gd name="connsiteX35" fmla="*/ 524733 w 609763"/>
                <a:gd name="connsiteY35" fmla="*/ 284080 h 580760"/>
                <a:gd name="connsiteX36" fmla="*/ 529223 w 609763"/>
                <a:gd name="connsiteY36" fmla="*/ 300329 h 580760"/>
                <a:gd name="connsiteX37" fmla="*/ 541009 w 609763"/>
                <a:gd name="connsiteY37" fmla="*/ 301729 h 580760"/>
                <a:gd name="connsiteX38" fmla="*/ 572439 w 609763"/>
                <a:gd name="connsiteY38" fmla="*/ 290243 h 580760"/>
                <a:gd name="connsiteX39" fmla="*/ 583103 w 609763"/>
                <a:gd name="connsiteY39" fmla="*/ 295286 h 580760"/>
                <a:gd name="connsiteX40" fmla="*/ 609201 w 609763"/>
                <a:gd name="connsiteY40" fmla="*/ 365885 h 580760"/>
                <a:gd name="connsiteX41" fmla="*/ 604431 w 609763"/>
                <a:gd name="connsiteY41" fmla="*/ 376530 h 580760"/>
                <a:gd name="connsiteX42" fmla="*/ 573001 w 609763"/>
                <a:gd name="connsiteY42" fmla="*/ 388297 h 580760"/>
                <a:gd name="connsiteX43" fmla="*/ 565143 w 609763"/>
                <a:gd name="connsiteY43" fmla="*/ 396982 h 580760"/>
                <a:gd name="connsiteX44" fmla="*/ 572159 w 609763"/>
                <a:gd name="connsiteY44" fmla="*/ 412110 h 580760"/>
                <a:gd name="connsiteX45" fmla="*/ 602466 w 609763"/>
                <a:gd name="connsiteY45" fmla="*/ 426118 h 580760"/>
                <a:gd name="connsiteX46" fmla="*/ 606395 w 609763"/>
                <a:gd name="connsiteY46" fmla="*/ 437044 h 580760"/>
                <a:gd name="connsiteX47" fmla="*/ 574965 w 609763"/>
                <a:gd name="connsiteY47" fmla="*/ 505681 h 580760"/>
                <a:gd name="connsiteX48" fmla="*/ 563740 w 609763"/>
                <a:gd name="connsiteY48" fmla="*/ 509604 h 580760"/>
                <a:gd name="connsiteX49" fmla="*/ 533432 w 609763"/>
                <a:gd name="connsiteY49" fmla="*/ 495596 h 580760"/>
                <a:gd name="connsiteX50" fmla="*/ 517156 w 609763"/>
                <a:gd name="connsiteY50" fmla="*/ 500358 h 580760"/>
                <a:gd name="connsiteX51" fmla="*/ 515753 w 609763"/>
                <a:gd name="connsiteY51" fmla="*/ 511845 h 580760"/>
                <a:gd name="connsiteX52" fmla="*/ 527258 w 609763"/>
                <a:gd name="connsiteY52" fmla="*/ 543222 h 580760"/>
                <a:gd name="connsiteX53" fmla="*/ 522488 w 609763"/>
                <a:gd name="connsiteY53" fmla="*/ 554148 h 580760"/>
                <a:gd name="connsiteX54" fmla="*/ 451489 w 609763"/>
                <a:gd name="connsiteY54" fmla="*/ 580202 h 580760"/>
                <a:gd name="connsiteX55" fmla="*/ 440825 w 609763"/>
                <a:gd name="connsiteY55" fmla="*/ 575160 h 580760"/>
                <a:gd name="connsiteX56" fmla="*/ 429320 w 609763"/>
                <a:gd name="connsiteY56" fmla="*/ 543782 h 580760"/>
                <a:gd name="connsiteX57" fmla="*/ 414727 w 609763"/>
                <a:gd name="connsiteY57" fmla="*/ 535658 h 580760"/>
                <a:gd name="connsiteX58" fmla="*/ 405186 w 609763"/>
                <a:gd name="connsiteY58" fmla="*/ 542942 h 580760"/>
                <a:gd name="connsiteX59" fmla="*/ 391154 w 609763"/>
                <a:gd name="connsiteY59" fmla="*/ 573198 h 580760"/>
                <a:gd name="connsiteX60" fmla="*/ 380210 w 609763"/>
                <a:gd name="connsiteY60" fmla="*/ 577401 h 580760"/>
                <a:gd name="connsiteX61" fmla="*/ 311456 w 609763"/>
                <a:gd name="connsiteY61" fmla="*/ 545743 h 580760"/>
                <a:gd name="connsiteX62" fmla="*/ 307527 w 609763"/>
                <a:gd name="connsiteY62" fmla="*/ 534537 h 580760"/>
                <a:gd name="connsiteX63" fmla="*/ 321559 w 609763"/>
                <a:gd name="connsiteY63" fmla="*/ 504561 h 580760"/>
                <a:gd name="connsiteX64" fmla="*/ 317069 w 609763"/>
                <a:gd name="connsiteY64" fmla="*/ 488312 h 580760"/>
                <a:gd name="connsiteX65" fmla="*/ 305282 w 609763"/>
                <a:gd name="connsiteY65" fmla="*/ 486631 h 580760"/>
                <a:gd name="connsiteX66" fmla="*/ 273852 w 609763"/>
                <a:gd name="connsiteY66" fmla="*/ 498397 h 580760"/>
                <a:gd name="connsiteX67" fmla="*/ 263188 w 609763"/>
                <a:gd name="connsiteY67" fmla="*/ 493355 h 580760"/>
                <a:gd name="connsiteX68" fmla="*/ 236809 w 609763"/>
                <a:gd name="connsiteY68" fmla="*/ 422756 h 580760"/>
                <a:gd name="connsiteX69" fmla="*/ 241861 w 609763"/>
                <a:gd name="connsiteY69" fmla="*/ 411830 h 580760"/>
                <a:gd name="connsiteX70" fmla="*/ 273291 w 609763"/>
                <a:gd name="connsiteY70" fmla="*/ 400344 h 580760"/>
                <a:gd name="connsiteX71" fmla="*/ 281429 w 609763"/>
                <a:gd name="connsiteY71" fmla="*/ 385776 h 580760"/>
                <a:gd name="connsiteX72" fmla="*/ 274133 w 609763"/>
                <a:gd name="connsiteY72" fmla="*/ 376530 h 580760"/>
                <a:gd name="connsiteX73" fmla="*/ 243825 w 609763"/>
                <a:gd name="connsiteY73" fmla="*/ 362523 h 580760"/>
                <a:gd name="connsiteX74" fmla="*/ 239896 w 609763"/>
                <a:gd name="connsiteY74" fmla="*/ 351317 h 580760"/>
                <a:gd name="connsiteX75" fmla="*/ 271327 w 609763"/>
                <a:gd name="connsiteY75" fmla="*/ 282959 h 580760"/>
                <a:gd name="connsiteX76" fmla="*/ 282552 w 609763"/>
                <a:gd name="connsiteY76" fmla="*/ 278757 h 580760"/>
                <a:gd name="connsiteX77" fmla="*/ 312859 w 609763"/>
                <a:gd name="connsiteY77" fmla="*/ 292764 h 580760"/>
                <a:gd name="connsiteX78" fmla="*/ 328855 w 609763"/>
                <a:gd name="connsiteY78" fmla="*/ 288282 h 580760"/>
                <a:gd name="connsiteX79" fmla="*/ 330539 w 609763"/>
                <a:gd name="connsiteY79" fmla="*/ 276796 h 580760"/>
                <a:gd name="connsiteX80" fmla="*/ 318752 w 609763"/>
                <a:gd name="connsiteY80" fmla="*/ 245418 h 580760"/>
                <a:gd name="connsiteX81" fmla="*/ 323804 w 609763"/>
                <a:gd name="connsiteY81" fmla="*/ 234492 h 580760"/>
                <a:gd name="connsiteX82" fmla="*/ 69048 w 609763"/>
                <a:gd name="connsiteY82" fmla="*/ 187422 h 580760"/>
                <a:gd name="connsiteX83" fmla="*/ 84749 w 609763"/>
                <a:gd name="connsiteY83" fmla="*/ 203123 h 580760"/>
                <a:gd name="connsiteX84" fmla="*/ 69048 w 609763"/>
                <a:gd name="connsiteY84" fmla="*/ 218824 h 580760"/>
                <a:gd name="connsiteX85" fmla="*/ 53347 w 609763"/>
                <a:gd name="connsiteY85" fmla="*/ 203123 h 580760"/>
                <a:gd name="connsiteX86" fmla="*/ 69048 w 609763"/>
                <a:gd name="connsiteY86" fmla="*/ 187422 h 580760"/>
                <a:gd name="connsiteX87" fmla="*/ 70434 w 609763"/>
                <a:gd name="connsiteY87" fmla="*/ 0 h 580760"/>
                <a:gd name="connsiteX88" fmla="*/ 409976 w 609763"/>
                <a:gd name="connsiteY88" fmla="*/ 0 h 580760"/>
                <a:gd name="connsiteX89" fmla="*/ 436635 w 609763"/>
                <a:gd name="connsiteY89" fmla="*/ 21853 h 580760"/>
                <a:gd name="connsiteX90" fmla="*/ 480130 w 609763"/>
                <a:gd name="connsiteY90" fmla="*/ 180149 h 580760"/>
                <a:gd name="connsiteX91" fmla="*/ 480410 w 609763"/>
                <a:gd name="connsiteY91" fmla="*/ 181270 h 580760"/>
                <a:gd name="connsiteX92" fmla="*/ 480410 w 609763"/>
                <a:gd name="connsiteY92" fmla="*/ 192196 h 580760"/>
                <a:gd name="connsiteX93" fmla="*/ 475920 w 609763"/>
                <a:gd name="connsiteY93" fmla="*/ 189955 h 580760"/>
                <a:gd name="connsiteX94" fmla="*/ 458522 w 609763"/>
                <a:gd name="connsiteY94" fmla="*/ 187713 h 580760"/>
                <a:gd name="connsiteX95" fmla="*/ 458522 w 609763"/>
                <a:gd name="connsiteY95" fmla="*/ 181270 h 580760"/>
                <a:gd name="connsiteX96" fmla="*/ 436635 w 609763"/>
                <a:gd name="connsiteY96" fmla="*/ 159697 h 580760"/>
                <a:gd name="connsiteX97" fmla="*/ 43775 w 609763"/>
                <a:gd name="connsiteY97" fmla="*/ 159697 h 580760"/>
                <a:gd name="connsiteX98" fmla="*/ 21888 w 609763"/>
                <a:gd name="connsiteY98" fmla="*/ 181270 h 580760"/>
                <a:gd name="connsiteX99" fmla="*/ 21888 w 609763"/>
                <a:gd name="connsiteY99" fmla="*/ 224977 h 580760"/>
                <a:gd name="connsiteX100" fmla="*/ 43775 w 609763"/>
                <a:gd name="connsiteY100" fmla="*/ 246830 h 580760"/>
                <a:gd name="connsiteX101" fmla="*/ 295486 w 609763"/>
                <a:gd name="connsiteY101" fmla="*/ 246830 h 580760"/>
                <a:gd name="connsiteX102" fmla="*/ 296889 w 609763"/>
                <a:gd name="connsiteY102" fmla="*/ 253274 h 580760"/>
                <a:gd name="connsiteX103" fmla="*/ 299976 w 609763"/>
                <a:gd name="connsiteY103" fmla="*/ 261118 h 580760"/>
                <a:gd name="connsiteX104" fmla="*/ 292119 w 609763"/>
                <a:gd name="connsiteY104" fmla="*/ 257756 h 580760"/>
                <a:gd name="connsiteX105" fmla="*/ 250307 w 609763"/>
                <a:gd name="connsiteY105" fmla="*/ 273166 h 580760"/>
                <a:gd name="connsiteX106" fmla="*/ 238241 w 609763"/>
                <a:gd name="connsiteY106" fmla="*/ 299222 h 580760"/>
                <a:gd name="connsiteX107" fmla="*/ 43775 w 609763"/>
                <a:gd name="connsiteY107" fmla="*/ 299222 h 580760"/>
                <a:gd name="connsiteX108" fmla="*/ 21888 w 609763"/>
                <a:gd name="connsiteY108" fmla="*/ 321075 h 580760"/>
                <a:gd name="connsiteX109" fmla="*/ 21888 w 609763"/>
                <a:gd name="connsiteY109" fmla="*/ 364781 h 580760"/>
                <a:gd name="connsiteX110" fmla="*/ 43775 w 609763"/>
                <a:gd name="connsiteY110" fmla="*/ 386634 h 580760"/>
                <a:gd name="connsiteX111" fmla="*/ 240486 w 609763"/>
                <a:gd name="connsiteY111" fmla="*/ 386634 h 580760"/>
                <a:gd name="connsiteX112" fmla="*/ 241889 w 609763"/>
                <a:gd name="connsiteY112" fmla="*/ 387195 h 580760"/>
                <a:gd name="connsiteX113" fmla="*/ 233751 w 609763"/>
                <a:gd name="connsiteY113" fmla="*/ 389997 h 580760"/>
                <a:gd name="connsiteX114" fmla="*/ 214950 w 609763"/>
                <a:gd name="connsiteY114" fmla="*/ 430621 h 580760"/>
                <a:gd name="connsiteX115" fmla="*/ 218317 w 609763"/>
                <a:gd name="connsiteY115" fmla="*/ 439026 h 580760"/>
                <a:gd name="connsiteX116" fmla="*/ 43775 w 609763"/>
                <a:gd name="connsiteY116" fmla="*/ 439026 h 580760"/>
                <a:gd name="connsiteX117" fmla="*/ 21888 w 609763"/>
                <a:gd name="connsiteY117" fmla="*/ 460879 h 580760"/>
                <a:gd name="connsiteX118" fmla="*/ 21888 w 609763"/>
                <a:gd name="connsiteY118" fmla="*/ 504586 h 580760"/>
                <a:gd name="connsiteX119" fmla="*/ 43775 w 609763"/>
                <a:gd name="connsiteY119" fmla="*/ 526439 h 580760"/>
                <a:gd name="connsiteX120" fmla="*/ 285945 w 609763"/>
                <a:gd name="connsiteY120" fmla="*/ 526439 h 580760"/>
                <a:gd name="connsiteX121" fmla="*/ 285103 w 609763"/>
                <a:gd name="connsiteY121" fmla="*/ 548012 h 580760"/>
                <a:gd name="connsiteX122" fmla="*/ 43775 w 609763"/>
                <a:gd name="connsiteY122" fmla="*/ 548012 h 580760"/>
                <a:gd name="connsiteX123" fmla="*/ 0 w 609763"/>
                <a:gd name="connsiteY123" fmla="*/ 504586 h 580760"/>
                <a:gd name="connsiteX124" fmla="*/ 0 w 609763"/>
                <a:gd name="connsiteY124" fmla="*/ 460879 h 580760"/>
                <a:gd name="connsiteX125" fmla="*/ 280 w 609763"/>
                <a:gd name="connsiteY125" fmla="*/ 459479 h 580760"/>
                <a:gd name="connsiteX126" fmla="*/ 11505 w 609763"/>
                <a:gd name="connsiteY126" fmla="*/ 394199 h 580760"/>
                <a:gd name="connsiteX127" fmla="*/ 0 w 609763"/>
                <a:gd name="connsiteY127" fmla="*/ 364781 h 580760"/>
                <a:gd name="connsiteX128" fmla="*/ 0 w 609763"/>
                <a:gd name="connsiteY128" fmla="*/ 321075 h 580760"/>
                <a:gd name="connsiteX129" fmla="*/ 280 w 609763"/>
                <a:gd name="connsiteY129" fmla="*/ 319954 h 580760"/>
                <a:gd name="connsiteX130" fmla="*/ 11505 w 609763"/>
                <a:gd name="connsiteY130" fmla="*/ 254394 h 580760"/>
                <a:gd name="connsiteX131" fmla="*/ 0 w 609763"/>
                <a:gd name="connsiteY131" fmla="*/ 224977 h 580760"/>
                <a:gd name="connsiteX132" fmla="*/ 0 w 609763"/>
                <a:gd name="connsiteY132" fmla="*/ 181270 h 580760"/>
                <a:gd name="connsiteX133" fmla="*/ 280 w 609763"/>
                <a:gd name="connsiteY133" fmla="*/ 180149 h 580760"/>
                <a:gd name="connsiteX134" fmla="*/ 43775 w 609763"/>
                <a:gd name="connsiteY134" fmla="*/ 21853 h 580760"/>
                <a:gd name="connsiteX135" fmla="*/ 70434 w 609763"/>
                <a:gd name="connsiteY135" fmla="*/ 0 h 580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609763" h="580760">
                  <a:moveTo>
                    <a:pt x="69048" y="467002"/>
                  </a:moveTo>
                  <a:cubicBezTo>
                    <a:pt x="77719" y="467002"/>
                    <a:pt x="84749" y="474032"/>
                    <a:pt x="84749" y="482703"/>
                  </a:cubicBezTo>
                  <a:cubicBezTo>
                    <a:pt x="84749" y="491374"/>
                    <a:pt x="77719" y="498404"/>
                    <a:pt x="69048" y="498404"/>
                  </a:cubicBezTo>
                  <a:cubicBezTo>
                    <a:pt x="60377" y="498404"/>
                    <a:pt x="53347" y="491374"/>
                    <a:pt x="53347" y="482703"/>
                  </a:cubicBezTo>
                  <a:cubicBezTo>
                    <a:pt x="53347" y="474032"/>
                    <a:pt x="60377" y="467002"/>
                    <a:pt x="69048" y="467002"/>
                  </a:cubicBezTo>
                  <a:close/>
                  <a:moveTo>
                    <a:pt x="69048" y="327212"/>
                  </a:moveTo>
                  <a:cubicBezTo>
                    <a:pt x="77719" y="327212"/>
                    <a:pt x="84749" y="334242"/>
                    <a:pt x="84749" y="342913"/>
                  </a:cubicBezTo>
                  <a:cubicBezTo>
                    <a:pt x="84749" y="351584"/>
                    <a:pt x="77719" y="358614"/>
                    <a:pt x="69048" y="358614"/>
                  </a:cubicBezTo>
                  <a:cubicBezTo>
                    <a:pt x="60377" y="358614"/>
                    <a:pt x="53347" y="351584"/>
                    <a:pt x="53347" y="342913"/>
                  </a:cubicBezTo>
                  <a:cubicBezTo>
                    <a:pt x="53347" y="334242"/>
                    <a:pt x="60377" y="327212"/>
                    <a:pt x="69048" y="327212"/>
                  </a:cubicBezTo>
                  <a:close/>
                  <a:moveTo>
                    <a:pt x="443351" y="299768"/>
                  </a:moveTo>
                  <a:cubicBezTo>
                    <a:pt x="408273" y="295286"/>
                    <a:pt x="381894" y="303130"/>
                    <a:pt x="370388" y="324702"/>
                  </a:cubicBezTo>
                  <a:cubicBezTo>
                    <a:pt x="358882" y="346274"/>
                    <a:pt x="358040" y="365324"/>
                    <a:pt x="358882" y="368686"/>
                  </a:cubicBezTo>
                  <a:cubicBezTo>
                    <a:pt x="359724" y="372328"/>
                    <a:pt x="363653" y="378772"/>
                    <a:pt x="363653" y="378772"/>
                  </a:cubicBezTo>
                  <a:cubicBezTo>
                    <a:pt x="363653" y="378772"/>
                    <a:pt x="345973" y="405947"/>
                    <a:pt x="347096" y="410429"/>
                  </a:cubicBezTo>
                  <a:cubicBezTo>
                    <a:pt x="348218" y="414912"/>
                    <a:pt x="360285" y="417153"/>
                    <a:pt x="360285" y="417153"/>
                  </a:cubicBezTo>
                  <a:cubicBezTo>
                    <a:pt x="360285" y="417153"/>
                    <a:pt x="361408" y="420234"/>
                    <a:pt x="359163" y="426118"/>
                  </a:cubicBezTo>
                  <a:cubicBezTo>
                    <a:pt x="356918" y="432281"/>
                    <a:pt x="363372" y="439005"/>
                    <a:pt x="365056" y="441526"/>
                  </a:cubicBezTo>
                  <a:cubicBezTo>
                    <a:pt x="367020" y="444048"/>
                    <a:pt x="362530" y="451332"/>
                    <a:pt x="363933" y="455534"/>
                  </a:cubicBezTo>
                  <a:cubicBezTo>
                    <a:pt x="365617" y="459736"/>
                    <a:pt x="372913" y="464779"/>
                    <a:pt x="381332" y="463658"/>
                  </a:cubicBezTo>
                  <a:cubicBezTo>
                    <a:pt x="389470" y="462818"/>
                    <a:pt x="400415" y="460857"/>
                    <a:pt x="404063" y="460016"/>
                  </a:cubicBezTo>
                  <a:cubicBezTo>
                    <a:pt x="412482" y="479907"/>
                    <a:pt x="392277" y="489993"/>
                    <a:pt x="392277" y="489993"/>
                  </a:cubicBezTo>
                  <a:lnTo>
                    <a:pt x="499476" y="489993"/>
                  </a:lnTo>
                  <a:cubicBezTo>
                    <a:pt x="499476" y="489993"/>
                    <a:pt x="468327" y="465059"/>
                    <a:pt x="468888" y="437884"/>
                  </a:cubicBezTo>
                  <a:cubicBezTo>
                    <a:pt x="469169" y="422476"/>
                    <a:pt x="499476" y="403145"/>
                    <a:pt x="499196" y="360842"/>
                  </a:cubicBezTo>
                  <a:cubicBezTo>
                    <a:pt x="499196" y="339550"/>
                    <a:pt x="478429" y="304251"/>
                    <a:pt x="443351" y="299768"/>
                  </a:cubicBezTo>
                  <a:close/>
                  <a:moveTo>
                    <a:pt x="394522" y="208438"/>
                  </a:moveTo>
                  <a:cubicBezTo>
                    <a:pt x="399012" y="206757"/>
                    <a:pt x="403782" y="208998"/>
                    <a:pt x="405466" y="213481"/>
                  </a:cubicBezTo>
                  <a:lnTo>
                    <a:pt x="416972" y="244578"/>
                  </a:lnTo>
                  <a:cubicBezTo>
                    <a:pt x="418656" y="249060"/>
                    <a:pt x="428478" y="252702"/>
                    <a:pt x="431845" y="252702"/>
                  </a:cubicBezTo>
                  <a:cubicBezTo>
                    <a:pt x="434932" y="252983"/>
                    <a:pt x="439141" y="249621"/>
                    <a:pt x="441106" y="245699"/>
                  </a:cubicBezTo>
                  <a:lnTo>
                    <a:pt x="455137" y="215162"/>
                  </a:lnTo>
                  <a:cubicBezTo>
                    <a:pt x="456821" y="211240"/>
                    <a:pt x="461872" y="209279"/>
                    <a:pt x="466082" y="211240"/>
                  </a:cubicBezTo>
                  <a:lnTo>
                    <a:pt x="534555" y="242617"/>
                  </a:lnTo>
                  <a:cubicBezTo>
                    <a:pt x="538764" y="244578"/>
                    <a:pt x="540728" y="249621"/>
                    <a:pt x="538764" y="253823"/>
                  </a:cubicBezTo>
                  <a:lnTo>
                    <a:pt x="524733" y="284080"/>
                  </a:lnTo>
                  <a:cubicBezTo>
                    <a:pt x="522768" y="288282"/>
                    <a:pt x="527258" y="297807"/>
                    <a:pt x="529223" y="300329"/>
                  </a:cubicBezTo>
                  <a:cubicBezTo>
                    <a:pt x="531468" y="302570"/>
                    <a:pt x="536519" y="303410"/>
                    <a:pt x="541009" y="301729"/>
                  </a:cubicBezTo>
                  <a:lnTo>
                    <a:pt x="572439" y="290243"/>
                  </a:lnTo>
                  <a:cubicBezTo>
                    <a:pt x="576649" y="288562"/>
                    <a:pt x="581700" y="290803"/>
                    <a:pt x="583103" y="295286"/>
                  </a:cubicBezTo>
                  <a:lnTo>
                    <a:pt x="609201" y="365885"/>
                  </a:lnTo>
                  <a:cubicBezTo>
                    <a:pt x="610885" y="370087"/>
                    <a:pt x="608640" y="375130"/>
                    <a:pt x="604431" y="376530"/>
                  </a:cubicBezTo>
                  <a:lnTo>
                    <a:pt x="573001" y="388297"/>
                  </a:lnTo>
                  <a:cubicBezTo>
                    <a:pt x="568511" y="389698"/>
                    <a:pt x="565143" y="393620"/>
                    <a:pt x="565143" y="396982"/>
                  </a:cubicBezTo>
                  <a:cubicBezTo>
                    <a:pt x="565143" y="400063"/>
                    <a:pt x="567949" y="410149"/>
                    <a:pt x="572159" y="412110"/>
                  </a:cubicBezTo>
                  <a:lnTo>
                    <a:pt x="602466" y="426118"/>
                  </a:lnTo>
                  <a:cubicBezTo>
                    <a:pt x="606676" y="428079"/>
                    <a:pt x="608360" y="433122"/>
                    <a:pt x="606395" y="437044"/>
                  </a:cubicBezTo>
                  <a:lnTo>
                    <a:pt x="574965" y="505681"/>
                  </a:lnTo>
                  <a:cubicBezTo>
                    <a:pt x="573001" y="509884"/>
                    <a:pt x="567949" y="511565"/>
                    <a:pt x="563740" y="509604"/>
                  </a:cubicBezTo>
                  <a:lnTo>
                    <a:pt x="533432" y="495596"/>
                  </a:lnTo>
                  <a:cubicBezTo>
                    <a:pt x="529223" y="493915"/>
                    <a:pt x="519681" y="498117"/>
                    <a:pt x="517156" y="500358"/>
                  </a:cubicBezTo>
                  <a:cubicBezTo>
                    <a:pt x="514911" y="502320"/>
                    <a:pt x="514069" y="507642"/>
                    <a:pt x="515753" y="511845"/>
                  </a:cubicBezTo>
                  <a:lnTo>
                    <a:pt x="527258" y="543222"/>
                  </a:lnTo>
                  <a:cubicBezTo>
                    <a:pt x="528942" y="547704"/>
                    <a:pt x="526697" y="552467"/>
                    <a:pt x="522488" y="554148"/>
                  </a:cubicBezTo>
                  <a:lnTo>
                    <a:pt x="451489" y="580202"/>
                  </a:lnTo>
                  <a:cubicBezTo>
                    <a:pt x="447280" y="581883"/>
                    <a:pt x="442228" y="579642"/>
                    <a:pt x="440825" y="575160"/>
                  </a:cubicBezTo>
                  <a:lnTo>
                    <a:pt x="429320" y="543782"/>
                  </a:lnTo>
                  <a:cubicBezTo>
                    <a:pt x="427636" y="539580"/>
                    <a:pt x="417814" y="535938"/>
                    <a:pt x="414727" y="535658"/>
                  </a:cubicBezTo>
                  <a:cubicBezTo>
                    <a:pt x="411359" y="535658"/>
                    <a:pt x="407150" y="538740"/>
                    <a:pt x="405186" y="542942"/>
                  </a:cubicBezTo>
                  <a:lnTo>
                    <a:pt x="391154" y="573198"/>
                  </a:lnTo>
                  <a:cubicBezTo>
                    <a:pt x="389470" y="577401"/>
                    <a:pt x="384419" y="579362"/>
                    <a:pt x="380210" y="577401"/>
                  </a:cubicBezTo>
                  <a:lnTo>
                    <a:pt x="311456" y="545743"/>
                  </a:lnTo>
                  <a:cubicBezTo>
                    <a:pt x="307527" y="543782"/>
                    <a:pt x="305563" y="538740"/>
                    <a:pt x="307527" y="534537"/>
                  </a:cubicBezTo>
                  <a:lnTo>
                    <a:pt x="321559" y="504561"/>
                  </a:lnTo>
                  <a:cubicBezTo>
                    <a:pt x="323523" y="500078"/>
                    <a:pt x="319033" y="490833"/>
                    <a:pt x="317069" y="488312"/>
                  </a:cubicBezTo>
                  <a:cubicBezTo>
                    <a:pt x="314824" y="485790"/>
                    <a:pt x="309492" y="485230"/>
                    <a:pt x="305282" y="486631"/>
                  </a:cubicBezTo>
                  <a:lnTo>
                    <a:pt x="273852" y="498397"/>
                  </a:lnTo>
                  <a:cubicBezTo>
                    <a:pt x="269643" y="500078"/>
                    <a:pt x="264591" y="497557"/>
                    <a:pt x="263188" y="493355"/>
                  </a:cubicBezTo>
                  <a:lnTo>
                    <a:pt x="236809" y="422756"/>
                  </a:lnTo>
                  <a:cubicBezTo>
                    <a:pt x="235406" y="418273"/>
                    <a:pt x="237651" y="413511"/>
                    <a:pt x="241861" y="411830"/>
                  </a:cubicBezTo>
                  <a:lnTo>
                    <a:pt x="273291" y="400344"/>
                  </a:lnTo>
                  <a:cubicBezTo>
                    <a:pt x="277500" y="398663"/>
                    <a:pt x="281148" y="388857"/>
                    <a:pt x="281429" y="385776"/>
                  </a:cubicBezTo>
                  <a:cubicBezTo>
                    <a:pt x="281710" y="382694"/>
                    <a:pt x="278342" y="378211"/>
                    <a:pt x="274133" y="376530"/>
                  </a:cubicBezTo>
                  <a:lnTo>
                    <a:pt x="243825" y="362523"/>
                  </a:lnTo>
                  <a:cubicBezTo>
                    <a:pt x="239616" y="360562"/>
                    <a:pt x="237932" y="355519"/>
                    <a:pt x="239896" y="351317"/>
                  </a:cubicBezTo>
                  <a:lnTo>
                    <a:pt x="271327" y="282959"/>
                  </a:lnTo>
                  <a:cubicBezTo>
                    <a:pt x="273291" y="278757"/>
                    <a:pt x="278342" y="277076"/>
                    <a:pt x="282552" y="278757"/>
                  </a:cubicBezTo>
                  <a:lnTo>
                    <a:pt x="312859" y="292764"/>
                  </a:lnTo>
                  <a:cubicBezTo>
                    <a:pt x="317069" y="294726"/>
                    <a:pt x="326610" y="290243"/>
                    <a:pt x="328855" y="288282"/>
                  </a:cubicBezTo>
                  <a:cubicBezTo>
                    <a:pt x="331381" y="286321"/>
                    <a:pt x="331942" y="280998"/>
                    <a:pt x="330539" y="276796"/>
                  </a:cubicBezTo>
                  <a:lnTo>
                    <a:pt x="318752" y="245418"/>
                  </a:lnTo>
                  <a:cubicBezTo>
                    <a:pt x="317349" y="240936"/>
                    <a:pt x="319594" y="236173"/>
                    <a:pt x="323804" y="234492"/>
                  </a:cubicBezTo>
                  <a:close/>
                  <a:moveTo>
                    <a:pt x="69048" y="187422"/>
                  </a:moveTo>
                  <a:cubicBezTo>
                    <a:pt x="77719" y="187422"/>
                    <a:pt x="84749" y="194452"/>
                    <a:pt x="84749" y="203123"/>
                  </a:cubicBezTo>
                  <a:cubicBezTo>
                    <a:pt x="84749" y="211794"/>
                    <a:pt x="77719" y="218824"/>
                    <a:pt x="69048" y="218824"/>
                  </a:cubicBezTo>
                  <a:cubicBezTo>
                    <a:pt x="60377" y="218824"/>
                    <a:pt x="53347" y="211794"/>
                    <a:pt x="53347" y="203123"/>
                  </a:cubicBezTo>
                  <a:cubicBezTo>
                    <a:pt x="53347" y="194452"/>
                    <a:pt x="60377" y="187422"/>
                    <a:pt x="69048" y="187422"/>
                  </a:cubicBezTo>
                  <a:close/>
                  <a:moveTo>
                    <a:pt x="70434" y="0"/>
                  </a:moveTo>
                  <a:lnTo>
                    <a:pt x="409976" y="0"/>
                  </a:lnTo>
                  <a:cubicBezTo>
                    <a:pt x="423165" y="0"/>
                    <a:pt x="435231" y="9806"/>
                    <a:pt x="436635" y="21853"/>
                  </a:cubicBezTo>
                  <a:lnTo>
                    <a:pt x="480130" y="180149"/>
                  </a:lnTo>
                  <a:cubicBezTo>
                    <a:pt x="480130" y="180429"/>
                    <a:pt x="480410" y="180989"/>
                    <a:pt x="480410" y="181270"/>
                  </a:cubicBezTo>
                  <a:lnTo>
                    <a:pt x="480410" y="192196"/>
                  </a:lnTo>
                  <a:lnTo>
                    <a:pt x="475920" y="189955"/>
                  </a:lnTo>
                  <a:cubicBezTo>
                    <a:pt x="470308" y="187433"/>
                    <a:pt x="464415" y="186873"/>
                    <a:pt x="458522" y="187713"/>
                  </a:cubicBezTo>
                  <a:lnTo>
                    <a:pt x="458522" y="181270"/>
                  </a:lnTo>
                  <a:cubicBezTo>
                    <a:pt x="458522" y="169502"/>
                    <a:pt x="448701" y="159697"/>
                    <a:pt x="436635" y="159697"/>
                  </a:cubicBezTo>
                  <a:lnTo>
                    <a:pt x="43775" y="159697"/>
                  </a:lnTo>
                  <a:cubicBezTo>
                    <a:pt x="31709" y="159697"/>
                    <a:pt x="21888" y="169502"/>
                    <a:pt x="21888" y="181270"/>
                  </a:cubicBezTo>
                  <a:lnTo>
                    <a:pt x="21888" y="224977"/>
                  </a:lnTo>
                  <a:cubicBezTo>
                    <a:pt x="21888" y="237024"/>
                    <a:pt x="31709" y="246830"/>
                    <a:pt x="43775" y="246830"/>
                  </a:cubicBezTo>
                  <a:lnTo>
                    <a:pt x="295486" y="246830"/>
                  </a:lnTo>
                  <a:cubicBezTo>
                    <a:pt x="295767" y="249071"/>
                    <a:pt x="296328" y="251312"/>
                    <a:pt x="296889" y="253274"/>
                  </a:cubicBezTo>
                  <a:lnTo>
                    <a:pt x="299976" y="261118"/>
                  </a:lnTo>
                  <a:lnTo>
                    <a:pt x="292119" y="257756"/>
                  </a:lnTo>
                  <a:cubicBezTo>
                    <a:pt x="276685" y="250752"/>
                    <a:pt x="257323" y="258037"/>
                    <a:pt x="250307" y="273166"/>
                  </a:cubicBezTo>
                  <a:lnTo>
                    <a:pt x="238241" y="299222"/>
                  </a:lnTo>
                  <a:lnTo>
                    <a:pt x="43775" y="299222"/>
                  </a:lnTo>
                  <a:cubicBezTo>
                    <a:pt x="31709" y="299222"/>
                    <a:pt x="21888" y="309027"/>
                    <a:pt x="21888" y="321075"/>
                  </a:cubicBezTo>
                  <a:lnTo>
                    <a:pt x="21888" y="364781"/>
                  </a:lnTo>
                  <a:cubicBezTo>
                    <a:pt x="21888" y="376829"/>
                    <a:pt x="31709" y="386634"/>
                    <a:pt x="43775" y="386634"/>
                  </a:cubicBezTo>
                  <a:lnTo>
                    <a:pt x="240486" y="386634"/>
                  </a:lnTo>
                  <a:lnTo>
                    <a:pt x="241889" y="387195"/>
                  </a:lnTo>
                  <a:lnTo>
                    <a:pt x="233751" y="389997"/>
                  </a:lnTo>
                  <a:cubicBezTo>
                    <a:pt x="217756" y="396160"/>
                    <a:pt x="209337" y="414091"/>
                    <a:pt x="214950" y="430621"/>
                  </a:cubicBezTo>
                  <a:lnTo>
                    <a:pt x="218317" y="439026"/>
                  </a:lnTo>
                  <a:lnTo>
                    <a:pt x="43775" y="439026"/>
                  </a:lnTo>
                  <a:cubicBezTo>
                    <a:pt x="31709" y="439026"/>
                    <a:pt x="21888" y="448832"/>
                    <a:pt x="21888" y="460879"/>
                  </a:cubicBezTo>
                  <a:lnTo>
                    <a:pt x="21888" y="504586"/>
                  </a:lnTo>
                  <a:cubicBezTo>
                    <a:pt x="21888" y="516633"/>
                    <a:pt x="31709" y="526439"/>
                    <a:pt x="43775" y="526439"/>
                  </a:cubicBezTo>
                  <a:lnTo>
                    <a:pt x="285945" y="526439"/>
                  </a:lnTo>
                  <a:cubicBezTo>
                    <a:pt x="283139" y="533163"/>
                    <a:pt x="282858" y="540728"/>
                    <a:pt x="285103" y="548012"/>
                  </a:cubicBezTo>
                  <a:lnTo>
                    <a:pt x="43775" y="548012"/>
                  </a:lnTo>
                  <a:cubicBezTo>
                    <a:pt x="19643" y="548012"/>
                    <a:pt x="0" y="528681"/>
                    <a:pt x="0" y="504586"/>
                  </a:cubicBezTo>
                  <a:lnTo>
                    <a:pt x="0" y="460879"/>
                  </a:lnTo>
                  <a:cubicBezTo>
                    <a:pt x="0" y="460319"/>
                    <a:pt x="280" y="460039"/>
                    <a:pt x="280" y="459479"/>
                  </a:cubicBezTo>
                  <a:lnTo>
                    <a:pt x="11505" y="394199"/>
                  </a:lnTo>
                  <a:cubicBezTo>
                    <a:pt x="4490" y="386354"/>
                    <a:pt x="0" y="375988"/>
                    <a:pt x="0" y="364781"/>
                  </a:cubicBezTo>
                  <a:lnTo>
                    <a:pt x="0" y="321075"/>
                  </a:lnTo>
                  <a:cubicBezTo>
                    <a:pt x="0" y="320795"/>
                    <a:pt x="280" y="320234"/>
                    <a:pt x="280" y="319954"/>
                  </a:cubicBezTo>
                  <a:lnTo>
                    <a:pt x="11505" y="254394"/>
                  </a:lnTo>
                  <a:cubicBezTo>
                    <a:pt x="4490" y="246550"/>
                    <a:pt x="0" y="236183"/>
                    <a:pt x="0" y="224977"/>
                  </a:cubicBezTo>
                  <a:lnTo>
                    <a:pt x="0" y="181270"/>
                  </a:lnTo>
                  <a:cubicBezTo>
                    <a:pt x="0" y="180989"/>
                    <a:pt x="280" y="180429"/>
                    <a:pt x="280" y="180149"/>
                  </a:cubicBezTo>
                  <a:lnTo>
                    <a:pt x="43775" y="21853"/>
                  </a:lnTo>
                  <a:cubicBezTo>
                    <a:pt x="45178" y="9806"/>
                    <a:pt x="56964" y="0"/>
                    <a:pt x="70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42" name="TextBox 7">
            <a:extLst>
              <a:ext uri="{FF2B5EF4-FFF2-40B4-BE49-F238E27FC236}">
                <a16:creationId xmlns:a16="http://schemas.microsoft.com/office/drawing/2014/main" id="{F55B0A54-ADD2-2DB9-353E-78ABB0571831}"/>
              </a:ext>
            </a:extLst>
          </p:cNvPr>
          <p:cNvSpPr txBox="1"/>
          <p:nvPr/>
        </p:nvSpPr>
        <p:spPr>
          <a:xfrm>
            <a:off x="481793" y="426282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03.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项目实践</a:t>
            </a:r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021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253999" y="1037826"/>
            <a:ext cx="3320243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6ACE751-1047-A546-B3A2-1EEF973583D2}"/>
              </a:ext>
            </a:extLst>
          </p:cNvPr>
          <p:cNvGrpSpPr/>
          <p:nvPr/>
        </p:nvGrpSpPr>
        <p:grpSpPr>
          <a:xfrm>
            <a:off x="954508" y="1628862"/>
            <a:ext cx="10923950" cy="4817194"/>
            <a:chOff x="954508" y="1628862"/>
            <a:chExt cx="10923950" cy="4817194"/>
          </a:xfrm>
        </p:grpSpPr>
        <p:sp>
          <p:nvSpPr>
            <p:cNvPr id="2" name="Oval 14">
              <a:extLst>
                <a:ext uri="{FF2B5EF4-FFF2-40B4-BE49-F238E27FC236}">
                  <a16:creationId xmlns:a16="http://schemas.microsoft.com/office/drawing/2014/main" id="{E0968B17-DE2B-E1B4-B2C5-1E3105369103}"/>
                </a:ext>
              </a:extLst>
            </p:cNvPr>
            <p:cNvSpPr/>
            <p:nvPr/>
          </p:nvSpPr>
          <p:spPr>
            <a:xfrm>
              <a:off x="954508" y="3204467"/>
              <a:ext cx="698205" cy="698205"/>
            </a:xfrm>
            <a:prstGeom prst="ellipse">
              <a:avLst/>
            </a:prstGeom>
            <a:solidFill>
              <a:srgbClr val="203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4" name="Straight Connector 15">
              <a:extLst>
                <a:ext uri="{FF2B5EF4-FFF2-40B4-BE49-F238E27FC236}">
                  <a16:creationId xmlns:a16="http://schemas.microsoft.com/office/drawing/2014/main" id="{BFED5AFE-5E8D-7075-B092-31E192BB7F6C}"/>
                </a:ext>
              </a:extLst>
            </p:cNvPr>
            <p:cNvCxnSpPr/>
            <p:nvPr/>
          </p:nvCxnSpPr>
          <p:spPr>
            <a:xfrm>
              <a:off x="1798458" y="3553569"/>
              <a:ext cx="10080000" cy="0"/>
            </a:xfrm>
            <a:prstGeom prst="line">
              <a:avLst/>
            </a:prstGeom>
            <a:ln w="28575">
              <a:solidFill>
                <a:srgbClr val="15213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20">
              <a:extLst>
                <a:ext uri="{FF2B5EF4-FFF2-40B4-BE49-F238E27FC236}">
                  <a16:creationId xmlns:a16="http://schemas.microsoft.com/office/drawing/2014/main" id="{66295514-D08B-53E2-C0E6-0D947ABF06D6}"/>
                </a:ext>
              </a:extLst>
            </p:cNvPr>
            <p:cNvCxnSpPr/>
            <p:nvPr/>
          </p:nvCxnSpPr>
          <p:spPr>
            <a:xfrm>
              <a:off x="3597350" y="2926257"/>
              <a:ext cx="0" cy="548640"/>
            </a:xfrm>
            <a:prstGeom prst="line">
              <a:avLst/>
            </a:prstGeom>
            <a:ln>
              <a:solidFill>
                <a:srgbClr val="2B6587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23">
              <a:extLst>
                <a:ext uri="{FF2B5EF4-FFF2-40B4-BE49-F238E27FC236}">
                  <a16:creationId xmlns:a16="http://schemas.microsoft.com/office/drawing/2014/main" id="{A9160EB7-BE9B-95A6-B052-1132E4AEFB5B}"/>
                </a:ext>
              </a:extLst>
            </p:cNvPr>
            <p:cNvSpPr/>
            <p:nvPr/>
          </p:nvSpPr>
          <p:spPr>
            <a:xfrm>
              <a:off x="3501657" y="3457876"/>
              <a:ext cx="191386" cy="19138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2B65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Teardrop 24">
              <a:extLst>
                <a:ext uri="{FF2B5EF4-FFF2-40B4-BE49-F238E27FC236}">
                  <a16:creationId xmlns:a16="http://schemas.microsoft.com/office/drawing/2014/main" id="{6A974A18-54CE-8DFF-BB4D-B039A3E84B4A}"/>
                </a:ext>
              </a:extLst>
            </p:cNvPr>
            <p:cNvSpPr/>
            <p:nvPr/>
          </p:nvSpPr>
          <p:spPr>
            <a:xfrm>
              <a:off x="3302901" y="2258687"/>
              <a:ext cx="588898" cy="588898"/>
            </a:xfrm>
            <a:prstGeom prst="teardrop">
              <a:avLst/>
            </a:pr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0" name="Straight Connector 25">
              <a:extLst>
                <a:ext uri="{FF2B5EF4-FFF2-40B4-BE49-F238E27FC236}">
                  <a16:creationId xmlns:a16="http://schemas.microsoft.com/office/drawing/2014/main" id="{B26945B4-889F-9430-0934-F8841F2E72A1}"/>
                </a:ext>
              </a:extLst>
            </p:cNvPr>
            <p:cNvCxnSpPr/>
            <p:nvPr/>
          </p:nvCxnSpPr>
          <p:spPr>
            <a:xfrm>
              <a:off x="3597350" y="1963131"/>
              <a:ext cx="0" cy="182880"/>
            </a:xfrm>
            <a:prstGeom prst="line">
              <a:avLst/>
            </a:prstGeom>
            <a:ln>
              <a:solidFill>
                <a:srgbClr val="0E589D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26">
              <a:extLst>
                <a:ext uri="{FF2B5EF4-FFF2-40B4-BE49-F238E27FC236}">
                  <a16:creationId xmlns:a16="http://schemas.microsoft.com/office/drawing/2014/main" id="{14DD56AC-C008-AD1B-6B7B-212F354E7DAA}"/>
                </a:ext>
              </a:extLst>
            </p:cNvPr>
            <p:cNvCxnSpPr/>
            <p:nvPr/>
          </p:nvCxnSpPr>
          <p:spPr>
            <a:xfrm>
              <a:off x="3599545" y="1956929"/>
              <a:ext cx="584508" cy="0"/>
            </a:xfrm>
            <a:prstGeom prst="line">
              <a:avLst/>
            </a:prstGeom>
            <a:ln>
              <a:solidFill>
                <a:srgbClr val="0E589D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28">
              <a:extLst>
                <a:ext uri="{FF2B5EF4-FFF2-40B4-BE49-F238E27FC236}">
                  <a16:creationId xmlns:a16="http://schemas.microsoft.com/office/drawing/2014/main" id="{DAB76526-711A-A2D4-5F93-6F9BD8425EAD}"/>
                </a:ext>
              </a:extLst>
            </p:cNvPr>
            <p:cNvSpPr/>
            <p:nvPr/>
          </p:nvSpPr>
          <p:spPr>
            <a:xfrm>
              <a:off x="4463786" y="3457876"/>
              <a:ext cx="191386" cy="19138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3" name="Straight Connector 29">
              <a:extLst>
                <a:ext uri="{FF2B5EF4-FFF2-40B4-BE49-F238E27FC236}">
                  <a16:creationId xmlns:a16="http://schemas.microsoft.com/office/drawing/2014/main" id="{84A66E58-D1EC-B0F4-28CE-089CC98855ED}"/>
                </a:ext>
              </a:extLst>
            </p:cNvPr>
            <p:cNvCxnSpPr/>
            <p:nvPr/>
          </p:nvCxnSpPr>
          <p:spPr>
            <a:xfrm>
              <a:off x="4541252" y="3689773"/>
              <a:ext cx="0" cy="548640"/>
            </a:xfrm>
            <a:prstGeom prst="line">
              <a:avLst/>
            </a:prstGeom>
            <a:ln>
              <a:solidFill>
                <a:srgbClr val="2B6587"/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ardrop 30">
              <a:extLst>
                <a:ext uri="{FF2B5EF4-FFF2-40B4-BE49-F238E27FC236}">
                  <a16:creationId xmlns:a16="http://schemas.microsoft.com/office/drawing/2014/main" id="{FB4238EA-4C55-E015-F647-A80070CC076D}"/>
                </a:ext>
              </a:extLst>
            </p:cNvPr>
            <p:cNvSpPr/>
            <p:nvPr/>
          </p:nvSpPr>
          <p:spPr>
            <a:xfrm>
              <a:off x="4265030" y="4366012"/>
              <a:ext cx="588898" cy="588898"/>
            </a:xfrm>
            <a:prstGeom prst="teardrop">
              <a:avLst/>
            </a:prstGeom>
            <a:solidFill>
              <a:srgbClr val="203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A4A85ED9-5AF0-2660-DDE7-103D38D86843}"/>
                </a:ext>
              </a:extLst>
            </p:cNvPr>
            <p:cNvCxnSpPr/>
            <p:nvPr/>
          </p:nvCxnSpPr>
          <p:spPr>
            <a:xfrm>
              <a:off x="4559479" y="5015114"/>
              <a:ext cx="0" cy="182880"/>
            </a:xfrm>
            <a:prstGeom prst="line">
              <a:avLst/>
            </a:prstGeom>
            <a:ln>
              <a:solidFill>
                <a:srgbClr val="2B6587"/>
              </a:solidFill>
              <a:prstDash val="dash"/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32">
              <a:extLst>
                <a:ext uri="{FF2B5EF4-FFF2-40B4-BE49-F238E27FC236}">
                  <a16:creationId xmlns:a16="http://schemas.microsoft.com/office/drawing/2014/main" id="{596E05C3-B080-42D7-E9E5-2177B1FA27B0}"/>
                </a:ext>
              </a:extLst>
            </p:cNvPr>
            <p:cNvCxnSpPr/>
            <p:nvPr/>
          </p:nvCxnSpPr>
          <p:spPr>
            <a:xfrm>
              <a:off x="3979420" y="5195268"/>
              <a:ext cx="584508" cy="0"/>
            </a:xfrm>
            <a:prstGeom prst="line">
              <a:avLst/>
            </a:prstGeom>
            <a:ln>
              <a:solidFill>
                <a:srgbClr val="2B6587"/>
              </a:solidFill>
              <a:prstDash val="dash"/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34">
              <a:extLst>
                <a:ext uri="{FF2B5EF4-FFF2-40B4-BE49-F238E27FC236}">
                  <a16:creationId xmlns:a16="http://schemas.microsoft.com/office/drawing/2014/main" id="{D0C435A6-7FF6-F562-EFAC-C280DB196B8D}"/>
                </a:ext>
              </a:extLst>
            </p:cNvPr>
            <p:cNvCxnSpPr/>
            <p:nvPr/>
          </p:nvCxnSpPr>
          <p:spPr>
            <a:xfrm>
              <a:off x="7380996" y="2926257"/>
              <a:ext cx="0" cy="548640"/>
            </a:xfrm>
            <a:prstGeom prst="line">
              <a:avLst/>
            </a:prstGeom>
            <a:ln>
              <a:solidFill>
                <a:srgbClr val="203864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35">
              <a:extLst>
                <a:ext uri="{FF2B5EF4-FFF2-40B4-BE49-F238E27FC236}">
                  <a16:creationId xmlns:a16="http://schemas.microsoft.com/office/drawing/2014/main" id="{14BCE33C-2229-EF92-E6DD-413EA81AF452}"/>
                </a:ext>
              </a:extLst>
            </p:cNvPr>
            <p:cNvSpPr/>
            <p:nvPr/>
          </p:nvSpPr>
          <p:spPr>
            <a:xfrm>
              <a:off x="7285303" y="3457876"/>
              <a:ext cx="191386" cy="19138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Teardrop 36">
              <a:extLst>
                <a:ext uri="{FF2B5EF4-FFF2-40B4-BE49-F238E27FC236}">
                  <a16:creationId xmlns:a16="http://schemas.microsoft.com/office/drawing/2014/main" id="{D60B8404-C995-931C-5892-3259FE57FC7A}"/>
                </a:ext>
              </a:extLst>
            </p:cNvPr>
            <p:cNvSpPr/>
            <p:nvPr/>
          </p:nvSpPr>
          <p:spPr>
            <a:xfrm>
              <a:off x="7086547" y="2258687"/>
              <a:ext cx="588898" cy="588898"/>
            </a:xfrm>
            <a:prstGeom prst="teardrop">
              <a:avLst/>
            </a:prstGeom>
            <a:solidFill>
              <a:srgbClr val="203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20" name="Straight Connector 37">
              <a:extLst>
                <a:ext uri="{FF2B5EF4-FFF2-40B4-BE49-F238E27FC236}">
                  <a16:creationId xmlns:a16="http://schemas.microsoft.com/office/drawing/2014/main" id="{B9BBAACC-D80A-8469-A8DA-51CAACC4C22E}"/>
                </a:ext>
              </a:extLst>
            </p:cNvPr>
            <p:cNvCxnSpPr/>
            <p:nvPr/>
          </p:nvCxnSpPr>
          <p:spPr>
            <a:xfrm>
              <a:off x="7380996" y="1963131"/>
              <a:ext cx="0" cy="182880"/>
            </a:xfrm>
            <a:prstGeom prst="line">
              <a:avLst/>
            </a:prstGeom>
            <a:ln>
              <a:solidFill>
                <a:srgbClr val="203864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38">
              <a:extLst>
                <a:ext uri="{FF2B5EF4-FFF2-40B4-BE49-F238E27FC236}">
                  <a16:creationId xmlns:a16="http://schemas.microsoft.com/office/drawing/2014/main" id="{E18B5201-9AEF-F8FF-BA51-4B5106C056A7}"/>
                </a:ext>
              </a:extLst>
            </p:cNvPr>
            <p:cNvCxnSpPr/>
            <p:nvPr/>
          </p:nvCxnSpPr>
          <p:spPr>
            <a:xfrm>
              <a:off x="7383191" y="1956929"/>
              <a:ext cx="584508" cy="0"/>
            </a:xfrm>
            <a:prstGeom prst="line">
              <a:avLst/>
            </a:prstGeom>
            <a:ln>
              <a:solidFill>
                <a:srgbClr val="203864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40">
              <a:extLst>
                <a:ext uri="{FF2B5EF4-FFF2-40B4-BE49-F238E27FC236}">
                  <a16:creationId xmlns:a16="http://schemas.microsoft.com/office/drawing/2014/main" id="{BF96C154-135D-A726-6C8C-2CA04159C00B}"/>
                </a:ext>
              </a:extLst>
            </p:cNvPr>
            <p:cNvSpPr/>
            <p:nvPr/>
          </p:nvSpPr>
          <p:spPr>
            <a:xfrm>
              <a:off x="8553253" y="3457876"/>
              <a:ext cx="191386" cy="19138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2B65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23" name="4">
              <a:extLst>
                <a:ext uri="{FF2B5EF4-FFF2-40B4-BE49-F238E27FC236}">
                  <a16:creationId xmlns:a16="http://schemas.microsoft.com/office/drawing/2014/main" id="{FA6FE478-DAA1-DD42-077C-7649E76ED3A7}"/>
                </a:ext>
              </a:extLst>
            </p:cNvPr>
            <p:cNvCxnSpPr/>
            <p:nvPr/>
          </p:nvCxnSpPr>
          <p:spPr>
            <a:xfrm>
              <a:off x="8630719" y="3689773"/>
              <a:ext cx="0" cy="548640"/>
            </a:xfrm>
            <a:prstGeom prst="line">
              <a:avLst/>
            </a:prstGeom>
            <a:ln>
              <a:solidFill>
                <a:srgbClr val="2B6587"/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ardrop 42">
              <a:extLst>
                <a:ext uri="{FF2B5EF4-FFF2-40B4-BE49-F238E27FC236}">
                  <a16:creationId xmlns:a16="http://schemas.microsoft.com/office/drawing/2014/main" id="{19418997-CD3C-C66C-8829-631B5E3150A6}"/>
                </a:ext>
              </a:extLst>
            </p:cNvPr>
            <p:cNvSpPr/>
            <p:nvPr/>
          </p:nvSpPr>
          <p:spPr>
            <a:xfrm>
              <a:off x="8354497" y="4366012"/>
              <a:ext cx="588898" cy="588898"/>
            </a:xfrm>
            <a:prstGeom prst="teardrop">
              <a:avLst/>
            </a:pr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25" name="3">
              <a:extLst>
                <a:ext uri="{FF2B5EF4-FFF2-40B4-BE49-F238E27FC236}">
                  <a16:creationId xmlns:a16="http://schemas.microsoft.com/office/drawing/2014/main" id="{F47C5C52-393C-4C8E-C3AE-84BC293792F7}"/>
                </a:ext>
              </a:extLst>
            </p:cNvPr>
            <p:cNvCxnSpPr/>
            <p:nvPr/>
          </p:nvCxnSpPr>
          <p:spPr>
            <a:xfrm>
              <a:off x="8648946" y="5015114"/>
              <a:ext cx="0" cy="182880"/>
            </a:xfrm>
            <a:prstGeom prst="line">
              <a:avLst/>
            </a:prstGeom>
            <a:ln>
              <a:solidFill>
                <a:srgbClr val="0E589D"/>
              </a:solidFill>
              <a:prstDash val="dash"/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2">
              <a:extLst>
                <a:ext uri="{FF2B5EF4-FFF2-40B4-BE49-F238E27FC236}">
                  <a16:creationId xmlns:a16="http://schemas.microsoft.com/office/drawing/2014/main" id="{81E84805-8DD5-7DB2-B8E9-64903F5CBAB8}"/>
                </a:ext>
              </a:extLst>
            </p:cNvPr>
            <p:cNvCxnSpPr/>
            <p:nvPr/>
          </p:nvCxnSpPr>
          <p:spPr>
            <a:xfrm>
              <a:off x="8068887" y="5195268"/>
              <a:ext cx="584508" cy="0"/>
            </a:xfrm>
            <a:prstGeom prst="line">
              <a:avLst/>
            </a:prstGeom>
            <a:ln>
              <a:solidFill>
                <a:srgbClr val="0E589D"/>
              </a:solidFill>
              <a:prstDash val="dash"/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13">
              <a:extLst>
                <a:ext uri="{FF2B5EF4-FFF2-40B4-BE49-F238E27FC236}">
                  <a16:creationId xmlns:a16="http://schemas.microsoft.com/office/drawing/2014/main" id="{C835E5FC-6A9B-439B-F173-387016E6644F}"/>
                </a:ext>
              </a:extLst>
            </p:cNvPr>
            <p:cNvSpPr txBox="1"/>
            <p:nvPr/>
          </p:nvSpPr>
          <p:spPr>
            <a:xfrm>
              <a:off x="2022628" y="4899802"/>
              <a:ext cx="1897804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rgbClr val="0F1115"/>
                  </a:solidFill>
                  <a:effectLst/>
                  <a:latin typeface="quote-cjk-patch"/>
                </a:rPr>
                <a:t>完善项目代码</a:t>
              </a:r>
            </a:p>
          </p:txBody>
        </p:sp>
        <p:sp>
          <p:nvSpPr>
            <p:cNvPr id="28" name="TextBox 13">
              <a:extLst>
                <a:ext uri="{FF2B5EF4-FFF2-40B4-BE49-F238E27FC236}">
                  <a16:creationId xmlns:a16="http://schemas.microsoft.com/office/drawing/2014/main" id="{0643315A-42AD-EA2B-4BA4-FE14B7C70194}"/>
                </a:ext>
              </a:extLst>
            </p:cNvPr>
            <p:cNvSpPr txBox="1"/>
            <p:nvPr/>
          </p:nvSpPr>
          <p:spPr>
            <a:xfrm>
              <a:off x="8096381" y="1979385"/>
              <a:ext cx="1992611" cy="99841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创建输入</a:t>
              </a:r>
              <a:r>
                <a:rPr lang="en-US" altLang="zh-CN" sz="12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topic:test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(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发送服务器监控数据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)</a:t>
              </a:r>
            </a:p>
            <a:p>
              <a:pPr>
                <a:lnSpc>
                  <a:spcPts val="2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创建输出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topic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：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demo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 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(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用于接收产生的告警信息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)</a:t>
              </a:r>
            </a:p>
          </p:txBody>
        </p:sp>
        <p:sp>
          <p:nvSpPr>
            <p:cNvPr id="29" name="TextBox 13">
              <a:extLst>
                <a:ext uri="{FF2B5EF4-FFF2-40B4-BE49-F238E27FC236}">
                  <a16:creationId xmlns:a16="http://schemas.microsoft.com/office/drawing/2014/main" id="{6A2B75D3-E8BA-CC4A-C450-E52D0A95F17E}"/>
                </a:ext>
              </a:extLst>
            </p:cNvPr>
            <p:cNvSpPr txBox="1"/>
            <p:nvPr/>
          </p:nvSpPr>
          <p:spPr>
            <a:xfrm>
              <a:off x="6299741" y="4899802"/>
              <a:ext cx="1572282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lvl="0">
                <a:spcBef>
                  <a:spcPct val="0"/>
                </a:spcBef>
                <a:buSzPct val="25000"/>
                <a:defRPr/>
              </a:pPr>
              <a:r>
                <a:rPr lang="zh-CN" altLang="en-US" sz="2000" b="1" dirty="0">
                  <a:solidFill>
                    <a:srgbClr val="0F1115"/>
                  </a:solidFill>
                  <a:latin typeface="quote-cjk-patch"/>
                  <a:sym typeface="+mn-lt"/>
                </a:rPr>
                <a:t>输入数据运行</a:t>
              </a:r>
            </a:p>
          </p:txBody>
        </p:sp>
        <p:sp>
          <p:nvSpPr>
            <p:cNvPr id="30" name="TextBox 13">
              <a:extLst>
                <a:ext uri="{FF2B5EF4-FFF2-40B4-BE49-F238E27FC236}">
                  <a16:creationId xmlns:a16="http://schemas.microsoft.com/office/drawing/2014/main" id="{8058ECFE-C997-7ED4-3971-A8FF876742E0}"/>
                </a:ext>
              </a:extLst>
            </p:cNvPr>
            <p:cNvSpPr txBox="1"/>
            <p:nvPr/>
          </p:nvSpPr>
          <p:spPr>
            <a:xfrm>
              <a:off x="6310265" y="5221803"/>
              <a:ext cx="1665554" cy="228973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zh-CN"/>
              </a:defPPr>
              <a:lvl1pPr>
                <a:lnSpc>
                  <a:spcPts val="2000"/>
                </a:lnSpc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defRPr>
              </a:lvl1pPr>
            </a:lstStyle>
            <a:p>
              <a:r>
                <a:rPr lang="zh-CN" altLang="en-US" dirty="0">
                  <a:sym typeface="字魂35号-经典雅黑" panose="00000500000000000000" pitchFamily="2" charset="-122"/>
                </a:rPr>
                <a:t>观察窗口告警情况</a:t>
              </a:r>
            </a:p>
          </p:txBody>
        </p:sp>
        <p:sp>
          <p:nvSpPr>
            <p:cNvPr id="31" name="TextBox 13">
              <a:extLst>
                <a:ext uri="{FF2B5EF4-FFF2-40B4-BE49-F238E27FC236}">
                  <a16:creationId xmlns:a16="http://schemas.microsoft.com/office/drawing/2014/main" id="{83CD2214-A7F3-AD21-488E-3715E5D05F63}"/>
                </a:ext>
              </a:extLst>
            </p:cNvPr>
            <p:cNvSpPr txBox="1"/>
            <p:nvPr/>
          </p:nvSpPr>
          <p:spPr>
            <a:xfrm>
              <a:off x="4319979" y="1628862"/>
              <a:ext cx="1619093" cy="307777"/>
            </a:xfrm>
            <a:prstGeom prst="rect">
              <a:avLst/>
            </a:prstGeom>
          </p:spPr>
          <p:txBody>
            <a:bodyPr wrap="square" lIns="0" tIns="0" rIns="0" bIns="0" rtlCol="0" anchor="t" anchorCtr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rgbClr val="0F1115"/>
                  </a:solidFill>
                  <a:effectLst/>
                  <a:latin typeface="quote-cjk-patch"/>
                </a:rPr>
                <a:t>配置 </a:t>
              </a:r>
              <a:r>
                <a:rPr lang="en-US" altLang="zh-CN" sz="2000" b="1" dirty="0">
                  <a:solidFill>
                    <a:srgbClr val="0F1115"/>
                  </a:solidFill>
                  <a:effectLst/>
                  <a:latin typeface="quote-cjk-patch"/>
                </a:rPr>
                <a:t>pom.xml</a:t>
              </a:r>
            </a:p>
          </p:txBody>
        </p:sp>
        <p:sp>
          <p:nvSpPr>
            <p:cNvPr id="32" name="TextBox 13">
              <a:extLst>
                <a:ext uri="{FF2B5EF4-FFF2-40B4-BE49-F238E27FC236}">
                  <a16:creationId xmlns:a16="http://schemas.microsoft.com/office/drawing/2014/main" id="{96E226F7-CB3E-16AF-FBA4-5329154ADE37}"/>
                </a:ext>
              </a:extLst>
            </p:cNvPr>
            <p:cNvSpPr txBox="1"/>
            <p:nvPr/>
          </p:nvSpPr>
          <p:spPr>
            <a:xfrm>
              <a:off x="4319980" y="1950863"/>
              <a:ext cx="1619094" cy="48545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zh-CN"/>
              </a:defPPr>
              <a:lvl1pPr>
                <a:lnSpc>
                  <a:spcPts val="2000"/>
                </a:lnSpc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defRPr>
              </a:lvl1pPr>
            </a:lstStyle>
            <a:p>
              <a:r>
                <a:rPr lang="zh-CN" altLang="en-US" dirty="0"/>
                <a:t>加载 </a:t>
              </a:r>
              <a:r>
                <a:rPr lang="en-US" altLang="zh-CN" dirty="0" err="1"/>
                <a:t>Flink</a:t>
              </a:r>
              <a:r>
                <a:rPr lang="en-US" altLang="zh-CN" dirty="0"/>
                <a:t> </a:t>
              </a:r>
              <a:r>
                <a:rPr lang="zh-CN" altLang="en-US" dirty="0"/>
                <a:t>与 </a:t>
              </a:r>
              <a:r>
                <a:rPr lang="en-US" altLang="zh-CN" dirty="0"/>
                <a:t>Kafka </a:t>
              </a:r>
              <a:r>
                <a:rPr lang="zh-CN" altLang="en-US" dirty="0"/>
                <a:t>连接器</a:t>
              </a:r>
              <a:endParaRPr lang="zh-CN" altLang="en-US" dirty="0">
                <a:sym typeface="字魂35号-经典雅黑" panose="00000500000000000000" pitchFamily="2" charset="-122"/>
              </a:endParaRPr>
            </a:p>
          </p:txBody>
        </p:sp>
        <p:sp>
          <p:nvSpPr>
            <p:cNvPr id="33" name="TextBox 13">
              <a:extLst>
                <a:ext uri="{FF2B5EF4-FFF2-40B4-BE49-F238E27FC236}">
                  <a16:creationId xmlns:a16="http://schemas.microsoft.com/office/drawing/2014/main" id="{C2A8AE1B-A9E7-813C-BE79-57D8A05D09D8}"/>
                </a:ext>
              </a:extLst>
            </p:cNvPr>
            <p:cNvSpPr txBox="1"/>
            <p:nvPr/>
          </p:nvSpPr>
          <p:spPr>
            <a:xfrm>
              <a:off x="8175273" y="1628862"/>
              <a:ext cx="1913719" cy="307777"/>
            </a:xfrm>
            <a:prstGeom prst="rect">
              <a:avLst/>
            </a:prstGeom>
          </p:spPr>
          <p:txBody>
            <a:bodyPr wrap="square" lIns="0" tIns="0" rIns="0" bIns="0" rtlCol="0" anchor="t" anchorCtr="0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rgbClr val="0F1115"/>
                  </a:solidFill>
                  <a:effectLst/>
                  <a:latin typeface="quote-cjk-patch"/>
                </a:rPr>
                <a:t>创建 </a:t>
              </a:r>
              <a:r>
                <a:rPr lang="en-US" altLang="zh-CN" sz="2000" b="1" dirty="0">
                  <a:solidFill>
                    <a:srgbClr val="0F1115"/>
                  </a:solidFill>
                  <a:effectLst/>
                  <a:latin typeface="quote-cjk-patch"/>
                </a:rPr>
                <a:t>Kafka </a:t>
              </a:r>
              <a:r>
                <a:rPr lang="en-US" altLang="zh-CN" sz="2000" b="1" dirty="0">
                  <a:solidFill>
                    <a:srgbClr val="0F1115"/>
                  </a:solidFill>
                  <a:latin typeface="quote-cjk-patch"/>
                </a:rPr>
                <a:t>topic </a:t>
              </a:r>
              <a:endParaRPr lang="zh-CN" altLang="en-US" sz="2000" b="1" dirty="0">
                <a:solidFill>
                  <a:srgbClr val="0F1115"/>
                </a:solidFill>
                <a:effectLst/>
                <a:latin typeface="quote-cjk-patch"/>
              </a:endParaRPr>
            </a:p>
          </p:txBody>
        </p:sp>
        <p:sp>
          <p:nvSpPr>
            <p:cNvPr id="34" name="TextBox 13">
              <a:extLst>
                <a:ext uri="{FF2B5EF4-FFF2-40B4-BE49-F238E27FC236}">
                  <a16:creationId xmlns:a16="http://schemas.microsoft.com/office/drawing/2014/main" id="{66156565-CEAC-9754-54FB-6203DFA00696}"/>
                </a:ext>
              </a:extLst>
            </p:cNvPr>
            <p:cNvSpPr txBox="1"/>
            <p:nvPr/>
          </p:nvSpPr>
          <p:spPr>
            <a:xfrm>
              <a:off x="1798458" y="5191161"/>
              <a:ext cx="2521521" cy="125489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zh-CN"/>
              </a:defPPr>
              <a:lvl1pPr>
                <a:lnSpc>
                  <a:spcPts val="2000"/>
                </a:lnSpc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defRPr>
              </a:lvl1pPr>
            </a:lstStyle>
            <a:p>
              <a:r>
                <a:rPr lang="zh-CN" altLang="en-US" dirty="0">
                  <a:sym typeface="字魂35号-经典雅黑" panose="00000500000000000000" pitchFamily="2" charset="-122"/>
                </a:rPr>
                <a:t>主程序：</a:t>
              </a:r>
              <a:r>
                <a:rPr lang="en-US" altLang="zh-CN" dirty="0" err="1">
                  <a:sym typeface="字魂35号-经典雅黑" panose="00000500000000000000" pitchFamily="2" charset="-122"/>
                </a:rPr>
                <a:t>RealTimeAlertSystem</a:t>
              </a:r>
              <a:endParaRPr lang="en-US" altLang="zh-CN" dirty="0">
                <a:sym typeface="字魂35号-经典雅黑" panose="00000500000000000000" pitchFamily="2" charset="-122"/>
              </a:endParaRPr>
            </a:p>
            <a:p>
              <a:r>
                <a:rPr lang="zh-CN" altLang="en-US" dirty="0">
                  <a:sym typeface="字魂35号-经典雅黑" panose="00000500000000000000" pitchFamily="2" charset="-122"/>
                </a:rPr>
                <a:t>规则配置类：</a:t>
              </a:r>
              <a:r>
                <a:rPr lang="en-US" altLang="zh-CN" dirty="0" err="1">
                  <a:sym typeface="字魂35号-经典雅黑" panose="00000500000000000000" pitchFamily="2" charset="-122"/>
                </a:rPr>
                <a:t>RuleMap</a:t>
              </a:r>
              <a:endParaRPr lang="en-US" altLang="zh-CN" dirty="0">
                <a:sym typeface="字魂35号-经典雅黑" panose="00000500000000000000" pitchFamily="2" charset="-122"/>
              </a:endParaRPr>
            </a:p>
            <a:p>
              <a:pPr defTabSz="1219170">
                <a:defRPr/>
              </a:pPr>
              <a:r>
                <a:rPr lang="zh-CN" altLang="en-US" dirty="0">
                  <a:sym typeface="字魂35号-经典雅黑" panose="00000500000000000000" pitchFamily="2" charset="-122"/>
                </a:rPr>
                <a:t>告警逻辑类：</a:t>
              </a:r>
              <a:r>
                <a:rPr lang="en-US" altLang="zh-CN" sz="12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Source Han Serif SC" panose="02020700000000000000" pitchFamily="18" charset="-122"/>
                </a:rPr>
                <a:t>AlertProcessor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endParaRPr>
            </a:p>
            <a:p>
              <a:r>
                <a:rPr lang="zh-CN" altLang="en-US" dirty="0"/>
                <a:t>三个实体类</a:t>
              </a:r>
              <a:r>
                <a:rPr lang="zh-CN" altLang="en-US" dirty="0">
                  <a:sym typeface="字魂35号-经典雅黑" panose="00000500000000000000" pitchFamily="2" charset="-122"/>
                </a:rPr>
                <a:t>：</a:t>
              </a:r>
              <a:r>
                <a:rPr lang="en-US" altLang="zh-CN" dirty="0" err="1">
                  <a:sym typeface="字魂35号-经典雅黑" panose="00000500000000000000" pitchFamily="2" charset="-122"/>
                </a:rPr>
                <a:t>ServerMetric</a:t>
              </a:r>
              <a:r>
                <a:rPr lang="zh-CN" altLang="en-US" dirty="0"/>
                <a:t>，</a:t>
              </a:r>
              <a:r>
                <a:rPr lang="en-US" altLang="zh-CN" dirty="0" err="1"/>
                <a:t>AlertRule</a:t>
              </a:r>
              <a:r>
                <a:rPr lang="zh-CN" altLang="en-US" dirty="0"/>
                <a:t>，</a:t>
              </a:r>
              <a:r>
                <a:rPr lang="en-US" altLang="zh-CN" dirty="0" err="1"/>
                <a:t>AlertMessage</a:t>
              </a:r>
              <a:endParaRPr lang="zh-CN" altLang="en-US" dirty="0">
                <a:sym typeface="字魂35号-经典雅黑" panose="00000500000000000000" pitchFamily="2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5D7516F-84A3-6D89-F86F-E00DF7C9D95F}"/>
                </a:ext>
              </a:extLst>
            </p:cNvPr>
            <p:cNvSpPr/>
            <p:nvPr/>
          </p:nvSpPr>
          <p:spPr>
            <a:xfrm>
              <a:off x="3378864" y="2312225"/>
              <a:ext cx="4411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SzPct val="25000"/>
                <a:defRPr/>
              </a:pPr>
              <a:r>
                <a:rPr lang="en-US" altLang="zh-CN" sz="2000" b="1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Arial" panose="020B0604020202020204" pitchFamily="34" charset="0"/>
                </a:rPr>
                <a:t>01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F73ACBE-C897-ECD5-C313-463F506E5B27}"/>
                </a:ext>
              </a:extLst>
            </p:cNvPr>
            <p:cNvSpPr/>
            <p:nvPr/>
          </p:nvSpPr>
          <p:spPr>
            <a:xfrm>
              <a:off x="4320186" y="4424995"/>
              <a:ext cx="47801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SzPct val="25000"/>
                <a:defRPr/>
              </a:pPr>
              <a:r>
                <a:rPr lang="en-US" altLang="zh-CN" sz="2000" b="1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Arial" panose="020B0604020202020204" pitchFamily="34" charset="0"/>
                </a:rPr>
                <a:t>02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9A02C84-E197-3E9B-EF33-691CD6661E3A}"/>
                </a:ext>
              </a:extLst>
            </p:cNvPr>
            <p:cNvSpPr/>
            <p:nvPr/>
          </p:nvSpPr>
          <p:spPr>
            <a:xfrm>
              <a:off x="7141989" y="2312225"/>
              <a:ext cx="47801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spcBef>
                  <a:spcPct val="0"/>
                </a:spcBef>
                <a:buSzPct val="25000"/>
                <a:defRPr/>
              </a:pPr>
              <a:r>
                <a:rPr lang="en-US" altLang="zh-CN" sz="2000" b="1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Arial" panose="020B0604020202020204" pitchFamily="34" charset="0"/>
                </a:rPr>
                <a:t>03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A048E03-3A5F-2B27-BE97-61F3C193F185}"/>
                </a:ext>
              </a:extLst>
            </p:cNvPr>
            <p:cNvSpPr/>
            <p:nvPr/>
          </p:nvSpPr>
          <p:spPr>
            <a:xfrm>
              <a:off x="8400321" y="4427971"/>
              <a:ext cx="49725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spcBef>
                  <a:spcPct val="0"/>
                </a:spcBef>
                <a:buSzPct val="25000"/>
                <a:defRPr/>
              </a:pPr>
              <a:r>
                <a:rPr lang="en-US" altLang="zh-CN" sz="2000" b="1" cap="all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Arial" panose="020B0604020202020204" pitchFamily="34" charset="0"/>
                </a:rPr>
                <a:t>04</a:t>
              </a:r>
            </a:p>
          </p:txBody>
        </p:sp>
        <p:sp>
          <p:nvSpPr>
            <p:cNvPr id="41" name="1">
              <a:extLst>
                <a:ext uri="{FF2B5EF4-FFF2-40B4-BE49-F238E27FC236}">
                  <a16:creationId xmlns:a16="http://schemas.microsoft.com/office/drawing/2014/main" id="{96B57A44-7000-5B1F-FEB9-F0B8446A42C3}"/>
                </a:ext>
              </a:extLst>
            </p:cNvPr>
            <p:cNvSpPr/>
            <p:nvPr/>
          </p:nvSpPr>
          <p:spPr>
            <a:xfrm>
              <a:off x="1135759" y="3361223"/>
              <a:ext cx="403903" cy="384691"/>
            </a:xfrm>
            <a:custGeom>
              <a:avLst/>
              <a:gdLst>
                <a:gd name="connsiteX0" fmla="*/ 69048 w 609763"/>
                <a:gd name="connsiteY0" fmla="*/ 467002 h 580760"/>
                <a:gd name="connsiteX1" fmla="*/ 84749 w 609763"/>
                <a:gd name="connsiteY1" fmla="*/ 482703 h 580760"/>
                <a:gd name="connsiteX2" fmla="*/ 69048 w 609763"/>
                <a:gd name="connsiteY2" fmla="*/ 498404 h 580760"/>
                <a:gd name="connsiteX3" fmla="*/ 53347 w 609763"/>
                <a:gd name="connsiteY3" fmla="*/ 482703 h 580760"/>
                <a:gd name="connsiteX4" fmla="*/ 69048 w 609763"/>
                <a:gd name="connsiteY4" fmla="*/ 467002 h 580760"/>
                <a:gd name="connsiteX5" fmla="*/ 69048 w 609763"/>
                <a:gd name="connsiteY5" fmla="*/ 327212 h 580760"/>
                <a:gd name="connsiteX6" fmla="*/ 84749 w 609763"/>
                <a:gd name="connsiteY6" fmla="*/ 342913 h 580760"/>
                <a:gd name="connsiteX7" fmla="*/ 69048 w 609763"/>
                <a:gd name="connsiteY7" fmla="*/ 358614 h 580760"/>
                <a:gd name="connsiteX8" fmla="*/ 53347 w 609763"/>
                <a:gd name="connsiteY8" fmla="*/ 342913 h 580760"/>
                <a:gd name="connsiteX9" fmla="*/ 69048 w 609763"/>
                <a:gd name="connsiteY9" fmla="*/ 327212 h 580760"/>
                <a:gd name="connsiteX10" fmla="*/ 443351 w 609763"/>
                <a:gd name="connsiteY10" fmla="*/ 299768 h 580760"/>
                <a:gd name="connsiteX11" fmla="*/ 370388 w 609763"/>
                <a:gd name="connsiteY11" fmla="*/ 324702 h 580760"/>
                <a:gd name="connsiteX12" fmla="*/ 358882 w 609763"/>
                <a:gd name="connsiteY12" fmla="*/ 368686 h 580760"/>
                <a:gd name="connsiteX13" fmla="*/ 363653 w 609763"/>
                <a:gd name="connsiteY13" fmla="*/ 378772 h 580760"/>
                <a:gd name="connsiteX14" fmla="*/ 347096 w 609763"/>
                <a:gd name="connsiteY14" fmla="*/ 410429 h 580760"/>
                <a:gd name="connsiteX15" fmla="*/ 360285 w 609763"/>
                <a:gd name="connsiteY15" fmla="*/ 417153 h 580760"/>
                <a:gd name="connsiteX16" fmla="*/ 359163 w 609763"/>
                <a:gd name="connsiteY16" fmla="*/ 426118 h 580760"/>
                <a:gd name="connsiteX17" fmla="*/ 365056 w 609763"/>
                <a:gd name="connsiteY17" fmla="*/ 441526 h 580760"/>
                <a:gd name="connsiteX18" fmla="*/ 363933 w 609763"/>
                <a:gd name="connsiteY18" fmla="*/ 455534 h 580760"/>
                <a:gd name="connsiteX19" fmla="*/ 381332 w 609763"/>
                <a:gd name="connsiteY19" fmla="*/ 463658 h 580760"/>
                <a:gd name="connsiteX20" fmla="*/ 404063 w 609763"/>
                <a:gd name="connsiteY20" fmla="*/ 460016 h 580760"/>
                <a:gd name="connsiteX21" fmla="*/ 392277 w 609763"/>
                <a:gd name="connsiteY21" fmla="*/ 489993 h 580760"/>
                <a:gd name="connsiteX22" fmla="*/ 499476 w 609763"/>
                <a:gd name="connsiteY22" fmla="*/ 489993 h 580760"/>
                <a:gd name="connsiteX23" fmla="*/ 468888 w 609763"/>
                <a:gd name="connsiteY23" fmla="*/ 437884 h 580760"/>
                <a:gd name="connsiteX24" fmla="*/ 499196 w 609763"/>
                <a:gd name="connsiteY24" fmla="*/ 360842 h 580760"/>
                <a:gd name="connsiteX25" fmla="*/ 443351 w 609763"/>
                <a:gd name="connsiteY25" fmla="*/ 299768 h 580760"/>
                <a:gd name="connsiteX26" fmla="*/ 394522 w 609763"/>
                <a:gd name="connsiteY26" fmla="*/ 208438 h 580760"/>
                <a:gd name="connsiteX27" fmla="*/ 405466 w 609763"/>
                <a:gd name="connsiteY27" fmla="*/ 213481 h 580760"/>
                <a:gd name="connsiteX28" fmla="*/ 416972 w 609763"/>
                <a:gd name="connsiteY28" fmla="*/ 244578 h 580760"/>
                <a:gd name="connsiteX29" fmla="*/ 431845 w 609763"/>
                <a:gd name="connsiteY29" fmla="*/ 252702 h 580760"/>
                <a:gd name="connsiteX30" fmla="*/ 441106 w 609763"/>
                <a:gd name="connsiteY30" fmla="*/ 245699 h 580760"/>
                <a:gd name="connsiteX31" fmla="*/ 455137 w 609763"/>
                <a:gd name="connsiteY31" fmla="*/ 215162 h 580760"/>
                <a:gd name="connsiteX32" fmla="*/ 466082 w 609763"/>
                <a:gd name="connsiteY32" fmla="*/ 211240 h 580760"/>
                <a:gd name="connsiteX33" fmla="*/ 534555 w 609763"/>
                <a:gd name="connsiteY33" fmla="*/ 242617 h 580760"/>
                <a:gd name="connsiteX34" fmla="*/ 538764 w 609763"/>
                <a:gd name="connsiteY34" fmla="*/ 253823 h 580760"/>
                <a:gd name="connsiteX35" fmla="*/ 524733 w 609763"/>
                <a:gd name="connsiteY35" fmla="*/ 284080 h 580760"/>
                <a:gd name="connsiteX36" fmla="*/ 529223 w 609763"/>
                <a:gd name="connsiteY36" fmla="*/ 300329 h 580760"/>
                <a:gd name="connsiteX37" fmla="*/ 541009 w 609763"/>
                <a:gd name="connsiteY37" fmla="*/ 301729 h 580760"/>
                <a:gd name="connsiteX38" fmla="*/ 572439 w 609763"/>
                <a:gd name="connsiteY38" fmla="*/ 290243 h 580760"/>
                <a:gd name="connsiteX39" fmla="*/ 583103 w 609763"/>
                <a:gd name="connsiteY39" fmla="*/ 295286 h 580760"/>
                <a:gd name="connsiteX40" fmla="*/ 609201 w 609763"/>
                <a:gd name="connsiteY40" fmla="*/ 365885 h 580760"/>
                <a:gd name="connsiteX41" fmla="*/ 604431 w 609763"/>
                <a:gd name="connsiteY41" fmla="*/ 376530 h 580760"/>
                <a:gd name="connsiteX42" fmla="*/ 573001 w 609763"/>
                <a:gd name="connsiteY42" fmla="*/ 388297 h 580760"/>
                <a:gd name="connsiteX43" fmla="*/ 565143 w 609763"/>
                <a:gd name="connsiteY43" fmla="*/ 396982 h 580760"/>
                <a:gd name="connsiteX44" fmla="*/ 572159 w 609763"/>
                <a:gd name="connsiteY44" fmla="*/ 412110 h 580760"/>
                <a:gd name="connsiteX45" fmla="*/ 602466 w 609763"/>
                <a:gd name="connsiteY45" fmla="*/ 426118 h 580760"/>
                <a:gd name="connsiteX46" fmla="*/ 606395 w 609763"/>
                <a:gd name="connsiteY46" fmla="*/ 437044 h 580760"/>
                <a:gd name="connsiteX47" fmla="*/ 574965 w 609763"/>
                <a:gd name="connsiteY47" fmla="*/ 505681 h 580760"/>
                <a:gd name="connsiteX48" fmla="*/ 563740 w 609763"/>
                <a:gd name="connsiteY48" fmla="*/ 509604 h 580760"/>
                <a:gd name="connsiteX49" fmla="*/ 533432 w 609763"/>
                <a:gd name="connsiteY49" fmla="*/ 495596 h 580760"/>
                <a:gd name="connsiteX50" fmla="*/ 517156 w 609763"/>
                <a:gd name="connsiteY50" fmla="*/ 500358 h 580760"/>
                <a:gd name="connsiteX51" fmla="*/ 515753 w 609763"/>
                <a:gd name="connsiteY51" fmla="*/ 511845 h 580760"/>
                <a:gd name="connsiteX52" fmla="*/ 527258 w 609763"/>
                <a:gd name="connsiteY52" fmla="*/ 543222 h 580760"/>
                <a:gd name="connsiteX53" fmla="*/ 522488 w 609763"/>
                <a:gd name="connsiteY53" fmla="*/ 554148 h 580760"/>
                <a:gd name="connsiteX54" fmla="*/ 451489 w 609763"/>
                <a:gd name="connsiteY54" fmla="*/ 580202 h 580760"/>
                <a:gd name="connsiteX55" fmla="*/ 440825 w 609763"/>
                <a:gd name="connsiteY55" fmla="*/ 575160 h 580760"/>
                <a:gd name="connsiteX56" fmla="*/ 429320 w 609763"/>
                <a:gd name="connsiteY56" fmla="*/ 543782 h 580760"/>
                <a:gd name="connsiteX57" fmla="*/ 414727 w 609763"/>
                <a:gd name="connsiteY57" fmla="*/ 535658 h 580760"/>
                <a:gd name="connsiteX58" fmla="*/ 405186 w 609763"/>
                <a:gd name="connsiteY58" fmla="*/ 542942 h 580760"/>
                <a:gd name="connsiteX59" fmla="*/ 391154 w 609763"/>
                <a:gd name="connsiteY59" fmla="*/ 573198 h 580760"/>
                <a:gd name="connsiteX60" fmla="*/ 380210 w 609763"/>
                <a:gd name="connsiteY60" fmla="*/ 577401 h 580760"/>
                <a:gd name="connsiteX61" fmla="*/ 311456 w 609763"/>
                <a:gd name="connsiteY61" fmla="*/ 545743 h 580760"/>
                <a:gd name="connsiteX62" fmla="*/ 307527 w 609763"/>
                <a:gd name="connsiteY62" fmla="*/ 534537 h 580760"/>
                <a:gd name="connsiteX63" fmla="*/ 321559 w 609763"/>
                <a:gd name="connsiteY63" fmla="*/ 504561 h 580760"/>
                <a:gd name="connsiteX64" fmla="*/ 317069 w 609763"/>
                <a:gd name="connsiteY64" fmla="*/ 488312 h 580760"/>
                <a:gd name="connsiteX65" fmla="*/ 305282 w 609763"/>
                <a:gd name="connsiteY65" fmla="*/ 486631 h 580760"/>
                <a:gd name="connsiteX66" fmla="*/ 273852 w 609763"/>
                <a:gd name="connsiteY66" fmla="*/ 498397 h 580760"/>
                <a:gd name="connsiteX67" fmla="*/ 263188 w 609763"/>
                <a:gd name="connsiteY67" fmla="*/ 493355 h 580760"/>
                <a:gd name="connsiteX68" fmla="*/ 236809 w 609763"/>
                <a:gd name="connsiteY68" fmla="*/ 422756 h 580760"/>
                <a:gd name="connsiteX69" fmla="*/ 241861 w 609763"/>
                <a:gd name="connsiteY69" fmla="*/ 411830 h 580760"/>
                <a:gd name="connsiteX70" fmla="*/ 273291 w 609763"/>
                <a:gd name="connsiteY70" fmla="*/ 400344 h 580760"/>
                <a:gd name="connsiteX71" fmla="*/ 281429 w 609763"/>
                <a:gd name="connsiteY71" fmla="*/ 385776 h 580760"/>
                <a:gd name="connsiteX72" fmla="*/ 274133 w 609763"/>
                <a:gd name="connsiteY72" fmla="*/ 376530 h 580760"/>
                <a:gd name="connsiteX73" fmla="*/ 243825 w 609763"/>
                <a:gd name="connsiteY73" fmla="*/ 362523 h 580760"/>
                <a:gd name="connsiteX74" fmla="*/ 239896 w 609763"/>
                <a:gd name="connsiteY74" fmla="*/ 351317 h 580760"/>
                <a:gd name="connsiteX75" fmla="*/ 271327 w 609763"/>
                <a:gd name="connsiteY75" fmla="*/ 282959 h 580760"/>
                <a:gd name="connsiteX76" fmla="*/ 282552 w 609763"/>
                <a:gd name="connsiteY76" fmla="*/ 278757 h 580760"/>
                <a:gd name="connsiteX77" fmla="*/ 312859 w 609763"/>
                <a:gd name="connsiteY77" fmla="*/ 292764 h 580760"/>
                <a:gd name="connsiteX78" fmla="*/ 328855 w 609763"/>
                <a:gd name="connsiteY78" fmla="*/ 288282 h 580760"/>
                <a:gd name="connsiteX79" fmla="*/ 330539 w 609763"/>
                <a:gd name="connsiteY79" fmla="*/ 276796 h 580760"/>
                <a:gd name="connsiteX80" fmla="*/ 318752 w 609763"/>
                <a:gd name="connsiteY80" fmla="*/ 245418 h 580760"/>
                <a:gd name="connsiteX81" fmla="*/ 323804 w 609763"/>
                <a:gd name="connsiteY81" fmla="*/ 234492 h 580760"/>
                <a:gd name="connsiteX82" fmla="*/ 69048 w 609763"/>
                <a:gd name="connsiteY82" fmla="*/ 187422 h 580760"/>
                <a:gd name="connsiteX83" fmla="*/ 84749 w 609763"/>
                <a:gd name="connsiteY83" fmla="*/ 203123 h 580760"/>
                <a:gd name="connsiteX84" fmla="*/ 69048 w 609763"/>
                <a:gd name="connsiteY84" fmla="*/ 218824 h 580760"/>
                <a:gd name="connsiteX85" fmla="*/ 53347 w 609763"/>
                <a:gd name="connsiteY85" fmla="*/ 203123 h 580760"/>
                <a:gd name="connsiteX86" fmla="*/ 69048 w 609763"/>
                <a:gd name="connsiteY86" fmla="*/ 187422 h 580760"/>
                <a:gd name="connsiteX87" fmla="*/ 70434 w 609763"/>
                <a:gd name="connsiteY87" fmla="*/ 0 h 580760"/>
                <a:gd name="connsiteX88" fmla="*/ 409976 w 609763"/>
                <a:gd name="connsiteY88" fmla="*/ 0 h 580760"/>
                <a:gd name="connsiteX89" fmla="*/ 436635 w 609763"/>
                <a:gd name="connsiteY89" fmla="*/ 21853 h 580760"/>
                <a:gd name="connsiteX90" fmla="*/ 480130 w 609763"/>
                <a:gd name="connsiteY90" fmla="*/ 180149 h 580760"/>
                <a:gd name="connsiteX91" fmla="*/ 480410 w 609763"/>
                <a:gd name="connsiteY91" fmla="*/ 181270 h 580760"/>
                <a:gd name="connsiteX92" fmla="*/ 480410 w 609763"/>
                <a:gd name="connsiteY92" fmla="*/ 192196 h 580760"/>
                <a:gd name="connsiteX93" fmla="*/ 475920 w 609763"/>
                <a:gd name="connsiteY93" fmla="*/ 189955 h 580760"/>
                <a:gd name="connsiteX94" fmla="*/ 458522 w 609763"/>
                <a:gd name="connsiteY94" fmla="*/ 187713 h 580760"/>
                <a:gd name="connsiteX95" fmla="*/ 458522 w 609763"/>
                <a:gd name="connsiteY95" fmla="*/ 181270 h 580760"/>
                <a:gd name="connsiteX96" fmla="*/ 436635 w 609763"/>
                <a:gd name="connsiteY96" fmla="*/ 159697 h 580760"/>
                <a:gd name="connsiteX97" fmla="*/ 43775 w 609763"/>
                <a:gd name="connsiteY97" fmla="*/ 159697 h 580760"/>
                <a:gd name="connsiteX98" fmla="*/ 21888 w 609763"/>
                <a:gd name="connsiteY98" fmla="*/ 181270 h 580760"/>
                <a:gd name="connsiteX99" fmla="*/ 21888 w 609763"/>
                <a:gd name="connsiteY99" fmla="*/ 224977 h 580760"/>
                <a:gd name="connsiteX100" fmla="*/ 43775 w 609763"/>
                <a:gd name="connsiteY100" fmla="*/ 246830 h 580760"/>
                <a:gd name="connsiteX101" fmla="*/ 295486 w 609763"/>
                <a:gd name="connsiteY101" fmla="*/ 246830 h 580760"/>
                <a:gd name="connsiteX102" fmla="*/ 296889 w 609763"/>
                <a:gd name="connsiteY102" fmla="*/ 253274 h 580760"/>
                <a:gd name="connsiteX103" fmla="*/ 299976 w 609763"/>
                <a:gd name="connsiteY103" fmla="*/ 261118 h 580760"/>
                <a:gd name="connsiteX104" fmla="*/ 292119 w 609763"/>
                <a:gd name="connsiteY104" fmla="*/ 257756 h 580760"/>
                <a:gd name="connsiteX105" fmla="*/ 250307 w 609763"/>
                <a:gd name="connsiteY105" fmla="*/ 273166 h 580760"/>
                <a:gd name="connsiteX106" fmla="*/ 238241 w 609763"/>
                <a:gd name="connsiteY106" fmla="*/ 299222 h 580760"/>
                <a:gd name="connsiteX107" fmla="*/ 43775 w 609763"/>
                <a:gd name="connsiteY107" fmla="*/ 299222 h 580760"/>
                <a:gd name="connsiteX108" fmla="*/ 21888 w 609763"/>
                <a:gd name="connsiteY108" fmla="*/ 321075 h 580760"/>
                <a:gd name="connsiteX109" fmla="*/ 21888 w 609763"/>
                <a:gd name="connsiteY109" fmla="*/ 364781 h 580760"/>
                <a:gd name="connsiteX110" fmla="*/ 43775 w 609763"/>
                <a:gd name="connsiteY110" fmla="*/ 386634 h 580760"/>
                <a:gd name="connsiteX111" fmla="*/ 240486 w 609763"/>
                <a:gd name="connsiteY111" fmla="*/ 386634 h 580760"/>
                <a:gd name="connsiteX112" fmla="*/ 241889 w 609763"/>
                <a:gd name="connsiteY112" fmla="*/ 387195 h 580760"/>
                <a:gd name="connsiteX113" fmla="*/ 233751 w 609763"/>
                <a:gd name="connsiteY113" fmla="*/ 389997 h 580760"/>
                <a:gd name="connsiteX114" fmla="*/ 214950 w 609763"/>
                <a:gd name="connsiteY114" fmla="*/ 430621 h 580760"/>
                <a:gd name="connsiteX115" fmla="*/ 218317 w 609763"/>
                <a:gd name="connsiteY115" fmla="*/ 439026 h 580760"/>
                <a:gd name="connsiteX116" fmla="*/ 43775 w 609763"/>
                <a:gd name="connsiteY116" fmla="*/ 439026 h 580760"/>
                <a:gd name="connsiteX117" fmla="*/ 21888 w 609763"/>
                <a:gd name="connsiteY117" fmla="*/ 460879 h 580760"/>
                <a:gd name="connsiteX118" fmla="*/ 21888 w 609763"/>
                <a:gd name="connsiteY118" fmla="*/ 504586 h 580760"/>
                <a:gd name="connsiteX119" fmla="*/ 43775 w 609763"/>
                <a:gd name="connsiteY119" fmla="*/ 526439 h 580760"/>
                <a:gd name="connsiteX120" fmla="*/ 285945 w 609763"/>
                <a:gd name="connsiteY120" fmla="*/ 526439 h 580760"/>
                <a:gd name="connsiteX121" fmla="*/ 285103 w 609763"/>
                <a:gd name="connsiteY121" fmla="*/ 548012 h 580760"/>
                <a:gd name="connsiteX122" fmla="*/ 43775 w 609763"/>
                <a:gd name="connsiteY122" fmla="*/ 548012 h 580760"/>
                <a:gd name="connsiteX123" fmla="*/ 0 w 609763"/>
                <a:gd name="connsiteY123" fmla="*/ 504586 h 580760"/>
                <a:gd name="connsiteX124" fmla="*/ 0 w 609763"/>
                <a:gd name="connsiteY124" fmla="*/ 460879 h 580760"/>
                <a:gd name="connsiteX125" fmla="*/ 280 w 609763"/>
                <a:gd name="connsiteY125" fmla="*/ 459479 h 580760"/>
                <a:gd name="connsiteX126" fmla="*/ 11505 w 609763"/>
                <a:gd name="connsiteY126" fmla="*/ 394199 h 580760"/>
                <a:gd name="connsiteX127" fmla="*/ 0 w 609763"/>
                <a:gd name="connsiteY127" fmla="*/ 364781 h 580760"/>
                <a:gd name="connsiteX128" fmla="*/ 0 w 609763"/>
                <a:gd name="connsiteY128" fmla="*/ 321075 h 580760"/>
                <a:gd name="connsiteX129" fmla="*/ 280 w 609763"/>
                <a:gd name="connsiteY129" fmla="*/ 319954 h 580760"/>
                <a:gd name="connsiteX130" fmla="*/ 11505 w 609763"/>
                <a:gd name="connsiteY130" fmla="*/ 254394 h 580760"/>
                <a:gd name="connsiteX131" fmla="*/ 0 w 609763"/>
                <a:gd name="connsiteY131" fmla="*/ 224977 h 580760"/>
                <a:gd name="connsiteX132" fmla="*/ 0 w 609763"/>
                <a:gd name="connsiteY132" fmla="*/ 181270 h 580760"/>
                <a:gd name="connsiteX133" fmla="*/ 280 w 609763"/>
                <a:gd name="connsiteY133" fmla="*/ 180149 h 580760"/>
                <a:gd name="connsiteX134" fmla="*/ 43775 w 609763"/>
                <a:gd name="connsiteY134" fmla="*/ 21853 h 580760"/>
                <a:gd name="connsiteX135" fmla="*/ 70434 w 609763"/>
                <a:gd name="connsiteY135" fmla="*/ 0 h 580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609763" h="580760">
                  <a:moveTo>
                    <a:pt x="69048" y="467002"/>
                  </a:moveTo>
                  <a:cubicBezTo>
                    <a:pt x="77719" y="467002"/>
                    <a:pt x="84749" y="474032"/>
                    <a:pt x="84749" y="482703"/>
                  </a:cubicBezTo>
                  <a:cubicBezTo>
                    <a:pt x="84749" y="491374"/>
                    <a:pt x="77719" y="498404"/>
                    <a:pt x="69048" y="498404"/>
                  </a:cubicBezTo>
                  <a:cubicBezTo>
                    <a:pt x="60377" y="498404"/>
                    <a:pt x="53347" y="491374"/>
                    <a:pt x="53347" y="482703"/>
                  </a:cubicBezTo>
                  <a:cubicBezTo>
                    <a:pt x="53347" y="474032"/>
                    <a:pt x="60377" y="467002"/>
                    <a:pt x="69048" y="467002"/>
                  </a:cubicBezTo>
                  <a:close/>
                  <a:moveTo>
                    <a:pt x="69048" y="327212"/>
                  </a:moveTo>
                  <a:cubicBezTo>
                    <a:pt x="77719" y="327212"/>
                    <a:pt x="84749" y="334242"/>
                    <a:pt x="84749" y="342913"/>
                  </a:cubicBezTo>
                  <a:cubicBezTo>
                    <a:pt x="84749" y="351584"/>
                    <a:pt x="77719" y="358614"/>
                    <a:pt x="69048" y="358614"/>
                  </a:cubicBezTo>
                  <a:cubicBezTo>
                    <a:pt x="60377" y="358614"/>
                    <a:pt x="53347" y="351584"/>
                    <a:pt x="53347" y="342913"/>
                  </a:cubicBezTo>
                  <a:cubicBezTo>
                    <a:pt x="53347" y="334242"/>
                    <a:pt x="60377" y="327212"/>
                    <a:pt x="69048" y="327212"/>
                  </a:cubicBezTo>
                  <a:close/>
                  <a:moveTo>
                    <a:pt x="443351" y="299768"/>
                  </a:moveTo>
                  <a:cubicBezTo>
                    <a:pt x="408273" y="295286"/>
                    <a:pt x="381894" y="303130"/>
                    <a:pt x="370388" y="324702"/>
                  </a:cubicBezTo>
                  <a:cubicBezTo>
                    <a:pt x="358882" y="346274"/>
                    <a:pt x="358040" y="365324"/>
                    <a:pt x="358882" y="368686"/>
                  </a:cubicBezTo>
                  <a:cubicBezTo>
                    <a:pt x="359724" y="372328"/>
                    <a:pt x="363653" y="378772"/>
                    <a:pt x="363653" y="378772"/>
                  </a:cubicBezTo>
                  <a:cubicBezTo>
                    <a:pt x="363653" y="378772"/>
                    <a:pt x="345973" y="405947"/>
                    <a:pt x="347096" y="410429"/>
                  </a:cubicBezTo>
                  <a:cubicBezTo>
                    <a:pt x="348218" y="414912"/>
                    <a:pt x="360285" y="417153"/>
                    <a:pt x="360285" y="417153"/>
                  </a:cubicBezTo>
                  <a:cubicBezTo>
                    <a:pt x="360285" y="417153"/>
                    <a:pt x="361408" y="420234"/>
                    <a:pt x="359163" y="426118"/>
                  </a:cubicBezTo>
                  <a:cubicBezTo>
                    <a:pt x="356918" y="432281"/>
                    <a:pt x="363372" y="439005"/>
                    <a:pt x="365056" y="441526"/>
                  </a:cubicBezTo>
                  <a:cubicBezTo>
                    <a:pt x="367020" y="444048"/>
                    <a:pt x="362530" y="451332"/>
                    <a:pt x="363933" y="455534"/>
                  </a:cubicBezTo>
                  <a:cubicBezTo>
                    <a:pt x="365617" y="459736"/>
                    <a:pt x="372913" y="464779"/>
                    <a:pt x="381332" y="463658"/>
                  </a:cubicBezTo>
                  <a:cubicBezTo>
                    <a:pt x="389470" y="462818"/>
                    <a:pt x="400415" y="460857"/>
                    <a:pt x="404063" y="460016"/>
                  </a:cubicBezTo>
                  <a:cubicBezTo>
                    <a:pt x="412482" y="479907"/>
                    <a:pt x="392277" y="489993"/>
                    <a:pt x="392277" y="489993"/>
                  </a:cubicBezTo>
                  <a:lnTo>
                    <a:pt x="499476" y="489993"/>
                  </a:lnTo>
                  <a:cubicBezTo>
                    <a:pt x="499476" y="489993"/>
                    <a:pt x="468327" y="465059"/>
                    <a:pt x="468888" y="437884"/>
                  </a:cubicBezTo>
                  <a:cubicBezTo>
                    <a:pt x="469169" y="422476"/>
                    <a:pt x="499476" y="403145"/>
                    <a:pt x="499196" y="360842"/>
                  </a:cubicBezTo>
                  <a:cubicBezTo>
                    <a:pt x="499196" y="339550"/>
                    <a:pt x="478429" y="304251"/>
                    <a:pt x="443351" y="299768"/>
                  </a:cubicBezTo>
                  <a:close/>
                  <a:moveTo>
                    <a:pt x="394522" y="208438"/>
                  </a:moveTo>
                  <a:cubicBezTo>
                    <a:pt x="399012" y="206757"/>
                    <a:pt x="403782" y="208998"/>
                    <a:pt x="405466" y="213481"/>
                  </a:cubicBezTo>
                  <a:lnTo>
                    <a:pt x="416972" y="244578"/>
                  </a:lnTo>
                  <a:cubicBezTo>
                    <a:pt x="418656" y="249060"/>
                    <a:pt x="428478" y="252702"/>
                    <a:pt x="431845" y="252702"/>
                  </a:cubicBezTo>
                  <a:cubicBezTo>
                    <a:pt x="434932" y="252983"/>
                    <a:pt x="439141" y="249621"/>
                    <a:pt x="441106" y="245699"/>
                  </a:cubicBezTo>
                  <a:lnTo>
                    <a:pt x="455137" y="215162"/>
                  </a:lnTo>
                  <a:cubicBezTo>
                    <a:pt x="456821" y="211240"/>
                    <a:pt x="461872" y="209279"/>
                    <a:pt x="466082" y="211240"/>
                  </a:cubicBezTo>
                  <a:lnTo>
                    <a:pt x="534555" y="242617"/>
                  </a:lnTo>
                  <a:cubicBezTo>
                    <a:pt x="538764" y="244578"/>
                    <a:pt x="540728" y="249621"/>
                    <a:pt x="538764" y="253823"/>
                  </a:cubicBezTo>
                  <a:lnTo>
                    <a:pt x="524733" y="284080"/>
                  </a:lnTo>
                  <a:cubicBezTo>
                    <a:pt x="522768" y="288282"/>
                    <a:pt x="527258" y="297807"/>
                    <a:pt x="529223" y="300329"/>
                  </a:cubicBezTo>
                  <a:cubicBezTo>
                    <a:pt x="531468" y="302570"/>
                    <a:pt x="536519" y="303410"/>
                    <a:pt x="541009" y="301729"/>
                  </a:cubicBezTo>
                  <a:lnTo>
                    <a:pt x="572439" y="290243"/>
                  </a:lnTo>
                  <a:cubicBezTo>
                    <a:pt x="576649" y="288562"/>
                    <a:pt x="581700" y="290803"/>
                    <a:pt x="583103" y="295286"/>
                  </a:cubicBezTo>
                  <a:lnTo>
                    <a:pt x="609201" y="365885"/>
                  </a:lnTo>
                  <a:cubicBezTo>
                    <a:pt x="610885" y="370087"/>
                    <a:pt x="608640" y="375130"/>
                    <a:pt x="604431" y="376530"/>
                  </a:cubicBezTo>
                  <a:lnTo>
                    <a:pt x="573001" y="388297"/>
                  </a:lnTo>
                  <a:cubicBezTo>
                    <a:pt x="568511" y="389698"/>
                    <a:pt x="565143" y="393620"/>
                    <a:pt x="565143" y="396982"/>
                  </a:cubicBezTo>
                  <a:cubicBezTo>
                    <a:pt x="565143" y="400063"/>
                    <a:pt x="567949" y="410149"/>
                    <a:pt x="572159" y="412110"/>
                  </a:cubicBezTo>
                  <a:lnTo>
                    <a:pt x="602466" y="426118"/>
                  </a:lnTo>
                  <a:cubicBezTo>
                    <a:pt x="606676" y="428079"/>
                    <a:pt x="608360" y="433122"/>
                    <a:pt x="606395" y="437044"/>
                  </a:cubicBezTo>
                  <a:lnTo>
                    <a:pt x="574965" y="505681"/>
                  </a:lnTo>
                  <a:cubicBezTo>
                    <a:pt x="573001" y="509884"/>
                    <a:pt x="567949" y="511565"/>
                    <a:pt x="563740" y="509604"/>
                  </a:cubicBezTo>
                  <a:lnTo>
                    <a:pt x="533432" y="495596"/>
                  </a:lnTo>
                  <a:cubicBezTo>
                    <a:pt x="529223" y="493915"/>
                    <a:pt x="519681" y="498117"/>
                    <a:pt x="517156" y="500358"/>
                  </a:cubicBezTo>
                  <a:cubicBezTo>
                    <a:pt x="514911" y="502320"/>
                    <a:pt x="514069" y="507642"/>
                    <a:pt x="515753" y="511845"/>
                  </a:cubicBezTo>
                  <a:lnTo>
                    <a:pt x="527258" y="543222"/>
                  </a:lnTo>
                  <a:cubicBezTo>
                    <a:pt x="528942" y="547704"/>
                    <a:pt x="526697" y="552467"/>
                    <a:pt x="522488" y="554148"/>
                  </a:cubicBezTo>
                  <a:lnTo>
                    <a:pt x="451489" y="580202"/>
                  </a:lnTo>
                  <a:cubicBezTo>
                    <a:pt x="447280" y="581883"/>
                    <a:pt x="442228" y="579642"/>
                    <a:pt x="440825" y="575160"/>
                  </a:cubicBezTo>
                  <a:lnTo>
                    <a:pt x="429320" y="543782"/>
                  </a:lnTo>
                  <a:cubicBezTo>
                    <a:pt x="427636" y="539580"/>
                    <a:pt x="417814" y="535938"/>
                    <a:pt x="414727" y="535658"/>
                  </a:cubicBezTo>
                  <a:cubicBezTo>
                    <a:pt x="411359" y="535658"/>
                    <a:pt x="407150" y="538740"/>
                    <a:pt x="405186" y="542942"/>
                  </a:cubicBezTo>
                  <a:lnTo>
                    <a:pt x="391154" y="573198"/>
                  </a:lnTo>
                  <a:cubicBezTo>
                    <a:pt x="389470" y="577401"/>
                    <a:pt x="384419" y="579362"/>
                    <a:pt x="380210" y="577401"/>
                  </a:cubicBezTo>
                  <a:lnTo>
                    <a:pt x="311456" y="545743"/>
                  </a:lnTo>
                  <a:cubicBezTo>
                    <a:pt x="307527" y="543782"/>
                    <a:pt x="305563" y="538740"/>
                    <a:pt x="307527" y="534537"/>
                  </a:cubicBezTo>
                  <a:lnTo>
                    <a:pt x="321559" y="504561"/>
                  </a:lnTo>
                  <a:cubicBezTo>
                    <a:pt x="323523" y="500078"/>
                    <a:pt x="319033" y="490833"/>
                    <a:pt x="317069" y="488312"/>
                  </a:cubicBezTo>
                  <a:cubicBezTo>
                    <a:pt x="314824" y="485790"/>
                    <a:pt x="309492" y="485230"/>
                    <a:pt x="305282" y="486631"/>
                  </a:cubicBezTo>
                  <a:lnTo>
                    <a:pt x="273852" y="498397"/>
                  </a:lnTo>
                  <a:cubicBezTo>
                    <a:pt x="269643" y="500078"/>
                    <a:pt x="264591" y="497557"/>
                    <a:pt x="263188" y="493355"/>
                  </a:cubicBezTo>
                  <a:lnTo>
                    <a:pt x="236809" y="422756"/>
                  </a:lnTo>
                  <a:cubicBezTo>
                    <a:pt x="235406" y="418273"/>
                    <a:pt x="237651" y="413511"/>
                    <a:pt x="241861" y="411830"/>
                  </a:cubicBezTo>
                  <a:lnTo>
                    <a:pt x="273291" y="400344"/>
                  </a:lnTo>
                  <a:cubicBezTo>
                    <a:pt x="277500" y="398663"/>
                    <a:pt x="281148" y="388857"/>
                    <a:pt x="281429" y="385776"/>
                  </a:cubicBezTo>
                  <a:cubicBezTo>
                    <a:pt x="281710" y="382694"/>
                    <a:pt x="278342" y="378211"/>
                    <a:pt x="274133" y="376530"/>
                  </a:cubicBezTo>
                  <a:lnTo>
                    <a:pt x="243825" y="362523"/>
                  </a:lnTo>
                  <a:cubicBezTo>
                    <a:pt x="239616" y="360562"/>
                    <a:pt x="237932" y="355519"/>
                    <a:pt x="239896" y="351317"/>
                  </a:cubicBezTo>
                  <a:lnTo>
                    <a:pt x="271327" y="282959"/>
                  </a:lnTo>
                  <a:cubicBezTo>
                    <a:pt x="273291" y="278757"/>
                    <a:pt x="278342" y="277076"/>
                    <a:pt x="282552" y="278757"/>
                  </a:cubicBezTo>
                  <a:lnTo>
                    <a:pt x="312859" y="292764"/>
                  </a:lnTo>
                  <a:cubicBezTo>
                    <a:pt x="317069" y="294726"/>
                    <a:pt x="326610" y="290243"/>
                    <a:pt x="328855" y="288282"/>
                  </a:cubicBezTo>
                  <a:cubicBezTo>
                    <a:pt x="331381" y="286321"/>
                    <a:pt x="331942" y="280998"/>
                    <a:pt x="330539" y="276796"/>
                  </a:cubicBezTo>
                  <a:lnTo>
                    <a:pt x="318752" y="245418"/>
                  </a:lnTo>
                  <a:cubicBezTo>
                    <a:pt x="317349" y="240936"/>
                    <a:pt x="319594" y="236173"/>
                    <a:pt x="323804" y="234492"/>
                  </a:cubicBezTo>
                  <a:close/>
                  <a:moveTo>
                    <a:pt x="69048" y="187422"/>
                  </a:moveTo>
                  <a:cubicBezTo>
                    <a:pt x="77719" y="187422"/>
                    <a:pt x="84749" y="194452"/>
                    <a:pt x="84749" y="203123"/>
                  </a:cubicBezTo>
                  <a:cubicBezTo>
                    <a:pt x="84749" y="211794"/>
                    <a:pt x="77719" y="218824"/>
                    <a:pt x="69048" y="218824"/>
                  </a:cubicBezTo>
                  <a:cubicBezTo>
                    <a:pt x="60377" y="218824"/>
                    <a:pt x="53347" y="211794"/>
                    <a:pt x="53347" y="203123"/>
                  </a:cubicBezTo>
                  <a:cubicBezTo>
                    <a:pt x="53347" y="194452"/>
                    <a:pt x="60377" y="187422"/>
                    <a:pt x="69048" y="187422"/>
                  </a:cubicBezTo>
                  <a:close/>
                  <a:moveTo>
                    <a:pt x="70434" y="0"/>
                  </a:moveTo>
                  <a:lnTo>
                    <a:pt x="409976" y="0"/>
                  </a:lnTo>
                  <a:cubicBezTo>
                    <a:pt x="423165" y="0"/>
                    <a:pt x="435231" y="9806"/>
                    <a:pt x="436635" y="21853"/>
                  </a:cubicBezTo>
                  <a:lnTo>
                    <a:pt x="480130" y="180149"/>
                  </a:lnTo>
                  <a:cubicBezTo>
                    <a:pt x="480130" y="180429"/>
                    <a:pt x="480410" y="180989"/>
                    <a:pt x="480410" y="181270"/>
                  </a:cubicBezTo>
                  <a:lnTo>
                    <a:pt x="480410" y="192196"/>
                  </a:lnTo>
                  <a:lnTo>
                    <a:pt x="475920" y="189955"/>
                  </a:lnTo>
                  <a:cubicBezTo>
                    <a:pt x="470308" y="187433"/>
                    <a:pt x="464415" y="186873"/>
                    <a:pt x="458522" y="187713"/>
                  </a:cubicBezTo>
                  <a:lnTo>
                    <a:pt x="458522" y="181270"/>
                  </a:lnTo>
                  <a:cubicBezTo>
                    <a:pt x="458522" y="169502"/>
                    <a:pt x="448701" y="159697"/>
                    <a:pt x="436635" y="159697"/>
                  </a:cubicBezTo>
                  <a:lnTo>
                    <a:pt x="43775" y="159697"/>
                  </a:lnTo>
                  <a:cubicBezTo>
                    <a:pt x="31709" y="159697"/>
                    <a:pt x="21888" y="169502"/>
                    <a:pt x="21888" y="181270"/>
                  </a:cubicBezTo>
                  <a:lnTo>
                    <a:pt x="21888" y="224977"/>
                  </a:lnTo>
                  <a:cubicBezTo>
                    <a:pt x="21888" y="237024"/>
                    <a:pt x="31709" y="246830"/>
                    <a:pt x="43775" y="246830"/>
                  </a:cubicBezTo>
                  <a:lnTo>
                    <a:pt x="295486" y="246830"/>
                  </a:lnTo>
                  <a:cubicBezTo>
                    <a:pt x="295767" y="249071"/>
                    <a:pt x="296328" y="251312"/>
                    <a:pt x="296889" y="253274"/>
                  </a:cubicBezTo>
                  <a:lnTo>
                    <a:pt x="299976" y="261118"/>
                  </a:lnTo>
                  <a:lnTo>
                    <a:pt x="292119" y="257756"/>
                  </a:lnTo>
                  <a:cubicBezTo>
                    <a:pt x="276685" y="250752"/>
                    <a:pt x="257323" y="258037"/>
                    <a:pt x="250307" y="273166"/>
                  </a:cubicBezTo>
                  <a:lnTo>
                    <a:pt x="238241" y="299222"/>
                  </a:lnTo>
                  <a:lnTo>
                    <a:pt x="43775" y="299222"/>
                  </a:lnTo>
                  <a:cubicBezTo>
                    <a:pt x="31709" y="299222"/>
                    <a:pt x="21888" y="309027"/>
                    <a:pt x="21888" y="321075"/>
                  </a:cubicBezTo>
                  <a:lnTo>
                    <a:pt x="21888" y="364781"/>
                  </a:lnTo>
                  <a:cubicBezTo>
                    <a:pt x="21888" y="376829"/>
                    <a:pt x="31709" y="386634"/>
                    <a:pt x="43775" y="386634"/>
                  </a:cubicBezTo>
                  <a:lnTo>
                    <a:pt x="240486" y="386634"/>
                  </a:lnTo>
                  <a:lnTo>
                    <a:pt x="241889" y="387195"/>
                  </a:lnTo>
                  <a:lnTo>
                    <a:pt x="233751" y="389997"/>
                  </a:lnTo>
                  <a:cubicBezTo>
                    <a:pt x="217756" y="396160"/>
                    <a:pt x="209337" y="414091"/>
                    <a:pt x="214950" y="430621"/>
                  </a:cubicBezTo>
                  <a:lnTo>
                    <a:pt x="218317" y="439026"/>
                  </a:lnTo>
                  <a:lnTo>
                    <a:pt x="43775" y="439026"/>
                  </a:lnTo>
                  <a:cubicBezTo>
                    <a:pt x="31709" y="439026"/>
                    <a:pt x="21888" y="448832"/>
                    <a:pt x="21888" y="460879"/>
                  </a:cubicBezTo>
                  <a:lnTo>
                    <a:pt x="21888" y="504586"/>
                  </a:lnTo>
                  <a:cubicBezTo>
                    <a:pt x="21888" y="516633"/>
                    <a:pt x="31709" y="526439"/>
                    <a:pt x="43775" y="526439"/>
                  </a:cubicBezTo>
                  <a:lnTo>
                    <a:pt x="285945" y="526439"/>
                  </a:lnTo>
                  <a:cubicBezTo>
                    <a:pt x="283139" y="533163"/>
                    <a:pt x="282858" y="540728"/>
                    <a:pt x="285103" y="548012"/>
                  </a:cubicBezTo>
                  <a:lnTo>
                    <a:pt x="43775" y="548012"/>
                  </a:lnTo>
                  <a:cubicBezTo>
                    <a:pt x="19643" y="548012"/>
                    <a:pt x="0" y="528681"/>
                    <a:pt x="0" y="504586"/>
                  </a:cubicBezTo>
                  <a:lnTo>
                    <a:pt x="0" y="460879"/>
                  </a:lnTo>
                  <a:cubicBezTo>
                    <a:pt x="0" y="460319"/>
                    <a:pt x="280" y="460039"/>
                    <a:pt x="280" y="459479"/>
                  </a:cubicBezTo>
                  <a:lnTo>
                    <a:pt x="11505" y="394199"/>
                  </a:lnTo>
                  <a:cubicBezTo>
                    <a:pt x="4490" y="386354"/>
                    <a:pt x="0" y="375988"/>
                    <a:pt x="0" y="364781"/>
                  </a:cubicBezTo>
                  <a:lnTo>
                    <a:pt x="0" y="321075"/>
                  </a:lnTo>
                  <a:cubicBezTo>
                    <a:pt x="0" y="320795"/>
                    <a:pt x="280" y="320234"/>
                    <a:pt x="280" y="319954"/>
                  </a:cubicBezTo>
                  <a:lnTo>
                    <a:pt x="11505" y="254394"/>
                  </a:lnTo>
                  <a:cubicBezTo>
                    <a:pt x="4490" y="246550"/>
                    <a:pt x="0" y="236183"/>
                    <a:pt x="0" y="224977"/>
                  </a:cubicBezTo>
                  <a:lnTo>
                    <a:pt x="0" y="181270"/>
                  </a:lnTo>
                  <a:cubicBezTo>
                    <a:pt x="0" y="180989"/>
                    <a:pt x="280" y="180429"/>
                    <a:pt x="280" y="180149"/>
                  </a:cubicBezTo>
                  <a:lnTo>
                    <a:pt x="43775" y="21853"/>
                  </a:lnTo>
                  <a:cubicBezTo>
                    <a:pt x="45178" y="9806"/>
                    <a:pt x="56964" y="0"/>
                    <a:pt x="70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42" name="TextBox 7">
            <a:extLst>
              <a:ext uri="{FF2B5EF4-FFF2-40B4-BE49-F238E27FC236}">
                <a16:creationId xmlns:a16="http://schemas.microsoft.com/office/drawing/2014/main" id="{F55B0A54-ADD2-2DB9-353E-78ABB0571831}"/>
              </a:ext>
            </a:extLst>
          </p:cNvPr>
          <p:cNvSpPr txBox="1"/>
          <p:nvPr/>
        </p:nvSpPr>
        <p:spPr>
          <a:xfrm>
            <a:off x="481793" y="426282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03.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项目实践</a:t>
            </a:r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703BB57-A3DF-107A-2EAB-6DD4F7A4D949}"/>
              </a:ext>
            </a:extLst>
          </p:cNvPr>
          <p:cNvSpPr/>
          <p:nvPr/>
        </p:nvSpPr>
        <p:spPr>
          <a:xfrm>
            <a:off x="4115795" y="709110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>
              <a:defRPr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实时日志告警系统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A87E038-FF61-81E7-8C14-E789EB282C83}"/>
              </a:ext>
            </a:extLst>
          </p:cNvPr>
          <p:cNvSpPr/>
          <p:nvPr/>
        </p:nvSpPr>
        <p:spPr>
          <a:xfrm>
            <a:off x="4264761" y="1167973"/>
            <a:ext cx="2270509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zh-CN" altLang="en-US">
              <a:solidFill>
                <a:prstClr val="black">
                  <a:lumMod val="65000"/>
                  <a:lumOff val="35000"/>
                </a:prstClr>
              </a:solidFill>
              <a:latin typeface="Source Han Serif SC" panose="02020700000000000000" pitchFamily="18" charset="-122"/>
              <a:ea typeface="Source Han Serif SC" panose="02020700000000000000" pitchFamily="18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1FEE4C1-103E-6064-2F6C-737F6362E813}"/>
              </a:ext>
            </a:extLst>
          </p:cNvPr>
          <p:cNvSpPr txBox="1"/>
          <p:nvPr/>
        </p:nvSpPr>
        <p:spPr>
          <a:xfrm>
            <a:off x="9336591" y="380686"/>
            <a:ext cx="25735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JDK 1.8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运行环境</a:t>
            </a:r>
          </a:p>
          <a:p>
            <a:pPr algn="l">
              <a:buFont typeface="+mj-lt"/>
              <a:buAutoNum type="arabicPeriod"/>
            </a:pPr>
            <a:r>
              <a:rPr lang="en-US" altLang="zh-CN" b="1" i="0" dirty="0" err="1">
                <a:solidFill>
                  <a:srgbClr val="0F1115"/>
                </a:solidFill>
                <a:effectLst/>
                <a:latin typeface="quote-cjk-patch"/>
              </a:rPr>
              <a:t>ZooKeeper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协调服务</a:t>
            </a:r>
          </a:p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Kafka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消息队列</a:t>
            </a:r>
          </a:p>
          <a:p>
            <a:pPr algn="l">
              <a:buFont typeface="+mj-lt"/>
              <a:buAutoNum type="arabicPeriod"/>
            </a:pPr>
            <a:r>
              <a:rPr lang="en-US" altLang="zh-CN" b="1" i="0" dirty="0" err="1">
                <a:solidFill>
                  <a:srgbClr val="0F1115"/>
                </a:solidFill>
                <a:effectLst/>
                <a:latin typeface="quote-cjk-patch"/>
              </a:rPr>
              <a:t>Flink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流处理引擎</a:t>
            </a:r>
          </a:p>
        </p:txBody>
      </p:sp>
    </p:spTree>
    <p:extLst>
      <p:ext uri="{BB962C8B-B14F-4D97-AF65-F5344CB8AC3E}">
        <p14:creationId xmlns:p14="http://schemas.microsoft.com/office/powerpoint/2010/main" val="4009449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58979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254000" y="984848"/>
            <a:ext cx="3475318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49A46-F0B8-5A18-937A-F718133415E9}"/>
              </a:ext>
            </a:extLst>
          </p:cNvPr>
          <p:cNvSpPr/>
          <p:nvPr/>
        </p:nvSpPr>
        <p:spPr>
          <a:xfrm>
            <a:off x="5854947" y="709110"/>
            <a:ext cx="1806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>
              <a:defRPr/>
            </a:pPr>
            <a:r>
              <a:rPr lang="en-US" altLang="zh-CN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RuleMap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类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2D46CE-5358-627A-A09F-DFF4165CD308}"/>
              </a:ext>
            </a:extLst>
          </p:cNvPr>
          <p:cNvSpPr/>
          <p:nvPr/>
        </p:nvSpPr>
        <p:spPr>
          <a:xfrm>
            <a:off x="5996886" y="1228899"/>
            <a:ext cx="355600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zh-CN" altLang="en-US">
              <a:solidFill>
                <a:prstClr val="black">
                  <a:lumMod val="65000"/>
                  <a:lumOff val="35000"/>
                </a:prstClr>
              </a:solidFill>
              <a:latin typeface="Source Han Serif SC" panose="02020700000000000000" pitchFamily="18" charset="-122"/>
              <a:ea typeface="Source Han Serif SC" panose="02020700000000000000" pitchFamily="18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5837AD0C-259A-6B86-6810-4BDB3773BE98}"/>
              </a:ext>
            </a:extLst>
          </p:cNvPr>
          <p:cNvSpPr txBox="1"/>
          <p:nvPr/>
        </p:nvSpPr>
        <p:spPr>
          <a:xfrm>
            <a:off x="479798" y="392558"/>
            <a:ext cx="3249519" cy="107721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03.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项目实践</a:t>
            </a:r>
          </a:p>
          <a:p>
            <a:pPr algn="dist"/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EEBA4C-DB5A-A7CA-BCA7-F9FFDEA6C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47" y="1620906"/>
            <a:ext cx="5770853" cy="415498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RuleMap 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RuleMap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(){}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AlertRule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&gt;&gt; initialRuleMap;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AlertRule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 ruleList = new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 ruleStringList = new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&lt;&gt;(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Arrays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.asList(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"{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metric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CPU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threshold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:80.0,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CPU使用率过高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}"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"{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metric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MEMORY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threshold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:85.0,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内存使用率过高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}"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"{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metric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DISK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threshold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:90.0,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磁盘使用率过高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}"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"{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metric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CPU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threshold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:5.0,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CPU使用率过低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E45649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}"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ruleJson : ruleStringList) 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    ruleList.add(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.parseObject(ruleJson, 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AlertRule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.class));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initialRuleMap = ruleList.stream().collect(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.groupingBy(AlertRule::getMetric));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5DA32D-5571-30F0-44B5-838A64830A99}"/>
              </a:ext>
            </a:extLst>
          </p:cNvPr>
          <p:cNvSpPr/>
          <p:nvPr/>
        </p:nvSpPr>
        <p:spPr>
          <a:xfrm>
            <a:off x="5996886" y="1724749"/>
            <a:ext cx="1065706" cy="46166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5E19B5-F0A0-F2AB-B360-C3B16956E02A}"/>
              </a:ext>
            </a:extLst>
          </p:cNvPr>
          <p:cNvSpPr/>
          <p:nvPr/>
        </p:nvSpPr>
        <p:spPr>
          <a:xfrm>
            <a:off x="6278727" y="1910455"/>
            <a:ext cx="5007838" cy="28766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b="0" i="0" dirty="0" err="1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RuleMap</a:t>
            </a:r>
            <a:r>
              <a:rPr lang="en-US" altLang="zh-CN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类用于配置告警规则。</a:t>
            </a:r>
            <a:endParaRPr lang="en-US" altLang="zh-CN" b="0" i="0" dirty="0">
              <a:solidFill>
                <a:schemeClr val="tx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它通过静态代码块在类加载时自动初始化，将预定义的</a:t>
            </a:r>
            <a:r>
              <a:rPr lang="en-US" altLang="zh-CN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JSON</a:t>
            </a:r>
            <a:r>
              <a:rPr lang="zh-CN" altLang="en-US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格式规则字符串解析为</a:t>
            </a:r>
            <a:r>
              <a:rPr lang="en-US" altLang="zh-CN" b="0" i="0" dirty="0" err="1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AlertRule</a:t>
            </a:r>
            <a:r>
              <a:rPr lang="zh-CN" altLang="en-US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对象，并按指标类型分组存储。这种设计提供了线程安全的规则配置，为实时告警系统提供快速访问的规则数据源。</a:t>
            </a: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5149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58979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254000" y="984848"/>
            <a:ext cx="3475318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49A46-F0B8-5A18-937A-F718133415E9}"/>
              </a:ext>
            </a:extLst>
          </p:cNvPr>
          <p:cNvSpPr/>
          <p:nvPr/>
        </p:nvSpPr>
        <p:spPr>
          <a:xfrm>
            <a:off x="5854947" y="709110"/>
            <a:ext cx="27515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>
              <a:defRPr/>
            </a:pPr>
            <a:r>
              <a:rPr lang="en-US" altLang="zh-CN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AlertProcessor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 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类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2D46CE-5358-627A-A09F-DFF4165CD308}"/>
              </a:ext>
            </a:extLst>
          </p:cNvPr>
          <p:cNvSpPr/>
          <p:nvPr/>
        </p:nvSpPr>
        <p:spPr>
          <a:xfrm>
            <a:off x="5996886" y="1228899"/>
            <a:ext cx="355600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zh-CN" altLang="en-US">
              <a:solidFill>
                <a:prstClr val="black">
                  <a:lumMod val="65000"/>
                  <a:lumOff val="35000"/>
                </a:prstClr>
              </a:solidFill>
              <a:latin typeface="Source Han Serif SC" panose="02020700000000000000" pitchFamily="18" charset="-122"/>
              <a:ea typeface="Source Han Serif SC" panose="02020700000000000000" pitchFamily="18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5837AD0C-259A-6B86-6810-4BDB3773BE98}"/>
              </a:ext>
            </a:extLst>
          </p:cNvPr>
          <p:cNvSpPr txBox="1"/>
          <p:nvPr/>
        </p:nvSpPr>
        <p:spPr>
          <a:xfrm>
            <a:off x="479798" y="392558"/>
            <a:ext cx="3249519" cy="107721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03.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项目实践</a:t>
            </a:r>
          </a:p>
          <a:p>
            <a:pPr algn="dist"/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5DA32D-5571-30F0-44B5-838A64830A99}"/>
              </a:ext>
            </a:extLst>
          </p:cNvPr>
          <p:cNvSpPr/>
          <p:nvPr/>
        </p:nvSpPr>
        <p:spPr>
          <a:xfrm>
            <a:off x="6500403" y="1804945"/>
            <a:ext cx="1065706" cy="46166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5E19B5-F0A0-F2AB-B360-C3B16956E02A}"/>
              </a:ext>
            </a:extLst>
          </p:cNvPr>
          <p:cNvSpPr/>
          <p:nvPr/>
        </p:nvSpPr>
        <p:spPr>
          <a:xfrm>
            <a:off x="6782244" y="1990651"/>
            <a:ext cx="5007838" cy="28766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AlertProcessor</a:t>
            </a:r>
            <a:r>
              <a:rPr lang="en-US" altLang="zh-CN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用于处理告警逻辑。</a:t>
            </a:r>
            <a:endParaRPr lang="en-US" altLang="zh-CN" b="0" i="0" dirty="0">
              <a:solidFill>
                <a:schemeClr val="tx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AlertProcessor</a:t>
            </a:r>
            <a:r>
              <a:rPr lang="zh-CN" altLang="en-US" b="0" i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lang="zh-CN" altLang="en-US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服务器监控数据，逐项检查</a:t>
            </a:r>
            <a:r>
              <a:rPr lang="en-US" altLang="zh-CN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、内存和磁盘指标，与预设规则进行对比。当发现指标异常时，立即生成告警信息并输出。整个过程实现了毫秒级的实时检测，确保系统问题能够被及时发现和处理。</a:t>
            </a:r>
            <a:endParaRPr lang="en-US" altLang="zh-CN" b="0" i="0" dirty="0">
              <a:solidFill>
                <a:schemeClr val="tx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2A2A6DD-F8A7-1C5F-C751-94E82A127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47" y="1527900"/>
            <a:ext cx="5615339" cy="467820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AlertProcessor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FlatMapFunction&lt;String, String&gt; 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@Override</a:t>
            </a:r>
            <a:endParaRPr kumimoji="0" lang="zh-CN" altLang="zh-CN" sz="8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flatMap(String input, Collector&lt;String&gt; out) throws Exception 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ServerMetric metric = JSON.parseObject(input, ServerMetric.class);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List&lt;AlertMessage&gt; alerts =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ArrayList&lt;&gt;();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Map&lt;String, List&lt;AlertRule&gt;&gt; ruleMap = RuleMap.initialRuleMap;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checkMetric(metric,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"CPU"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 metric.getCpu(), ruleMap, alerts);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checkMetric(metric,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"MEMORY"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 metric.getMemory(), ruleMap, alerts);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checkMetric(metric,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"DISK"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 metric.getDisk(), ruleMap, alerts);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(!alerts.isEmpty()) 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    out.collect(JSON.toJSONString(alerts));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checkMetric(ServerMetric metric, String metricType, Double value,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                   Map&lt;String, List&lt;AlertRule&gt;&gt; ruleMap, List&lt;AlertMessage&gt; alerts) 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(value ==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(AlertRule rule : ruleMap.get(metricType)) 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(checkRule(value, rule.getOperator(), rule.getThreshold())) 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        alerts.add(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AlertMessage(metric.getServerId(), metric.getServerName(),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                                  rule.getMessage(), value, System.currentTimeMillis()));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    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checkRule(Double value, String operator, Double threshold) 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(operator) 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"&gt;"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value &gt; threshold;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"&lt;"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value &lt; threshold;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185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58979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254000" y="984848"/>
            <a:ext cx="3475318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49A46-F0B8-5A18-937A-F718133415E9}"/>
              </a:ext>
            </a:extLst>
          </p:cNvPr>
          <p:cNvSpPr/>
          <p:nvPr/>
        </p:nvSpPr>
        <p:spPr>
          <a:xfrm>
            <a:off x="5854947" y="709110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>
              <a:defRPr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告警系统架构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2D46CE-5358-627A-A09F-DFF4165CD308}"/>
              </a:ext>
            </a:extLst>
          </p:cNvPr>
          <p:cNvSpPr/>
          <p:nvPr/>
        </p:nvSpPr>
        <p:spPr>
          <a:xfrm>
            <a:off x="5996886" y="1228899"/>
            <a:ext cx="355600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zh-CN" altLang="en-US">
              <a:solidFill>
                <a:prstClr val="black">
                  <a:lumMod val="65000"/>
                  <a:lumOff val="35000"/>
                </a:prstClr>
              </a:solidFill>
              <a:latin typeface="Source Han Serif SC" panose="02020700000000000000" pitchFamily="18" charset="-122"/>
              <a:ea typeface="Source Han Serif SC" panose="02020700000000000000" pitchFamily="18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5837AD0C-259A-6B86-6810-4BDB3773BE98}"/>
              </a:ext>
            </a:extLst>
          </p:cNvPr>
          <p:cNvSpPr txBox="1"/>
          <p:nvPr/>
        </p:nvSpPr>
        <p:spPr>
          <a:xfrm>
            <a:off x="479798" y="392558"/>
            <a:ext cx="3249519" cy="107721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03.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项目实践</a:t>
            </a:r>
          </a:p>
          <a:p>
            <a:pPr algn="dist"/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5DA32D-5571-30F0-44B5-838A64830A99}"/>
              </a:ext>
            </a:extLst>
          </p:cNvPr>
          <p:cNvSpPr/>
          <p:nvPr/>
        </p:nvSpPr>
        <p:spPr>
          <a:xfrm>
            <a:off x="6500403" y="1804945"/>
            <a:ext cx="1065706" cy="46166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5E19B5-F0A0-F2AB-B360-C3B16956E02A}"/>
              </a:ext>
            </a:extLst>
          </p:cNvPr>
          <p:cNvSpPr/>
          <p:nvPr/>
        </p:nvSpPr>
        <p:spPr>
          <a:xfrm>
            <a:off x="6782244" y="1990651"/>
            <a:ext cx="5007838" cy="28766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创建输入</a:t>
            </a:r>
            <a:r>
              <a:rPr lang="en-US" altLang="zh-CN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topic:test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与输出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topic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最终成功搭建</a:t>
            </a:r>
            <a:r>
              <a:rPr lang="zh-CN" altLang="en-US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一个基于</a:t>
            </a:r>
            <a:r>
              <a:rPr lang="en-US" altLang="zh-CN" b="0" i="0" dirty="0" err="1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Flink+Kafka</a:t>
            </a:r>
            <a:r>
              <a:rPr lang="zh-CN" altLang="en-US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的实时告警系统架构。该系统采用流式处理模式，数据从</a:t>
            </a:r>
            <a:r>
              <a:rPr lang="en-US" altLang="zh-CN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Kafka</a:t>
            </a:r>
            <a:r>
              <a:rPr lang="zh-CN" altLang="en-US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输入，经过</a:t>
            </a:r>
            <a:r>
              <a:rPr lang="en-US" altLang="zh-CN" b="0" i="0" dirty="0" err="1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Flink</a:t>
            </a:r>
            <a:r>
              <a:rPr lang="zh-CN" altLang="en-US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实时计算引擎进行规则匹配，最终将告警结果输出到</a:t>
            </a:r>
            <a:r>
              <a:rPr lang="en-US" altLang="zh-CN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Kafka</a:t>
            </a:r>
            <a:r>
              <a:rPr lang="zh-CN" altLang="en-US" b="0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kafka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来告知应用，进行下一步操作。</a:t>
            </a:r>
            <a:endParaRPr lang="en-US" altLang="zh-CN" b="0" i="0" dirty="0">
              <a:solidFill>
                <a:schemeClr val="tx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图示, 示意图&#10;&#10;AI 生成的内容可能不正确。">
            <a:extLst>
              <a:ext uri="{FF2B5EF4-FFF2-40B4-BE49-F238E27FC236}">
                <a16:creationId xmlns:a16="http://schemas.microsoft.com/office/drawing/2014/main" id="{27939BAA-FF52-89D8-5AD4-157C9CEEA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49" y="1728755"/>
            <a:ext cx="5069400" cy="321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830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82D69C5F-D87B-FC99-023A-4F75D1C6104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9ACC6E1-9CF3-416F-7BE0-DB2850C26E4F}"/>
              </a:ext>
            </a:extLst>
          </p:cNvPr>
          <p:cNvSpPr/>
          <p:nvPr/>
        </p:nvSpPr>
        <p:spPr>
          <a:xfrm>
            <a:off x="255094" y="2336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0E1026-6911-51E1-2343-44F5E0ADC198}"/>
              </a:ext>
            </a:extLst>
          </p:cNvPr>
          <p:cNvSpPr txBox="1"/>
          <p:nvPr/>
        </p:nvSpPr>
        <p:spPr>
          <a:xfrm>
            <a:off x="1941974" y="2210518"/>
            <a:ext cx="8308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7200" spc="600" dirty="0">
                <a:solidFill>
                  <a:srgbClr val="2B6587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恳请老师批评指正</a:t>
            </a:r>
            <a:endParaRPr lang="zh-CN" altLang="en-US" sz="7200" spc="6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C0B95F7-68E8-D22C-EE22-93C3AC2170EA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36C8250-DE55-6AEF-4FE3-01AC38C53DE3}"/>
              </a:ext>
            </a:extLst>
          </p:cNvPr>
          <p:cNvSpPr/>
          <p:nvPr/>
        </p:nvSpPr>
        <p:spPr>
          <a:xfrm>
            <a:off x="4960620" y="6435323"/>
            <a:ext cx="2270760" cy="1383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284D516-6F8C-4F7F-DD00-E3E71D735509}"/>
              </a:ext>
            </a:extLst>
          </p:cNvPr>
          <p:cNvGrpSpPr/>
          <p:nvPr/>
        </p:nvGrpSpPr>
        <p:grpSpPr>
          <a:xfrm>
            <a:off x="4611758" y="4515685"/>
            <a:ext cx="3411653" cy="307777"/>
            <a:chOff x="4822399" y="4679017"/>
            <a:chExt cx="4803437" cy="357783"/>
          </a:xfrm>
        </p:grpSpPr>
        <p:sp>
          <p:nvSpPr>
            <p:cNvPr id="27" name="文本框 6">
              <a:extLst>
                <a:ext uri="{FF2B5EF4-FFF2-40B4-BE49-F238E27FC236}">
                  <a16:creationId xmlns:a16="http://schemas.microsoft.com/office/drawing/2014/main" id="{393CD4D9-1BC4-004B-D8A8-463E722E0AF3}"/>
                </a:ext>
              </a:extLst>
            </p:cNvPr>
            <p:cNvSpPr txBox="1"/>
            <p:nvPr/>
          </p:nvSpPr>
          <p:spPr>
            <a:xfrm>
              <a:off x="4822399" y="4679017"/>
              <a:ext cx="2089740" cy="357783"/>
            </a:xfrm>
            <a:prstGeom prst="roundRect">
              <a:avLst>
                <a:gd name="adj" fmla="val 0"/>
              </a:avLst>
            </a:prstGeom>
            <a:solidFill>
              <a:srgbClr val="2B6587"/>
            </a:solidFill>
            <a:ln>
              <a:solidFill>
                <a:srgbClr val="2B6587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r>
                <a:rPr lang="zh-CN" altLang="en-US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汇报人：李盛鹏</a:t>
              </a:r>
              <a:endPara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endParaRPr>
            </a:p>
          </p:txBody>
        </p:sp>
        <p:sp>
          <p:nvSpPr>
            <p:cNvPr id="28" name="文本框 7">
              <a:extLst>
                <a:ext uri="{FF2B5EF4-FFF2-40B4-BE49-F238E27FC236}">
                  <a16:creationId xmlns:a16="http://schemas.microsoft.com/office/drawing/2014/main" id="{163C3A77-A816-6FFE-5ECA-921CC55632DC}"/>
                </a:ext>
              </a:extLst>
            </p:cNvPr>
            <p:cNvSpPr txBox="1"/>
            <p:nvPr/>
          </p:nvSpPr>
          <p:spPr>
            <a:xfrm>
              <a:off x="6912138" y="4679017"/>
              <a:ext cx="2713698" cy="357783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2B6587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时间：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35号-经典雅黑" panose="00000500000000000000" pitchFamily="2" charset="-122"/>
                  <a:ea typeface="字魂95号-手刻宋" panose="00000500000000000000" pitchFamily="2" charset="-122"/>
                  <a:sym typeface="字魂35号-经典雅黑" panose="00000500000000000000" pitchFamily="2" charset="-122"/>
                </a:rPr>
                <a:t>2025.11.11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字魂35号-经典雅黑" panose="00000500000000000000" pitchFamily="2" charset="-122"/>
              </a:endParaRPr>
            </a:p>
          </p:txBody>
        </p:sp>
      </p:grp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2247F13-8C10-F54C-779B-5ED3AB6FA044}"/>
              </a:ext>
            </a:extLst>
          </p:cNvPr>
          <p:cNvCxnSpPr/>
          <p:nvPr/>
        </p:nvCxnSpPr>
        <p:spPr>
          <a:xfrm>
            <a:off x="5771786" y="4193208"/>
            <a:ext cx="648429" cy="0"/>
          </a:xfrm>
          <a:prstGeom prst="line">
            <a:avLst/>
          </a:prstGeom>
          <a:ln w="57150" cap="rnd">
            <a:solidFill>
              <a:srgbClr val="2B65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69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1588</Words>
  <Application>Microsoft Office PowerPoint</Application>
  <PresentationFormat>宽屏</PresentationFormat>
  <Paragraphs>221</Paragraphs>
  <Slides>16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quote-cjk-patch</vt:lpstr>
      <vt:lpstr>Source Han Serif SC</vt:lpstr>
      <vt:lpstr>等线</vt:lpstr>
      <vt:lpstr>等线 Light</vt:lpstr>
      <vt:lpstr>思源黑体 CN Normal</vt:lpstr>
      <vt:lpstr>微软雅黑</vt:lpstr>
      <vt:lpstr>字魂35号-经典雅黑</vt:lpstr>
      <vt:lpstr>字魂95号-手刻宋</vt:lpstr>
      <vt:lpstr>Arial</vt:lpstr>
      <vt:lpstr>Consolas</vt:lpstr>
      <vt:lpstr>Times New Roman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商业计划</dc:title>
  <dc:creator>第一PPT，www.1ppt.com</dc:creator>
  <cp:keywords>www.1ppt.com</cp:keywords>
  <dc:description>第一PPT</dc:description>
  <cp:lastModifiedBy>盛鹏 李</cp:lastModifiedBy>
  <cp:revision>127</cp:revision>
  <dcterms:created xsi:type="dcterms:W3CDTF">2022-09-03T04:45:00Z</dcterms:created>
  <dcterms:modified xsi:type="dcterms:W3CDTF">2025-11-13T15:42:32Z</dcterms:modified>
</cp:coreProperties>
</file>