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0" r:id="rId2"/>
    <p:sldId id="35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63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DBEB4-5AA7-4DCA-96BB-E3F8927833D9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28EB-A009-4B6F-9258-39A99A1F61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7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随着互联网应用的发展，数据规模快速增长，传统关系型数据库在大规模分布式场景下逐渐暴露出扩展性、性能和可用性瓶颈。因此，</a:t>
            </a:r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数据库通过弱化部分传统关系数据库特性，换取更好的水平扩展能力、高可用性和低延迟响应。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13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本报告主要分析 </a:t>
            </a:r>
            <a:r>
              <a:rPr lang="en-US" altLang="zh-CN">
                <a:latin typeface="Microsoft YaHei" panose="020B0503020204020204" pitchFamily="34" charset="-122"/>
              </a:rPr>
              <a:t>Key-Value</a:t>
            </a:r>
            <a:r>
              <a:rPr lang="zh-CN" altLang="en-US">
                <a:latin typeface="Microsoft YaHei" panose="020B0503020204020204" pitchFamily="34" charset="-122"/>
              </a:rPr>
              <a:t>、列族存储、存储引擎、</a:t>
            </a:r>
            <a:r>
              <a:rPr lang="en-US" altLang="zh-CN">
                <a:latin typeface="Microsoft YaHei" panose="020B0503020204020204" pitchFamily="34" charset="-122"/>
              </a:rPr>
              <a:t>NewSQL </a:t>
            </a:r>
            <a:r>
              <a:rPr lang="zh-CN" altLang="en-US">
                <a:latin typeface="Microsoft YaHei" panose="020B0503020204020204" pitchFamily="34" charset="-122"/>
              </a:rPr>
              <a:t>和多模型数据库几类代表系统。分析方法主要基于顶级会议论文和工业实践，从架构设计、关键技术和适用场景三个角度进行比较。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59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数据库的发展大致可以分为四个阶段：萌芽期、爆发期、成熟期和融合期。从 </a:t>
            </a:r>
            <a:r>
              <a:rPr lang="en-US" altLang="zh-CN">
                <a:latin typeface="Microsoft YaHei" panose="020B0503020204020204" pitchFamily="34" charset="-122"/>
              </a:rPr>
              <a:t>Google </a:t>
            </a:r>
            <a:r>
              <a:rPr lang="zh-CN" altLang="en-US">
                <a:latin typeface="Microsoft YaHei" panose="020B0503020204020204" pitchFamily="34" charset="-122"/>
              </a:rPr>
              <a:t>内部系统，到 </a:t>
            </a:r>
            <a:r>
              <a:rPr lang="en-US" altLang="zh-CN">
                <a:latin typeface="Microsoft YaHei" panose="020B0503020204020204" pitchFamily="34" charset="-122"/>
              </a:rPr>
              <a:t>Amazon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Facebook </a:t>
            </a:r>
            <a:r>
              <a:rPr lang="zh-CN" altLang="en-US">
                <a:latin typeface="Microsoft YaHei" panose="020B0503020204020204" pitchFamily="34" charset="-122"/>
              </a:rPr>
              <a:t>等公司的开源和工业实践，再到 </a:t>
            </a:r>
            <a:r>
              <a:rPr lang="en-US" altLang="zh-CN">
                <a:latin typeface="Microsoft YaHei" panose="020B0503020204020204" pitchFamily="34" charset="-122"/>
              </a:rPr>
              <a:t>CockroachDB </a:t>
            </a:r>
            <a:r>
              <a:rPr lang="zh-CN" altLang="en-US">
                <a:latin typeface="Microsoft YaHei" panose="020B0503020204020204" pitchFamily="34" charset="-122"/>
              </a:rPr>
              <a:t>代表的 </a:t>
            </a:r>
            <a:r>
              <a:rPr lang="en-US" altLang="zh-CN">
                <a:latin typeface="Microsoft YaHei" panose="020B0503020204020204" pitchFamily="34" charset="-122"/>
              </a:rPr>
              <a:t>NewSQL</a:t>
            </a:r>
            <a:r>
              <a:rPr lang="zh-CN" altLang="en-US">
                <a:latin typeface="Microsoft YaHei" panose="020B0503020204020204" pitchFamily="34" charset="-122"/>
              </a:rPr>
              <a:t>，整个趋势是从专用走向通用，从单模型走向融合。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31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技术演进主要受到数据规模、硬件发展和业务需求三类因素驱动。这些因素共同推动数据库系统从集中式走向分布式，从强一致优先走向按场景进行权衡。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629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这一页对比两个经典系统。</a:t>
            </a:r>
            <a:r>
              <a:rPr lang="en-US" altLang="zh-CN">
                <a:latin typeface="Microsoft YaHei" panose="020B0503020204020204" pitchFamily="34" charset="-122"/>
              </a:rPr>
              <a:t>Bigtable </a:t>
            </a:r>
            <a:r>
              <a:rPr lang="zh-CN" altLang="en-US">
                <a:latin typeface="Microsoft YaHei" panose="020B0503020204020204" pitchFamily="34" charset="-122"/>
              </a:rPr>
              <a:t>是 </a:t>
            </a:r>
            <a:r>
              <a:rPr lang="en-US" altLang="zh-CN">
                <a:latin typeface="Microsoft YaHei" panose="020B0503020204020204" pitchFamily="34" charset="-122"/>
              </a:rPr>
              <a:t>Google </a:t>
            </a:r>
            <a:r>
              <a:rPr lang="zh-CN" altLang="en-US">
                <a:latin typeface="Microsoft YaHei" panose="020B0503020204020204" pitchFamily="34" charset="-122"/>
              </a:rPr>
              <a:t>的分布式列族存储系统，更强调一致性和大规模结构化数据管理。</a:t>
            </a:r>
            <a:r>
              <a:rPr lang="en-US" altLang="zh-CN">
                <a:latin typeface="Microsoft YaHei" panose="020B0503020204020204" pitchFamily="34" charset="-122"/>
              </a:rPr>
              <a:t>Dynamo </a:t>
            </a:r>
            <a:r>
              <a:rPr lang="zh-CN" altLang="en-US">
                <a:latin typeface="Microsoft YaHei" panose="020B0503020204020204" pitchFamily="34" charset="-122"/>
              </a:rPr>
              <a:t>是 </a:t>
            </a:r>
            <a:r>
              <a:rPr lang="en-US" altLang="zh-CN">
                <a:latin typeface="Microsoft YaHei" panose="020B0503020204020204" pitchFamily="34" charset="-122"/>
              </a:rPr>
              <a:t>Amazon </a:t>
            </a:r>
            <a:r>
              <a:rPr lang="zh-CN" altLang="en-US">
                <a:latin typeface="Microsoft YaHei" panose="020B0503020204020204" pitchFamily="34" charset="-122"/>
              </a:rPr>
              <a:t>的高可用 </a:t>
            </a:r>
            <a:r>
              <a:rPr lang="en-US" altLang="zh-CN">
                <a:latin typeface="Microsoft YaHei" panose="020B0503020204020204" pitchFamily="34" charset="-122"/>
              </a:rPr>
              <a:t>Key-Value </a:t>
            </a:r>
            <a:r>
              <a:rPr lang="zh-CN" altLang="en-US">
                <a:latin typeface="Microsoft YaHei" panose="020B0503020204020204" pitchFamily="34" charset="-122"/>
              </a:rPr>
              <a:t>存储系统，采用一致性哈希、向量时钟、</a:t>
            </a:r>
            <a:r>
              <a:rPr lang="en-US" altLang="zh-CN">
                <a:latin typeface="Microsoft YaHei" panose="020B0503020204020204" pitchFamily="34" charset="-122"/>
              </a:rPr>
              <a:t>Gossip </a:t>
            </a:r>
            <a:r>
              <a:rPr lang="zh-CN" altLang="en-US">
                <a:latin typeface="Microsoft YaHei" panose="020B0503020204020204" pitchFamily="34" charset="-122"/>
              </a:rPr>
              <a:t>和 </a:t>
            </a:r>
            <a:r>
              <a:rPr lang="en-US" altLang="zh-CN">
                <a:latin typeface="Microsoft YaHei" panose="020B0503020204020204" pitchFamily="34" charset="-122"/>
              </a:rPr>
              <a:t>Quorum</a:t>
            </a:r>
            <a:r>
              <a:rPr lang="zh-CN" altLang="en-US">
                <a:latin typeface="Microsoft YaHei" panose="020B0503020204020204" pitchFamily="34" charset="-122"/>
              </a:rPr>
              <a:t>，体现 </a:t>
            </a:r>
            <a:r>
              <a:rPr lang="en-US" altLang="zh-CN">
                <a:latin typeface="Microsoft YaHei" panose="020B0503020204020204" pitchFamily="34" charset="-122"/>
              </a:rPr>
              <a:t>AP </a:t>
            </a:r>
            <a:r>
              <a:rPr lang="zh-CN" altLang="en-US">
                <a:latin typeface="Microsoft YaHei" panose="020B0503020204020204" pitchFamily="34" charset="-122"/>
              </a:rPr>
              <a:t>优先的设计路线。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680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Cassandra </a:t>
            </a:r>
            <a:r>
              <a:rPr lang="zh-CN" altLang="en-US">
                <a:latin typeface="Microsoft YaHei" panose="020B0503020204020204" pitchFamily="34" charset="-122"/>
              </a:rPr>
              <a:t>可以看作 </a:t>
            </a:r>
            <a:r>
              <a:rPr lang="en-US" altLang="zh-CN">
                <a:latin typeface="Microsoft YaHei" panose="020B0503020204020204" pitchFamily="34" charset="-122"/>
              </a:rPr>
              <a:t>Bigtable </a:t>
            </a:r>
            <a:r>
              <a:rPr lang="zh-CN" altLang="en-US">
                <a:latin typeface="Microsoft YaHei" panose="020B0503020204020204" pitchFamily="34" charset="-122"/>
              </a:rPr>
              <a:t>和 </a:t>
            </a:r>
            <a:r>
              <a:rPr lang="en-US" altLang="zh-CN">
                <a:latin typeface="Microsoft YaHei" panose="020B0503020204020204" pitchFamily="34" charset="-122"/>
              </a:rPr>
              <a:t>Dynamo </a:t>
            </a:r>
            <a:r>
              <a:rPr lang="zh-CN" altLang="en-US">
                <a:latin typeface="Microsoft YaHei" panose="020B0503020204020204" pitchFamily="34" charset="-122"/>
              </a:rPr>
              <a:t>思想的结合，适合高写入、高可用的大规模场景。</a:t>
            </a:r>
            <a:r>
              <a:rPr lang="en-US" altLang="zh-CN">
                <a:latin typeface="Microsoft YaHei" panose="020B0503020204020204" pitchFamily="34" charset="-122"/>
              </a:rPr>
              <a:t>Memcached </a:t>
            </a:r>
            <a:r>
              <a:rPr lang="zh-CN" altLang="en-US">
                <a:latin typeface="Microsoft YaHei" panose="020B0503020204020204" pitchFamily="34" charset="-122"/>
              </a:rPr>
              <a:t>主要面向缓存，</a:t>
            </a:r>
            <a:r>
              <a:rPr lang="en-US" altLang="zh-CN">
                <a:latin typeface="Microsoft YaHei" panose="020B0503020204020204" pitchFamily="34" charset="-122"/>
              </a:rPr>
              <a:t>Facebook </a:t>
            </a:r>
            <a:r>
              <a:rPr lang="zh-CN" altLang="en-US">
                <a:latin typeface="Microsoft YaHei" panose="020B0503020204020204" pitchFamily="34" charset="-122"/>
              </a:rPr>
              <a:t>通过 </a:t>
            </a:r>
            <a:r>
              <a:rPr lang="en-US" altLang="zh-CN">
                <a:latin typeface="Microsoft YaHei" panose="020B0503020204020204" pitchFamily="34" charset="-122"/>
              </a:rPr>
              <a:t>MemC3 </a:t>
            </a:r>
            <a:r>
              <a:rPr lang="zh-CN" altLang="en-US">
                <a:latin typeface="Microsoft YaHei" panose="020B0503020204020204" pitchFamily="34" charset="-122"/>
              </a:rPr>
              <a:t>等优化减少锁竞争，提高内存效率和吞吐量。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39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CockroachDB </a:t>
            </a:r>
            <a:r>
              <a:rPr lang="zh-CN" altLang="en-US">
                <a:latin typeface="Microsoft YaHei" panose="020B0503020204020204" pitchFamily="34" charset="-122"/>
              </a:rPr>
              <a:t>代表 </a:t>
            </a:r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与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融合的趋势。它在保持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接口和事务支持的同时，提供水平扩展能力。其核心包括 </a:t>
            </a:r>
            <a:r>
              <a:rPr lang="en-US" altLang="zh-CN">
                <a:latin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</a:rPr>
              <a:t>层、事务 </a:t>
            </a:r>
            <a:r>
              <a:rPr lang="en-US" altLang="zh-CN">
                <a:latin typeface="Microsoft YaHei" panose="020B0503020204020204" pitchFamily="34" charset="-122"/>
              </a:rPr>
              <a:t>KV </a:t>
            </a:r>
            <a:r>
              <a:rPr lang="zh-CN" altLang="en-US">
                <a:latin typeface="Microsoft YaHei" panose="020B0503020204020204" pitchFamily="34" charset="-122"/>
              </a:rPr>
              <a:t>层、分布式路由层、</a:t>
            </a:r>
            <a:r>
              <a:rPr lang="en-US" altLang="zh-CN">
                <a:latin typeface="Microsoft YaHei" panose="020B0503020204020204" pitchFamily="34" charset="-122"/>
              </a:rPr>
              <a:t>Raft </a:t>
            </a:r>
            <a:r>
              <a:rPr lang="zh-CN" altLang="en-US">
                <a:latin typeface="Microsoft YaHei" panose="020B0503020204020204" pitchFamily="34" charset="-122"/>
              </a:rPr>
              <a:t>复制层和存储层，并通过地理分区、</a:t>
            </a:r>
            <a:r>
              <a:rPr lang="en-US" altLang="zh-CN">
                <a:latin typeface="Microsoft YaHei" panose="020B0503020204020204" pitchFamily="34" charset="-122"/>
              </a:rPr>
              <a:t>Raft</a:t>
            </a:r>
            <a:r>
              <a:rPr lang="zh-CN" altLang="en-US">
                <a:latin typeface="Microsoft YaHei" panose="020B0503020204020204" pitchFamily="34" charset="-122"/>
              </a:rPr>
              <a:t>、</a:t>
            </a:r>
            <a:r>
              <a:rPr lang="en-US" altLang="zh-CN">
                <a:latin typeface="Microsoft YaHei" panose="020B0503020204020204" pitchFamily="34" charset="-122"/>
              </a:rPr>
              <a:t>HLC </a:t>
            </a:r>
            <a:r>
              <a:rPr lang="zh-CN" altLang="en-US">
                <a:latin typeface="Microsoft YaHei" panose="020B0503020204020204" pitchFamily="34" charset="-122"/>
              </a:rPr>
              <a:t>等机制支持全球化 </a:t>
            </a:r>
            <a:r>
              <a:rPr lang="en-US" altLang="zh-CN">
                <a:latin typeface="Microsoft YaHei" panose="020B0503020204020204" pitchFamily="34" charset="-122"/>
              </a:rPr>
              <a:t>OLTP </a:t>
            </a:r>
            <a:r>
              <a:rPr lang="zh-CN" altLang="en-US">
                <a:latin typeface="Microsoft YaHei" panose="020B0503020204020204" pitchFamily="34" charset="-122"/>
              </a:rPr>
              <a:t>应用。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305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从综合对比来看，不同系统的设计目标非常不同。</a:t>
            </a:r>
            <a:r>
              <a:rPr lang="en-US" altLang="zh-CN">
                <a:latin typeface="Microsoft YaHei" panose="020B0503020204020204" pitchFamily="34" charset="-122"/>
              </a:rPr>
              <a:t>Bigtable </a:t>
            </a:r>
            <a:r>
              <a:rPr lang="zh-CN" altLang="en-US">
                <a:latin typeface="Microsoft YaHei" panose="020B0503020204020204" pitchFamily="34" charset="-122"/>
              </a:rPr>
              <a:t>强调强一致和水平扩展，</a:t>
            </a:r>
            <a:r>
              <a:rPr lang="en-US" altLang="zh-CN">
                <a:latin typeface="Microsoft YaHei" panose="020B0503020204020204" pitchFamily="34" charset="-122"/>
              </a:rPr>
              <a:t>Dynamo </a:t>
            </a:r>
            <a:r>
              <a:rPr lang="zh-CN" altLang="en-US">
                <a:latin typeface="Microsoft YaHei" panose="020B0503020204020204" pitchFamily="34" charset="-122"/>
              </a:rPr>
              <a:t>优先高可用，</a:t>
            </a:r>
            <a:r>
              <a:rPr lang="en-US" altLang="zh-CN">
                <a:latin typeface="Microsoft YaHei" panose="020B0503020204020204" pitchFamily="34" charset="-122"/>
              </a:rPr>
              <a:t>Cassandra </a:t>
            </a:r>
            <a:r>
              <a:rPr lang="zh-CN" altLang="en-US">
                <a:latin typeface="Microsoft YaHei" panose="020B0503020204020204" pitchFamily="34" charset="-122"/>
              </a:rPr>
              <a:t>提供可配置一致性，</a:t>
            </a:r>
            <a:r>
              <a:rPr lang="en-US" altLang="zh-CN">
                <a:latin typeface="Microsoft YaHei" panose="020B0503020204020204" pitchFamily="34" charset="-122"/>
              </a:rPr>
              <a:t>Memcached </a:t>
            </a:r>
            <a:r>
              <a:rPr lang="zh-CN" altLang="en-US">
                <a:latin typeface="Microsoft YaHei" panose="020B0503020204020204" pitchFamily="34" charset="-122"/>
              </a:rPr>
              <a:t>追求低延迟缓存，</a:t>
            </a:r>
            <a:r>
              <a:rPr lang="en-US" altLang="zh-CN">
                <a:latin typeface="Microsoft YaHei" panose="020B0503020204020204" pitchFamily="34" charset="-122"/>
              </a:rPr>
              <a:t>CockroachDB </a:t>
            </a:r>
            <a:r>
              <a:rPr lang="zh-CN" altLang="en-US">
                <a:latin typeface="Microsoft YaHei" panose="020B0503020204020204" pitchFamily="34" charset="-122"/>
              </a:rPr>
              <a:t>强调 </a:t>
            </a:r>
            <a:r>
              <a:rPr lang="en-US" altLang="zh-CN">
                <a:latin typeface="Microsoft YaHei" panose="020B0503020204020204" pitchFamily="34" charset="-122"/>
              </a:rPr>
              <a:t>SQL</a:t>
            </a:r>
            <a:r>
              <a:rPr lang="zh-CN" altLang="en-US">
                <a:latin typeface="Microsoft YaHei" panose="020B0503020204020204" pitchFamily="34" charset="-122"/>
              </a:rPr>
              <a:t>、事务和强一致。因此关键不是寻找绝对最优，而是根据业务场景选择。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971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数据库的核心其实是权衡。</a:t>
            </a:r>
            <a:r>
              <a:rPr lang="en-US" altLang="zh-CN">
                <a:latin typeface="Microsoft YaHei" panose="020B0503020204020204" pitchFamily="34" charset="-122"/>
              </a:rPr>
              <a:t>CAP </a:t>
            </a:r>
            <a:r>
              <a:rPr lang="zh-CN" altLang="en-US">
                <a:latin typeface="Microsoft YaHei" panose="020B0503020204020204" pitchFamily="34" charset="-122"/>
              </a:rPr>
              <a:t>说明一致性、可用性和分区容错性不可同时完全满足。</a:t>
            </a:r>
            <a:r>
              <a:rPr lang="en-US" altLang="zh-CN">
                <a:latin typeface="Microsoft YaHei" panose="020B0503020204020204" pitchFamily="34" charset="-122"/>
              </a:rPr>
              <a:t>PACELC </a:t>
            </a:r>
            <a:r>
              <a:rPr lang="zh-CN" altLang="en-US">
                <a:latin typeface="Microsoft YaHei" panose="020B0503020204020204" pitchFamily="34" charset="-122"/>
              </a:rPr>
              <a:t>进一步指出，即使没有分区，也需要在延迟和一致性之间选择。此外还存在读优化与写优化、通用性与专用性的取舍。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9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最后总结一下未来趋势：多模型融合、云原生数据库、边缘计算与分布式数据管理，以及 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驱动的数据库优化。总体来看，</a:t>
            </a:r>
            <a:r>
              <a:rPr lang="en-US" altLang="zh-CN">
                <a:latin typeface="Microsoft YaHei" panose="020B0503020204020204" pitchFamily="34" charset="-122"/>
              </a:rPr>
              <a:t>NoSQL </a:t>
            </a:r>
            <a:r>
              <a:rPr lang="zh-CN" altLang="en-US">
                <a:latin typeface="Microsoft YaHei" panose="020B0503020204020204" pitchFamily="34" charset="-122"/>
              </a:rPr>
              <a:t>数据库的发展体现了从专用到通用、从单模型到多模型、从单地域到全球分布式的演进规律。我的汇报到这里结束，谢谢各位老师。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28EB-A009-4B6F-9258-39A99A1F615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956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F83FB-E790-273C-A135-046695468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345C96-05FC-EC4C-B1B4-C27C8CADB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178E5-104E-6350-0994-413F05B3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370C1-2E28-CDB8-6682-EF17445C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C4643-0D64-2F05-393F-B4563822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6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585C3-1B84-44A9-278E-DAC3DD6C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094CB-D2A3-CD2A-2204-910AD4F83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CD082-B295-96D7-2A99-D2399ABB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CAA66-714D-6FEB-E3B1-D7F61633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B3BE6-BE0C-F397-A74B-80BEC2BB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4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8831C-F18C-77A6-CE7C-76F24476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64EF3F-7527-0002-6313-7FA4C09E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17D1AB-1EA1-815A-6A0A-2AB63C66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268BB6-3DEC-17A3-FE16-CDC6DCB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03B43-4194-372D-F1A2-805631A6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11407-3132-38C5-6D9C-B7D45D7F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981DC6-2538-7663-0059-A10F5A3DE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ED166F-8A03-D31E-B924-A180DBA03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DBD089-CC50-404F-FF53-9311E46B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DE1DD6-9681-6062-85B8-5CB7AAC0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0452C-B468-AF22-2482-8951811E1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42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24472-DFC8-92C0-E98A-55A9F84E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F3D77-3E12-E438-4387-20A6BBC82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1B3252-DC4D-02C9-C57E-BF7634DE2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EAFE32-98B7-1E95-E92C-5C512FD09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A87EED-58FC-61DC-34F6-706256AD8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BAC40D-7BA6-CF57-E615-1D7FF90E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64E419-EF70-6BF1-EFB2-A375A9D3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A1F378-0C4B-9C37-A445-C98C17FD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8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DEC18-D217-D37E-F5E3-7F98D0E1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0FD9BD-B3C9-740C-CF4A-A645DD59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FBC57A-03DC-5243-17DA-56159ECA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8CDC5D-A29A-51C0-7A89-68119FBF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0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2ADDF8-EBE3-12FE-AB26-F6E9A372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087941-B3F4-C9BA-E7FD-40FA862B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890A1A-16B0-4EB0-5A42-A112D757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8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E071F-F3B6-77BA-411B-BE6FC89A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3CC450-56A9-87C2-1248-9EC8102A3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E1CE41-529A-08CF-435C-A0ABD1E81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BA172-7848-9C28-3EEC-92DDD0B6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77B0CB-1D10-2C9C-3199-AC08015A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FA54EB-927C-A7A1-95C1-0A810855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2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9A576-9648-4B89-6F37-E4891BA4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ADEBD9-8A44-1D72-C9BE-E14FC603D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723804-C29B-A33E-3555-EAF45995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5B73E2-AC21-0959-D596-090B62DF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A04E57-5031-0A5E-A77C-09F78A7A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79B7D1-80B7-946D-5FE8-04F2BC19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7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73FBB-6BB7-F8F6-5552-7A559587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08BF59-313A-11C3-8D25-64A09E247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A96A8-ABCD-0924-0F0E-ACB104FD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AEC6A5-85C0-4B2F-23C2-7D28E9B4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31BD8-C2DE-812D-53CE-60E47028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72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13B6E3-88FF-3F40-E778-7FC4308C9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656CF7-BBC5-9530-6688-0138B912B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4C9893-2D50-E4E6-3F7A-25D8AF9D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D7398-AF03-1E14-4682-81518A21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A3A28-B5C7-2751-3619-2F2A22C4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E94FE2-9943-9B23-2E43-8A56E129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CFEF01-CB4A-309B-D5EF-C8EA6FD6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B1A66-B682-12AE-2571-19760EE85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4E479-8C9D-46D2-8B5D-024C0A9C986B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6B246-E884-DE05-4CE1-599E786A5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B4586-96B5-0148-5AC2-83052CFF4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6537B-DAA4-4301-828A-27FE304041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9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096000" y="2580000"/>
            <a:ext cx="10000000" cy="923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ea typeface="思源黑体 CN Medium" panose="020B0600000000000000" pitchFamily="34" charset="-122"/>
              </a:rPr>
              <a:t>NoSQL </a:t>
            </a:r>
            <a:r>
              <a:rPr lang="zh-CN" altLang="en-US" sz="5400" dirty="0">
                <a:solidFill>
                  <a:schemeClr val="bg1"/>
                </a:solidFill>
                <a:ea typeface="思源黑体 CN Medium" panose="020B0600000000000000" pitchFamily="34" charset="-122"/>
              </a:rPr>
              <a:t>数据库技术探究</a:t>
            </a:r>
          </a:p>
        </p:txBody>
      </p:sp>
      <p:sp>
        <p:nvSpPr>
          <p:cNvPr id="18" name="矩形 17"/>
          <p:cNvSpPr/>
          <p:nvPr/>
        </p:nvSpPr>
        <p:spPr>
          <a:xfrm>
            <a:off x="3870035" y="5773684"/>
            <a:ext cx="4479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同济大学  ·  大数据存储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41DF69C-B26A-7646-C749-74310B2FFD26}"/>
              </a:ext>
            </a:extLst>
          </p:cNvPr>
          <p:cNvSpPr txBox="1"/>
          <p:nvPr/>
        </p:nvSpPr>
        <p:spPr>
          <a:xfrm>
            <a:off x="5031934" y="4461295"/>
            <a:ext cx="97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李盛鹏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2351136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DA5A0C-1408-470C-AEA3-723E71C52E94}"/>
              </a:ext>
            </a:extLst>
          </p:cNvPr>
          <p:cNvSpPr txBox="1"/>
          <p:nvPr/>
        </p:nvSpPr>
        <p:spPr>
          <a:xfrm>
            <a:off x="2295869" y="3654834"/>
            <a:ext cx="8194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>
                <a:solidFill>
                  <a:schemeClr val="bg1"/>
                </a:solidFill>
              </a:rPr>
              <a:t>从 Bigtable 到 CockroachDB 的架构演进与设计权衡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31000"/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4244454" cy="6858000"/>
          </a:xfrm>
          <a:prstGeom prst="rect">
            <a:avLst/>
          </a:prstGeom>
          <a:solidFill>
            <a:srgbClr val="0042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708243" y="1396558"/>
            <a:ext cx="3736794" cy="655071"/>
            <a:chOff x="5750599" y="1460311"/>
            <a:chExt cx="3736794" cy="655071"/>
          </a:xfrm>
        </p:grpSpPr>
        <p:grpSp>
          <p:nvGrpSpPr>
            <p:cNvPr id="12" name="组合 11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6777997" y="1557014"/>
              <a:ext cx="27093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项目背景与动机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29826" y="2281904"/>
            <a:ext cx="1954627" cy="1966644"/>
            <a:chOff x="1074057" y="2518270"/>
            <a:chExt cx="1954627" cy="1966644"/>
          </a:xfrm>
        </p:grpSpPr>
        <p:sp>
          <p:nvSpPr>
            <p:cNvPr id="17" name="矩形 16"/>
            <p:cNvSpPr/>
            <p:nvPr/>
          </p:nvSpPr>
          <p:spPr>
            <a:xfrm>
              <a:off x="1074057" y="2518270"/>
              <a:ext cx="1349939" cy="1966644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82318E"/>
                </a:solidFill>
                <a:effectLst/>
                <a:uLnTx/>
                <a:uFillTx/>
                <a:latin typeface="Segoe UI" panose="020B0502040204020203"/>
                <a:ea typeface="阿里巴巴普惠体 R" panose="00020600040101010101" pitchFamily="18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85596" y="2995232"/>
              <a:ext cx="1843088" cy="1015663"/>
            </a:xfrm>
            <a:prstGeom prst="rect">
              <a:avLst/>
            </a:prstGeom>
            <a:solidFill>
              <a:srgbClr val="00427E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cs"/>
                </a:rPr>
                <a:t>目录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708243" y="2490661"/>
            <a:ext cx="2648355" cy="655071"/>
            <a:chOff x="5750599" y="1460311"/>
            <a:chExt cx="2648355" cy="655071"/>
          </a:xfrm>
        </p:grpSpPr>
        <p:grpSp>
          <p:nvGrpSpPr>
            <p:cNvPr id="23" name="组合 2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4" name="矩形 23"/>
            <p:cNvSpPr/>
            <p:nvPr/>
          </p:nvSpPr>
          <p:spPr>
            <a:xfrm>
              <a:off x="6777997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技术演进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08243" y="3584764"/>
            <a:ext cx="3366500" cy="655071"/>
            <a:chOff x="5750599" y="1460311"/>
            <a:chExt cx="3366500" cy="655071"/>
          </a:xfrm>
        </p:grpSpPr>
        <p:grpSp>
          <p:nvGrpSpPr>
            <p:cNvPr id="28" name="组合 27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6777997" y="1557014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核心系统对比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708243" y="4678866"/>
            <a:ext cx="2679091" cy="655071"/>
            <a:chOff x="5750599" y="1460311"/>
            <a:chExt cx="2679091" cy="655071"/>
          </a:xfrm>
        </p:grpSpPr>
        <p:grpSp>
          <p:nvGrpSpPr>
            <p:cNvPr id="33" name="组合 3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6808733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技术权衡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45" y="181001"/>
            <a:ext cx="703503" cy="7067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66421EE-FD4B-DD13-AF30-9338DA8CE1DA}"/>
              </a:ext>
            </a:extLst>
          </p:cNvPr>
          <p:cNvGrpSpPr/>
          <p:nvPr/>
        </p:nvGrpSpPr>
        <p:grpSpPr>
          <a:xfrm>
            <a:off x="5699659" y="5571795"/>
            <a:ext cx="3756309" cy="655071"/>
            <a:chOff x="5750599" y="1460311"/>
            <a:chExt cx="3756309" cy="65507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835C3E4-66C1-B018-7977-0E4337175623}"/>
                </a:ext>
              </a:extLst>
            </p:cNvPr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E96A4CB1-1596-26CD-94CB-50FE1179148A}"/>
                  </a:ext>
                </a:extLst>
              </p:cNvPr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6DE1651-7454-6D62-8C53-2EF977A25AEF}"/>
                  </a:ext>
                </a:extLst>
              </p:cNvPr>
              <p:cNvSpPr txBox="1"/>
              <p:nvPr/>
            </p:nvSpPr>
            <p:spPr>
              <a:xfrm>
                <a:off x="5484335" y="1572403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05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07938CD-F811-B2B5-99F9-7435B32B258F}"/>
                </a:ext>
              </a:extLst>
            </p:cNvPr>
            <p:cNvSpPr/>
            <p:nvPr/>
          </p:nvSpPr>
          <p:spPr>
            <a:xfrm>
              <a:off x="6808733" y="1557014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未来趋势与总结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5B0B2D-6CC5-AAE8-C422-74E1AAC187C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A6E6D9-A4DB-DBC6-3E28-CD424FBEB28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3EEE6-29BE-0ECE-A267-60678A7CB7F0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1770EE-F52D-2308-F0FD-2EA51CA169B7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研究背景：为什么需要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NoSQL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266320-DC5F-D38E-B48B-E25971387802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9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9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61CCC-000B-2167-2ABE-B73FB102FED3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591BD53-51EA-4A38-B738-DF1047E040CE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14FB39F-B7BF-E915-11E2-92533D7D8046}"/>
              </a:ext>
            </a:extLst>
          </p:cNvPr>
          <p:cNvSpPr txBox="1"/>
          <p:nvPr/>
        </p:nvSpPr>
        <p:spPr>
          <a:xfrm>
            <a:off x="475488" y="6565392"/>
            <a:ext cx="39319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大数据存储课程答辩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李盛鹏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2351136</a:t>
            </a:r>
            <a:endParaRPr lang="zh-CN" altLang="en-US" sz="800">
              <a:solidFill>
                <a:srgbClr val="6B72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F788E2-EFE8-38CD-71D8-25EB0A543B9A}"/>
              </a:ext>
            </a:extLst>
          </p:cNvPr>
          <p:cNvSpPr txBox="1"/>
          <p:nvPr/>
        </p:nvSpPr>
        <p:spPr>
          <a:xfrm>
            <a:off x="685800" y="896112"/>
            <a:ext cx="10789920" cy="360099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600">
                <a:solidFill>
                  <a:srgbClr val="1F2937"/>
                </a:solidFill>
                <a:latin typeface="Microsoft YaHei" panose="020B0503020204020204" pitchFamily="34" charset="-122"/>
              </a:rPr>
              <a:t>互联网应用让数据规模、并发访问和可用性要求同时上升，传统关系型数据库的单机扩展和强事务模型开始承压。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4A153A-98EE-5A2C-1E29-36278FE7D2C5}"/>
              </a:ext>
            </a:extLst>
          </p:cNvPr>
          <p:cNvSpPr/>
          <p:nvPr/>
        </p:nvSpPr>
        <p:spPr>
          <a:xfrm>
            <a:off x="685800" y="15544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596E7-9BFA-39EC-C6AF-1504178B04C3}"/>
              </a:ext>
            </a:extLst>
          </p:cNvPr>
          <p:cNvSpPr/>
          <p:nvPr/>
        </p:nvSpPr>
        <p:spPr>
          <a:xfrm>
            <a:off x="685800" y="1554480"/>
            <a:ext cx="73152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E22B58-4AB8-4C80-B041-6C946AA818C1}"/>
              </a:ext>
            </a:extLst>
          </p:cNvPr>
          <p:cNvSpPr txBox="1"/>
          <p:nvPr/>
        </p:nvSpPr>
        <p:spPr>
          <a:xfrm>
            <a:off x="886968" y="171907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扩展性瓶颈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0D604B-BE77-A721-1FC7-CF3B1015F0EB}"/>
              </a:ext>
            </a:extLst>
          </p:cNvPr>
          <p:cNvSpPr txBox="1"/>
          <p:nvPr/>
        </p:nvSpPr>
        <p:spPr>
          <a:xfrm>
            <a:off x="886968" y="2157984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150" dirty="0">
                <a:solidFill>
                  <a:srgbClr val="4B5563"/>
                </a:solidFill>
                <a:latin typeface="Microsoft YaHei" panose="020B0503020204020204" pitchFamily="34" charset="-122"/>
              </a:rPr>
              <a:t>单机垂直扩展存在物理上限，硬件成本随规模迅速上升，难以支撑 </a:t>
            </a:r>
            <a:r>
              <a:rPr lang="en-US" altLang="zh-CN" sz="1150" dirty="0">
                <a:solidFill>
                  <a:srgbClr val="4B5563"/>
                </a:solidFill>
                <a:latin typeface="Microsoft YaHei" panose="020B0503020204020204" pitchFamily="34" charset="-122"/>
              </a:rPr>
              <a:t>PB/EB </a:t>
            </a:r>
            <a:r>
              <a:rPr lang="zh-CN" altLang="en-US" sz="1150" dirty="0">
                <a:solidFill>
                  <a:srgbClr val="4B5563"/>
                </a:solidFill>
                <a:latin typeface="Microsoft YaHei" panose="020B0503020204020204" pitchFamily="34" charset="-122"/>
              </a:rPr>
              <a:t>级数据。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6740530-3D6A-A2CD-014B-AACC9C569157}"/>
              </a:ext>
            </a:extLst>
          </p:cNvPr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E76DB6-884A-AEEA-7F34-559D21EDA722}"/>
              </a:ext>
            </a:extLst>
          </p:cNvPr>
          <p:cNvSpPr/>
          <p:nvPr/>
        </p:nvSpPr>
        <p:spPr>
          <a:xfrm>
            <a:off x="4389120" y="1554480"/>
            <a:ext cx="73152" cy="15544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EF2873-A3EA-DC00-A632-0C136BF906AE}"/>
              </a:ext>
            </a:extLst>
          </p:cNvPr>
          <p:cNvSpPr txBox="1"/>
          <p:nvPr/>
        </p:nvSpPr>
        <p:spPr>
          <a:xfrm>
            <a:off x="4590288" y="171907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性能瓶颈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CD4EB4-3F3E-73A2-61B9-67FEFF957F26}"/>
              </a:ext>
            </a:extLst>
          </p:cNvPr>
          <p:cNvSpPr txBox="1"/>
          <p:nvPr/>
        </p:nvSpPr>
        <p:spPr>
          <a:xfrm>
            <a:off x="4590288" y="2157984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150">
                <a:solidFill>
                  <a:srgbClr val="4B5563"/>
                </a:solidFill>
                <a:latin typeface="Microsoft YaHei" panose="020B0503020204020204" pitchFamily="34" charset="-122"/>
              </a:rPr>
              <a:t>严格 </a:t>
            </a:r>
            <a:r>
              <a:rPr lang="en-US" altLang="zh-CN" sz="1150">
                <a:solidFill>
                  <a:srgbClr val="4B5563"/>
                </a:solidFill>
                <a:latin typeface="Microsoft YaHei" panose="020B0503020204020204" pitchFamily="34" charset="-122"/>
              </a:rPr>
              <a:t>ACID </a:t>
            </a:r>
            <a:r>
              <a:rPr lang="zh-CN" altLang="en-US" sz="1150">
                <a:solidFill>
                  <a:srgbClr val="4B5563"/>
                </a:solidFill>
                <a:latin typeface="Microsoft YaHei" panose="020B0503020204020204" pitchFamily="34" charset="-122"/>
              </a:rPr>
              <a:t>事务在高并发写入下带来协调开销，吞吐量和响应延迟受到影响。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10EF86B-C6A0-F695-3484-17374D73D698}"/>
              </a:ext>
            </a:extLst>
          </p:cNvPr>
          <p:cNvSpPr/>
          <p:nvPr/>
        </p:nvSpPr>
        <p:spPr>
          <a:xfrm>
            <a:off x="8092440" y="155448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D8E9C-FB3D-A0FE-7A09-1D06F95ADF0C}"/>
              </a:ext>
            </a:extLst>
          </p:cNvPr>
          <p:cNvSpPr/>
          <p:nvPr/>
        </p:nvSpPr>
        <p:spPr>
          <a:xfrm>
            <a:off x="8092440" y="1554480"/>
            <a:ext cx="73152" cy="15544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D5BD82-8578-91B8-781D-08FC9A2C5F35}"/>
              </a:ext>
            </a:extLst>
          </p:cNvPr>
          <p:cNvSpPr txBox="1"/>
          <p:nvPr/>
        </p:nvSpPr>
        <p:spPr>
          <a:xfrm>
            <a:off x="8293608" y="171907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可用性挑战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75FEB9-4719-CA3E-D44C-4C77391CC5DB}"/>
              </a:ext>
            </a:extLst>
          </p:cNvPr>
          <p:cNvSpPr txBox="1"/>
          <p:nvPr/>
        </p:nvSpPr>
        <p:spPr>
          <a:xfrm>
            <a:off x="8293608" y="2157984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150">
                <a:solidFill>
                  <a:srgbClr val="4B5563"/>
                </a:solidFill>
                <a:latin typeface="Microsoft YaHei" panose="020B0503020204020204" pitchFamily="34" charset="-122"/>
              </a:rPr>
              <a:t>主从架构中主节点故障会影响写服务，互联网业务需要 </a:t>
            </a:r>
            <a:r>
              <a:rPr lang="en-US" altLang="zh-CN" sz="1150">
                <a:solidFill>
                  <a:srgbClr val="4B5563"/>
                </a:solidFill>
                <a:latin typeface="Microsoft YaHei" panose="020B0503020204020204" pitchFamily="34" charset="-122"/>
              </a:rPr>
              <a:t>7×24 </a:t>
            </a:r>
            <a:r>
              <a:rPr lang="zh-CN" altLang="en-US" sz="1150">
                <a:solidFill>
                  <a:srgbClr val="4B5563"/>
                </a:solidFill>
                <a:latin typeface="Microsoft YaHei" panose="020B0503020204020204" pitchFamily="34" charset="-122"/>
              </a:rPr>
              <a:t>小时持续可用。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8D31E6-2EF6-BA24-E25D-5E458B25E74B}"/>
              </a:ext>
            </a:extLst>
          </p:cNvPr>
          <p:cNvSpPr/>
          <p:nvPr/>
        </p:nvSpPr>
        <p:spPr>
          <a:xfrm>
            <a:off x="1051560" y="3977640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3561C5-F0F8-1350-2475-7D2EA69D1E02}"/>
              </a:ext>
            </a:extLst>
          </p:cNvPr>
          <p:cNvSpPr txBox="1"/>
          <p:nvPr/>
        </p:nvSpPr>
        <p:spPr>
          <a:xfrm>
            <a:off x="1417320" y="4279392"/>
            <a:ext cx="31089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b="1">
                <a:solidFill>
                  <a:srgbClr val="0B3A75"/>
                </a:solidFill>
                <a:latin typeface="Microsoft YaHei" panose="020B0503020204020204" pitchFamily="34" charset="-122"/>
              </a:rPr>
              <a:t>传统 </a:t>
            </a:r>
            <a:r>
              <a:rPr lang="en-US" altLang="zh-CN" b="1">
                <a:solidFill>
                  <a:srgbClr val="0B3A75"/>
                </a:solidFill>
                <a:latin typeface="Microsoft YaHei" panose="020B0503020204020204" pitchFamily="34" charset="-122"/>
              </a:rPr>
              <a:t>RDBMS</a:t>
            </a:r>
            <a:endParaRPr lang="zh-CN" altLang="en-US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4289BCF-831A-67AE-9291-C53F75CC279B}"/>
              </a:ext>
            </a:extLst>
          </p:cNvPr>
          <p:cNvSpPr/>
          <p:nvPr/>
        </p:nvSpPr>
        <p:spPr>
          <a:xfrm>
            <a:off x="7269480" y="3977640"/>
            <a:ext cx="3840481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986A05-64C0-F7DA-97B9-AD9847446B57}"/>
              </a:ext>
            </a:extLst>
          </p:cNvPr>
          <p:cNvSpPr txBox="1"/>
          <p:nvPr/>
        </p:nvSpPr>
        <p:spPr>
          <a:xfrm>
            <a:off x="7909560" y="4279392"/>
            <a:ext cx="25603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2200" b="1">
                <a:solidFill>
                  <a:srgbClr val="0B3A75"/>
                </a:solidFill>
                <a:latin typeface="Microsoft YaHei" panose="020B0503020204020204" pitchFamily="34" charset="-122"/>
              </a:rPr>
              <a:t>NoSQL</a:t>
            </a:r>
            <a:endParaRPr lang="zh-CN" altLang="en-US" sz="22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8DB5033-BA18-6897-9185-37CD4524B7BE}"/>
              </a:ext>
            </a:extLst>
          </p:cNvPr>
          <p:cNvCxnSpPr/>
          <p:nvPr/>
        </p:nvCxnSpPr>
        <p:spPr>
          <a:xfrm>
            <a:off x="5074920" y="4434840"/>
            <a:ext cx="1920240" cy="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0823C1C8-7728-4C9B-4039-46D20D9D051A}"/>
              </a:ext>
            </a:extLst>
          </p:cNvPr>
          <p:cNvSpPr/>
          <p:nvPr/>
        </p:nvSpPr>
        <p:spPr>
          <a:xfrm rot="5400000">
            <a:off x="6876288" y="4297680"/>
            <a:ext cx="228600" cy="274320"/>
          </a:xfrm>
          <a:prstGeom prst="triangl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6B4928-E415-2492-E0B0-ADFE1AFD8D6E}"/>
              </a:ext>
            </a:extLst>
          </p:cNvPr>
          <p:cNvSpPr txBox="1"/>
          <p:nvPr/>
        </p:nvSpPr>
        <p:spPr>
          <a:xfrm>
            <a:off x="3108960" y="5102352"/>
            <a:ext cx="60350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弱化部分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ACID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特性，换取水平扩展、高可用和低延迟</a:t>
            </a:r>
          </a:p>
        </p:txBody>
      </p:sp>
    </p:spTree>
    <p:extLst>
      <p:ext uri="{BB962C8B-B14F-4D97-AF65-F5344CB8AC3E}">
        <p14:creationId xmlns:p14="http://schemas.microsoft.com/office/powerpoint/2010/main" val="93665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CFF032-2199-39B6-CB4D-A826FB2816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EFF4A-238A-2750-7D87-143E2245A97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996FF4-0221-1383-B2CF-72068102799F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58CDF9-5070-D9A1-DD69-3C1B89CD8A0F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研究对象与分析框架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2CEBEF-EEE7-2560-5048-F4242D539A96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9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9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CF8862-096F-1FF5-005B-992DBBEDCFBE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9ABA1B5-9276-2305-27BD-F21CC90285B1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F8BA47F-617F-F9FA-97B4-BFAD00EB991E}"/>
              </a:ext>
            </a:extLst>
          </p:cNvPr>
          <p:cNvSpPr txBox="1"/>
          <p:nvPr/>
        </p:nvSpPr>
        <p:spPr>
          <a:xfrm>
            <a:off x="475488" y="6565392"/>
            <a:ext cx="39319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大数据存储课程答辩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李盛鹏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2351136</a:t>
            </a:r>
            <a:endParaRPr lang="zh-CN" altLang="en-US" sz="800">
              <a:solidFill>
                <a:srgbClr val="6B72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45684F-6B87-18EC-87FC-B60B0E2D1BE0}"/>
              </a:ext>
            </a:extLst>
          </p:cNvPr>
          <p:cNvSpPr txBox="1"/>
          <p:nvPr/>
        </p:nvSpPr>
        <p:spPr>
          <a:xfrm>
            <a:off x="685800" y="896112"/>
            <a:ext cx="10424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围绕代表性系统，从数据模型、架构组件、关键技术和适用场景四个维度进行比较。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72EB74-304F-85B8-616F-E0F4C35E5CF7}"/>
              </a:ext>
            </a:extLst>
          </p:cNvPr>
          <p:cNvSpPr/>
          <p:nvPr/>
        </p:nvSpPr>
        <p:spPr>
          <a:xfrm>
            <a:off x="914400" y="160020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A42E910-AFF1-3493-818D-AD1CAD459A91}"/>
              </a:ext>
            </a:extLst>
          </p:cNvPr>
          <p:cNvSpPr/>
          <p:nvPr/>
        </p:nvSpPr>
        <p:spPr>
          <a:xfrm>
            <a:off x="1078992" y="1783080"/>
            <a:ext cx="475488" cy="475488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586066-A7CA-4765-C7AD-830BC41F4186}"/>
              </a:ext>
            </a:extLst>
          </p:cNvPr>
          <p:cNvSpPr txBox="1"/>
          <p:nvPr/>
        </p:nvSpPr>
        <p:spPr>
          <a:xfrm>
            <a:off x="1133856" y="1920240"/>
            <a:ext cx="365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FDD19A-DA05-1EC4-295C-FFC348A0AD96}"/>
              </a:ext>
            </a:extLst>
          </p:cNvPr>
          <p:cNvSpPr txBox="1"/>
          <p:nvPr/>
        </p:nvSpPr>
        <p:spPr>
          <a:xfrm>
            <a:off x="1691640" y="175564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Key-Value</a:t>
            </a:r>
            <a:endParaRPr lang="zh-CN" altLang="en-US" sz="15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ABCBF8-2AAC-30DE-0352-BD6B774DC371}"/>
              </a:ext>
            </a:extLst>
          </p:cNvPr>
          <p:cNvSpPr txBox="1"/>
          <p:nvPr/>
        </p:nvSpPr>
        <p:spPr>
          <a:xfrm>
            <a:off x="1700784" y="2130552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Dynamo</a:t>
            </a:r>
          </a:p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Memcached</a:t>
            </a:r>
            <a:endParaRPr lang="zh-CN" altLang="en-US" sz="12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1F8A002-584D-B0E7-5F80-AA97A1A0C8CC}"/>
              </a:ext>
            </a:extLst>
          </p:cNvPr>
          <p:cNvSpPr/>
          <p:nvPr/>
        </p:nvSpPr>
        <p:spPr>
          <a:xfrm>
            <a:off x="4617720" y="160020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EB0ED83-6D89-BB2C-F524-E007DA90AB7A}"/>
              </a:ext>
            </a:extLst>
          </p:cNvPr>
          <p:cNvSpPr/>
          <p:nvPr/>
        </p:nvSpPr>
        <p:spPr>
          <a:xfrm>
            <a:off x="4782312" y="1783080"/>
            <a:ext cx="475488" cy="475488"/>
          </a:xfrm>
          <a:prstGeom prst="round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3C4DB6-5052-0349-B42A-E78ECF280ED6}"/>
              </a:ext>
            </a:extLst>
          </p:cNvPr>
          <p:cNvSpPr txBox="1"/>
          <p:nvPr/>
        </p:nvSpPr>
        <p:spPr>
          <a:xfrm>
            <a:off x="4837176" y="1920240"/>
            <a:ext cx="365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CDB8A9-7148-B6E7-3D62-7C6D3971F2C5}"/>
              </a:ext>
            </a:extLst>
          </p:cNvPr>
          <p:cNvSpPr txBox="1"/>
          <p:nvPr/>
        </p:nvSpPr>
        <p:spPr>
          <a:xfrm>
            <a:off x="5394960" y="175564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列族存储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D0B3D8-64F5-2506-38E9-DB550EBC7D84}"/>
              </a:ext>
            </a:extLst>
          </p:cNvPr>
          <p:cNvSpPr txBox="1"/>
          <p:nvPr/>
        </p:nvSpPr>
        <p:spPr>
          <a:xfrm>
            <a:off x="5404104" y="2130552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Bigtable</a:t>
            </a:r>
          </a:p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Cassandra</a:t>
            </a:r>
            <a:endParaRPr lang="zh-CN" altLang="en-US" sz="12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24E4357-CBB1-1DF7-84DF-C664279D57D8}"/>
              </a:ext>
            </a:extLst>
          </p:cNvPr>
          <p:cNvSpPr/>
          <p:nvPr/>
        </p:nvSpPr>
        <p:spPr>
          <a:xfrm>
            <a:off x="8321040" y="160020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4062B9E-130B-EBBE-AC3D-CEEAC65204C3}"/>
              </a:ext>
            </a:extLst>
          </p:cNvPr>
          <p:cNvSpPr/>
          <p:nvPr/>
        </p:nvSpPr>
        <p:spPr>
          <a:xfrm>
            <a:off x="8485632" y="1783080"/>
            <a:ext cx="475488" cy="475488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563D96-7A64-6599-2B9B-FB5C12D213A8}"/>
              </a:ext>
            </a:extLst>
          </p:cNvPr>
          <p:cNvSpPr txBox="1"/>
          <p:nvPr/>
        </p:nvSpPr>
        <p:spPr>
          <a:xfrm>
            <a:off x="8540496" y="1920240"/>
            <a:ext cx="365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0C224B-AF80-1CFC-1BBE-877962D286EB}"/>
              </a:ext>
            </a:extLst>
          </p:cNvPr>
          <p:cNvSpPr txBox="1"/>
          <p:nvPr/>
        </p:nvSpPr>
        <p:spPr>
          <a:xfrm>
            <a:off x="9098280" y="175564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存储引擎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8878B2-650A-4663-8873-223E89165953}"/>
              </a:ext>
            </a:extLst>
          </p:cNvPr>
          <p:cNvSpPr txBox="1"/>
          <p:nvPr/>
        </p:nvSpPr>
        <p:spPr>
          <a:xfrm>
            <a:off x="9107424" y="2130552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RocksDB</a:t>
            </a:r>
          </a:p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MemC3</a:t>
            </a:r>
            <a:endParaRPr lang="zh-CN" altLang="en-US" sz="12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3268B1B-D3A0-68B5-4245-724210DDE2DD}"/>
              </a:ext>
            </a:extLst>
          </p:cNvPr>
          <p:cNvSpPr/>
          <p:nvPr/>
        </p:nvSpPr>
        <p:spPr>
          <a:xfrm>
            <a:off x="2697480" y="379476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9FAC124-39E0-7C24-1B6F-791D83107DB9}"/>
              </a:ext>
            </a:extLst>
          </p:cNvPr>
          <p:cNvSpPr/>
          <p:nvPr/>
        </p:nvSpPr>
        <p:spPr>
          <a:xfrm>
            <a:off x="2862072" y="3977640"/>
            <a:ext cx="475488" cy="475488"/>
          </a:xfrm>
          <a:prstGeom prst="round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F173A7-3FC7-0502-DC9A-A85BA7AA2F6D}"/>
              </a:ext>
            </a:extLst>
          </p:cNvPr>
          <p:cNvSpPr txBox="1"/>
          <p:nvPr/>
        </p:nvSpPr>
        <p:spPr>
          <a:xfrm>
            <a:off x="2916936" y="4114800"/>
            <a:ext cx="365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D5489C-A4FE-CEC8-B1BA-08A82B04C3F8}"/>
              </a:ext>
            </a:extLst>
          </p:cNvPr>
          <p:cNvSpPr txBox="1"/>
          <p:nvPr/>
        </p:nvSpPr>
        <p:spPr>
          <a:xfrm>
            <a:off x="3474720" y="395020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NewSQL</a:t>
            </a:r>
            <a:endParaRPr lang="zh-CN" altLang="en-US" sz="15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5ABC901-F14C-D146-FFBF-5B4273FBE6E4}"/>
              </a:ext>
            </a:extLst>
          </p:cNvPr>
          <p:cNvSpPr txBox="1"/>
          <p:nvPr/>
        </p:nvSpPr>
        <p:spPr>
          <a:xfrm>
            <a:off x="3483864" y="4325112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CockroachDB</a:t>
            </a:r>
            <a:endParaRPr lang="zh-CN" altLang="en-US" sz="12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88C0433-EF9D-E90F-B9FD-F22D5F64F1AE}"/>
              </a:ext>
            </a:extLst>
          </p:cNvPr>
          <p:cNvSpPr/>
          <p:nvPr/>
        </p:nvSpPr>
        <p:spPr>
          <a:xfrm>
            <a:off x="6446520" y="379476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32D5473-E008-32BD-AC02-BA820DD38135}"/>
              </a:ext>
            </a:extLst>
          </p:cNvPr>
          <p:cNvSpPr/>
          <p:nvPr/>
        </p:nvSpPr>
        <p:spPr>
          <a:xfrm>
            <a:off x="6611112" y="3977640"/>
            <a:ext cx="475488" cy="475488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EF4FCFE-DB48-F1AF-4DC2-C060622A2231}"/>
              </a:ext>
            </a:extLst>
          </p:cNvPr>
          <p:cNvSpPr txBox="1"/>
          <p:nvPr/>
        </p:nvSpPr>
        <p:spPr>
          <a:xfrm>
            <a:off x="6665976" y="4114800"/>
            <a:ext cx="365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8F32F7-0C02-E570-1524-7A4D2514DCC8}"/>
              </a:ext>
            </a:extLst>
          </p:cNvPr>
          <p:cNvSpPr txBox="1"/>
          <p:nvPr/>
        </p:nvSpPr>
        <p:spPr>
          <a:xfrm>
            <a:off x="7223760" y="395020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500" b="1">
                <a:solidFill>
                  <a:srgbClr val="0B3A75"/>
                </a:solidFill>
                <a:latin typeface="Microsoft YaHei" panose="020B0503020204020204" pitchFamily="34" charset="-122"/>
              </a:rPr>
              <a:t>多模型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8441817-402A-B55E-1344-69B8B93175B9}"/>
              </a:ext>
            </a:extLst>
          </p:cNvPr>
          <p:cNvSpPr txBox="1"/>
          <p:nvPr/>
        </p:nvSpPr>
        <p:spPr>
          <a:xfrm>
            <a:off x="7232904" y="4325112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ArangoDB</a:t>
            </a:r>
          </a:p>
          <a:p>
            <a:r>
              <a:rPr lang="en-US" altLang="zh-CN" sz="1200">
                <a:solidFill>
                  <a:srgbClr val="4B5563"/>
                </a:solidFill>
                <a:latin typeface="Microsoft YaHei" panose="020B0503020204020204" pitchFamily="34" charset="-122"/>
              </a:rPr>
              <a:t>OrientDB</a:t>
            </a:r>
            <a:endParaRPr lang="zh-CN" altLang="en-US" sz="12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D1858C3-A4BE-3D95-11CC-386A46BF2A7F}"/>
              </a:ext>
            </a:extLst>
          </p:cNvPr>
          <p:cNvSpPr txBox="1"/>
          <p:nvPr/>
        </p:nvSpPr>
        <p:spPr>
          <a:xfrm>
            <a:off x="1188720" y="5577840"/>
            <a:ext cx="97840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论文来源：</a:t>
            </a:r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SOSP / OSDI / NSDI / VLDB / SIGMOD / CIDR</a:t>
            </a:r>
            <a:endParaRPr lang="zh-CN" altLang="en-US" sz="13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053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8CE052-9311-1113-CF30-7335BEBF2E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D987BA-C49F-54B0-691C-A46815279A0E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C0E712-2DCE-6933-74D1-6617B8419BF2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45412C-1DF9-D251-CABF-32A624D09D6B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技术演进时间线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485882-1ED3-1E29-ABB7-871372035755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9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9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E0CBC5-09E1-60BD-1838-EC3D03997F9C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51A1214-FA0F-9993-E67C-049D59647C88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CB6E782-8C9F-8F7E-4980-D6141757FA8B}"/>
              </a:ext>
            </a:extLst>
          </p:cNvPr>
          <p:cNvSpPr txBox="1"/>
          <p:nvPr/>
        </p:nvSpPr>
        <p:spPr>
          <a:xfrm>
            <a:off x="475488" y="6565392"/>
            <a:ext cx="39319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大数据存储课程答辩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800">
                <a:solidFill>
                  <a:srgbClr val="6B7280"/>
                </a:solidFill>
                <a:latin typeface="Microsoft YaHei" panose="020B0503020204020204" pitchFamily="34" charset="-122"/>
              </a:rPr>
              <a:t>李盛鹏 </a:t>
            </a:r>
            <a:r>
              <a:rPr lang="en-US" altLang="zh-CN" sz="800">
                <a:solidFill>
                  <a:srgbClr val="6B7280"/>
                </a:solidFill>
                <a:latin typeface="Microsoft YaHei" panose="020B0503020204020204" pitchFamily="34" charset="-122"/>
              </a:rPr>
              <a:t>2351136</a:t>
            </a:r>
            <a:endParaRPr lang="zh-CN" altLang="en-US" sz="800">
              <a:solidFill>
                <a:srgbClr val="6B728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C87F04C-CFEE-4AA6-CFB7-C41EE390E844}"/>
              </a:ext>
            </a:extLst>
          </p:cNvPr>
          <p:cNvCxnSpPr/>
          <p:nvPr/>
        </p:nvCxnSpPr>
        <p:spPr>
          <a:xfrm>
            <a:off x="1005840" y="2971800"/>
            <a:ext cx="9966960" cy="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653A071D-672D-7842-B975-BF835995F2BF}"/>
              </a:ext>
            </a:extLst>
          </p:cNvPr>
          <p:cNvSpPr/>
          <p:nvPr/>
        </p:nvSpPr>
        <p:spPr>
          <a:xfrm>
            <a:off x="1691640" y="2788920"/>
            <a:ext cx="384048" cy="384048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5062253-A7BD-2686-F2E1-B85F5F032A8F}"/>
              </a:ext>
            </a:extLst>
          </p:cNvPr>
          <p:cNvSpPr/>
          <p:nvPr/>
        </p:nvSpPr>
        <p:spPr>
          <a:xfrm>
            <a:off x="914400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29E24F-F0C4-A051-79A5-9C1073F7FBB8}"/>
              </a:ext>
            </a:extLst>
          </p:cNvPr>
          <p:cNvSpPr txBox="1"/>
          <p:nvPr/>
        </p:nvSpPr>
        <p:spPr>
          <a:xfrm>
            <a:off x="1078992" y="1517904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B3A75"/>
                </a:solidFill>
                <a:latin typeface="Microsoft YaHei" panose="020B0503020204020204" pitchFamily="34" charset="-122"/>
              </a:rPr>
              <a:t>2003-2006</a:t>
            </a:r>
            <a:endParaRPr lang="zh-CN" altLang="en-US" sz="12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5EB789-4DBE-1992-D4E5-677B4A2B3E21}"/>
              </a:ext>
            </a:extLst>
          </p:cNvPr>
          <p:cNvSpPr txBox="1"/>
          <p:nvPr/>
        </p:nvSpPr>
        <p:spPr>
          <a:xfrm>
            <a:off x="1078992" y="181051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1565C0"/>
                </a:solidFill>
                <a:latin typeface="Microsoft YaHei" panose="020B0503020204020204" pitchFamily="34" charset="-122"/>
              </a:rPr>
              <a:t>萌芽期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3D1DC1-AF33-95E2-7D06-B540862F673C}"/>
              </a:ext>
            </a:extLst>
          </p:cNvPr>
          <p:cNvSpPr txBox="1"/>
          <p:nvPr/>
        </p:nvSpPr>
        <p:spPr>
          <a:xfrm>
            <a:off x="1143000" y="2121408"/>
            <a:ext cx="1508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950" dirty="0">
                <a:solidFill>
                  <a:srgbClr val="4B5563"/>
                </a:solidFill>
                <a:latin typeface="Microsoft YaHei" panose="020B0503020204020204" pitchFamily="34" charset="-122"/>
              </a:rPr>
              <a:t>GFS</a:t>
            </a:r>
          </a:p>
          <a:p>
            <a:pPr algn="ctr"/>
            <a:r>
              <a:rPr lang="en-US" altLang="zh-CN" sz="950" dirty="0">
                <a:solidFill>
                  <a:srgbClr val="4B5563"/>
                </a:solidFill>
                <a:latin typeface="Microsoft YaHei" panose="020B0503020204020204" pitchFamily="34" charset="-122"/>
              </a:rPr>
              <a:t>MapReduce</a:t>
            </a:r>
          </a:p>
          <a:p>
            <a:pPr algn="ctr"/>
            <a:r>
              <a:rPr lang="en-US" altLang="zh-CN" sz="950" dirty="0">
                <a:solidFill>
                  <a:srgbClr val="4B5563"/>
                </a:solidFill>
                <a:latin typeface="Microsoft YaHei" panose="020B0503020204020204" pitchFamily="34" charset="-122"/>
              </a:rPr>
              <a:t>Bigtable</a:t>
            </a:r>
            <a:endParaRPr lang="zh-CN" altLang="en-US" sz="950" dirty="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8666FE1-AF42-7815-2B5F-88FA6C5899B1}"/>
              </a:ext>
            </a:extLst>
          </p:cNvPr>
          <p:cNvSpPr/>
          <p:nvPr/>
        </p:nvSpPr>
        <p:spPr>
          <a:xfrm>
            <a:off x="914400" y="3493008"/>
            <a:ext cx="1965960" cy="12984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7C373F-A8AF-A90E-6E50-897EA9D96B55}"/>
              </a:ext>
            </a:extLst>
          </p:cNvPr>
          <p:cNvSpPr txBox="1"/>
          <p:nvPr/>
        </p:nvSpPr>
        <p:spPr>
          <a:xfrm>
            <a:off x="1078992" y="373075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内部系统探索：为分布式存储和批处理奠基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37B7660-4E0A-6A1D-E927-45CD742A5737}"/>
              </a:ext>
            </a:extLst>
          </p:cNvPr>
          <p:cNvSpPr/>
          <p:nvPr/>
        </p:nvSpPr>
        <p:spPr>
          <a:xfrm>
            <a:off x="4297680" y="2788920"/>
            <a:ext cx="384048" cy="384048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9ACDD8B-4AE8-B739-3707-6C8B7BA97309}"/>
              </a:ext>
            </a:extLst>
          </p:cNvPr>
          <p:cNvSpPr/>
          <p:nvPr/>
        </p:nvSpPr>
        <p:spPr>
          <a:xfrm>
            <a:off x="3520440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B0EE2E-E7A0-866A-277E-A72E507C2728}"/>
              </a:ext>
            </a:extLst>
          </p:cNvPr>
          <p:cNvSpPr txBox="1"/>
          <p:nvPr/>
        </p:nvSpPr>
        <p:spPr>
          <a:xfrm>
            <a:off x="3685032" y="1517904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B3A75"/>
                </a:solidFill>
                <a:latin typeface="Microsoft YaHei" panose="020B0503020204020204" pitchFamily="34" charset="-122"/>
              </a:rPr>
              <a:t>2007-2012</a:t>
            </a:r>
            <a:endParaRPr lang="zh-CN" altLang="en-US" sz="12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9C5956-71E0-796E-7C26-C0ACE559F781}"/>
              </a:ext>
            </a:extLst>
          </p:cNvPr>
          <p:cNvSpPr txBox="1"/>
          <p:nvPr/>
        </p:nvSpPr>
        <p:spPr>
          <a:xfrm>
            <a:off x="3685032" y="181051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1565C0"/>
                </a:solidFill>
                <a:latin typeface="Microsoft YaHei" panose="020B0503020204020204" pitchFamily="34" charset="-122"/>
              </a:rPr>
              <a:t>爆发期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9FEC08-FF42-B551-A7B2-CA07B6943373}"/>
              </a:ext>
            </a:extLst>
          </p:cNvPr>
          <p:cNvSpPr txBox="1"/>
          <p:nvPr/>
        </p:nvSpPr>
        <p:spPr>
          <a:xfrm>
            <a:off x="3749040" y="2121408"/>
            <a:ext cx="1508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Dynamo</a:t>
            </a:r>
          </a:p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Cassandra</a:t>
            </a:r>
          </a:p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MongoDB</a:t>
            </a:r>
            <a:endParaRPr lang="zh-CN" altLang="en-US" sz="95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8AE5FC4-83DA-04CD-02EB-429E26DABBB0}"/>
              </a:ext>
            </a:extLst>
          </p:cNvPr>
          <p:cNvSpPr/>
          <p:nvPr/>
        </p:nvSpPr>
        <p:spPr>
          <a:xfrm>
            <a:off x="3520440" y="3493008"/>
            <a:ext cx="1965960" cy="12984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D4C2DF-5F80-8AC9-478D-04FBE7BA194D}"/>
              </a:ext>
            </a:extLst>
          </p:cNvPr>
          <p:cNvSpPr txBox="1"/>
          <p:nvPr/>
        </p:nvSpPr>
        <p:spPr>
          <a:xfrm>
            <a:off x="3685032" y="373075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开源系统涌现：</a:t>
            </a:r>
            <a:r>
              <a:rPr lang="en-US" altLang="zh-CN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进入生产环境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3338A06-9421-1829-3278-107D28F0EEAE}"/>
              </a:ext>
            </a:extLst>
          </p:cNvPr>
          <p:cNvSpPr/>
          <p:nvPr/>
        </p:nvSpPr>
        <p:spPr>
          <a:xfrm>
            <a:off x="6949440" y="2788920"/>
            <a:ext cx="384048" cy="384048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46BD6BA-70CD-6CDC-00BF-DD12E1B7EF92}"/>
              </a:ext>
            </a:extLst>
          </p:cNvPr>
          <p:cNvSpPr/>
          <p:nvPr/>
        </p:nvSpPr>
        <p:spPr>
          <a:xfrm>
            <a:off x="6172200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8DC3AF-010E-D93F-8539-DB94E9B826C1}"/>
              </a:ext>
            </a:extLst>
          </p:cNvPr>
          <p:cNvSpPr txBox="1"/>
          <p:nvPr/>
        </p:nvSpPr>
        <p:spPr>
          <a:xfrm>
            <a:off x="6336792" y="1517904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B3A75"/>
                </a:solidFill>
                <a:latin typeface="Microsoft YaHei" panose="020B0503020204020204" pitchFamily="34" charset="-122"/>
              </a:rPr>
              <a:t>2013-2017</a:t>
            </a:r>
            <a:endParaRPr lang="zh-CN" altLang="en-US" sz="12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D39CCC4-3A43-5DD3-0A52-9DAEAC8E9AED}"/>
              </a:ext>
            </a:extLst>
          </p:cNvPr>
          <p:cNvSpPr txBox="1"/>
          <p:nvPr/>
        </p:nvSpPr>
        <p:spPr>
          <a:xfrm>
            <a:off x="6336792" y="181051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1565C0"/>
                </a:solidFill>
                <a:latin typeface="Microsoft YaHei" panose="020B0503020204020204" pitchFamily="34" charset="-122"/>
              </a:rPr>
              <a:t>成熟期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0B34DB-8C59-69F9-8818-16D4E5034D9D}"/>
              </a:ext>
            </a:extLst>
          </p:cNvPr>
          <p:cNvSpPr txBox="1"/>
          <p:nvPr/>
        </p:nvSpPr>
        <p:spPr>
          <a:xfrm>
            <a:off x="6400800" y="2121408"/>
            <a:ext cx="1508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MemC3</a:t>
            </a:r>
          </a:p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RocksDB</a:t>
            </a:r>
          </a:p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PebblesDB</a:t>
            </a:r>
            <a:endParaRPr lang="zh-CN" altLang="en-US" sz="95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82C0FB4-8083-9B32-5335-F8CC2C6116B3}"/>
              </a:ext>
            </a:extLst>
          </p:cNvPr>
          <p:cNvSpPr/>
          <p:nvPr/>
        </p:nvSpPr>
        <p:spPr>
          <a:xfrm>
            <a:off x="6172200" y="3493008"/>
            <a:ext cx="1965960" cy="12984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D9EDA6-03EE-C89B-D249-43832A60E77F}"/>
              </a:ext>
            </a:extLst>
          </p:cNvPr>
          <p:cNvSpPr txBox="1"/>
          <p:nvPr/>
        </p:nvSpPr>
        <p:spPr>
          <a:xfrm>
            <a:off x="6336792" y="373075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系统优化深化：缓存与存储引擎成为重点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D9EEBC6-0B73-2E96-BCC7-AB03C6D7459B}"/>
              </a:ext>
            </a:extLst>
          </p:cNvPr>
          <p:cNvSpPr/>
          <p:nvPr/>
        </p:nvSpPr>
        <p:spPr>
          <a:xfrm>
            <a:off x="9601200" y="2788920"/>
            <a:ext cx="384048" cy="384048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5BA57A3-830C-2272-67ED-F3C609F4B02A}"/>
              </a:ext>
            </a:extLst>
          </p:cNvPr>
          <p:cNvSpPr/>
          <p:nvPr/>
        </p:nvSpPr>
        <p:spPr>
          <a:xfrm>
            <a:off x="8823960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67BB871-B032-578E-46C3-768B57A57305}"/>
              </a:ext>
            </a:extLst>
          </p:cNvPr>
          <p:cNvSpPr txBox="1"/>
          <p:nvPr/>
        </p:nvSpPr>
        <p:spPr>
          <a:xfrm>
            <a:off x="8988552" y="1517904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200" b="1">
                <a:solidFill>
                  <a:srgbClr val="0B3A75"/>
                </a:solidFill>
                <a:latin typeface="Microsoft YaHei" panose="020B0503020204020204" pitchFamily="34" charset="-122"/>
              </a:rPr>
              <a:t>2018-</a:t>
            </a:r>
            <a:r>
              <a:rPr lang="zh-CN" altLang="en-US" sz="1200" b="1">
                <a:solidFill>
                  <a:srgbClr val="0B3A75"/>
                </a:solidFill>
                <a:latin typeface="Microsoft YaHei" panose="020B0503020204020204" pitchFamily="34" charset="-122"/>
              </a:rPr>
              <a:t>至今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57422F0-E23F-7758-408E-2C5E7ED951C3}"/>
              </a:ext>
            </a:extLst>
          </p:cNvPr>
          <p:cNvSpPr txBox="1"/>
          <p:nvPr/>
        </p:nvSpPr>
        <p:spPr>
          <a:xfrm>
            <a:off x="8988552" y="181051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1565C0"/>
                </a:solidFill>
                <a:latin typeface="Microsoft YaHei" panose="020B0503020204020204" pitchFamily="34" charset="-122"/>
              </a:rPr>
              <a:t>融合期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933FE8F-0FF8-5B85-C300-71A5FF4801D2}"/>
              </a:ext>
            </a:extLst>
          </p:cNvPr>
          <p:cNvSpPr txBox="1"/>
          <p:nvPr/>
        </p:nvSpPr>
        <p:spPr>
          <a:xfrm>
            <a:off x="9052560" y="2121408"/>
            <a:ext cx="1508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Spanner</a:t>
            </a:r>
          </a:p>
          <a:p>
            <a:pPr algn="ctr"/>
            <a:r>
              <a:rPr lang="en-US" altLang="zh-CN" sz="950">
                <a:solidFill>
                  <a:srgbClr val="4B5563"/>
                </a:solidFill>
                <a:latin typeface="Microsoft YaHei" panose="020B0503020204020204" pitchFamily="34" charset="-122"/>
              </a:rPr>
              <a:t>CockroachDB</a:t>
            </a:r>
          </a:p>
          <a:p>
            <a:pPr algn="ctr"/>
            <a:r>
              <a:rPr lang="zh-CN" altLang="en-US" sz="950">
                <a:solidFill>
                  <a:srgbClr val="4B5563"/>
                </a:solidFill>
                <a:latin typeface="Microsoft YaHei" panose="020B0503020204020204" pitchFamily="34" charset="-122"/>
              </a:rPr>
              <a:t>多模型数据库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C9D346B-1FF2-F2BF-A50D-9EBB9CCD9BB8}"/>
              </a:ext>
            </a:extLst>
          </p:cNvPr>
          <p:cNvSpPr/>
          <p:nvPr/>
        </p:nvSpPr>
        <p:spPr>
          <a:xfrm>
            <a:off x="8823960" y="3493008"/>
            <a:ext cx="1965960" cy="129844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AC9ED81-1993-E7C2-3F52-04782039ED75}"/>
              </a:ext>
            </a:extLst>
          </p:cNvPr>
          <p:cNvSpPr txBox="1"/>
          <p:nvPr/>
        </p:nvSpPr>
        <p:spPr>
          <a:xfrm>
            <a:off x="8988552" y="3730752"/>
            <a:ext cx="162763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SQL </a:t>
            </a:r>
            <a:r>
              <a:rPr lang="zh-CN" altLang="en-US" sz="1600" dirty="0">
                <a:solidFill>
                  <a:srgbClr val="4B5563"/>
                </a:solidFill>
                <a:latin typeface="Microsoft YaHei" panose="020B0503020204020204" pitchFamily="34" charset="-122"/>
              </a:rPr>
              <a:t>融合：追求扩展性和易用性平衡</a:t>
            </a:r>
          </a:p>
        </p:txBody>
      </p:sp>
    </p:spTree>
    <p:extLst>
      <p:ext uri="{BB962C8B-B14F-4D97-AF65-F5344CB8AC3E}">
        <p14:creationId xmlns:p14="http://schemas.microsoft.com/office/powerpoint/2010/main" val="136397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15CC76-50AF-34A6-DD7E-1B2786F7353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0D009B-3FA8-3AE7-5DE4-D0F834A5CF8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C65C05-041A-A276-4D0C-81DA0CE166B5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8F8049-9C79-7D26-DF3E-090195703857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技术发展的三类驱动力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9339E0-09E5-E71D-828F-87C57FE1BDD4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3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3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B55D72-8C6D-BA31-E7A1-E4D98A860DAD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0AA6159-6230-3FDD-15DF-297C2A4F3754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A926FCB-83DA-4BBE-0BCE-240D6297101A}"/>
              </a:ext>
            </a:extLst>
          </p:cNvPr>
          <p:cNvSpPr/>
          <p:nvPr/>
        </p:nvSpPr>
        <p:spPr>
          <a:xfrm>
            <a:off x="685800" y="1207008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B476B3-01E0-9213-41CF-18A01A89DB3C}"/>
              </a:ext>
            </a:extLst>
          </p:cNvPr>
          <p:cNvSpPr/>
          <p:nvPr/>
        </p:nvSpPr>
        <p:spPr>
          <a:xfrm>
            <a:off x="685800" y="1207008"/>
            <a:ext cx="73152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EF4E5F-5C9A-3E1E-A8AA-16496F4C8DF2}"/>
              </a:ext>
            </a:extLst>
          </p:cNvPr>
          <p:cNvSpPr txBox="1"/>
          <p:nvPr/>
        </p:nvSpPr>
        <p:spPr>
          <a:xfrm>
            <a:off x="886968" y="1371600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数据规模驱动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5AA418-7E0F-372E-A3A5-1077AB17D0CE}"/>
              </a:ext>
            </a:extLst>
          </p:cNvPr>
          <p:cNvSpPr txBox="1"/>
          <p:nvPr/>
        </p:nvSpPr>
        <p:spPr>
          <a:xfrm>
            <a:off x="886968" y="181051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网页索引、社交网络和电商业务带来 </a:t>
            </a:r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PB </a:t>
            </a:r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级数据与海量写入，单机数据库难以支撑。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7B61CD-BB57-848E-1B0C-6076B1A96820}"/>
              </a:ext>
            </a:extLst>
          </p:cNvPr>
          <p:cNvSpPr/>
          <p:nvPr/>
        </p:nvSpPr>
        <p:spPr>
          <a:xfrm>
            <a:off x="4389120" y="1207008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E1A73A-8B63-B9FA-5BA8-30EEC12537E5}"/>
              </a:ext>
            </a:extLst>
          </p:cNvPr>
          <p:cNvSpPr/>
          <p:nvPr/>
        </p:nvSpPr>
        <p:spPr>
          <a:xfrm>
            <a:off x="4389120" y="1207008"/>
            <a:ext cx="73152" cy="1828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45344D-9453-9644-9483-7A700BCFDE73}"/>
              </a:ext>
            </a:extLst>
          </p:cNvPr>
          <p:cNvSpPr txBox="1"/>
          <p:nvPr/>
        </p:nvSpPr>
        <p:spPr>
          <a:xfrm>
            <a:off x="4590288" y="1371600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硬件发展驱动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26D687-E8D3-76EE-726E-88E717C305A6}"/>
              </a:ext>
            </a:extLst>
          </p:cNvPr>
          <p:cNvSpPr txBox="1"/>
          <p:nvPr/>
        </p:nvSpPr>
        <p:spPr>
          <a:xfrm>
            <a:off x="4590288" y="181051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SSD</a:t>
            </a:r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、多核 </a:t>
            </a:r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CPU</a:t>
            </a:r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、万兆网络和大容量内存改变系统瓶颈，推动 </a:t>
            </a:r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LSM-Tree</a:t>
            </a:r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、锁优化和缓存架构演进。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B4BBAA8-DE52-0C9D-CC1C-A7DDA827077E}"/>
              </a:ext>
            </a:extLst>
          </p:cNvPr>
          <p:cNvSpPr/>
          <p:nvPr/>
        </p:nvSpPr>
        <p:spPr>
          <a:xfrm>
            <a:off x="8092440" y="1207008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08DECE-F4F2-351F-DC9A-FA66C57B3A37}"/>
              </a:ext>
            </a:extLst>
          </p:cNvPr>
          <p:cNvSpPr/>
          <p:nvPr/>
        </p:nvSpPr>
        <p:spPr>
          <a:xfrm>
            <a:off x="8092440" y="1207008"/>
            <a:ext cx="73152" cy="18288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7854D2-87FA-11C2-CAEB-AC04A44083AB}"/>
              </a:ext>
            </a:extLst>
          </p:cNvPr>
          <p:cNvSpPr txBox="1"/>
          <p:nvPr/>
        </p:nvSpPr>
        <p:spPr>
          <a:xfrm>
            <a:off x="8293608" y="1371600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业务需求驱动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30213E-B78B-5F01-D6D6-037DF7CE7B57}"/>
              </a:ext>
            </a:extLst>
          </p:cNvPr>
          <p:cNvSpPr txBox="1"/>
          <p:nvPr/>
        </p:nvSpPr>
        <p:spPr>
          <a:xfrm>
            <a:off x="8293608" y="1810512"/>
            <a:ext cx="309981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300">
                <a:solidFill>
                  <a:srgbClr val="4B5563"/>
                </a:solidFill>
                <a:latin typeface="Microsoft YaHei" panose="020B0503020204020204" pitchFamily="34" charset="-122"/>
              </a:rPr>
              <a:t>7×24 </a:t>
            </a:r>
            <a:r>
              <a:rPr lang="zh-CN" altLang="en-US" sz="1300">
                <a:solidFill>
                  <a:srgbClr val="4B5563"/>
                </a:solidFill>
                <a:latin typeface="Microsoft YaHei" panose="020B0503020204020204" pitchFamily="34" charset="-122"/>
              </a:rPr>
              <a:t>可用、低延迟响应、跨地域部署和数据合规，要求数据库按场景做一致性取舍。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4A0DDB-BDCC-7F5D-95FC-0C45A4AF67F5}"/>
              </a:ext>
            </a:extLst>
          </p:cNvPr>
          <p:cNvSpPr/>
          <p:nvPr/>
        </p:nvSpPr>
        <p:spPr>
          <a:xfrm>
            <a:off x="1005840" y="3703320"/>
            <a:ext cx="10149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9F1415-F123-BBFB-82E6-49192E484594}"/>
              </a:ext>
            </a:extLst>
          </p:cNvPr>
          <p:cNvSpPr/>
          <p:nvPr/>
        </p:nvSpPr>
        <p:spPr>
          <a:xfrm>
            <a:off x="1005840" y="3703320"/>
            <a:ext cx="10149840" cy="34747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9566CB-3C75-9976-F738-A65F6E85266B}"/>
              </a:ext>
            </a:extLst>
          </p:cNvPr>
          <p:cNvSpPr txBox="1"/>
          <p:nvPr/>
        </p:nvSpPr>
        <p:spPr>
          <a:xfrm>
            <a:off x="1143000" y="3776472"/>
            <a:ext cx="19202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驱动因素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DBD587-B4B3-9A7A-57E6-5F6F7598F5E9}"/>
              </a:ext>
            </a:extLst>
          </p:cNvPr>
          <p:cNvSpPr txBox="1"/>
          <p:nvPr/>
        </p:nvSpPr>
        <p:spPr>
          <a:xfrm>
            <a:off x="3474720" y="3776472"/>
            <a:ext cx="3840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典型影响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A72B6C-E18B-B319-30B0-A2F2551ECA58}"/>
              </a:ext>
            </a:extLst>
          </p:cNvPr>
          <p:cNvSpPr txBox="1"/>
          <p:nvPr/>
        </p:nvSpPr>
        <p:spPr>
          <a:xfrm>
            <a:off x="7863840" y="3776472"/>
            <a:ext cx="3017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受益系统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A01BB6-CF4F-26F4-2F33-F8F0768C4090}"/>
              </a:ext>
            </a:extLst>
          </p:cNvPr>
          <p:cNvSpPr txBox="1"/>
          <p:nvPr/>
        </p:nvSpPr>
        <p:spPr>
          <a:xfrm>
            <a:off x="1188720" y="4114800"/>
            <a:ext cx="20116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SSD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普及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C29898B-CCB4-DCBE-5FF1-A222203C7FCC}"/>
              </a:ext>
            </a:extLst>
          </p:cNvPr>
          <p:cNvSpPr txBox="1"/>
          <p:nvPr/>
        </p:nvSpPr>
        <p:spPr>
          <a:xfrm>
            <a:off x="3566160" y="4114800"/>
            <a:ext cx="3657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随机写入性能提升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90EA17A-0F82-EA8B-6F59-631A96AA8BDD}"/>
              </a:ext>
            </a:extLst>
          </p:cNvPr>
          <p:cNvSpPr txBox="1"/>
          <p:nvPr/>
        </p:nvSpPr>
        <p:spPr>
          <a:xfrm>
            <a:off x="7589520" y="4114800"/>
            <a:ext cx="34747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RocksDB / Cassandra</a:t>
            </a:r>
            <a:endParaRPr lang="zh-CN" altLang="en-US" sz="13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E64B57E-45FE-4048-8E91-815424D8A3CF}"/>
              </a:ext>
            </a:extLst>
          </p:cNvPr>
          <p:cNvSpPr txBox="1"/>
          <p:nvPr/>
        </p:nvSpPr>
        <p:spPr>
          <a:xfrm>
            <a:off x="1188720" y="4389120"/>
            <a:ext cx="20116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多核 </a:t>
            </a: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CPU</a:t>
            </a:r>
            <a:endParaRPr lang="zh-CN" altLang="en-US" sz="13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DE964A8-4F37-2CFD-9CF8-FAD9F5FDA9E5}"/>
              </a:ext>
            </a:extLst>
          </p:cNvPr>
          <p:cNvSpPr txBox="1"/>
          <p:nvPr/>
        </p:nvSpPr>
        <p:spPr>
          <a:xfrm>
            <a:off x="3566160" y="4389120"/>
            <a:ext cx="3657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并发处理和锁优化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C9C8F32-0E45-677D-8F54-73D57FB77C46}"/>
              </a:ext>
            </a:extLst>
          </p:cNvPr>
          <p:cNvSpPr txBox="1"/>
          <p:nvPr/>
        </p:nvSpPr>
        <p:spPr>
          <a:xfrm>
            <a:off x="7589520" y="4389120"/>
            <a:ext cx="34747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MemC3 / Cassandra</a:t>
            </a:r>
            <a:endParaRPr lang="zh-CN" altLang="en-US" sz="13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31C8D7D-48BE-3BF1-7B6A-59B22549568C}"/>
              </a:ext>
            </a:extLst>
          </p:cNvPr>
          <p:cNvSpPr txBox="1"/>
          <p:nvPr/>
        </p:nvSpPr>
        <p:spPr>
          <a:xfrm>
            <a:off x="1188720" y="4663440"/>
            <a:ext cx="20116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全球部署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5889624-9513-4C8B-47E8-765679946EBF}"/>
              </a:ext>
            </a:extLst>
          </p:cNvPr>
          <p:cNvSpPr txBox="1"/>
          <p:nvPr/>
        </p:nvSpPr>
        <p:spPr>
          <a:xfrm>
            <a:off x="3566160" y="4663440"/>
            <a:ext cx="3657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跨地域一致性与合规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852A8B5-A549-2623-5941-2D2C77ADBEFB}"/>
              </a:ext>
            </a:extLst>
          </p:cNvPr>
          <p:cNvSpPr txBox="1"/>
          <p:nvPr/>
        </p:nvSpPr>
        <p:spPr>
          <a:xfrm>
            <a:off x="7589520" y="4663440"/>
            <a:ext cx="34747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CockroachDB / Spanner</a:t>
            </a:r>
            <a:endParaRPr lang="zh-CN" altLang="en-US" sz="13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787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87D76F-48F9-95A5-342E-F5A19EBF3F7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7E272-BE67-BAE1-AA40-2604F1C6CB33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6EC564-1DAD-F574-3DFE-2B5804B0AE02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B699A2-EA6D-BAA4-EAA7-4AE54F22A9B2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经典系统一：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Bigtable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Dynamo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0A1DE1-7F4B-5DAC-C3E9-E985C7DC4E28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3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3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A37275-9A1B-C6B4-1CFF-7AE62E9B9818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5E13BD-EEEC-36BD-E485-B12D5013125C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3A07A0-BC67-5343-075F-8EF1DC70223B}"/>
              </a:ext>
            </a:extLst>
          </p:cNvPr>
          <p:cNvSpPr/>
          <p:nvPr/>
        </p:nvSpPr>
        <p:spPr>
          <a:xfrm>
            <a:off x="685800" y="1051560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1E3022-86D3-2A34-E6B3-89ECA7B0EF09}"/>
              </a:ext>
            </a:extLst>
          </p:cNvPr>
          <p:cNvSpPr txBox="1"/>
          <p:nvPr/>
        </p:nvSpPr>
        <p:spPr>
          <a:xfrm>
            <a:off x="960120" y="1298448"/>
            <a:ext cx="42062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Bigtable</a:t>
            </a:r>
            <a:r>
              <a:rPr lang="zh-CN" altLang="en-US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：列族存储，偏 </a:t>
            </a:r>
            <a:r>
              <a:rPr lang="en-US" altLang="zh-CN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CP</a:t>
            </a:r>
            <a:endParaRPr lang="zh-CN" altLang="en-US" sz="17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C471987-246B-4118-74C2-12DE67C5DDDE}"/>
              </a:ext>
            </a:extLst>
          </p:cNvPr>
          <p:cNvSpPr/>
          <p:nvPr/>
        </p:nvSpPr>
        <p:spPr>
          <a:xfrm>
            <a:off x="1097280" y="1965960"/>
            <a:ext cx="1325880" cy="50292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E50595-3B6B-0367-C19F-1C1BFEAC8D16}"/>
              </a:ext>
            </a:extLst>
          </p:cNvPr>
          <p:cNvSpPr txBox="1"/>
          <p:nvPr/>
        </p:nvSpPr>
        <p:spPr>
          <a:xfrm>
            <a:off x="1234440" y="2121408"/>
            <a:ext cx="1005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Master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902DE73-2CE5-9C2D-132D-7902546482FB}"/>
              </a:ext>
            </a:extLst>
          </p:cNvPr>
          <p:cNvSpPr/>
          <p:nvPr/>
        </p:nvSpPr>
        <p:spPr>
          <a:xfrm>
            <a:off x="2788920" y="1874520"/>
            <a:ext cx="658368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3C8697-3164-A9F1-F3DA-16523158D76E}"/>
              </a:ext>
            </a:extLst>
          </p:cNvPr>
          <p:cNvSpPr txBox="1"/>
          <p:nvPr/>
        </p:nvSpPr>
        <p:spPr>
          <a:xfrm>
            <a:off x="2743200" y="1993392"/>
            <a:ext cx="70408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Tablet</a:t>
            </a:r>
          </a:p>
          <a:p>
            <a:pPr algn="ctr"/>
            <a:r>
              <a:rPr lang="en-US" altLang="zh-CN" sz="13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Server</a:t>
            </a:r>
            <a:endParaRPr lang="zh-CN" altLang="en-US" sz="1300" b="1" dirty="0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5FA85E9-520F-52C5-203A-C80B88D2D2E7}"/>
              </a:ext>
            </a:extLst>
          </p:cNvPr>
          <p:cNvSpPr/>
          <p:nvPr/>
        </p:nvSpPr>
        <p:spPr>
          <a:xfrm>
            <a:off x="3593592" y="1874520"/>
            <a:ext cx="658368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563B87-9792-6FE7-01A8-439589D5BC25}"/>
              </a:ext>
            </a:extLst>
          </p:cNvPr>
          <p:cNvSpPr txBox="1"/>
          <p:nvPr/>
        </p:nvSpPr>
        <p:spPr>
          <a:xfrm>
            <a:off x="3593592" y="1993392"/>
            <a:ext cx="70408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Tablet</a:t>
            </a:r>
          </a:p>
          <a:p>
            <a:pPr algn="ctr"/>
            <a:r>
              <a:rPr lang="en-US" altLang="zh-CN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Server</a:t>
            </a:r>
            <a:endParaRPr lang="zh-CN" altLang="en-US" sz="13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5067552-DDDA-98A1-D7CE-7A2C9E3C7638}"/>
              </a:ext>
            </a:extLst>
          </p:cNvPr>
          <p:cNvSpPr/>
          <p:nvPr/>
        </p:nvSpPr>
        <p:spPr>
          <a:xfrm>
            <a:off x="4398264" y="1874520"/>
            <a:ext cx="658368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40A1FC-8FD8-DCDA-08A4-CD71AB053F68}"/>
              </a:ext>
            </a:extLst>
          </p:cNvPr>
          <p:cNvSpPr txBox="1"/>
          <p:nvPr/>
        </p:nvSpPr>
        <p:spPr>
          <a:xfrm>
            <a:off x="4347972" y="1993392"/>
            <a:ext cx="75895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Tablet</a:t>
            </a:r>
          </a:p>
          <a:p>
            <a:pPr algn="ctr"/>
            <a:r>
              <a:rPr lang="en-US" altLang="zh-CN" sz="13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Server</a:t>
            </a:r>
            <a:endParaRPr lang="zh-CN" altLang="en-US" sz="1300" b="1" dirty="0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A6221CC-3129-CA0A-CBEA-29C343B2F64A}"/>
              </a:ext>
            </a:extLst>
          </p:cNvPr>
          <p:cNvSpPr/>
          <p:nvPr/>
        </p:nvSpPr>
        <p:spPr>
          <a:xfrm>
            <a:off x="1097280" y="3246120"/>
            <a:ext cx="425196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187C01-1BA0-2EA9-4CA2-8CE0B643412C}"/>
              </a:ext>
            </a:extLst>
          </p:cNvPr>
          <p:cNvSpPr txBox="1"/>
          <p:nvPr/>
        </p:nvSpPr>
        <p:spPr>
          <a:xfrm>
            <a:off x="1325880" y="3410712"/>
            <a:ext cx="3657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GFS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：底层分布式文件系统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6A11402-D416-14F4-9B75-E0CE298876F3}"/>
              </a:ext>
            </a:extLst>
          </p:cNvPr>
          <p:cNvSpPr/>
          <p:nvPr/>
        </p:nvSpPr>
        <p:spPr>
          <a:xfrm>
            <a:off x="1097280" y="4160520"/>
            <a:ext cx="425196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8A9ECE-4ED4-D433-05B6-5CDBE8BD6687}"/>
              </a:ext>
            </a:extLst>
          </p:cNvPr>
          <p:cNvSpPr txBox="1"/>
          <p:nvPr/>
        </p:nvSpPr>
        <p:spPr>
          <a:xfrm>
            <a:off x="1325880" y="4325112"/>
            <a:ext cx="3657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Chubby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：锁服务与元数据协调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E211A1-AB35-B6AE-FBDE-29E834B7C68C}"/>
              </a:ext>
            </a:extLst>
          </p:cNvPr>
          <p:cNvSpPr txBox="1"/>
          <p:nvPr/>
        </p:nvSpPr>
        <p:spPr>
          <a:xfrm>
            <a:off x="960120" y="4919472"/>
            <a:ext cx="45262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稀疏多维映射：行键、列键、时间戳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Tablet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自动分裂，支持水平扩展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适合大规模结构化数据管理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3A93F32-2E07-2D3C-3A23-B9AC81521E76}"/>
              </a:ext>
            </a:extLst>
          </p:cNvPr>
          <p:cNvSpPr/>
          <p:nvPr/>
        </p:nvSpPr>
        <p:spPr>
          <a:xfrm>
            <a:off x="6355080" y="1051560"/>
            <a:ext cx="516635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CACFAB-4B02-0115-1A41-165DFC264616}"/>
              </a:ext>
            </a:extLst>
          </p:cNvPr>
          <p:cNvSpPr txBox="1"/>
          <p:nvPr/>
        </p:nvSpPr>
        <p:spPr>
          <a:xfrm>
            <a:off x="6629400" y="1298448"/>
            <a:ext cx="43891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Dynamo</a:t>
            </a:r>
            <a:r>
              <a:rPr lang="zh-CN" altLang="en-US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Key-Value </a:t>
            </a:r>
            <a:r>
              <a:rPr lang="zh-CN" altLang="en-US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存储，偏 </a:t>
            </a:r>
            <a:r>
              <a:rPr lang="en-US" altLang="zh-CN" sz="1700" b="1">
                <a:solidFill>
                  <a:srgbClr val="0B3A75"/>
                </a:solidFill>
                <a:latin typeface="Microsoft YaHei" panose="020B0503020204020204" pitchFamily="34" charset="-122"/>
              </a:rPr>
              <a:t>AP</a:t>
            </a:r>
            <a:endParaRPr lang="zh-CN" altLang="en-US" sz="17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F809A2EF-88BB-4886-36F5-C01F12EFE6B9}"/>
              </a:ext>
            </a:extLst>
          </p:cNvPr>
          <p:cNvSpPr/>
          <p:nvPr/>
        </p:nvSpPr>
        <p:spPr>
          <a:xfrm>
            <a:off x="7818120" y="1828800"/>
            <a:ext cx="2194560" cy="2194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DBFCA58-4885-97F4-99D6-323BCFAE889D}"/>
              </a:ext>
            </a:extLst>
          </p:cNvPr>
          <p:cNvSpPr/>
          <p:nvPr/>
        </p:nvSpPr>
        <p:spPr>
          <a:xfrm>
            <a:off x="9848088" y="2715768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5E4A9BE-AAE4-4D19-8BAD-27ECEB5018E6}"/>
              </a:ext>
            </a:extLst>
          </p:cNvPr>
          <p:cNvSpPr/>
          <p:nvPr/>
        </p:nvSpPr>
        <p:spPr>
          <a:xfrm>
            <a:off x="9299448" y="3666040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53421B7-C786-DE47-63A3-D6AA589664A6}"/>
              </a:ext>
            </a:extLst>
          </p:cNvPr>
          <p:cNvSpPr/>
          <p:nvPr/>
        </p:nvSpPr>
        <p:spPr>
          <a:xfrm>
            <a:off x="8202168" y="3666040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B87E05A-8B79-DFE7-B11C-763ED8EE6EE6}"/>
              </a:ext>
            </a:extLst>
          </p:cNvPr>
          <p:cNvSpPr/>
          <p:nvPr/>
        </p:nvSpPr>
        <p:spPr>
          <a:xfrm>
            <a:off x="7653528" y="2715768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B799289-6DDA-4C15-7AE1-5D868555EF2A}"/>
              </a:ext>
            </a:extLst>
          </p:cNvPr>
          <p:cNvSpPr/>
          <p:nvPr/>
        </p:nvSpPr>
        <p:spPr>
          <a:xfrm>
            <a:off x="8202168" y="1765496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05A854C-4DE0-C157-A6B4-FA8987A9CB53}"/>
              </a:ext>
            </a:extLst>
          </p:cNvPr>
          <p:cNvSpPr/>
          <p:nvPr/>
        </p:nvSpPr>
        <p:spPr>
          <a:xfrm>
            <a:off x="9299448" y="1765496"/>
            <a:ext cx="329184" cy="329184"/>
          </a:xfrm>
          <a:prstGeom prst="ellipse">
            <a:avLst/>
          </a:prstGeom>
          <a:solidFill>
            <a:srgbClr val="42A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FFDFDD-BACC-D844-42D0-8F2311872689}"/>
              </a:ext>
            </a:extLst>
          </p:cNvPr>
          <p:cNvSpPr txBox="1"/>
          <p:nvPr/>
        </p:nvSpPr>
        <p:spPr>
          <a:xfrm>
            <a:off x="6903720" y="4279392"/>
            <a:ext cx="42519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一致性哈希：节点增减影响局部数据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向量时钟：检测并处理版本冲突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Gossip 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协议：去中心化成员管理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1F2937"/>
                </a:solidFill>
                <a:latin typeface="Microsoft YaHei" panose="020B0503020204020204" pitchFamily="34" charset="-122"/>
              </a:rPr>
              <a:t>• Quorum</a:t>
            </a:r>
            <a:r>
              <a:rPr lang="zh-CN" altLang="en-US" sz="1300">
                <a:solidFill>
                  <a:srgbClr val="1F2937"/>
                </a:solidFill>
                <a:latin typeface="Microsoft YaHei" panose="020B0503020204020204" pitchFamily="34" charset="-122"/>
              </a:rPr>
              <a:t>：可调读写一致性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329F4B3-B11E-2358-9CBC-1E486A37B988}"/>
              </a:ext>
            </a:extLst>
          </p:cNvPr>
          <p:cNvSpPr txBox="1"/>
          <p:nvPr/>
        </p:nvSpPr>
        <p:spPr>
          <a:xfrm>
            <a:off x="2194560" y="5961888"/>
            <a:ext cx="7863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两条路线：</a:t>
            </a:r>
            <a:r>
              <a:rPr lang="en-US" altLang="zh-CN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Bigtable </a:t>
            </a:r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强调一致性；</a:t>
            </a:r>
            <a:r>
              <a:rPr lang="en-US" altLang="zh-CN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Dynamo </a:t>
            </a:r>
            <a:r>
              <a:rPr lang="zh-CN" altLang="en-US" sz="1300" b="1">
                <a:solidFill>
                  <a:srgbClr val="0B3A75"/>
                </a:solidFill>
                <a:latin typeface="Microsoft YaHei" panose="020B0503020204020204" pitchFamily="34" charset="-122"/>
              </a:rPr>
              <a:t>强调可用性。</a:t>
            </a:r>
          </a:p>
        </p:txBody>
      </p:sp>
    </p:spTree>
    <p:extLst>
      <p:ext uri="{BB962C8B-B14F-4D97-AF65-F5344CB8AC3E}">
        <p14:creationId xmlns:p14="http://schemas.microsoft.com/office/powerpoint/2010/main" val="110350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D6947E-7C9C-EC7C-9452-6D51E0278C7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B103C5-12B5-5500-8363-BDCD726B482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CE095D-5571-D771-A0EB-E155FEC16456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B0537D-28EB-C59F-9F66-890B3A13ED6A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经典系统二：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Cassandra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Memcached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1454B7-B825-3A49-5075-E0305F8A187D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4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8B61AE-3929-3211-4DF3-8DF19EEDA1D1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CB72EF6-70D2-24F4-34B6-AB1240DAA28C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EF6603-0764-2537-9827-9C2BA6541111}"/>
              </a:ext>
            </a:extLst>
          </p:cNvPr>
          <p:cNvSpPr/>
          <p:nvPr/>
        </p:nvSpPr>
        <p:spPr>
          <a:xfrm>
            <a:off x="685800" y="1051560"/>
            <a:ext cx="51663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C84EC2-5A32-7611-A7C7-0978AC4652D2}"/>
              </a:ext>
            </a:extLst>
          </p:cNvPr>
          <p:cNvSpPr txBox="1"/>
          <p:nvPr/>
        </p:nvSpPr>
        <p:spPr>
          <a:xfrm>
            <a:off x="1028700" y="1207008"/>
            <a:ext cx="44805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6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Cassandra</a:t>
            </a:r>
            <a:r>
              <a:rPr lang="zh-CN" altLang="en-US" sz="16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：高写入 </a:t>
            </a:r>
            <a:r>
              <a:rPr lang="en-US" altLang="zh-CN" sz="16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可配置一致性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CF13A8C-B61C-85EA-4809-7E75103B90CC}"/>
              </a:ext>
            </a:extLst>
          </p:cNvPr>
          <p:cNvSpPr/>
          <p:nvPr/>
        </p:nvSpPr>
        <p:spPr>
          <a:xfrm>
            <a:off x="2148840" y="1737360"/>
            <a:ext cx="2286000" cy="2286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6BF5EE3-48B9-EF05-1582-C8D6A8955C01}"/>
              </a:ext>
            </a:extLst>
          </p:cNvPr>
          <p:cNvSpPr/>
          <p:nvPr/>
        </p:nvSpPr>
        <p:spPr>
          <a:xfrm>
            <a:off x="4288536" y="2596896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4B227EA-F627-8E6C-5292-88D207FAD74A}"/>
              </a:ext>
            </a:extLst>
          </p:cNvPr>
          <p:cNvSpPr/>
          <p:nvPr/>
        </p:nvSpPr>
        <p:spPr>
          <a:xfrm>
            <a:off x="3953759" y="3405119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50D9AD7-521D-8EE1-D803-0FC6970366C3}"/>
              </a:ext>
            </a:extLst>
          </p:cNvPr>
          <p:cNvSpPr/>
          <p:nvPr/>
        </p:nvSpPr>
        <p:spPr>
          <a:xfrm>
            <a:off x="3145536" y="3739896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25940E4-B057-56B2-03F8-76058E35BCEF}"/>
              </a:ext>
            </a:extLst>
          </p:cNvPr>
          <p:cNvSpPr/>
          <p:nvPr/>
        </p:nvSpPr>
        <p:spPr>
          <a:xfrm>
            <a:off x="2337313" y="3405119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FA91FE9-EBC8-A5F9-0314-A41FE287C098}"/>
              </a:ext>
            </a:extLst>
          </p:cNvPr>
          <p:cNvSpPr/>
          <p:nvPr/>
        </p:nvSpPr>
        <p:spPr>
          <a:xfrm>
            <a:off x="2002536" y="2596896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21C5758-49E9-F2F3-82D9-1882685E9B14}"/>
              </a:ext>
            </a:extLst>
          </p:cNvPr>
          <p:cNvSpPr/>
          <p:nvPr/>
        </p:nvSpPr>
        <p:spPr>
          <a:xfrm>
            <a:off x="2337313" y="1788673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3D82489-424E-1D13-EF79-0261A8D2E1B7}"/>
              </a:ext>
            </a:extLst>
          </p:cNvPr>
          <p:cNvSpPr/>
          <p:nvPr/>
        </p:nvSpPr>
        <p:spPr>
          <a:xfrm>
            <a:off x="3145536" y="1453896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8E66154-7905-C950-EF50-BE0A99A1FC81}"/>
              </a:ext>
            </a:extLst>
          </p:cNvPr>
          <p:cNvSpPr/>
          <p:nvPr/>
        </p:nvSpPr>
        <p:spPr>
          <a:xfrm>
            <a:off x="3953759" y="1788673"/>
            <a:ext cx="292608" cy="292608"/>
          </a:xfrm>
          <a:prstGeom prst="ellipse">
            <a:avLst/>
          </a:prstGeom>
          <a:solidFill>
            <a:srgbClr val="1565C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0604F7-1E12-C77C-1FFE-883A815D7CED}"/>
              </a:ext>
            </a:extLst>
          </p:cNvPr>
          <p:cNvSpPr txBox="1"/>
          <p:nvPr/>
        </p:nvSpPr>
        <p:spPr>
          <a:xfrm>
            <a:off x="1005840" y="4160520"/>
            <a:ext cx="43891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Dynamo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去中心化架构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+ Bigtable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列族模型</a:t>
            </a:r>
          </a:p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Token Ring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负责数据分区</a:t>
            </a:r>
          </a:p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多级复制策略适合跨数据中心</a:t>
            </a:r>
          </a:p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适合高写入、大规模互联网业务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287C0E5-3717-8096-4EA2-22B38C1D9B54}"/>
              </a:ext>
            </a:extLst>
          </p:cNvPr>
          <p:cNvSpPr/>
          <p:nvPr/>
        </p:nvSpPr>
        <p:spPr>
          <a:xfrm>
            <a:off x="6355080" y="1051560"/>
            <a:ext cx="5166359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9A6C4C-5F32-DF2F-A5EB-E5126264A578}"/>
              </a:ext>
            </a:extLst>
          </p:cNvPr>
          <p:cNvSpPr txBox="1"/>
          <p:nvPr/>
        </p:nvSpPr>
        <p:spPr>
          <a:xfrm>
            <a:off x="6629400" y="1280160"/>
            <a:ext cx="4434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600" b="1">
                <a:solidFill>
                  <a:srgbClr val="0B3A75"/>
                </a:solidFill>
                <a:latin typeface="Microsoft YaHei" panose="020B0503020204020204" pitchFamily="34" charset="-122"/>
              </a:rPr>
              <a:t>Memcached / MemC3</a:t>
            </a:r>
            <a:r>
              <a:rPr lang="zh-CN" altLang="en-US" sz="1600" b="1">
                <a:solidFill>
                  <a:srgbClr val="0B3A75"/>
                </a:solidFill>
                <a:latin typeface="Microsoft YaHei" panose="020B0503020204020204" pitchFamily="34" charset="-122"/>
              </a:rPr>
              <a:t>：低延迟缓存层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855A563-058A-B9FC-33CB-C6C09C58DE83}"/>
              </a:ext>
            </a:extLst>
          </p:cNvPr>
          <p:cNvSpPr/>
          <p:nvPr/>
        </p:nvSpPr>
        <p:spPr>
          <a:xfrm>
            <a:off x="6858000" y="1828800"/>
            <a:ext cx="1508760" cy="512064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5510C7-CCE0-D692-FFF0-520C62B5BD33}"/>
              </a:ext>
            </a:extLst>
          </p:cNvPr>
          <p:cNvSpPr txBox="1"/>
          <p:nvPr/>
        </p:nvSpPr>
        <p:spPr>
          <a:xfrm>
            <a:off x="6967728" y="1993392"/>
            <a:ext cx="1280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Web Servers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58ACB9B-3F19-1B5B-31A7-62E712A0CDFE}"/>
              </a:ext>
            </a:extLst>
          </p:cNvPr>
          <p:cNvSpPr/>
          <p:nvPr/>
        </p:nvSpPr>
        <p:spPr>
          <a:xfrm>
            <a:off x="8366760" y="2743200"/>
            <a:ext cx="2148840" cy="58521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61DD93-54CF-A04B-32C1-89A24E11D86D}"/>
              </a:ext>
            </a:extLst>
          </p:cNvPr>
          <p:cNvSpPr txBox="1"/>
          <p:nvPr/>
        </p:nvSpPr>
        <p:spPr>
          <a:xfrm>
            <a:off x="8503920" y="2944368"/>
            <a:ext cx="18745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Memcached Cluster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D7A2348-828A-C7E2-32AF-FF17FE9B510E}"/>
              </a:ext>
            </a:extLst>
          </p:cNvPr>
          <p:cNvSpPr/>
          <p:nvPr/>
        </p:nvSpPr>
        <p:spPr>
          <a:xfrm>
            <a:off x="6858000" y="3794760"/>
            <a:ext cx="1508760" cy="512064"/>
          </a:xfrm>
          <a:prstGeom prst="round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B2A6E7-EE7D-A18D-E9FA-CF3C5485CA55}"/>
              </a:ext>
            </a:extLst>
          </p:cNvPr>
          <p:cNvSpPr txBox="1"/>
          <p:nvPr/>
        </p:nvSpPr>
        <p:spPr>
          <a:xfrm>
            <a:off x="7086600" y="3959352"/>
            <a:ext cx="1005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Database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444BC96-E98C-DEEC-CAA1-10260665DAFC}"/>
              </a:ext>
            </a:extLst>
          </p:cNvPr>
          <p:cNvCxnSpPr/>
          <p:nvPr/>
        </p:nvCxnSpPr>
        <p:spPr>
          <a:xfrm>
            <a:off x="8183880" y="2121408"/>
            <a:ext cx="457200" cy="621792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42F065E-DC3C-7BBB-CEF1-419D7957E279}"/>
              </a:ext>
            </a:extLst>
          </p:cNvPr>
          <p:cNvCxnSpPr/>
          <p:nvPr/>
        </p:nvCxnSpPr>
        <p:spPr>
          <a:xfrm flipH="1">
            <a:off x="8183880" y="3328416"/>
            <a:ext cx="457200" cy="466344"/>
          </a:xfrm>
          <a:prstGeom prst="line">
            <a:avLst/>
          </a:prstGeom>
          <a:ln w="254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2A87304-6DDD-5CDD-44EA-E662B00EE8B5}"/>
              </a:ext>
            </a:extLst>
          </p:cNvPr>
          <p:cNvSpPr txBox="1"/>
          <p:nvPr/>
        </p:nvSpPr>
        <p:spPr>
          <a:xfrm>
            <a:off x="6720840" y="4526280"/>
            <a:ext cx="4343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面向缓存，提供亚毫秒级读取</a:t>
            </a:r>
          </a:p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MemC3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优化哈希结构与缓存淘汰</a:t>
            </a:r>
          </a:p>
          <a:p>
            <a:pPr>
              <a:spcAft>
                <a:spcPts val="800"/>
              </a:spcAft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减少锁竞争，提高内存效率和吞吐量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6312B10-D7BD-AF8B-AFA3-2F47BFA0E561}"/>
              </a:ext>
            </a:extLst>
          </p:cNvPr>
          <p:cNvSpPr txBox="1"/>
          <p:nvPr/>
        </p:nvSpPr>
        <p:spPr>
          <a:xfrm>
            <a:off x="1737360" y="6016752"/>
            <a:ext cx="88696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Cassandra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更像持久化存储，</a:t>
            </a:r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Memcached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更像高并发访问的加速层。</a:t>
            </a:r>
          </a:p>
        </p:txBody>
      </p:sp>
    </p:spTree>
    <p:extLst>
      <p:ext uri="{BB962C8B-B14F-4D97-AF65-F5344CB8AC3E}">
        <p14:creationId xmlns:p14="http://schemas.microsoft.com/office/powerpoint/2010/main" val="3605618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8E5B2D-B0AF-4548-26ED-E935003E67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312A97-7435-130B-CF76-D3B35CE6E2C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1B3140-1319-5858-AFA0-17DD25618266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17B72B-2CA5-BFAD-0841-8650FB42BC47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NewSQL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融合：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CockroachDB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AEBB43-FA5C-C64D-58A5-6DAEDC7E918A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4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5F04E3-EBB7-C145-B22C-3F3C3E59AA23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98D18C0-6A9E-CCB9-1089-A9746F188770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4EDC7CC-AA74-CF02-52C1-84BCFD8C13B0}"/>
              </a:ext>
            </a:extLst>
          </p:cNvPr>
          <p:cNvSpPr txBox="1"/>
          <p:nvPr/>
        </p:nvSpPr>
        <p:spPr>
          <a:xfrm>
            <a:off x="685800" y="896112"/>
            <a:ext cx="106070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CockroachDB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试图在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SQL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易用性、事务一致性与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水平扩展之间取得平衡。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3AD222A-C3ED-A605-78E3-30F9665458B3}"/>
              </a:ext>
            </a:extLst>
          </p:cNvPr>
          <p:cNvSpPr/>
          <p:nvPr/>
        </p:nvSpPr>
        <p:spPr>
          <a:xfrm>
            <a:off x="868680" y="1417320"/>
            <a:ext cx="5989320" cy="53035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297E00-9DA4-3AF3-8D34-1E6E33F26082}"/>
              </a:ext>
            </a:extLst>
          </p:cNvPr>
          <p:cNvSpPr txBox="1"/>
          <p:nvPr/>
        </p:nvSpPr>
        <p:spPr>
          <a:xfrm>
            <a:off x="1078992" y="1527048"/>
            <a:ext cx="2423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SQL Layer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A0E2E6-02A7-4423-EB80-9E8E4FDF2030}"/>
              </a:ext>
            </a:extLst>
          </p:cNvPr>
          <p:cNvSpPr txBox="1"/>
          <p:nvPr/>
        </p:nvSpPr>
        <p:spPr>
          <a:xfrm>
            <a:off x="3337560" y="1527048"/>
            <a:ext cx="3291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解析器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优化器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执行器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9E15B3-BDB0-2658-AB11-D258D5E93AED}"/>
              </a:ext>
            </a:extLst>
          </p:cNvPr>
          <p:cNvSpPr/>
          <p:nvPr/>
        </p:nvSpPr>
        <p:spPr>
          <a:xfrm>
            <a:off x="868680" y="2167128"/>
            <a:ext cx="5989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C1EEB6-6739-CEE6-E12B-374163D8E2EB}"/>
              </a:ext>
            </a:extLst>
          </p:cNvPr>
          <p:cNvSpPr txBox="1"/>
          <p:nvPr/>
        </p:nvSpPr>
        <p:spPr>
          <a:xfrm>
            <a:off x="1078992" y="2276856"/>
            <a:ext cx="2423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Transactional KV Layer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D9E7B1-3BCC-103A-75ED-10727FA9B1E4}"/>
              </a:ext>
            </a:extLst>
          </p:cNvPr>
          <p:cNvSpPr txBox="1"/>
          <p:nvPr/>
        </p:nvSpPr>
        <p:spPr>
          <a:xfrm>
            <a:off x="3337560" y="2276856"/>
            <a:ext cx="3291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跨键值事务、原子性与隔离性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4415296-D05D-F13C-23F8-33C17A90F0BB}"/>
              </a:ext>
            </a:extLst>
          </p:cNvPr>
          <p:cNvSpPr/>
          <p:nvPr/>
        </p:nvSpPr>
        <p:spPr>
          <a:xfrm>
            <a:off x="868680" y="2916936"/>
            <a:ext cx="5989320" cy="53035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656E88-AE37-C673-67C7-614830274A38}"/>
              </a:ext>
            </a:extLst>
          </p:cNvPr>
          <p:cNvSpPr txBox="1"/>
          <p:nvPr/>
        </p:nvSpPr>
        <p:spPr>
          <a:xfrm>
            <a:off x="1078992" y="3026664"/>
            <a:ext cx="2423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Distribution Layer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E25FD4-786E-8309-C791-D5585B359497}"/>
              </a:ext>
            </a:extLst>
          </p:cNvPr>
          <p:cNvSpPr txBox="1"/>
          <p:nvPr/>
        </p:nvSpPr>
        <p:spPr>
          <a:xfrm>
            <a:off x="3337560" y="3026664"/>
            <a:ext cx="3291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Range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分区与请求路由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18DF96D-5A1E-49C2-E292-2C46BDD60867}"/>
              </a:ext>
            </a:extLst>
          </p:cNvPr>
          <p:cNvSpPr/>
          <p:nvPr/>
        </p:nvSpPr>
        <p:spPr>
          <a:xfrm>
            <a:off x="868680" y="3666744"/>
            <a:ext cx="5989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1BD5F8-290E-E7A9-4B65-E7C2C19974A8}"/>
              </a:ext>
            </a:extLst>
          </p:cNvPr>
          <p:cNvSpPr txBox="1"/>
          <p:nvPr/>
        </p:nvSpPr>
        <p:spPr>
          <a:xfrm>
            <a:off x="1078992" y="3776472"/>
            <a:ext cx="2423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Replication Layer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12E8F4-5714-4B15-2C5C-A96234BE9785}"/>
              </a:ext>
            </a:extLst>
          </p:cNvPr>
          <p:cNvSpPr txBox="1"/>
          <p:nvPr/>
        </p:nvSpPr>
        <p:spPr>
          <a:xfrm>
            <a:off x="3337560" y="3776472"/>
            <a:ext cx="3291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Raft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复制协议，强一致副本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88E3F42-09CF-33FC-42FA-83F562F984D1}"/>
              </a:ext>
            </a:extLst>
          </p:cNvPr>
          <p:cNvSpPr/>
          <p:nvPr/>
        </p:nvSpPr>
        <p:spPr>
          <a:xfrm>
            <a:off x="868680" y="4416552"/>
            <a:ext cx="5989320" cy="53035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BA07DC-1BBC-51A9-F861-64E08FD32068}"/>
              </a:ext>
            </a:extLst>
          </p:cNvPr>
          <p:cNvSpPr txBox="1"/>
          <p:nvPr/>
        </p:nvSpPr>
        <p:spPr>
          <a:xfrm>
            <a:off x="1078992" y="4526280"/>
            <a:ext cx="24231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Storage Layer</a:t>
            </a:r>
            <a:endParaRPr lang="zh-CN" altLang="en-US" sz="1400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DABD20E-CA46-C18D-2227-40A9F07C6597}"/>
              </a:ext>
            </a:extLst>
          </p:cNvPr>
          <p:cNvSpPr txBox="1"/>
          <p:nvPr/>
        </p:nvSpPr>
        <p:spPr>
          <a:xfrm>
            <a:off x="3337560" y="4526280"/>
            <a:ext cx="3291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RocksDB / Pebble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持久化存储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4D11216-88B4-C94E-7EF6-943762A1CFE6}"/>
              </a:ext>
            </a:extLst>
          </p:cNvPr>
          <p:cNvSpPr/>
          <p:nvPr/>
        </p:nvSpPr>
        <p:spPr>
          <a:xfrm>
            <a:off x="7360920" y="155448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F71044-C464-2EBD-B540-BF7EB11117D5}"/>
              </a:ext>
            </a:extLst>
          </p:cNvPr>
          <p:cNvSpPr txBox="1"/>
          <p:nvPr/>
        </p:nvSpPr>
        <p:spPr>
          <a:xfrm>
            <a:off x="7507224" y="1737360"/>
            <a:ext cx="144475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地理分区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622908D-0E56-3230-8DD1-24E1A94E507D}"/>
              </a:ext>
            </a:extLst>
          </p:cNvPr>
          <p:cNvSpPr txBox="1"/>
          <p:nvPr/>
        </p:nvSpPr>
        <p:spPr>
          <a:xfrm>
            <a:off x="7525512" y="2084832"/>
            <a:ext cx="14173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数据存储在指定地域，支持合规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0FA8A42-5E63-C404-D55F-66DEE5207832}"/>
              </a:ext>
            </a:extLst>
          </p:cNvPr>
          <p:cNvSpPr/>
          <p:nvPr/>
        </p:nvSpPr>
        <p:spPr>
          <a:xfrm>
            <a:off x="9418320" y="155448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8C2DE3-1665-74B6-A5EF-50D12A022501}"/>
              </a:ext>
            </a:extLst>
          </p:cNvPr>
          <p:cNvSpPr txBox="1"/>
          <p:nvPr/>
        </p:nvSpPr>
        <p:spPr>
          <a:xfrm>
            <a:off x="9564624" y="1737360"/>
            <a:ext cx="144475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Raft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复制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CE32224-D9A5-0A48-3EED-FA3E32BECAFD}"/>
              </a:ext>
            </a:extLst>
          </p:cNvPr>
          <p:cNvSpPr txBox="1"/>
          <p:nvPr/>
        </p:nvSpPr>
        <p:spPr>
          <a:xfrm>
            <a:off x="9582912" y="2084832"/>
            <a:ext cx="14173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强一致复制与自动故障恢复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CBAD521-1ADF-4E66-D23E-9F5FF89F1FD0}"/>
              </a:ext>
            </a:extLst>
          </p:cNvPr>
          <p:cNvSpPr/>
          <p:nvPr/>
        </p:nvSpPr>
        <p:spPr>
          <a:xfrm>
            <a:off x="7360920" y="329184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1B43D9C-3204-FF32-0C31-9AD462D8E264}"/>
              </a:ext>
            </a:extLst>
          </p:cNvPr>
          <p:cNvSpPr txBox="1"/>
          <p:nvPr/>
        </p:nvSpPr>
        <p:spPr>
          <a:xfrm>
            <a:off x="7507224" y="3474720"/>
            <a:ext cx="1444752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HLC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时钟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B68A53-9CBF-B90C-2DFF-A7DFF72049E8}"/>
              </a:ext>
            </a:extLst>
          </p:cNvPr>
          <p:cNvSpPr txBox="1"/>
          <p:nvPr/>
        </p:nvSpPr>
        <p:spPr>
          <a:xfrm>
            <a:off x="7525512" y="3822192"/>
            <a:ext cx="14173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在松散同步环境下实现全局顺序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607FFF0-56A0-9887-6152-95D69D709DB0}"/>
              </a:ext>
            </a:extLst>
          </p:cNvPr>
          <p:cNvSpPr/>
          <p:nvPr/>
        </p:nvSpPr>
        <p:spPr>
          <a:xfrm>
            <a:off x="9418320" y="3291840"/>
            <a:ext cx="1737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E252DF-EDAD-ABB2-B7B9-31F9EA97F6CC}"/>
              </a:ext>
            </a:extLst>
          </p:cNvPr>
          <p:cNvSpPr txBox="1"/>
          <p:nvPr/>
        </p:nvSpPr>
        <p:spPr>
          <a:xfrm>
            <a:off x="9521952" y="3474720"/>
            <a:ext cx="15910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PostgreSQL </a:t>
            </a:r>
            <a:r>
              <a:rPr lang="zh-CN" altLang="en-US" sz="1400" b="1" dirty="0">
                <a:solidFill>
                  <a:srgbClr val="0B3A75"/>
                </a:solidFill>
                <a:latin typeface="Microsoft YaHei" panose="020B0503020204020204" pitchFamily="34" charset="-122"/>
              </a:rPr>
              <a:t>兼容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5454934-06AE-1C18-E641-2C1B9A860445}"/>
              </a:ext>
            </a:extLst>
          </p:cNvPr>
          <p:cNvSpPr txBox="1"/>
          <p:nvPr/>
        </p:nvSpPr>
        <p:spPr>
          <a:xfrm>
            <a:off x="9582912" y="3822192"/>
            <a:ext cx="141732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降低应用迁移成本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04FC4EE-54D7-9043-2DEE-08CC1CD2D270}"/>
              </a:ext>
            </a:extLst>
          </p:cNvPr>
          <p:cNvSpPr/>
          <p:nvPr/>
        </p:nvSpPr>
        <p:spPr>
          <a:xfrm>
            <a:off x="7315200" y="4983480"/>
            <a:ext cx="3840480" cy="594360"/>
          </a:xfrm>
          <a:prstGeom prst="round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237C780-1792-0789-CA4B-29B43A03F63B}"/>
              </a:ext>
            </a:extLst>
          </p:cNvPr>
          <p:cNvSpPr txBox="1"/>
          <p:nvPr/>
        </p:nvSpPr>
        <p:spPr>
          <a:xfrm>
            <a:off x="7543800" y="5184648"/>
            <a:ext cx="35692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扩展性走向 </a:t>
            </a:r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NewSQL </a:t>
            </a:r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融合能力</a:t>
            </a:r>
          </a:p>
        </p:txBody>
      </p:sp>
    </p:spTree>
    <p:extLst>
      <p:ext uri="{BB962C8B-B14F-4D97-AF65-F5344CB8AC3E}">
        <p14:creationId xmlns:p14="http://schemas.microsoft.com/office/powerpoint/2010/main" val="1207326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7143A0-3505-77FC-4860-22C9BF526A6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BC7AF-C430-3511-DCF6-60C3D3295A31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74CE46-B61A-C8EB-3A03-3CAB5F9BCB12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9E7689-51BF-65D9-B36D-0A4E569BEA00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系统综合对比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AB367C-1827-5041-66A0-41055C3E73E6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4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01CC27-71C9-DED7-5F2A-6C69E1474BFA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35CD8E-E44C-1740-9EF6-7B065C4D5568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77EA718A-D21E-DF70-A475-0BB8E7BFA4DE}"/>
              </a:ext>
            </a:extLst>
          </p:cNvPr>
          <p:cNvSpPr/>
          <p:nvPr/>
        </p:nvSpPr>
        <p:spPr>
          <a:xfrm>
            <a:off x="502920" y="960120"/>
            <a:ext cx="112014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622945-7F6E-8926-DE75-02A1FA4EA803}"/>
              </a:ext>
            </a:extLst>
          </p:cNvPr>
          <p:cNvSpPr/>
          <p:nvPr/>
        </p:nvSpPr>
        <p:spPr>
          <a:xfrm>
            <a:off x="502920" y="960120"/>
            <a:ext cx="141732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8F2649-D6C0-9CCB-F798-37B7030BBB0F}"/>
              </a:ext>
            </a:extLst>
          </p:cNvPr>
          <p:cNvSpPr txBox="1"/>
          <p:nvPr/>
        </p:nvSpPr>
        <p:spPr>
          <a:xfrm>
            <a:off x="530352" y="1124712"/>
            <a:ext cx="13624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维度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5155E7-3B09-B867-8851-F3E52A77F76D}"/>
              </a:ext>
            </a:extLst>
          </p:cNvPr>
          <p:cNvSpPr/>
          <p:nvPr/>
        </p:nvSpPr>
        <p:spPr>
          <a:xfrm>
            <a:off x="1920240" y="960120"/>
            <a:ext cx="182880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E53753-8D3D-C3AD-8B06-820FB20964D0}"/>
              </a:ext>
            </a:extLst>
          </p:cNvPr>
          <p:cNvSpPr txBox="1"/>
          <p:nvPr/>
        </p:nvSpPr>
        <p:spPr>
          <a:xfrm>
            <a:off x="1947672" y="1124712"/>
            <a:ext cx="177393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Bigtable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B422F5-2C1A-5BFB-FCBF-C4DB62585177}"/>
              </a:ext>
            </a:extLst>
          </p:cNvPr>
          <p:cNvSpPr/>
          <p:nvPr/>
        </p:nvSpPr>
        <p:spPr>
          <a:xfrm>
            <a:off x="3749040" y="960120"/>
            <a:ext cx="182880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99131D-17DB-739D-0A5C-A8446493CDAB}"/>
              </a:ext>
            </a:extLst>
          </p:cNvPr>
          <p:cNvSpPr txBox="1"/>
          <p:nvPr/>
        </p:nvSpPr>
        <p:spPr>
          <a:xfrm>
            <a:off x="3776472" y="1124712"/>
            <a:ext cx="177393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Dynamo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772CF-F526-FC05-E7C6-E284E5DEFECF}"/>
              </a:ext>
            </a:extLst>
          </p:cNvPr>
          <p:cNvSpPr/>
          <p:nvPr/>
        </p:nvSpPr>
        <p:spPr>
          <a:xfrm>
            <a:off x="5577840" y="960120"/>
            <a:ext cx="196596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CCE872-830D-8AC8-0689-28E49881DC1C}"/>
              </a:ext>
            </a:extLst>
          </p:cNvPr>
          <p:cNvSpPr txBox="1"/>
          <p:nvPr/>
        </p:nvSpPr>
        <p:spPr>
          <a:xfrm>
            <a:off x="5605272" y="1124712"/>
            <a:ext cx="191109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Cassandra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35B991-13C1-9900-0D2E-92E78B1FEB83}"/>
              </a:ext>
            </a:extLst>
          </p:cNvPr>
          <p:cNvSpPr/>
          <p:nvPr/>
        </p:nvSpPr>
        <p:spPr>
          <a:xfrm>
            <a:off x="7543800" y="960120"/>
            <a:ext cx="187452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145B5B-E4F2-517C-D539-BB01A857F2FF}"/>
              </a:ext>
            </a:extLst>
          </p:cNvPr>
          <p:cNvSpPr txBox="1"/>
          <p:nvPr/>
        </p:nvSpPr>
        <p:spPr>
          <a:xfrm>
            <a:off x="7571232" y="1124712"/>
            <a:ext cx="18196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Memcached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2E06B8-B0E7-D3FC-DA96-52528B6B1905}"/>
              </a:ext>
            </a:extLst>
          </p:cNvPr>
          <p:cNvSpPr/>
          <p:nvPr/>
        </p:nvSpPr>
        <p:spPr>
          <a:xfrm>
            <a:off x="9418320" y="960120"/>
            <a:ext cx="2286000" cy="50292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E83A3D-F3DD-39F6-E10B-A268C9A20BBB}"/>
              </a:ext>
            </a:extLst>
          </p:cNvPr>
          <p:cNvSpPr txBox="1"/>
          <p:nvPr/>
        </p:nvSpPr>
        <p:spPr>
          <a:xfrm>
            <a:off x="9445752" y="1124712"/>
            <a:ext cx="223113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CockroachDB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AD0116-03E0-058F-9999-9DC069E718A5}"/>
              </a:ext>
            </a:extLst>
          </p:cNvPr>
          <p:cNvSpPr/>
          <p:nvPr/>
        </p:nvSpPr>
        <p:spPr>
          <a:xfrm>
            <a:off x="502920" y="1463040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9FA02B-F3EF-2683-9F29-7090D7D8EE3A}"/>
              </a:ext>
            </a:extLst>
          </p:cNvPr>
          <p:cNvSpPr txBox="1"/>
          <p:nvPr/>
        </p:nvSpPr>
        <p:spPr>
          <a:xfrm>
            <a:off x="539496" y="1664208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年份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0E64ED-B1FF-BA18-E582-E6F614BB2C26}"/>
              </a:ext>
            </a:extLst>
          </p:cNvPr>
          <p:cNvSpPr/>
          <p:nvPr/>
        </p:nvSpPr>
        <p:spPr>
          <a:xfrm>
            <a:off x="1920240" y="1463040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08209E-8559-41C0-F7D6-44B7D9D2272B}"/>
              </a:ext>
            </a:extLst>
          </p:cNvPr>
          <p:cNvSpPr txBox="1"/>
          <p:nvPr/>
        </p:nvSpPr>
        <p:spPr>
          <a:xfrm>
            <a:off x="1956816" y="1664208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2006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CFF0206-5EA2-1631-B796-EBB85C1C55BE}"/>
              </a:ext>
            </a:extLst>
          </p:cNvPr>
          <p:cNvSpPr/>
          <p:nvPr/>
        </p:nvSpPr>
        <p:spPr>
          <a:xfrm>
            <a:off x="3749040" y="1463040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3297C14-DE73-AC2F-D885-578E9B51CADE}"/>
              </a:ext>
            </a:extLst>
          </p:cNvPr>
          <p:cNvSpPr txBox="1"/>
          <p:nvPr/>
        </p:nvSpPr>
        <p:spPr>
          <a:xfrm>
            <a:off x="3785616" y="1664208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2007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21437B4-2F1F-0EB6-0B05-B882CFC5DEBD}"/>
              </a:ext>
            </a:extLst>
          </p:cNvPr>
          <p:cNvSpPr/>
          <p:nvPr/>
        </p:nvSpPr>
        <p:spPr>
          <a:xfrm>
            <a:off x="5577840" y="1463040"/>
            <a:ext cx="196596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35D93D-3F75-07F6-BC9E-D896884A323E}"/>
              </a:ext>
            </a:extLst>
          </p:cNvPr>
          <p:cNvSpPr txBox="1"/>
          <p:nvPr/>
        </p:nvSpPr>
        <p:spPr>
          <a:xfrm>
            <a:off x="5614416" y="1664208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2010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DCB2E23-6080-D83B-A07D-F5C4CF34D7E6}"/>
              </a:ext>
            </a:extLst>
          </p:cNvPr>
          <p:cNvSpPr/>
          <p:nvPr/>
        </p:nvSpPr>
        <p:spPr>
          <a:xfrm>
            <a:off x="7543800" y="1463040"/>
            <a:ext cx="187452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89D7852-1D4A-EB5E-5B6D-D6194F14731E}"/>
              </a:ext>
            </a:extLst>
          </p:cNvPr>
          <p:cNvSpPr txBox="1"/>
          <p:nvPr/>
        </p:nvSpPr>
        <p:spPr>
          <a:xfrm>
            <a:off x="7580376" y="1664208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2003/2013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16F35F-DB44-BE52-B725-4DDE8A4CE4F4}"/>
              </a:ext>
            </a:extLst>
          </p:cNvPr>
          <p:cNvSpPr/>
          <p:nvPr/>
        </p:nvSpPr>
        <p:spPr>
          <a:xfrm>
            <a:off x="9418320" y="1463040"/>
            <a:ext cx="22860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CA463E4-BF45-4364-0F36-957E1E46F973}"/>
              </a:ext>
            </a:extLst>
          </p:cNvPr>
          <p:cNvSpPr txBox="1"/>
          <p:nvPr/>
        </p:nvSpPr>
        <p:spPr>
          <a:xfrm>
            <a:off x="9454896" y="1664208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2020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2705B63-7AF0-6D17-1341-BCCAC30C4845}"/>
              </a:ext>
            </a:extLst>
          </p:cNvPr>
          <p:cNvSpPr/>
          <p:nvPr/>
        </p:nvSpPr>
        <p:spPr>
          <a:xfrm>
            <a:off x="502920" y="2121408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5A8B508-2AF0-AA0A-FD75-47E2D4AD3712}"/>
              </a:ext>
            </a:extLst>
          </p:cNvPr>
          <p:cNvSpPr txBox="1"/>
          <p:nvPr/>
        </p:nvSpPr>
        <p:spPr>
          <a:xfrm>
            <a:off x="539496" y="2322576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数据模型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0F9ED6-BAA3-F7B3-81FA-CFA29897B7F9}"/>
              </a:ext>
            </a:extLst>
          </p:cNvPr>
          <p:cNvSpPr/>
          <p:nvPr/>
        </p:nvSpPr>
        <p:spPr>
          <a:xfrm>
            <a:off x="1920240" y="2121408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F618038-5D65-B96D-94E7-D22913A8F099}"/>
              </a:ext>
            </a:extLst>
          </p:cNvPr>
          <p:cNvSpPr txBox="1"/>
          <p:nvPr/>
        </p:nvSpPr>
        <p:spPr>
          <a:xfrm>
            <a:off x="1956816" y="2322576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列族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AACF38C-DA20-5779-C1F5-51BF7A6C5A68}"/>
              </a:ext>
            </a:extLst>
          </p:cNvPr>
          <p:cNvSpPr/>
          <p:nvPr/>
        </p:nvSpPr>
        <p:spPr>
          <a:xfrm>
            <a:off x="3749040" y="2121408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B3FFEF5-6345-E72A-51B7-2FD582FE1A60}"/>
              </a:ext>
            </a:extLst>
          </p:cNvPr>
          <p:cNvSpPr txBox="1"/>
          <p:nvPr/>
        </p:nvSpPr>
        <p:spPr>
          <a:xfrm>
            <a:off x="3785616" y="2322576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Key-Value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C9F53B-7372-D6B5-FEB9-CC2F6B5EB15B}"/>
              </a:ext>
            </a:extLst>
          </p:cNvPr>
          <p:cNvSpPr/>
          <p:nvPr/>
        </p:nvSpPr>
        <p:spPr>
          <a:xfrm>
            <a:off x="5577840" y="212140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9CD3D5D-F2CE-14C6-8768-7E61D7F1DA3C}"/>
              </a:ext>
            </a:extLst>
          </p:cNvPr>
          <p:cNvSpPr txBox="1"/>
          <p:nvPr/>
        </p:nvSpPr>
        <p:spPr>
          <a:xfrm>
            <a:off x="5614416" y="2322576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列族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030C23-CDE7-7347-9EB9-E0BCCBF8EE10}"/>
              </a:ext>
            </a:extLst>
          </p:cNvPr>
          <p:cNvSpPr/>
          <p:nvPr/>
        </p:nvSpPr>
        <p:spPr>
          <a:xfrm>
            <a:off x="7543800" y="212140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A8E7537-CF9F-639E-B014-ED4DCE41D414}"/>
              </a:ext>
            </a:extLst>
          </p:cNvPr>
          <p:cNvSpPr txBox="1"/>
          <p:nvPr/>
        </p:nvSpPr>
        <p:spPr>
          <a:xfrm>
            <a:off x="7580376" y="2322576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Key-Value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60F5FC-2E2D-C28A-F82D-4D98CD385EEA}"/>
              </a:ext>
            </a:extLst>
          </p:cNvPr>
          <p:cNvSpPr/>
          <p:nvPr/>
        </p:nvSpPr>
        <p:spPr>
          <a:xfrm>
            <a:off x="9418320" y="2121408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6C7A59E-A7CA-FD97-29DE-E22AD745DD8C}"/>
              </a:ext>
            </a:extLst>
          </p:cNvPr>
          <p:cNvSpPr txBox="1"/>
          <p:nvPr/>
        </p:nvSpPr>
        <p:spPr>
          <a:xfrm>
            <a:off x="9454896" y="2322576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关系型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SQL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A0FCC6-E2B0-80AA-39C2-7184EF0CD96F}"/>
              </a:ext>
            </a:extLst>
          </p:cNvPr>
          <p:cNvSpPr/>
          <p:nvPr/>
        </p:nvSpPr>
        <p:spPr>
          <a:xfrm>
            <a:off x="502920" y="2779776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6AFEF5-BF01-FB86-BC50-A39ABAFB588F}"/>
              </a:ext>
            </a:extLst>
          </p:cNvPr>
          <p:cNvSpPr txBox="1"/>
          <p:nvPr/>
        </p:nvSpPr>
        <p:spPr>
          <a:xfrm>
            <a:off x="539496" y="2980944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CAP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6D61E1B-F503-FE32-A786-3A675098D821}"/>
              </a:ext>
            </a:extLst>
          </p:cNvPr>
          <p:cNvSpPr/>
          <p:nvPr/>
        </p:nvSpPr>
        <p:spPr>
          <a:xfrm>
            <a:off x="1920240" y="2779776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7B73F79-0E11-9291-9E94-A46820745186}"/>
              </a:ext>
            </a:extLst>
          </p:cNvPr>
          <p:cNvSpPr txBox="1"/>
          <p:nvPr/>
        </p:nvSpPr>
        <p:spPr>
          <a:xfrm>
            <a:off x="1956816" y="2980944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CP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C6FE34C-8FB9-0274-3B82-8D6C706FE163}"/>
              </a:ext>
            </a:extLst>
          </p:cNvPr>
          <p:cNvSpPr/>
          <p:nvPr/>
        </p:nvSpPr>
        <p:spPr>
          <a:xfrm>
            <a:off x="3749040" y="2779776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88A254C-6B1E-A00C-16BC-E763DCFCE5EB}"/>
              </a:ext>
            </a:extLst>
          </p:cNvPr>
          <p:cNvSpPr txBox="1"/>
          <p:nvPr/>
        </p:nvSpPr>
        <p:spPr>
          <a:xfrm>
            <a:off x="3785616" y="2980944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AP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68BDAFB-A9ED-3139-0E2B-21518806B75C}"/>
              </a:ext>
            </a:extLst>
          </p:cNvPr>
          <p:cNvSpPr/>
          <p:nvPr/>
        </p:nvSpPr>
        <p:spPr>
          <a:xfrm>
            <a:off x="5577840" y="2779776"/>
            <a:ext cx="196596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6F2B16C-1936-E066-F43A-DE01D1EE4CAF}"/>
              </a:ext>
            </a:extLst>
          </p:cNvPr>
          <p:cNvSpPr txBox="1"/>
          <p:nvPr/>
        </p:nvSpPr>
        <p:spPr>
          <a:xfrm>
            <a:off x="5614416" y="2980944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AP/CP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可配置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A591A36-4F58-65CE-CECB-E17CDEF9DD98}"/>
              </a:ext>
            </a:extLst>
          </p:cNvPr>
          <p:cNvSpPr/>
          <p:nvPr/>
        </p:nvSpPr>
        <p:spPr>
          <a:xfrm>
            <a:off x="7543800" y="2779776"/>
            <a:ext cx="187452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B5E61EA-2B50-1C91-1D3D-57CA0F2DE69D}"/>
              </a:ext>
            </a:extLst>
          </p:cNvPr>
          <p:cNvSpPr txBox="1"/>
          <p:nvPr/>
        </p:nvSpPr>
        <p:spPr>
          <a:xfrm>
            <a:off x="7580376" y="2980944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AP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19B843-7FB8-686F-7018-C74A6068504C}"/>
              </a:ext>
            </a:extLst>
          </p:cNvPr>
          <p:cNvSpPr/>
          <p:nvPr/>
        </p:nvSpPr>
        <p:spPr>
          <a:xfrm>
            <a:off x="9418320" y="2779776"/>
            <a:ext cx="22860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FC2B868-A5F5-A41A-FC85-A29A195C0441}"/>
              </a:ext>
            </a:extLst>
          </p:cNvPr>
          <p:cNvSpPr txBox="1"/>
          <p:nvPr/>
        </p:nvSpPr>
        <p:spPr>
          <a:xfrm>
            <a:off x="9454896" y="2980944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CP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1AC524E-8998-E224-F285-DA81BEA9E905}"/>
              </a:ext>
            </a:extLst>
          </p:cNvPr>
          <p:cNvSpPr/>
          <p:nvPr/>
        </p:nvSpPr>
        <p:spPr>
          <a:xfrm>
            <a:off x="502920" y="3438144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B3C8E22-4AE9-9D1B-5E9E-AF9830A27B01}"/>
              </a:ext>
            </a:extLst>
          </p:cNvPr>
          <p:cNvSpPr txBox="1"/>
          <p:nvPr/>
        </p:nvSpPr>
        <p:spPr>
          <a:xfrm>
            <a:off x="539496" y="3639312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一致性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8C269BC-8958-972F-F2B3-1E9B35F78848}"/>
              </a:ext>
            </a:extLst>
          </p:cNvPr>
          <p:cNvSpPr/>
          <p:nvPr/>
        </p:nvSpPr>
        <p:spPr>
          <a:xfrm>
            <a:off x="1920240" y="3438144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D43918A-36A9-5019-73D3-B7EE3C7CC3CC}"/>
              </a:ext>
            </a:extLst>
          </p:cNvPr>
          <p:cNvSpPr txBox="1"/>
          <p:nvPr/>
        </p:nvSpPr>
        <p:spPr>
          <a:xfrm>
            <a:off x="1956816" y="3639312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强一致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278A616-45FB-7F76-8138-D5A96FD4B3A9}"/>
              </a:ext>
            </a:extLst>
          </p:cNvPr>
          <p:cNvSpPr/>
          <p:nvPr/>
        </p:nvSpPr>
        <p:spPr>
          <a:xfrm>
            <a:off x="3749040" y="3438144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8EB2B39-A45F-1966-BD8A-0FDCFD3BD312}"/>
              </a:ext>
            </a:extLst>
          </p:cNvPr>
          <p:cNvSpPr txBox="1"/>
          <p:nvPr/>
        </p:nvSpPr>
        <p:spPr>
          <a:xfrm>
            <a:off x="3785616" y="3639312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最终一致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5E8A9D3-8943-848F-F7BB-BD584378B16B}"/>
              </a:ext>
            </a:extLst>
          </p:cNvPr>
          <p:cNvSpPr/>
          <p:nvPr/>
        </p:nvSpPr>
        <p:spPr>
          <a:xfrm>
            <a:off x="5577840" y="343814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69B779C-84D3-3937-C9DF-2E56BA4D9FB3}"/>
              </a:ext>
            </a:extLst>
          </p:cNvPr>
          <p:cNvSpPr txBox="1"/>
          <p:nvPr/>
        </p:nvSpPr>
        <p:spPr>
          <a:xfrm>
            <a:off x="5614416" y="3639312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可配置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5FF5B48-66DA-9EA3-9264-38C7A53200EE}"/>
              </a:ext>
            </a:extLst>
          </p:cNvPr>
          <p:cNvSpPr/>
          <p:nvPr/>
        </p:nvSpPr>
        <p:spPr>
          <a:xfrm>
            <a:off x="7543800" y="3438144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FB89A45-114C-AA10-7B1B-5C10F745A642}"/>
              </a:ext>
            </a:extLst>
          </p:cNvPr>
          <p:cNvSpPr txBox="1"/>
          <p:nvPr/>
        </p:nvSpPr>
        <p:spPr>
          <a:xfrm>
            <a:off x="7580376" y="3639312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最终一致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45E578D-45C4-ED26-AFA6-6F3CD2AD4778}"/>
              </a:ext>
            </a:extLst>
          </p:cNvPr>
          <p:cNvSpPr/>
          <p:nvPr/>
        </p:nvSpPr>
        <p:spPr>
          <a:xfrm>
            <a:off x="9418320" y="3438144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DB9457F-8FFA-F61D-AA86-C9D71A652338}"/>
              </a:ext>
            </a:extLst>
          </p:cNvPr>
          <p:cNvSpPr txBox="1"/>
          <p:nvPr/>
        </p:nvSpPr>
        <p:spPr>
          <a:xfrm>
            <a:off x="9454896" y="3639312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强一致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7790061-0C54-1CA4-CDCA-3F4BDD2270FA}"/>
              </a:ext>
            </a:extLst>
          </p:cNvPr>
          <p:cNvSpPr/>
          <p:nvPr/>
        </p:nvSpPr>
        <p:spPr>
          <a:xfrm>
            <a:off x="502920" y="4096512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2036211-FDFF-118E-3EF0-53EB1794943D}"/>
              </a:ext>
            </a:extLst>
          </p:cNvPr>
          <p:cNvSpPr txBox="1"/>
          <p:nvPr/>
        </p:nvSpPr>
        <p:spPr>
          <a:xfrm>
            <a:off x="539496" y="4297680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存储</a:t>
            </a:r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复制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C7FFCB0-2AF6-EF9D-7B1C-A080D0E0CE2C}"/>
              </a:ext>
            </a:extLst>
          </p:cNvPr>
          <p:cNvSpPr/>
          <p:nvPr/>
        </p:nvSpPr>
        <p:spPr>
          <a:xfrm>
            <a:off x="1920240" y="4096512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D60F2C1-3D77-E13B-F6E8-D3F332E7E25A}"/>
              </a:ext>
            </a:extLst>
          </p:cNvPr>
          <p:cNvSpPr txBox="1"/>
          <p:nvPr/>
        </p:nvSpPr>
        <p:spPr>
          <a:xfrm>
            <a:off x="1956816" y="4297680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GFS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45097D6-47AC-F9A6-2ABB-CA238C2362AE}"/>
              </a:ext>
            </a:extLst>
          </p:cNvPr>
          <p:cNvSpPr/>
          <p:nvPr/>
        </p:nvSpPr>
        <p:spPr>
          <a:xfrm>
            <a:off x="3749040" y="4096512"/>
            <a:ext cx="18288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5E1AF1D-8A8B-817F-F72C-EE7A61C971E2}"/>
              </a:ext>
            </a:extLst>
          </p:cNvPr>
          <p:cNvSpPr txBox="1"/>
          <p:nvPr/>
        </p:nvSpPr>
        <p:spPr>
          <a:xfrm>
            <a:off x="3785616" y="4297680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本地存储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47CFD16-A2CE-E120-9786-052BA74529A3}"/>
              </a:ext>
            </a:extLst>
          </p:cNvPr>
          <p:cNvSpPr/>
          <p:nvPr/>
        </p:nvSpPr>
        <p:spPr>
          <a:xfrm>
            <a:off x="5577840" y="4096512"/>
            <a:ext cx="196596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137EE8D-CCD8-20AD-AF3D-1D16017DE89A}"/>
              </a:ext>
            </a:extLst>
          </p:cNvPr>
          <p:cNvSpPr txBox="1"/>
          <p:nvPr/>
        </p:nvSpPr>
        <p:spPr>
          <a:xfrm>
            <a:off x="5614416" y="4297680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LSM-Tree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C0FA154-F262-A5BE-D048-B84C51ED824F}"/>
              </a:ext>
            </a:extLst>
          </p:cNvPr>
          <p:cNvSpPr/>
          <p:nvPr/>
        </p:nvSpPr>
        <p:spPr>
          <a:xfrm>
            <a:off x="7543800" y="4096512"/>
            <a:ext cx="187452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052070F-3DD4-3019-6778-B7F3D314A421}"/>
              </a:ext>
            </a:extLst>
          </p:cNvPr>
          <p:cNvSpPr txBox="1"/>
          <p:nvPr/>
        </p:nvSpPr>
        <p:spPr>
          <a:xfrm>
            <a:off x="7580376" y="4297680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内存缓存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ECFC664-6020-4F9A-C620-270F4F018A9D}"/>
              </a:ext>
            </a:extLst>
          </p:cNvPr>
          <p:cNvSpPr/>
          <p:nvPr/>
        </p:nvSpPr>
        <p:spPr>
          <a:xfrm>
            <a:off x="9418320" y="4096512"/>
            <a:ext cx="2286000" cy="658368"/>
          </a:xfrm>
          <a:prstGeom prst="rect">
            <a:avLst/>
          </a:prstGeom>
          <a:solidFill>
            <a:srgbClr val="F9FB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6C2FBBA-E69D-79E3-7B46-60986DDE0A3F}"/>
              </a:ext>
            </a:extLst>
          </p:cNvPr>
          <p:cNvSpPr txBox="1"/>
          <p:nvPr/>
        </p:nvSpPr>
        <p:spPr>
          <a:xfrm>
            <a:off x="9454896" y="4297680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Raft + Pebble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F1F16EE-A622-B142-A69E-A9D3AD4F3E9D}"/>
              </a:ext>
            </a:extLst>
          </p:cNvPr>
          <p:cNvSpPr/>
          <p:nvPr/>
        </p:nvSpPr>
        <p:spPr>
          <a:xfrm>
            <a:off x="502920" y="4754880"/>
            <a:ext cx="14173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5587C9C-C457-7CDF-BD98-1B772601B506}"/>
              </a:ext>
            </a:extLst>
          </p:cNvPr>
          <p:cNvSpPr txBox="1"/>
          <p:nvPr/>
        </p:nvSpPr>
        <p:spPr>
          <a:xfrm>
            <a:off x="539496" y="4956048"/>
            <a:ext cx="13441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典型场景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352AB72-9715-EE34-D871-48AEBB971862}"/>
              </a:ext>
            </a:extLst>
          </p:cNvPr>
          <p:cNvSpPr/>
          <p:nvPr/>
        </p:nvSpPr>
        <p:spPr>
          <a:xfrm>
            <a:off x="1920240" y="47548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500D6A6-DE07-D17B-D1C9-7546744B32B5}"/>
              </a:ext>
            </a:extLst>
          </p:cNvPr>
          <p:cNvSpPr txBox="1"/>
          <p:nvPr/>
        </p:nvSpPr>
        <p:spPr>
          <a:xfrm>
            <a:off x="1956816" y="4956048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分析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+OLTP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1BF08EF-6AE2-7C12-983C-FC6B79943639}"/>
              </a:ext>
            </a:extLst>
          </p:cNvPr>
          <p:cNvSpPr/>
          <p:nvPr/>
        </p:nvSpPr>
        <p:spPr>
          <a:xfrm>
            <a:off x="3749040" y="47548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1A53E10-649D-7B12-FC73-E75454E3A9CE}"/>
              </a:ext>
            </a:extLst>
          </p:cNvPr>
          <p:cNvSpPr txBox="1"/>
          <p:nvPr/>
        </p:nvSpPr>
        <p:spPr>
          <a:xfrm>
            <a:off x="3785616" y="4956048"/>
            <a:ext cx="17556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高可用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OLTP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A790838-265F-E424-3399-D5F6EE113559}"/>
              </a:ext>
            </a:extLst>
          </p:cNvPr>
          <p:cNvSpPr/>
          <p:nvPr/>
        </p:nvSpPr>
        <p:spPr>
          <a:xfrm>
            <a:off x="5577840" y="47548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88CAE8A-31C4-9A94-A279-8F8245F137DE}"/>
              </a:ext>
            </a:extLst>
          </p:cNvPr>
          <p:cNvSpPr txBox="1"/>
          <p:nvPr/>
        </p:nvSpPr>
        <p:spPr>
          <a:xfrm>
            <a:off x="5614416" y="4956048"/>
            <a:ext cx="189280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高写入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2887762-035E-3867-1F6F-CD877BCA4032}"/>
              </a:ext>
            </a:extLst>
          </p:cNvPr>
          <p:cNvSpPr/>
          <p:nvPr/>
        </p:nvSpPr>
        <p:spPr>
          <a:xfrm>
            <a:off x="7543800" y="47548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278E471-38B1-53A4-4964-1BB6E97A14CF}"/>
              </a:ext>
            </a:extLst>
          </p:cNvPr>
          <p:cNvSpPr txBox="1"/>
          <p:nvPr/>
        </p:nvSpPr>
        <p:spPr>
          <a:xfrm>
            <a:off x="7580376" y="4956048"/>
            <a:ext cx="180136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缓存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98D55D8-D46F-50BD-6F98-2E99859F48FE}"/>
              </a:ext>
            </a:extLst>
          </p:cNvPr>
          <p:cNvSpPr/>
          <p:nvPr/>
        </p:nvSpPr>
        <p:spPr>
          <a:xfrm>
            <a:off x="9418320" y="475488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A96E15F-6E0E-3A20-83BA-8A1FA7ACB4F7}"/>
              </a:ext>
            </a:extLst>
          </p:cNvPr>
          <p:cNvSpPr txBox="1"/>
          <p:nvPr/>
        </p:nvSpPr>
        <p:spPr>
          <a:xfrm>
            <a:off x="9454896" y="4956048"/>
            <a:ext cx="22128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全球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OLTP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3D34496-98FD-C1F5-73A5-DF9C50AB2DE7}"/>
              </a:ext>
            </a:extLst>
          </p:cNvPr>
          <p:cNvSpPr txBox="1"/>
          <p:nvPr/>
        </p:nvSpPr>
        <p:spPr>
          <a:xfrm>
            <a:off x="1234440" y="6144768"/>
            <a:ext cx="96926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核心结论：</a:t>
            </a:r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没有绝对最优系统，只有面向场景的数据模型、一致性策略和部署方式。</a:t>
            </a:r>
          </a:p>
        </p:txBody>
      </p:sp>
    </p:spTree>
    <p:extLst>
      <p:ext uri="{BB962C8B-B14F-4D97-AF65-F5344CB8AC3E}">
        <p14:creationId xmlns:p14="http://schemas.microsoft.com/office/powerpoint/2010/main" val="233718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929F8B-2E90-66AD-FBB4-53E9C5A44D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F59AFD-F84B-AD13-31FB-7A60CFEC716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9EEB4E-2489-3E78-D3A0-3EE40E593533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6E18A5-24CF-23EE-1ABF-22C337F3721F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核心技术权衡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E7D7CA-CFDB-A0AE-0789-AC326B1BD332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4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A1451B-852D-9C96-1C07-ABED76031555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BCC57B7-28E2-31BD-B059-1498F807576D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C4E99AB9-5B77-5319-1DC8-327BB5CC3FD6}"/>
              </a:ext>
            </a:extLst>
          </p:cNvPr>
          <p:cNvSpPr/>
          <p:nvPr/>
        </p:nvSpPr>
        <p:spPr>
          <a:xfrm>
            <a:off x="868680" y="1234440"/>
            <a:ext cx="2971800" cy="2331720"/>
          </a:xfrm>
          <a:prstGeom prst="triangl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E99ACC-747F-0B1D-4D7A-22D33C07C0FA}"/>
              </a:ext>
            </a:extLst>
          </p:cNvPr>
          <p:cNvSpPr txBox="1"/>
          <p:nvPr/>
        </p:nvSpPr>
        <p:spPr>
          <a:xfrm>
            <a:off x="2057400" y="1051560"/>
            <a:ext cx="7772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C</a:t>
            </a:r>
          </a:p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一致性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774E18-0CDF-8B62-19E9-66958F77B9BB}"/>
              </a:ext>
            </a:extLst>
          </p:cNvPr>
          <p:cNvSpPr txBox="1"/>
          <p:nvPr/>
        </p:nvSpPr>
        <p:spPr>
          <a:xfrm>
            <a:off x="594360" y="3429000"/>
            <a:ext cx="8229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A</a:t>
            </a:r>
          </a:p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可用性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2D123C-F9DC-CB34-A0BB-40AC35967A4B}"/>
              </a:ext>
            </a:extLst>
          </p:cNvPr>
          <p:cNvSpPr txBox="1"/>
          <p:nvPr/>
        </p:nvSpPr>
        <p:spPr>
          <a:xfrm>
            <a:off x="3429000" y="3429000"/>
            <a:ext cx="8686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P</a:t>
            </a:r>
          </a:p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分区容错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E7DE81-5201-984E-D6D5-964F136457CB}"/>
              </a:ext>
            </a:extLst>
          </p:cNvPr>
          <p:cNvSpPr txBox="1"/>
          <p:nvPr/>
        </p:nvSpPr>
        <p:spPr>
          <a:xfrm>
            <a:off x="640080" y="4160520"/>
            <a:ext cx="37490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CAP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：分布式系统无法同时完全满足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C/A/P</a:t>
            </a:r>
            <a:endParaRPr lang="zh-CN" altLang="en-US" sz="1400">
              <a:solidFill>
                <a:srgbClr val="4B556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3235545-4E81-9FAF-2EFD-554BBF989372}"/>
              </a:ext>
            </a:extLst>
          </p:cNvPr>
          <p:cNvSpPr/>
          <p:nvPr/>
        </p:nvSpPr>
        <p:spPr>
          <a:xfrm>
            <a:off x="4617720" y="1170432"/>
            <a:ext cx="28346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BFCAF8-44B1-C7ED-FCEA-27D70D23DA05}"/>
              </a:ext>
            </a:extLst>
          </p:cNvPr>
          <p:cNvSpPr txBox="1"/>
          <p:nvPr/>
        </p:nvSpPr>
        <p:spPr>
          <a:xfrm>
            <a:off x="4892040" y="1417320"/>
            <a:ext cx="22860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b="1">
                <a:solidFill>
                  <a:srgbClr val="0B3A75"/>
                </a:solidFill>
                <a:latin typeface="Microsoft YaHei" panose="020B0503020204020204" pitchFamily="34" charset="-122"/>
              </a:rPr>
              <a:t>PACELC</a:t>
            </a:r>
            <a:endParaRPr lang="zh-CN" altLang="en-US" b="1">
              <a:solidFill>
                <a:srgbClr val="0B3A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DBB28C-457C-B506-DEFF-214AEE666121}"/>
              </a:ext>
            </a:extLst>
          </p:cNvPr>
          <p:cNvSpPr txBox="1"/>
          <p:nvPr/>
        </p:nvSpPr>
        <p:spPr>
          <a:xfrm>
            <a:off x="4956048" y="2011680"/>
            <a:ext cx="21488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P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：分区时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A vs C</a:t>
            </a:r>
          </a:p>
          <a:p>
            <a:pPr algn="ctr"/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Else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：正常时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L vs C</a:t>
            </a:r>
            <a:endParaRPr lang="zh-CN" altLang="en-US" sz="14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88A290-7A2A-DF69-5E28-59AE67E4DC76}"/>
              </a:ext>
            </a:extLst>
          </p:cNvPr>
          <p:cNvSpPr txBox="1"/>
          <p:nvPr/>
        </p:nvSpPr>
        <p:spPr>
          <a:xfrm>
            <a:off x="4709160" y="2907792"/>
            <a:ext cx="26060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Dynamo</a:t>
            </a:r>
            <a:r>
              <a:rPr lang="zh-CN" altLang="en-US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：低延迟 </a:t>
            </a:r>
            <a:r>
              <a:rPr lang="en-US" altLang="zh-CN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最终一致</a:t>
            </a:r>
          </a:p>
          <a:p>
            <a:pPr algn="ctr"/>
            <a:r>
              <a:rPr lang="en-US" altLang="zh-CN" sz="1400" dirty="0" err="1">
                <a:solidFill>
                  <a:srgbClr val="4B5563"/>
                </a:solidFill>
                <a:latin typeface="Microsoft YaHei" panose="020B0503020204020204" pitchFamily="34" charset="-122"/>
              </a:rPr>
              <a:t>CockroachDB</a:t>
            </a:r>
            <a:r>
              <a:rPr lang="zh-CN" altLang="en-US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：强一致 </a:t>
            </a:r>
            <a:r>
              <a:rPr lang="en-US" altLang="zh-CN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4B5563"/>
                </a:solidFill>
                <a:latin typeface="Microsoft YaHei" panose="020B0503020204020204" pitchFamily="34" charset="-122"/>
              </a:rPr>
              <a:t>更高协调成本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181CFFA-1018-2FF7-A2FF-834664421E98}"/>
              </a:ext>
            </a:extLst>
          </p:cNvPr>
          <p:cNvSpPr/>
          <p:nvPr/>
        </p:nvSpPr>
        <p:spPr>
          <a:xfrm>
            <a:off x="7909560" y="1170432"/>
            <a:ext cx="33375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27E59C-C5F9-2BDD-68FC-71C6C8594D78}"/>
              </a:ext>
            </a:extLst>
          </p:cNvPr>
          <p:cNvSpPr txBox="1"/>
          <p:nvPr/>
        </p:nvSpPr>
        <p:spPr>
          <a:xfrm>
            <a:off x="8247888" y="1417320"/>
            <a:ext cx="265176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600" b="1">
                <a:solidFill>
                  <a:srgbClr val="0B3A75"/>
                </a:solidFill>
                <a:latin typeface="Microsoft YaHei" panose="020B0503020204020204" pitchFamily="34" charset="-122"/>
              </a:rPr>
              <a:t>读优化 </a:t>
            </a:r>
            <a:r>
              <a:rPr lang="en-US" altLang="zh-CN" sz="1600" b="1">
                <a:solidFill>
                  <a:srgbClr val="0B3A75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600" b="1">
                <a:solidFill>
                  <a:srgbClr val="0B3A75"/>
                </a:solidFill>
                <a:latin typeface="Microsoft YaHei" panose="020B0503020204020204" pitchFamily="34" charset="-122"/>
              </a:rPr>
              <a:t>写优化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685999-083F-CDFF-FB3D-F7023CBB2BB7}"/>
              </a:ext>
            </a:extLst>
          </p:cNvPr>
          <p:cNvCxnSpPr/>
          <p:nvPr/>
        </p:nvCxnSpPr>
        <p:spPr>
          <a:xfrm>
            <a:off x="8229600" y="2395728"/>
            <a:ext cx="269748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8869454-9DBD-56EF-DC97-AABF5E852A99}"/>
              </a:ext>
            </a:extLst>
          </p:cNvPr>
          <p:cNvSpPr txBox="1"/>
          <p:nvPr/>
        </p:nvSpPr>
        <p:spPr>
          <a:xfrm>
            <a:off x="8138160" y="2057400"/>
            <a:ext cx="914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读优化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EE57A-FCF2-010F-FCE0-0F4648978B13}"/>
              </a:ext>
            </a:extLst>
          </p:cNvPr>
          <p:cNvSpPr txBox="1"/>
          <p:nvPr/>
        </p:nvSpPr>
        <p:spPr>
          <a:xfrm>
            <a:off x="10058400" y="2057400"/>
            <a:ext cx="914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写优化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8A63CFC-035F-1747-C7EC-6D786F396738}"/>
              </a:ext>
            </a:extLst>
          </p:cNvPr>
          <p:cNvSpPr txBox="1"/>
          <p:nvPr/>
        </p:nvSpPr>
        <p:spPr>
          <a:xfrm>
            <a:off x="8001000" y="2651760"/>
            <a:ext cx="12344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Bloom Filter</a:t>
            </a:r>
          </a:p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缓存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1C3800-1D52-FADF-23E2-3AC632024DCC}"/>
              </a:ext>
            </a:extLst>
          </p:cNvPr>
          <p:cNvSpPr txBox="1"/>
          <p:nvPr/>
        </p:nvSpPr>
        <p:spPr>
          <a:xfrm>
            <a:off x="9921240" y="2651760"/>
            <a:ext cx="12344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LSM-Tree</a:t>
            </a:r>
          </a:p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批量顺序写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2659F91-91DA-6D0C-28C4-27856AA74DED}"/>
              </a:ext>
            </a:extLst>
          </p:cNvPr>
          <p:cNvSpPr/>
          <p:nvPr/>
        </p:nvSpPr>
        <p:spPr>
          <a:xfrm>
            <a:off x="1143000" y="4892040"/>
            <a:ext cx="9921240" cy="685800"/>
          </a:xfrm>
          <a:prstGeom prst="roundRect">
            <a:avLst/>
          </a:prstGeom>
          <a:solidFill>
            <a:srgbClr val="0B3A75"/>
          </a:solidFill>
          <a:ln w="12700">
            <a:solidFill>
              <a:srgbClr val="0B3A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D83E72-AA83-C0A6-3FE5-DFA7AB1DE938}"/>
              </a:ext>
            </a:extLst>
          </p:cNvPr>
          <p:cNvSpPr txBox="1"/>
          <p:nvPr/>
        </p:nvSpPr>
        <p:spPr>
          <a:xfrm>
            <a:off x="1417320" y="5138928"/>
            <a:ext cx="93726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设计本质：在一致性、可用性、延迟、读写性能和通用性之间做场景化取舍</a:t>
            </a:r>
          </a:p>
        </p:txBody>
      </p:sp>
    </p:spTree>
    <p:extLst>
      <p:ext uri="{BB962C8B-B14F-4D97-AF65-F5344CB8AC3E}">
        <p14:creationId xmlns:p14="http://schemas.microsoft.com/office/powerpoint/2010/main" val="2453493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368BEF-4AAD-B276-6324-752D35C547F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6B58FC-86BD-79EF-3976-8E48A211FE38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2758"/>
          </a:solidFill>
          <a:ln w="12700">
            <a:solidFill>
              <a:srgbClr val="082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CE2E7B-86BC-A776-1B0F-95A72706D6E7}"/>
              </a:ext>
            </a:extLst>
          </p:cNvPr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734F9D-2B3F-660B-0418-C968757146D5}"/>
              </a:ext>
            </a:extLst>
          </p:cNvPr>
          <p:cNvSpPr txBox="1"/>
          <p:nvPr/>
        </p:nvSpPr>
        <p:spPr>
          <a:xfrm>
            <a:off x="457200" y="109728"/>
            <a:ext cx="841248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未来趋势与总结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E13071-2ABA-0A30-27DA-D1EC54D18345}"/>
              </a:ext>
            </a:extLst>
          </p:cNvPr>
          <p:cNvSpPr txBox="1"/>
          <p:nvPr/>
        </p:nvSpPr>
        <p:spPr>
          <a:xfrm>
            <a:off x="9144000" y="164592"/>
            <a:ext cx="2057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r"/>
            <a:r>
              <a:rPr lang="en-US" altLang="zh-CN" sz="1400">
                <a:solidFill>
                  <a:srgbClr val="E3F2FD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E3F2FD"/>
                </a:solidFill>
                <a:latin typeface="Microsoft YaHei" panose="020B0503020204020204" pitchFamily="34" charset="-122"/>
              </a:rPr>
              <a:t>数据库技术探究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5E924F-2DE3-6FE1-6720-315BBBAE5794}"/>
              </a:ext>
            </a:extLst>
          </p:cNvPr>
          <p:cNvSpPr txBox="1"/>
          <p:nvPr/>
        </p:nvSpPr>
        <p:spPr>
          <a:xfrm>
            <a:off x="11384280" y="137160"/>
            <a:ext cx="384048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C4537F7-3F1D-0925-FA22-C4E19B145EF8}"/>
              </a:ext>
            </a:extLst>
          </p:cNvPr>
          <p:cNvCxnSpPr/>
          <p:nvPr/>
        </p:nvCxnSpPr>
        <p:spPr>
          <a:xfrm>
            <a:off x="457200" y="6510528"/>
            <a:ext cx="11292840" cy="0"/>
          </a:xfrm>
          <a:prstGeom prst="line">
            <a:avLst/>
          </a:prstGeom>
          <a:ln w="12700">
            <a:solidFill>
              <a:srgbClr val="CC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DCFD28-7EA1-4A19-3EC4-2453CF0C5058}"/>
              </a:ext>
            </a:extLst>
          </p:cNvPr>
          <p:cNvSpPr/>
          <p:nvPr/>
        </p:nvSpPr>
        <p:spPr>
          <a:xfrm>
            <a:off x="731520" y="1078992"/>
            <a:ext cx="4892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FAC98B-A2F4-EBD9-F699-6119295071EB}"/>
              </a:ext>
            </a:extLst>
          </p:cNvPr>
          <p:cNvSpPr/>
          <p:nvPr/>
        </p:nvSpPr>
        <p:spPr>
          <a:xfrm>
            <a:off x="731520" y="1078992"/>
            <a:ext cx="73152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3A9290-42D6-67F1-9ADD-0AF60B2203F7}"/>
              </a:ext>
            </a:extLst>
          </p:cNvPr>
          <p:cNvSpPr txBox="1"/>
          <p:nvPr/>
        </p:nvSpPr>
        <p:spPr>
          <a:xfrm>
            <a:off x="932688" y="1243584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多模型融合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96BA3A-ABB7-5BB0-B59C-B089B6A30A29}"/>
              </a:ext>
            </a:extLst>
          </p:cNvPr>
          <p:cNvSpPr txBox="1"/>
          <p:nvPr/>
        </p:nvSpPr>
        <p:spPr>
          <a:xfrm>
            <a:off x="932688" y="1682496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同时支持文档、图、键值和关系模型，降低系统复杂度。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EA9D39D-99A3-3617-593D-CB3D6A6A32B8}"/>
              </a:ext>
            </a:extLst>
          </p:cNvPr>
          <p:cNvSpPr/>
          <p:nvPr/>
        </p:nvSpPr>
        <p:spPr>
          <a:xfrm>
            <a:off x="6263640" y="1078992"/>
            <a:ext cx="4892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F8611F-042A-E032-B454-A2F05DA0E769}"/>
              </a:ext>
            </a:extLst>
          </p:cNvPr>
          <p:cNvSpPr/>
          <p:nvPr/>
        </p:nvSpPr>
        <p:spPr>
          <a:xfrm>
            <a:off x="6263640" y="1078992"/>
            <a:ext cx="73152" cy="10515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79F46F-6434-C138-77AF-60AB03F08482}"/>
              </a:ext>
            </a:extLst>
          </p:cNvPr>
          <p:cNvSpPr txBox="1"/>
          <p:nvPr/>
        </p:nvSpPr>
        <p:spPr>
          <a:xfrm>
            <a:off x="6464808" y="1243584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云原生数据库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E4A171-4458-0979-758C-60A8404F65F1}"/>
              </a:ext>
            </a:extLst>
          </p:cNvPr>
          <p:cNvSpPr txBox="1"/>
          <p:nvPr/>
        </p:nvSpPr>
        <p:spPr>
          <a:xfrm>
            <a:off x="6464808" y="1682496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弹性扩展、多云部署、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Serverless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和自动故障恢复。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F9BCEF9-A7FF-E9D0-5B52-F3092F40E172}"/>
              </a:ext>
            </a:extLst>
          </p:cNvPr>
          <p:cNvSpPr/>
          <p:nvPr/>
        </p:nvSpPr>
        <p:spPr>
          <a:xfrm>
            <a:off x="731520" y="2496312"/>
            <a:ext cx="4892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616F41-D019-DB0D-1367-100C3DCF965D}"/>
              </a:ext>
            </a:extLst>
          </p:cNvPr>
          <p:cNvSpPr/>
          <p:nvPr/>
        </p:nvSpPr>
        <p:spPr>
          <a:xfrm>
            <a:off x="731520" y="2496312"/>
            <a:ext cx="73152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752F1B-98B4-A709-5125-AB2E0CF33024}"/>
              </a:ext>
            </a:extLst>
          </p:cNvPr>
          <p:cNvSpPr txBox="1"/>
          <p:nvPr/>
        </p:nvSpPr>
        <p:spPr>
          <a:xfrm>
            <a:off x="932688" y="2660904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边缘计算数据管理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3D5D84-2920-AA56-044F-6E6E1D1E7529}"/>
              </a:ext>
            </a:extLst>
          </p:cNvPr>
          <p:cNvSpPr txBox="1"/>
          <p:nvPr/>
        </p:nvSpPr>
        <p:spPr>
          <a:xfrm>
            <a:off x="932688" y="3099816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数据处理下沉到边缘节点，需要低延迟、离线能力和同步机制。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A8F382-8500-0895-D562-6871C270080C}"/>
              </a:ext>
            </a:extLst>
          </p:cNvPr>
          <p:cNvSpPr/>
          <p:nvPr/>
        </p:nvSpPr>
        <p:spPr>
          <a:xfrm>
            <a:off x="6263640" y="2496312"/>
            <a:ext cx="4892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AF0FE6-6286-332A-D474-DBB97DD11124}"/>
              </a:ext>
            </a:extLst>
          </p:cNvPr>
          <p:cNvSpPr/>
          <p:nvPr/>
        </p:nvSpPr>
        <p:spPr>
          <a:xfrm>
            <a:off x="6263640" y="2496312"/>
            <a:ext cx="73152" cy="10515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57A9AD4-7944-76E3-06CB-AEBEB7BFECE8}"/>
              </a:ext>
            </a:extLst>
          </p:cNvPr>
          <p:cNvSpPr txBox="1"/>
          <p:nvPr/>
        </p:nvSpPr>
        <p:spPr>
          <a:xfrm>
            <a:off x="6464808" y="2660904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自适应优化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767277-B355-92A2-02F5-D905CBF62DAD}"/>
              </a:ext>
            </a:extLst>
          </p:cNvPr>
          <p:cNvSpPr txBox="1"/>
          <p:nvPr/>
        </p:nvSpPr>
        <p:spPr>
          <a:xfrm>
            <a:off x="6464808" y="3099816"/>
            <a:ext cx="4562856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自动调参、自动索引选择和自适应查询优化。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8319740-1EF2-50DA-AFD8-50266BAC8A8E}"/>
              </a:ext>
            </a:extLst>
          </p:cNvPr>
          <p:cNvSpPr/>
          <p:nvPr/>
        </p:nvSpPr>
        <p:spPr>
          <a:xfrm>
            <a:off x="914400" y="4315968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2C4A6F-1E74-DAAE-A23D-7E11DDE2520A}"/>
              </a:ext>
            </a:extLst>
          </p:cNvPr>
          <p:cNvSpPr txBox="1"/>
          <p:nvPr/>
        </p:nvSpPr>
        <p:spPr>
          <a:xfrm>
            <a:off x="1207008" y="4553712"/>
            <a:ext cx="91440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zh-CN" altLang="en-US" sz="1400" b="1">
                <a:solidFill>
                  <a:srgbClr val="0B3A75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058E33-133C-7DC6-B9C1-A16045859A77}"/>
              </a:ext>
            </a:extLst>
          </p:cNvPr>
          <p:cNvSpPr txBox="1"/>
          <p:nvPr/>
        </p:nvSpPr>
        <p:spPr>
          <a:xfrm>
            <a:off x="1965960" y="4507992"/>
            <a:ext cx="8778240" cy="350865"/>
          </a:xfrm>
          <a:prstGeom prst="rect">
            <a:avLst/>
          </a:prstGeom>
          <a:noFill/>
        </p:spPr>
        <p:txBody>
          <a:bodyPr vert="horz" wrap="square" lIns="73152" tIns="36576" rIns="73152" bIns="36576" rtlCol="0">
            <a:noAutofit/>
          </a:bodyPr>
          <a:lstStyle/>
          <a:p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NoSQL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的发展体现了数据库技术从专用到通用、从单模型到多模型、从单地域到全球分布式的演进规律；系统设计的关键始终是面向场景的权衡。</a:t>
            </a:r>
          </a:p>
        </p:txBody>
      </p:sp>
    </p:spTree>
    <p:extLst>
      <p:ext uri="{BB962C8B-B14F-4D97-AF65-F5344CB8AC3E}">
        <p14:creationId xmlns:p14="http://schemas.microsoft.com/office/powerpoint/2010/main" val="50772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2747625"/>
            <a:ext cx="12172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感 谢 关 注</a:t>
            </a:r>
          </a:p>
        </p:txBody>
      </p:sp>
      <p:sp>
        <p:nvSpPr>
          <p:cNvPr id="50" name="thanks_sub"/>
          <p:cNvSpPr txBox="1"/>
          <p:nvPr/>
        </p:nvSpPr>
        <p:spPr>
          <a:xfrm>
            <a:off x="1096000" y="4180000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敬请各位老师与同学批评指正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1683</Words>
  <Application>Microsoft Office PowerPoint</Application>
  <PresentationFormat>宽屏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思源黑体 CN Medium</vt:lpstr>
      <vt:lpstr>思源黑体 CN Normal</vt:lpstr>
      <vt:lpstr>Microsoft YaHei</vt:lpstr>
      <vt:lpstr>Microsoft YaHei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December</dc:creator>
  <cp:lastModifiedBy>December</cp:lastModifiedBy>
  <cp:revision>7</cp:revision>
  <dcterms:created xsi:type="dcterms:W3CDTF">2026-06-18T05:52:34Z</dcterms:created>
  <dcterms:modified xsi:type="dcterms:W3CDTF">2026-06-18T06:12:31Z</dcterms:modified>
</cp:coreProperties>
</file>