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15"/>
  </p:notesMasterIdLst>
  <p:handoutMasterIdLst>
    <p:handoutMasterId r:id="rId16"/>
  </p:handoutMasterIdLst>
  <p:sldIdLst>
    <p:sldId id="2657" r:id="rId2"/>
    <p:sldId id="5144" r:id="rId3"/>
    <p:sldId id="5151" r:id="rId4"/>
    <p:sldId id="5153" r:id="rId5"/>
    <p:sldId id="5146" r:id="rId6"/>
    <p:sldId id="5154" r:id="rId7"/>
    <p:sldId id="5155" r:id="rId8"/>
    <p:sldId id="5159" r:id="rId9"/>
    <p:sldId id="5160" r:id="rId10"/>
    <p:sldId id="5157" r:id="rId11"/>
    <p:sldId id="5158" r:id="rId12"/>
    <p:sldId id="5161" r:id="rId13"/>
    <p:sldId id="5162" r:id="rId14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657"/>
            <p14:sldId id="5144"/>
            <p14:sldId id="5151"/>
            <p14:sldId id="5153"/>
            <p14:sldId id="5146"/>
            <p14:sldId id="5154"/>
            <p14:sldId id="5155"/>
            <p14:sldId id="5159"/>
            <p14:sldId id="5160"/>
            <p14:sldId id="5157"/>
            <p14:sldId id="5158"/>
            <p14:sldId id="5161"/>
            <p14:sldId id="51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BED"/>
    <a:srgbClr val="1B06BA"/>
    <a:srgbClr val="080808"/>
    <a:srgbClr val="339933"/>
    <a:srgbClr val="B5880B"/>
    <a:srgbClr val="E87071"/>
    <a:srgbClr val="00B3EE"/>
    <a:srgbClr val="93E5FF"/>
    <a:srgbClr val="F7FE9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93775" autoAdjust="0"/>
  </p:normalViewPr>
  <p:slideViewPr>
    <p:cSldViewPr>
      <p:cViewPr varScale="1">
        <p:scale>
          <a:sx n="63" d="100"/>
          <a:sy n="63" d="100"/>
        </p:scale>
        <p:origin x="67" y="773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13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59175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7A9122C-2794-4A95-85D5-67E362F7E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2726" y="201457"/>
            <a:ext cx="1587734" cy="386697"/>
          </a:xfrm>
          <a:prstGeom prst="rect">
            <a:avLst/>
          </a:prstGeom>
        </p:spPr>
      </p:pic>
      <p:cxnSp>
        <p:nvCxnSpPr>
          <p:cNvPr id="5" name="PA-102211">
            <a:extLst>
              <a:ext uri="{FF2B5EF4-FFF2-40B4-BE49-F238E27FC236}">
                <a16:creationId xmlns:a16="http://schemas.microsoft.com/office/drawing/2014/main" id="{C87527B0-2AEC-439E-9D61-9F881129AF8A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>
            <a:extLst>
              <a:ext uri="{FF2B5EF4-FFF2-40B4-BE49-F238E27FC236}">
                <a16:creationId xmlns:a16="http://schemas.microsoft.com/office/drawing/2014/main" id="{85669494-41B5-4632-B1D9-01C055E75766}"/>
              </a:ext>
            </a:extLst>
          </p:cNvPr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D42D23-9145-41EA-AB27-9AA088E35FFA}"/>
              </a:ext>
            </a:extLst>
          </p:cNvPr>
          <p:cNvSpPr txBox="1"/>
          <p:nvPr/>
        </p:nvSpPr>
        <p:spPr>
          <a:xfrm>
            <a:off x="1152127" y="2120538"/>
            <a:ext cx="6984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高斯过程回归预测股票走势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8E2A0A-490D-4FA0-814E-6AD027047792}"/>
              </a:ext>
            </a:extLst>
          </p:cNvPr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1">
            <a:extLst>
              <a:ext uri="{FF2B5EF4-FFF2-40B4-BE49-F238E27FC236}">
                <a16:creationId xmlns:a16="http://schemas.microsoft.com/office/drawing/2014/main" id="{660725AF-9C86-4A91-AD17-08FDE39E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761" y="3592397"/>
            <a:ext cx="5715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Dec 31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, 2025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charset="-122"/>
            </a:endParaRPr>
          </a:p>
        </p:txBody>
      </p:sp>
      <p:sp>
        <p:nvSpPr>
          <p:cNvPr id="17" name="副标题 3074">
            <a:extLst>
              <a:ext uri="{FF2B5EF4-FFF2-40B4-BE49-F238E27FC236}">
                <a16:creationId xmlns:a16="http://schemas.microsoft.com/office/drawing/2014/main" id="{7ED359D8-6165-457C-A6B9-9EC554BCC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761" y="2967471"/>
            <a:ext cx="5714999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2351136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李盛鹏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46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zh-CN" altLang="en-US" dirty="0"/>
              <a:t>金融市场的核心挑战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052001-98B9-44FF-B1B9-0A2D77673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365617"/>
            <a:ext cx="3024336" cy="3294365"/>
          </a:xfrm>
        </p:spPr>
        <p:txBody>
          <a:bodyPr/>
          <a:lstStyle/>
          <a:p>
            <a:r>
              <a:rPr lang="zh-CN" altLang="en-US" dirty="0"/>
              <a:t>论述</a:t>
            </a:r>
            <a:r>
              <a:rPr lang="en-US" altLang="zh-CN" dirty="0"/>
              <a:t>1</a:t>
            </a:r>
            <a:r>
              <a:rPr lang="zh-CN" altLang="en-US" dirty="0"/>
              <a:t>：金融市场具有高度复杂，</a:t>
            </a:r>
            <a:r>
              <a:rPr lang="zh-CN" altLang="en-US" b="1" dirty="0">
                <a:solidFill>
                  <a:srgbClr val="FF0000"/>
                </a:solidFill>
              </a:rPr>
              <a:t>非线性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随机</a:t>
            </a:r>
            <a:r>
              <a:rPr lang="zh-CN" altLang="en-US" dirty="0"/>
              <a:t>的特性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论述</a:t>
            </a:r>
            <a:r>
              <a:rPr lang="en-US" altLang="zh-CN" dirty="0"/>
              <a:t>2</a:t>
            </a:r>
            <a:r>
              <a:rPr lang="zh-CN" altLang="en-US" dirty="0"/>
              <a:t>：传统确定性模型，如 </a:t>
            </a:r>
            <a:r>
              <a:rPr lang="en-US" altLang="zh-CN" dirty="0"/>
              <a:t>Y = f(X) + N,</a:t>
            </a:r>
            <a:r>
              <a:rPr lang="zh-CN" altLang="en-US" b="1" dirty="0">
                <a:solidFill>
                  <a:srgbClr val="FF0000"/>
                </a:solidFill>
              </a:rPr>
              <a:t>难以捕捉</a:t>
            </a:r>
            <a:r>
              <a:rPr lang="zh-CN" altLang="en-US" dirty="0"/>
              <a:t>市场固有的</a:t>
            </a:r>
            <a:r>
              <a:rPr lang="zh-CN" altLang="en-US" b="1" dirty="0">
                <a:solidFill>
                  <a:srgbClr val="FF0000"/>
                </a:solidFill>
              </a:rPr>
              <a:t>不确定性</a:t>
            </a:r>
            <a:r>
              <a:rPr lang="zh-CN" altLang="en-US" dirty="0"/>
              <a:t>。它们仅提供一个点预测，无法评估风险。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123100A-BF10-B210-AB78-EE28CC7F2E9B}"/>
              </a:ext>
            </a:extLst>
          </p:cNvPr>
          <p:cNvSpPr txBox="1">
            <a:spLocks/>
          </p:cNvSpPr>
          <p:nvPr/>
        </p:nvSpPr>
        <p:spPr bwMode="auto">
          <a:xfrm>
            <a:off x="4572000" y="2040691"/>
            <a:ext cx="3456384" cy="1179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3600" kern="0" dirty="0"/>
              <a:t>如何量化预测中的不确定性？</a:t>
            </a:r>
          </a:p>
        </p:txBody>
      </p:sp>
    </p:spTree>
    <p:extLst>
      <p:ext uri="{BB962C8B-B14F-4D97-AF65-F5344CB8AC3E}">
        <p14:creationId xmlns:p14="http://schemas.microsoft.com/office/powerpoint/2010/main" val="41461607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一些文字和图片的手机截图&#10;&#10;AI 生成的内容可能不正确。">
            <a:extLst>
              <a:ext uri="{FF2B5EF4-FFF2-40B4-BE49-F238E27FC236}">
                <a16:creationId xmlns:a16="http://schemas.microsoft.com/office/drawing/2014/main" id="{4FE3C154-D252-D3A3-3267-E9ADF7354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2610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D4CEFDF6-2180-FEFF-A2A9-4CEEE43E9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36"/>
            <a:ext cx="9144000" cy="510362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F5F5449-2332-9301-24F1-BF9DB6C7D8F0}"/>
              </a:ext>
            </a:extLst>
          </p:cNvPr>
          <p:cNvSpPr txBox="1"/>
          <p:nvPr/>
        </p:nvSpPr>
        <p:spPr>
          <a:xfrm>
            <a:off x="482521" y="339502"/>
            <a:ext cx="2145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数据标准化</a:t>
            </a:r>
          </a:p>
        </p:txBody>
      </p:sp>
    </p:spTree>
    <p:extLst>
      <p:ext uri="{BB962C8B-B14F-4D97-AF65-F5344CB8AC3E}">
        <p14:creationId xmlns:p14="http://schemas.microsoft.com/office/powerpoint/2010/main" val="26635637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图示&#10;&#10;AI 生成的内容可能不正确。">
            <a:extLst>
              <a:ext uri="{FF2B5EF4-FFF2-40B4-BE49-F238E27FC236}">
                <a16:creationId xmlns:a16="http://schemas.microsoft.com/office/drawing/2014/main" id="{33115CA6-7360-8A0B-2B1D-FC946AB0F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6593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FD0CEB15-9E7D-6CBA-9C2A-51231F3C0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8" y="-8608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8223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AI 生成的内容可能不正确。">
            <a:extLst>
              <a:ext uri="{FF2B5EF4-FFF2-40B4-BE49-F238E27FC236}">
                <a16:creationId xmlns:a16="http://schemas.microsoft.com/office/drawing/2014/main" id="{B28A427C-176E-EFB7-9D2C-1EB0CCA9F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0787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日程表&#10;&#10;AI 生成的内容可能不正确。">
            <a:extLst>
              <a:ext uri="{FF2B5EF4-FFF2-40B4-BE49-F238E27FC236}">
                <a16:creationId xmlns:a16="http://schemas.microsoft.com/office/drawing/2014/main" id="{71A4455D-19FD-460B-D997-3173360114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6"/>
            <a:ext cx="9144000" cy="514140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7A48684-8D3A-4D65-FCC7-B486B4164C35}"/>
              </a:ext>
            </a:extLst>
          </p:cNvPr>
          <p:cNvSpPr txBox="1"/>
          <p:nvPr/>
        </p:nvSpPr>
        <p:spPr>
          <a:xfrm>
            <a:off x="7812360" y="4587974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展。</a:t>
            </a:r>
          </a:p>
        </p:txBody>
      </p:sp>
      <p:sp>
        <p:nvSpPr>
          <p:cNvPr id="19" name="AutoShape 3" descr="ADBE 案例分析显示 GPR 模型成功捕捉到股票趋势，95% 置信区间覆盖了大部分实际观测值，并量化了市场不确定性。">
            <a:extLst>
              <a:ext uri="{FF2B5EF4-FFF2-40B4-BE49-F238E27FC236}">
                <a16:creationId xmlns:a16="http://schemas.microsoft.com/office/drawing/2014/main" id="{97F36821-0ED7-B616-56C0-D4E44F97BA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2489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7A48684-8D3A-4D65-FCC7-B486B4164C35}"/>
              </a:ext>
            </a:extLst>
          </p:cNvPr>
          <p:cNvSpPr txBox="1"/>
          <p:nvPr/>
        </p:nvSpPr>
        <p:spPr>
          <a:xfrm>
            <a:off x="7812360" y="4587974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展。</a:t>
            </a: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69F86794-AB41-35A6-B7BB-238D0AEB9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36"/>
            <a:ext cx="9144000" cy="510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3540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手机屏幕截图&#10;&#10;AI 生成的内容可能不正确。">
            <a:extLst>
              <a:ext uri="{FF2B5EF4-FFF2-40B4-BE49-F238E27FC236}">
                <a16:creationId xmlns:a16="http://schemas.microsoft.com/office/drawing/2014/main" id="{FA5BBB9C-11F0-F641-B340-0D8AAE109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D88EDA85-237B-F4A1-3316-390C72D999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275606"/>
            <a:ext cx="4824536" cy="241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3929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CBDD99ED-ABE7-67D8-D961-EB11B08C7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1001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81FE8B6-3E98-47E0-CD69-6611D06EDC5C}"/>
              </a:ext>
            </a:extLst>
          </p:cNvPr>
          <p:cNvSpPr/>
          <p:nvPr/>
        </p:nvSpPr>
        <p:spPr>
          <a:xfrm>
            <a:off x="5004048" y="1275606"/>
            <a:ext cx="3168352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GPR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对主流科技股的归一化价格预测表现良好，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R²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均高于 </a:t>
            </a:r>
            <a:r>
              <a:rPr lang="en-US" altLang="zh-CN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0.84</a:t>
            </a:r>
            <a:r>
              <a:rPr lang="zh-CN" altLang="en-US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，置信区间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覆盖率在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75%-85%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左右。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F5A538-F3C2-3256-AD27-D9837730C5F0}"/>
              </a:ext>
            </a:extLst>
          </p:cNvPr>
          <p:cNvSpPr txBox="1"/>
          <p:nvPr/>
        </p:nvSpPr>
        <p:spPr>
          <a:xfrm>
            <a:off x="582480" y="195486"/>
            <a:ext cx="1397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结果分析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A083CA-A2FB-F249-A0FF-27483571F9F6}"/>
              </a:ext>
            </a:extLst>
          </p:cNvPr>
          <p:cNvSpPr/>
          <p:nvPr/>
        </p:nvSpPr>
        <p:spPr>
          <a:xfrm>
            <a:off x="4788024" y="1131590"/>
            <a:ext cx="144016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整体表现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DCE31F-476F-57CD-BF3B-B2D60B3C856E}"/>
              </a:ext>
            </a:extLst>
          </p:cNvPr>
          <p:cNvSpPr/>
          <p:nvPr/>
        </p:nvSpPr>
        <p:spPr>
          <a:xfrm>
            <a:off x="5004048" y="2787774"/>
            <a:ext cx="3168352" cy="2160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训练集仅用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历史价格</a:t>
            </a: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，未做特征工程或多因子扩展。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置信区间覆盖率不高，可能因为对极端波动或异常点的刻画不足。也可能是历史数据的约束力会随着预测时间拉长而迅速衰减。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8E506E-52B1-67F3-D69E-22BF7C484B52}"/>
              </a:ext>
            </a:extLst>
          </p:cNvPr>
          <p:cNvSpPr/>
          <p:nvPr/>
        </p:nvSpPr>
        <p:spPr>
          <a:xfrm>
            <a:off x="4788024" y="2643758"/>
            <a:ext cx="144016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改进方向</a:t>
            </a:r>
          </a:p>
        </p:txBody>
      </p:sp>
      <p:pic>
        <p:nvPicPr>
          <p:cNvPr id="13" name="图片 12" descr="图片包含 游戏机, 游戏&#10;&#10;AI 生成的内容可能不正确。">
            <a:extLst>
              <a:ext uri="{FF2B5EF4-FFF2-40B4-BE49-F238E27FC236}">
                <a16:creationId xmlns:a16="http://schemas.microsoft.com/office/drawing/2014/main" id="{BFA6F2BE-348E-4EDB-EDF5-D7000EE8B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61" y="1337295"/>
            <a:ext cx="4286551" cy="290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9536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D42D23-9145-41EA-AB27-9AA088E35FFA}"/>
              </a:ext>
            </a:extLst>
          </p:cNvPr>
          <p:cNvSpPr txBox="1"/>
          <p:nvPr/>
        </p:nvSpPr>
        <p:spPr>
          <a:xfrm>
            <a:off x="1152127" y="2120538"/>
            <a:ext cx="6984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恳请老师批评指正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8E2A0A-490D-4FA0-814E-6AD027047792}"/>
              </a:ext>
            </a:extLst>
          </p:cNvPr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1">
            <a:extLst>
              <a:ext uri="{FF2B5EF4-FFF2-40B4-BE49-F238E27FC236}">
                <a16:creationId xmlns:a16="http://schemas.microsoft.com/office/drawing/2014/main" id="{660725AF-9C86-4A91-AD17-08FDE39E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761" y="3592397"/>
            <a:ext cx="5715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Dec 31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, 2025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charset="-122"/>
            </a:endParaRPr>
          </a:p>
        </p:txBody>
      </p:sp>
      <p:sp>
        <p:nvSpPr>
          <p:cNvPr id="17" name="副标题 3074">
            <a:extLst>
              <a:ext uri="{FF2B5EF4-FFF2-40B4-BE49-F238E27FC236}">
                <a16:creationId xmlns:a16="http://schemas.microsoft.com/office/drawing/2014/main" id="{7ED359D8-6165-457C-A6B9-9EC554BCC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761" y="2967471"/>
            <a:ext cx="5714999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2351136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李盛鹏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35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5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24922</TotalTime>
  <Words>170</Words>
  <Application>Microsoft Office PowerPoint</Application>
  <PresentationFormat>全屏显示(16:9)</PresentationFormat>
  <Paragraphs>24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华文宋体</vt:lpstr>
      <vt:lpstr>微软雅黑</vt:lpstr>
      <vt:lpstr>Arial</vt:lpstr>
      <vt:lpstr>Consolas</vt:lpstr>
      <vt:lpstr>Times New Roman</vt:lpstr>
      <vt:lpstr>Trebuchet MS</vt:lpstr>
      <vt:lpstr>默认设计模板</vt:lpstr>
      <vt:lpstr>PowerPoint 演示文稿</vt:lpstr>
      <vt:lpstr>金融市场的核心挑战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盛鹏 李</cp:lastModifiedBy>
  <cp:revision>1797</cp:revision>
  <dcterms:created xsi:type="dcterms:W3CDTF">2007-09-26T12:04:45Z</dcterms:created>
  <dcterms:modified xsi:type="dcterms:W3CDTF">2025-12-31T07:17:46Z</dcterms:modified>
</cp:coreProperties>
</file>