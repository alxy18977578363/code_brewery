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5" r:id="rId4"/>
  </p:sldMasterIdLst>
  <p:notesMasterIdLst>
    <p:notesMasterId r:id="rId6"/>
  </p:notesMasterIdLst>
  <p:handoutMasterIdLst>
    <p:handoutMasterId r:id="rId32"/>
  </p:handoutMasterIdLst>
  <p:sldIdLst>
    <p:sldId id="256" r:id="rId5"/>
    <p:sldId id="351" r:id="rId7"/>
    <p:sldId id="310" r:id="rId8"/>
    <p:sldId id="397" r:id="rId9"/>
    <p:sldId id="701" r:id="rId10"/>
    <p:sldId id="702" r:id="rId11"/>
    <p:sldId id="600" r:id="rId12"/>
    <p:sldId id="697" r:id="rId13"/>
    <p:sldId id="696" r:id="rId14"/>
    <p:sldId id="695" r:id="rId15"/>
    <p:sldId id="703" r:id="rId16"/>
    <p:sldId id="704" r:id="rId17"/>
    <p:sldId id="707" r:id="rId18"/>
    <p:sldId id="728" r:id="rId19"/>
    <p:sldId id="258" r:id="rId20"/>
    <p:sldId id="259" r:id="rId21"/>
    <p:sldId id="720" r:id="rId22"/>
    <p:sldId id="723" r:id="rId23"/>
    <p:sldId id="724" r:id="rId24"/>
    <p:sldId id="725" r:id="rId25"/>
    <p:sldId id="726" r:id="rId26"/>
    <p:sldId id="727" r:id="rId27"/>
    <p:sldId id="551" r:id="rId28"/>
    <p:sldId id="647" r:id="rId29"/>
    <p:sldId id="729" r:id="rId30"/>
    <p:sldId id="63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7F9"/>
    <a:srgbClr val="F9FAFE"/>
    <a:srgbClr val="EAECF0"/>
    <a:srgbClr val="00427E"/>
    <a:srgbClr val="FD9E01"/>
    <a:srgbClr val="005CA2"/>
    <a:srgbClr val="DAE8FC"/>
    <a:srgbClr val="FFFFFF"/>
    <a:srgbClr val="FFFAA4"/>
    <a:srgbClr val="0E4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255" autoAdjust="0"/>
  </p:normalViewPr>
  <p:slideViewPr>
    <p:cSldViewPr snapToGrid="0">
      <p:cViewPr>
        <p:scale>
          <a:sx n="100" d="100"/>
          <a:sy n="100" d="100"/>
        </p:scale>
        <p:origin x="1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8" Type="http://schemas.openxmlformats.org/officeDocument/2006/relationships/customXml" Target="../customXml/item3.xml"/><Relationship Id="rId37" Type="http://schemas.openxmlformats.org/officeDocument/2006/relationships/customXml" Target="../customXml/item2.xml"/><Relationship Id="rId36" Type="http://schemas.openxmlformats.org/officeDocument/2006/relationships/customXml" Target="../customXml/item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742DD-816C-4114-8520-BD56706F22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下面就是说机器学习应该怎么做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下面就是说机器学习应该怎么做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0" i="0" dirty="0">
              <a:solidFill>
                <a:srgbClr val="07133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来看QA-LoRA。它主要解决了QLoRA的一个痛点。QLoRA训练时用4-bit很省显存，但训练完合并模型后，权重又变回FP16了。如果想部署低比特模型，还得再做一次量化，这会损失精度。QA-LoRA的目标就是让训练和部署都用低比特。左边的流程图展示了QLoRA的繁琐过程，而右边QA-LoRA的流程就非常简洁，训练完直接就是一个可以部署的INT4模型。所以说，QA-LoRA是一个真正面向部署的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LoftQ。它解决的是QLoRA在极低比特下的一个问题。QLoRA的起点不好，它先把模型压缩成低比特，然后让LoRA从0开始学，这导致起点就有很大误差。LoftQ做的就是优化这个起点。它通过联合搜索，找到一组更好的量化权重Q和LoRA初始值BA，让它们加起来更接近原始模型。这样，微调就从一个更高的起点开始。LoftQ不改变训练过程，只改变起点，特别适合在2-bit、3-bit这种极端压缩场景下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oftQ的算法流程非常清晰。它通过一个迭代过程来优化起点。第一步，输入原始权重。第二步，做量化。第三步，计算原始权重和量化权重的残差。第四步，用SVD分解这个残差，得到一个低秩近似，也就是LoRA的初始值。第五步，用新的LoRA值再去做量化，循环往复。右边的几何直觉图很形象，LoftQ就是把微调的起点从Q拉到了离W更近的地方。这个方法的优势是在极低比特下效果提升非常明显，代价只是一次离线的预处理计算，不影响后续的微调速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裂缝检测，先看看。实际场景与应用？不同类型方法的思路与结果（图与数值）。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515573"/>
            <a:ext cx="12192000" cy="3826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182609" y="602182"/>
            <a:ext cx="1826782" cy="18267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5268952" y="688525"/>
            <a:ext cx="1654096" cy="165409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846503"/>
            <a:ext cx="10515600" cy="16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kumimoji="0" lang="zh-CN" altLang="en-US" sz="4800" b="1" i="0" u="none" strike="noStrike" cap="none" spc="40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marR="0" lvl="0" indent="0"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417455" y="0"/>
            <a:ext cx="4011561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  <p:sp>
        <p:nvSpPr>
          <p:cNvPr id="3" name="圆角矩形 1"/>
          <p:cNvSpPr/>
          <p:nvPr userDrawn="1"/>
        </p:nvSpPr>
        <p:spPr>
          <a:xfrm>
            <a:off x="0" y="0"/>
            <a:ext cx="4215539" cy="6858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2794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panose="00020600040101010101" pitchFamily="18" charset="-122"/>
              <a:ea typeface="阿里巴巴普惠体 R" panose="00020600040101010101" pitchFamily="18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  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02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  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03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  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04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书馆, 场景, 房间, 室内  已生成极高可信度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672"/>
                    </a14:imgEffect>
                    <a14:imgEffect>
                      <a14:saturation sat="1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6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5" name="矩形: 圆角 4"/>
          <p:cNvSpPr/>
          <p:nvPr userDrawn="1"/>
        </p:nvSpPr>
        <p:spPr>
          <a:xfrm>
            <a:off x="2133600" y="2494639"/>
            <a:ext cx="1143000" cy="1143000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412988" y="2712196"/>
            <a:ext cx="2479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rPr>
              <a:t>PART  </a:t>
            </a:r>
            <a:r>
              <a:rPr lang="en-US" altLang="zh-CN" sz="4000" b="1" dirty="0">
                <a:solidFill>
                  <a:schemeClr val="bg1"/>
                </a:solidFill>
                <a:latin typeface="+mj-lt"/>
                <a:ea typeface="阿里巴巴普惠体 B" panose="00020600040101010101" pitchFamily="18" charset="-122"/>
              </a:rPr>
              <a:t>05</a:t>
            </a:r>
            <a:endParaRPr lang="zh-CN" altLang="en-US" sz="4000" b="1" dirty="0">
              <a:solidFill>
                <a:schemeClr val="bg1"/>
              </a:solidFill>
              <a:latin typeface="阿里巴巴普惠体 B" panose="00020600040101010101" pitchFamily="18" charset="-122"/>
              <a:ea typeface="阿里巴巴普惠体 B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096000" y="2700714"/>
            <a:ext cx="4292600" cy="652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4000" b="1" dirty="0">
                <a:solidFill>
                  <a:schemeClr val="bg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7913" y="357733"/>
            <a:ext cx="5685026" cy="4422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44" y="6356350"/>
            <a:ext cx="2743343" cy="365125"/>
          </a:xfrm>
        </p:spPr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810" y="6356350"/>
            <a:ext cx="4115014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1048" y="6356350"/>
            <a:ext cx="2743343" cy="365125"/>
          </a:xfrm>
        </p:spPr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30805-7512-46F2-82E6-AEB77E8322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B8FBA-8770-4481-9839-DF8E9CCFFA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14.png"/><Relationship Id="rId2" Type="http://schemas.openxmlformats.org/officeDocument/2006/relationships/tags" Target="../tags/tag14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27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image" Target="../media/image16.png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25.jpe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26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96000" y="2580000"/>
            <a:ext cx="10000000" cy="923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54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LoRA 与量化压缩变体</a:t>
            </a:r>
            <a:endParaRPr lang="zh-CN" altLang="en-US" sz="5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0" name="subtitle_en"/>
          <p:cNvSpPr txBox="1"/>
          <p:nvPr/>
        </p:nvSpPr>
        <p:spPr>
          <a:xfrm>
            <a:off x="1096000" y="3640000"/>
            <a:ext cx="10000000" cy="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altLang="zh-CN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LoRA: Low-Rank Adaptation &amp; Quantized Variants</a:t>
            </a:r>
            <a:endParaRPr lang="en-US" altLang="zh-CN" sz="2000" dirty="0">
              <a:solidFill>
                <a:srgbClr val="C7D7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0035" y="5773684"/>
            <a:ext cx="44796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同济大学  ·  中文信息处理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  <p:sp>
        <p:nvSpPr>
          <p:cNvPr id="2" name="subtitle_en"/>
          <p:cNvSpPr txBox="1"/>
          <p:nvPr/>
        </p:nvSpPr>
        <p:spPr>
          <a:xfrm>
            <a:off x="1096000" y="4378505"/>
            <a:ext cx="10000000" cy="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张宸浩</a:t>
            </a:r>
            <a:r>
              <a:rPr lang="en-US" altLang="zh-CN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张健翔</a:t>
            </a:r>
            <a:r>
              <a:rPr lang="en-US" altLang="zh-CN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李睿</a:t>
            </a:r>
            <a:r>
              <a:rPr lang="en-US" altLang="zh-CN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李盛鹏</a:t>
            </a:r>
            <a:r>
              <a:rPr lang="en-US" altLang="zh-CN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崔皓哲</a:t>
            </a:r>
            <a:endParaRPr lang="zh-CN" altLang="en-US" sz="2000" dirty="0">
              <a:solidFill>
                <a:srgbClr val="C7D7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>
              <a:alphaModFix amt="31000"/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4244454" cy="6858000"/>
          </a:xfrm>
          <a:prstGeom prst="rect">
            <a:avLst/>
          </a:prstGeom>
          <a:solidFill>
            <a:srgbClr val="0042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740439" y="1506031"/>
            <a:ext cx="2648355" cy="655071"/>
            <a:chOff x="5750599" y="1460311"/>
            <a:chExt cx="2648355" cy="655071"/>
          </a:xfrm>
        </p:grpSpPr>
        <p:grpSp>
          <p:nvGrpSpPr>
            <p:cNvPr id="12" name="组合 11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6777997" y="155701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基本概念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29826" y="2281904"/>
            <a:ext cx="1954627" cy="1966644"/>
            <a:chOff x="1074057" y="2518270"/>
            <a:chExt cx="1954627" cy="1966644"/>
          </a:xfrm>
        </p:grpSpPr>
        <p:sp>
          <p:nvSpPr>
            <p:cNvPr id="17" name="矩形 16"/>
            <p:cNvSpPr/>
            <p:nvPr/>
          </p:nvSpPr>
          <p:spPr>
            <a:xfrm>
              <a:off x="1074057" y="2518270"/>
              <a:ext cx="1349939" cy="1966644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82318E"/>
                </a:solidFill>
                <a:effectLst/>
                <a:uLnTx/>
                <a:uFillTx/>
                <a:latin typeface="Segoe UI" panose="020B0502040204020203"/>
                <a:ea typeface="阿里巴巴普惠体 R" panose="00020600040101010101" pitchFamily="18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85596" y="2995232"/>
              <a:ext cx="1843088" cy="1015663"/>
            </a:xfrm>
            <a:prstGeom prst="rect">
              <a:avLst/>
            </a:prstGeom>
            <a:solidFill>
              <a:srgbClr val="00427E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cs"/>
                </a:rPr>
                <a:t>目录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740439" y="2600134"/>
            <a:ext cx="2648355" cy="655071"/>
            <a:chOff x="5750599" y="1460311"/>
            <a:chExt cx="2648355" cy="655071"/>
          </a:xfrm>
        </p:grpSpPr>
        <p:grpSp>
          <p:nvGrpSpPr>
            <p:cNvPr id="23" name="组合 22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24" name="矩形 23"/>
            <p:cNvSpPr/>
            <p:nvPr/>
          </p:nvSpPr>
          <p:spPr>
            <a:xfrm>
              <a:off x="6777997" y="155701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关系图谱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40439" y="3694237"/>
            <a:ext cx="2648355" cy="655071"/>
            <a:chOff x="5750599" y="1460311"/>
            <a:chExt cx="2648355" cy="655071"/>
          </a:xfrm>
        </p:grpSpPr>
        <p:grpSp>
          <p:nvGrpSpPr>
            <p:cNvPr id="28" name="组合 27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6777997" y="155701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常用算法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740439" y="4788339"/>
            <a:ext cx="2679091" cy="655071"/>
            <a:chOff x="5750599" y="1460311"/>
            <a:chExt cx="2679091" cy="655071"/>
          </a:xfrm>
        </p:grpSpPr>
        <p:grpSp>
          <p:nvGrpSpPr>
            <p:cNvPr id="33" name="组合 32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6808733" y="1557014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典型案例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45" y="181001"/>
            <a:ext cx="703503" cy="70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01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3168909" y="3289054"/>
            <a:ext cx="5869058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基本概念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7" name="ul"/>
          <p:cNvCxnSpPr/>
          <p:nvPr/>
        </p:nvCxnSpPr>
        <p:spPr>
          <a:xfrm>
            <a:off x="1223245" y="1378896"/>
            <a:ext cx="59267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c"/>
          <p:cNvSpPr/>
          <p:nvPr>
            <p:custDataLst>
              <p:tags r:id="rId1"/>
            </p:custDataLst>
          </p:nvPr>
        </p:nvSpPr>
        <p:spPr>
          <a:xfrm>
            <a:off x="700000" y="2660000"/>
            <a:ext cx="6050000" cy="113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>
              <a:buNone/>
            </a:pPr>
            <a:endParaRPr dirty="0"/>
          </a:p>
        </p:txBody>
      </p:sp>
      <p:sp>
        <p:nvSpPr>
          <p:cNvPr id="102" name="circ"/>
          <p:cNvSpPr/>
          <p:nvPr>
            <p:custDataLst>
              <p:tags r:id="rId2"/>
            </p:custDataLst>
          </p:nvPr>
        </p:nvSpPr>
        <p:spPr>
          <a:xfrm>
            <a:off x="850000" y="2945000"/>
            <a:ext cx="560000" cy="56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endParaRPr lang="zh-CN" altLang="en-US" sz="17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rc"/>
          <p:cNvSpPr/>
          <p:nvPr>
            <p:custDataLst>
              <p:tags r:id="rId3"/>
            </p:custDataLst>
          </p:nvPr>
        </p:nvSpPr>
        <p:spPr>
          <a:xfrm>
            <a:off x="700000" y="3850000"/>
            <a:ext cx="6050000" cy="113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>
              <a:buNone/>
            </a:pPr>
            <a:endParaRPr dirty="0"/>
          </a:p>
        </p:txBody>
      </p:sp>
      <p:sp>
        <p:nvSpPr>
          <p:cNvPr id="105" name="circ"/>
          <p:cNvSpPr/>
          <p:nvPr>
            <p:custDataLst>
              <p:tags r:id="rId4"/>
            </p:custDataLst>
          </p:nvPr>
        </p:nvSpPr>
        <p:spPr>
          <a:xfrm>
            <a:off x="850000" y="4135000"/>
            <a:ext cx="560000" cy="56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endParaRPr lang="zh-CN" altLang="en-US" sz="17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rc"/>
          <p:cNvSpPr/>
          <p:nvPr>
            <p:custDataLst>
              <p:tags r:id="rId5"/>
            </p:custDataLst>
          </p:nvPr>
        </p:nvSpPr>
        <p:spPr>
          <a:xfrm>
            <a:off x="700000" y="5040000"/>
            <a:ext cx="6050000" cy="113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>
              <a:buNone/>
            </a:pPr>
            <a:endParaRPr dirty="0"/>
          </a:p>
        </p:txBody>
      </p:sp>
      <p:sp>
        <p:nvSpPr>
          <p:cNvPr id="108" name="circ"/>
          <p:cNvSpPr/>
          <p:nvPr>
            <p:custDataLst>
              <p:tags r:id="rId6"/>
            </p:custDataLst>
          </p:nvPr>
        </p:nvSpPr>
        <p:spPr>
          <a:xfrm>
            <a:off x="850000" y="5325000"/>
            <a:ext cx="560000" cy="56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endParaRPr lang="zh-CN" altLang="en-US" sz="17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rc"/>
          <p:cNvSpPr/>
          <p:nvPr/>
        </p:nvSpPr>
        <p:spPr>
          <a:xfrm>
            <a:off x="6950000" y="2660000"/>
            <a:ext cx="4542000" cy="1640000"/>
          </a:xfrm>
          <a:prstGeom prst="roundRect">
            <a:avLst>
              <a:gd name="adj" fmla="val 5000"/>
            </a:avLst>
          </a:prstGeom>
          <a:solidFill>
            <a:srgbClr val="00427E"/>
          </a:solidFill>
          <a:ln>
            <a:noFill/>
          </a:ln>
          <a:effectLst>
            <a:outerShdw blurRad="50800" dist="25400" dir="5400000" rotWithShape="0">
              <a:srgbClr val="1A2B45">
                <a:alpha val="22000"/>
              </a:srgbClr>
            </a:outerShdw>
          </a:effectLst>
        </p:spPr>
        <p:txBody>
          <a:bodyPr wrap="square" lIns="137160" tIns="68580" rIns="137160" bIns="6858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zh-CN" altLang="en-US" sz="36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1750 亿参数</a:t>
            </a:r>
            <a:endParaRPr lang="zh-CN" altLang="en-US" sz="3600" b="0" i="0" dirty="0">
              <a:solidFill>
                <a:srgbClr val="DCE6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rc"/>
          <p:cNvSpPr/>
          <p:nvPr/>
        </p:nvSpPr>
        <p:spPr>
          <a:xfrm>
            <a:off x="6950000" y="4470000"/>
            <a:ext cx="4542000" cy="1700000"/>
          </a:xfrm>
          <a:prstGeom prst="roundRect">
            <a:avLst>
              <a:gd name="adj" fmla="val 5000"/>
            </a:avLst>
          </a:prstGeom>
          <a:solidFill>
            <a:srgbClr val="FBF1E1"/>
          </a:solidFill>
          <a:ln w="12700">
            <a:solidFill>
              <a:srgbClr val="C77A1E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altLang="zh-CN" sz="13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rc"/>
          <p:cNvSpPr/>
          <p:nvPr/>
        </p:nvSpPr>
        <p:spPr>
          <a:xfrm>
            <a:off x="7150000" y="4620000"/>
            <a:ext cx="1500000" cy="360000"/>
          </a:xfrm>
          <a:prstGeom prst="roundRect">
            <a:avLst>
              <a:gd name="adj" fmla="val 20000"/>
            </a:avLst>
          </a:prstGeom>
          <a:solidFill>
            <a:srgbClr val="C77A1E"/>
          </a:solidFill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15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1560000" y="2750000"/>
            <a:ext cx="11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存储爆炸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560000" y="3936111"/>
            <a:ext cx="11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显存不足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496500" y="5126111"/>
            <a:ext cx="158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模型部署成本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62050" y="814167"/>
            <a:ext cx="966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为什么需要 LoRA？——全参数微调的困境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6534" y="1720850"/>
            <a:ext cx="103513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全参数微调（Full Fine-Tuning）会更新模型的全部参数。当模型规模来到千亿级，这条路会带来三大代价：</a:t>
            </a:r>
            <a:endParaRPr lang="zh-CN" altLang="en-US" sz="160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1657350" y="3197225"/>
            <a:ext cx="484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每个下游任务都要保存一份完整模型副本，存储需求巨大。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657350" y="4329999"/>
            <a:ext cx="484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训练时需要为全部参数额外保存梯度与优化器状态，普通显卡无法满足需求。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1657350" y="5479104"/>
            <a:ext cx="484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多任务、多用户部署时，成本随模型规模成倍膨胀。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89700" y="3549404"/>
            <a:ext cx="3987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GPT-3  175B</a:t>
            </a:r>
            <a:r>
              <a:rPr lang="zh-CN" alt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sz="1400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模型检查点需要约</a:t>
            </a:r>
            <a:r>
              <a:rPr lang="en-US" altLang="zh-CN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350GB</a:t>
            </a:r>
            <a:r>
              <a:rPr lang="zh-CN" alt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存储空间</a:t>
            </a:r>
            <a:endParaRPr lang="zh-CN" altLang="en-US" sz="1400" dirty="0">
              <a:solidFill>
                <a:schemeClr val="accent1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214400" y="5048217"/>
            <a:ext cx="412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为了改一句话，就把整本书重印一遍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代价过大。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的思路：只贴一张便利贴。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37575" y="4649560"/>
            <a:ext cx="1466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生活类比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基本概念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rc"/>
          <p:cNvSpPr/>
          <p:nvPr/>
        </p:nvSpPr>
        <p:spPr>
          <a:xfrm>
            <a:off x="699770" y="4688840"/>
            <a:ext cx="5659120" cy="1226820"/>
          </a:xfrm>
          <a:prstGeom prst="roundRect">
            <a:avLst>
              <a:gd name="adj" fmla="val 5000"/>
            </a:avLst>
          </a:prstGeom>
          <a:solidFill>
            <a:srgbClr val="E2F1F0"/>
          </a:solidFill>
          <a:ln w="12700">
            <a:solidFill>
              <a:srgbClr val="0E7C7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ul"/>
          <p:cNvCxnSpPr/>
          <p:nvPr/>
        </p:nvCxnSpPr>
        <p:spPr>
          <a:xfrm>
            <a:off x="1223245" y="1378896"/>
            <a:ext cx="59267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162050" y="814167"/>
            <a:ext cx="966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核心思想：用「低秩矩阵」表示参数更新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6765" y="1720850"/>
            <a:ext cx="10699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冻结原始权重，只学习一个小补丁</a:t>
            </a:r>
            <a:r>
              <a:rPr lang="en-US" altLang="zh-CN" sz="160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77A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ΔW= B · A</a:t>
            </a:r>
            <a:endParaRPr lang="zh-CN" altLang="en-US" sz="1600" b="1" dirty="0">
              <a:solidFill>
                <a:srgbClr val="C77A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60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99770" y="2905125"/>
                <a:ext cx="5706110" cy="1552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30000"/>
                  </a:lnSpc>
                  <a:buSzPct val="70000"/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冻结预训练权重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             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，，训练中不更新，只训练两个小矩阵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                           	   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            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秩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r 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远小于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d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k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>
                  <a:buSzPct val="70000"/>
                  <a:buFont typeface="Wingdings" panose="05000000000000000000" pitchFamily="2" charset="2"/>
                  <a:buChar char="l"/>
                </a:pP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>
                  <a:buSzPct val="70000"/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前向计算：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>
                  <a:buSzPct val="70000"/>
                  <a:buFont typeface="Wingdings" panose="05000000000000000000" pitchFamily="2" charset="2"/>
                  <a:buChar char="l"/>
                </a:pP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171450" indent="-171450">
                  <a:buSzPct val="70000"/>
                  <a:buFont typeface="Wingdings" panose="05000000000000000000" pitchFamily="2" charset="2"/>
                  <a:buChar char="l"/>
                </a:pP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初始化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为随机高斯、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为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0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，使得初始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= 0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，不破坏原始模型</a:t>
                </a:r>
                <a:endPara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70" y="2905125"/>
                <a:ext cx="5706110" cy="15525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843915" y="4688840"/>
            <a:ext cx="5375275" cy="1365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：大模型在特定任务上具有极高的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参数冗余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LoRA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的本质是绕过海量的非核心维度，在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低维子空间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内，精准锁定驱动任务适配的关键更新方向。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970" y="1555750"/>
            <a:ext cx="3877310" cy="36696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2179955"/>
            <a:ext cx="4145915" cy="5467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060" y="2948940"/>
            <a:ext cx="959485" cy="3117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9160" y="3233420"/>
            <a:ext cx="971550" cy="3175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820" y="3233420"/>
            <a:ext cx="908685" cy="3143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180" y="3677920"/>
            <a:ext cx="3325495" cy="38163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72820" y="6146800"/>
            <a:ext cx="1031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[1]Hu E J, Shen Y, Wallis P, et al. Lora: Low-rank adaptation of large language models[J]. Iclr, 2022, 1(2): 3.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基本概念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" name="ul"/>
          <p:cNvCxnSpPr/>
          <p:nvPr/>
        </p:nvCxnSpPr>
        <p:spPr>
          <a:xfrm>
            <a:off x="1223245" y="1378896"/>
            <a:ext cx="25232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62050" y="814070"/>
            <a:ext cx="3754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 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的四大优势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觅知网-不倒翁ID:189359941"/>
          <p:cNvSpPr/>
          <p:nvPr>
            <p:custDataLst>
              <p:tags r:id="rId1"/>
            </p:custDataLst>
          </p:nvPr>
        </p:nvSpPr>
        <p:spPr>
          <a:xfrm>
            <a:off x="203835" y="1481455"/>
            <a:ext cx="5791200" cy="2290445"/>
          </a:xfrm>
          <a:prstGeom prst="roundRect">
            <a:avLst>
              <a:gd name="adj" fmla="val 12821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871"/>
          <a:stretch>
            <a:fillRect/>
          </a:stretch>
        </p:blipFill>
        <p:spPr>
          <a:xfrm>
            <a:off x="356870" y="2279015"/>
            <a:ext cx="5343525" cy="14351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781810" y="15487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极低的推理延迟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710690" y="205232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GPT-2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上的推理延迟对比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觅知网-不倒翁ID:189359941"/>
          <p:cNvSpPr/>
          <p:nvPr>
            <p:custDataLst>
              <p:tags r:id="rId6"/>
            </p:custDataLst>
          </p:nvPr>
        </p:nvSpPr>
        <p:spPr>
          <a:xfrm>
            <a:off x="6224270" y="1481455"/>
            <a:ext cx="5791200" cy="2290445"/>
          </a:xfrm>
          <a:prstGeom prst="roundRect">
            <a:avLst>
              <a:gd name="adj" fmla="val 12821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7802245" y="154241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极低参数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高性能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7398385" y="19411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在最大的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GPT-3 175B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模型上的实测结果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7560" y="2207895"/>
            <a:ext cx="3954145" cy="1532890"/>
          </a:xfrm>
          <a:prstGeom prst="rect">
            <a:avLst/>
          </a:prstGeom>
        </p:spPr>
      </p:pic>
      <p:sp>
        <p:nvSpPr>
          <p:cNvPr id="23" name="觅知网-不倒翁ID:189359941"/>
          <p:cNvSpPr/>
          <p:nvPr>
            <p:custDataLst>
              <p:tags r:id="rId10"/>
            </p:custDataLst>
          </p:nvPr>
        </p:nvSpPr>
        <p:spPr>
          <a:xfrm>
            <a:off x="54610" y="3978910"/>
            <a:ext cx="5886450" cy="2440940"/>
          </a:xfrm>
          <a:prstGeom prst="roundRect">
            <a:avLst>
              <a:gd name="adj" fmla="val 12821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632585" y="4039870"/>
            <a:ext cx="4130675" cy="424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高稳定性与效率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228725" y="4438650"/>
            <a:ext cx="413067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参数规模与模型准确率的对应关系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155" y="4732655"/>
            <a:ext cx="4919345" cy="1586865"/>
          </a:xfrm>
          <a:prstGeom prst="rect">
            <a:avLst/>
          </a:prstGeom>
        </p:spPr>
      </p:pic>
      <p:sp>
        <p:nvSpPr>
          <p:cNvPr id="28" name="觅知网-不倒翁ID:189359941"/>
          <p:cNvSpPr/>
          <p:nvPr>
            <p:custDataLst>
              <p:tags r:id="rId14"/>
            </p:custDataLst>
          </p:nvPr>
        </p:nvSpPr>
        <p:spPr>
          <a:xfrm>
            <a:off x="6136640" y="3980180"/>
            <a:ext cx="5791200" cy="2435860"/>
          </a:xfrm>
          <a:prstGeom prst="roundRect">
            <a:avLst>
              <a:gd name="adj" fmla="val 12821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5"/>
            </p:custDataLst>
          </p:nvPr>
        </p:nvSpPr>
        <p:spPr>
          <a:xfrm>
            <a:off x="7714615" y="404114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训练资源与存储极致压缩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442710" y="4464685"/>
            <a:ext cx="5251450" cy="1646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显存降低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70%    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存储空间降低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10000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倍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en-US" altLang="zh-CN" sz="24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1.2TB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-&gt;</a:t>
            </a:r>
            <a:r>
              <a:rPr lang="en-US" altLang="zh-CN" sz="240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350GB     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350GB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-&gt;</a:t>
            </a:r>
            <a:r>
              <a:rPr lang="en-US" altLang="zh-CN" sz="240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35MB</a:t>
            </a:r>
            <a:endParaRPr lang="en-US" altLang="zh-CN" sz="2400">
              <a:ln w="22225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72820" y="6416040"/>
            <a:ext cx="10316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[1]Hu E J, Shen Y, Wallis P, et al. Lora: Low-rank adaptation of large language models[J]. Iclr, 2022, 1(2): 3.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02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3119715" y="3289054"/>
            <a:ext cx="5945704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关系图谱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" t="1065" r="653" b="1083"/>
          <a:stretch>
            <a:fillRect/>
          </a:stretch>
        </p:blipFill>
        <p:spPr>
          <a:xfrm>
            <a:off x="332740" y="635"/>
            <a:ext cx="11504295" cy="6830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03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3119715" y="3289054"/>
            <a:ext cx="5945704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常用算法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" name="ul"/>
          <p:cNvCxnSpPr/>
          <p:nvPr/>
        </p:nvCxnSpPr>
        <p:spPr>
          <a:xfrm>
            <a:off x="1223245" y="1378896"/>
            <a:ext cx="344400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62050" y="814167"/>
            <a:ext cx="966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本节方法总览与适用范围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05746" y="1735466"/>
          <a:ext cx="10586253" cy="4575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403"/>
                <a:gridCol w="3354020"/>
                <a:gridCol w="1856568"/>
                <a:gridCol w="3213262"/>
              </a:tblGrid>
              <a:tr h="657669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en-US" altLang="zh-CN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核心思路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精度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压缩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适用范围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66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427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LoRA</a:t>
                      </a:r>
                      <a:endParaRPr lang="zh-CN" altLang="en-US" b="1" dirty="0">
                        <a:solidFill>
                          <a:srgbClr val="00427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冻结权重，只训练低秩矩阵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FP16/BF16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显存充足，追求高质量，零延迟部署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766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427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QLoRA</a:t>
                      </a:r>
                      <a:endParaRPr lang="zh-CN" altLang="en-US" b="1" dirty="0">
                        <a:solidFill>
                          <a:srgbClr val="00427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把底座量化为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4-bit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，再训练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LoRA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适配器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4-bit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NF4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显存紧张，想在单卡上微调超大模型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66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427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QA-LoRA</a:t>
                      </a:r>
                      <a:endParaRPr lang="zh-CN" altLang="en-US" b="1" dirty="0">
                        <a:solidFill>
                          <a:srgbClr val="00427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量化感知训练，合并后模型仍然是量化的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训练、推理均为低比特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既要节约显存，又要量化部署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766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427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LoftQ</a:t>
                      </a:r>
                      <a:endParaRPr lang="zh-CN" altLang="en-US" b="1" dirty="0">
                        <a:solidFill>
                          <a:srgbClr val="00427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更优的量化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低秩初始化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低比特（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2-4bit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极低比特场景，缩小与全精度的差距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rgbClr val="00427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DoRA</a:t>
                      </a:r>
                      <a:endParaRPr lang="zh-CN" altLang="en-US" b="1" dirty="0">
                        <a:solidFill>
                          <a:srgbClr val="00427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将权重分解为幅值和方向，只微调幅值和低秩方向矩阵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61277" marB="6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FP16/BF16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61277" marB="6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追求接近甚至超越全量微调的性能表现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61277" marB="6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6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dirty="0">
                          <a:solidFill>
                            <a:srgbClr val="00427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VeRA</a:t>
                      </a:r>
                      <a:endParaRPr lang="zh-CN" altLang="en-US" b="1" dirty="0">
                        <a:solidFill>
                          <a:srgbClr val="00427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冻结一对全局共享的随机低秩矩阵，只训练微小的缩放向量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61277" marB="6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极低参数量（比 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LoRA 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再降 99%）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61277" marB="6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多任务部署、存储极其受限、超大规模参数微调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61277" marB="6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" name="ul"/>
          <p:cNvCxnSpPr/>
          <p:nvPr/>
        </p:nvCxnSpPr>
        <p:spPr>
          <a:xfrm>
            <a:off x="1223245" y="880421"/>
            <a:ext cx="52156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62050" y="480157"/>
            <a:ext cx="966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原始 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：实现高效适配的关键设计</a:t>
            </a:r>
            <a:endParaRPr lang="zh-CN" altLang="en-US" sz="20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9025" y="1102995"/>
            <a:ext cx="10013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秩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矩阵的中间维度，它直接决定了微调时需要训练的参数规模以及权重更新的复杂度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t="16953" r="-1" b="4031"/>
          <a:stretch>
            <a:fillRect/>
          </a:stretch>
        </p:blipFill>
        <p:spPr>
          <a:xfrm>
            <a:off x="336550" y="982345"/>
            <a:ext cx="11654155" cy="55772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927225" y="6510655"/>
            <a:ext cx="11504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[1]Hu E J, Shen Y, Wallis P, et al. Lora: Low-rank adaptation of large language models[J].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Iclr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2022, 1(2): 3.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t="5797"/>
          <a:stretch>
            <a:fillRect/>
          </a:stretch>
        </p:blipFill>
        <p:spPr>
          <a:xfrm>
            <a:off x="1683385" y="1469967"/>
            <a:ext cx="8258175" cy="3302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337945" y="1077595"/>
            <a:ext cx="7101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在微调超大规模模型时显存门槛依然过高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2820" y="4855845"/>
            <a:ext cx="10645140" cy="1489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1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这里的“16-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 Transformer”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是指大模型每个权重数值都采用16位的半精度浮点数来表示。对于一个65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规模的模型，仅载入这部分被冻结的预训练权重就需要约130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的显存。在图中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的架构里，整个底座都是16-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的，虽然它在微调时不接受梯度更新，但它像一块“沉重的基石”始终占据着绝大部分显存。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10000"/>
              </a:lnSpc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QLoRA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架构中，底座被压缩为4-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，而上方的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Adapters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则保持16-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以确保训练的高精度。数据在前向计算时，4-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的底座权重会根据需要瞬时反量化回16-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进行高精度矩阵运算，计算完成后立即释放并变回4-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存储。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2050" y="480157"/>
            <a:ext cx="966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</a:t>
            </a:r>
            <a:r>
              <a:rPr lang="en-US" altLang="zh-CN" sz="2000" b="1" dirty="0" err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QLoRA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：量化底座与低秩适配的深度融合</a:t>
            </a:r>
            <a:endParaRPr lang="zh-CN" altLang="en-US" sz="20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4" name="ul"/>
          <p:cNvCxnSpPr/>
          <p:nvPr/>
        </p:nvCxnSpPr>
        <p:spPr>
          <a:xfrm>
            <a:off x="1223245" y="880421"/>
            <a:ext cx="52156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56870" y="6510655"/>
            <a:ext cx="1150429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[2]Dettmers T, Pagnoni A, Holtzman A, et al.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Qlora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Efficient finetuning of quantized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[J]. Advances in neural information processing systems, 2023, 36: 10088-10115.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" t="16262" r="2689" b="6564"/>
          <a:stretch>
            <a:fillRect/>
          </a:stretch>
        </p:blipFill>
        <p:spPr>
          <a:xfrm>
            <a:off x="323215" y="969645"/>
            <a:ext cx="11537950" cy="52793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315" y="273050"/>
            <a:ext cx="2057400" cy="19475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62050" y="475077"/>
            <a:ext cx="966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</a:t>
            </a:r>
            <a:r>
              <a:rPr lang="en-US" altLang="zh-CN" sz="2000" b="1" dirty="0" err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QLoRA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的核心实现：三大创新点</a:t>
            </a:r>
            <a:endParaRPr lang="en-US" altLang="zh-CN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" t="14326" r="525" b="9985"/>
          <a:stretch>
            <a:fillRect/>
          </a:stretch>
        </p:blipFill>
        <p:spPr>
          <a:xfrm>
            <a:off x="612775" y="984250"/>
            <a:ext cx="10919460" cy="5575300"/>
          </a:xfrm>
          <a:prstGeom prst="rect">
            <a:avLst/>
          </a:prstGeom>
        </p:spPr>
      </p:pic>
      <p:cxnSp>
        <p:nvCxnSpPr>
          <p:cNvPr id="17" name="ul"/>
          <p:cNvCxnSpPr/>
          <p:nvPr/>
        </p:nvCxnSpPr>
        <p:spPr>
          <a:xfrm>
            <a:off x="1223245" y="880421"/>
            <a:ext cx="411710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56870" y="6510655"/>
            <a:ext cx="1150429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[2]Dettmers T, Pagnoni A, Holtzman A, et al.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Qlora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Efficient finetuning of quantized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llms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[J]. Advances in neural information processing systems, 2023, 36: 10088-10115.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" t="9918" r="521" b="7975"/>
          <a:stretch>
            <a:fillRect/>
          </a:stretch>
        </p:blipFill>
        <p:spPr>
          <a:xfrm>
            <a:off x="5715" y="907415"/>
            <a:ext cx="12163425" cy="570103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" y="469900"/>
            <a:ext cx="381000" cy="381000"/>
          </a:xfrm>
          <a:prstGeom prst="rect">
            <a:avLst/>
          </a:prstGeom>
        </p:spPr>
      </p:pic>
      <p:sp>
        <p:nvSpPr>
          <p:cNvPr id="13" name="AutoShape 5"/>
          <p:cNvSpPr/>
          <p:nvPr/>
        </p:nvSpPr>
        <p:spPr>
          <a:xfrm>
            <a:off x="1206500" y="907557"/>
            <a:ext cx="829324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b="1" dirty="0">
              <a:solidFill>
                <a:schemeClr val="accent1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18" name="菱形 17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19" name="菱形 18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2050" y="475077"/>
            <a:ext cx="966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QA-</a:t>
            </a:r>
            <a:r>
              <a:rPr lang="en-US" altLang="zh-CN" sz="2000" b="1" dirty="0" err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：让「训练量化」与「部署量化」统一</a:t>
            </a:r>
            <a:endParaRPr lang="zh-CN" altLang="en-US" sz="20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2" name="ul"/>
          <p:cNvCxnSpPr/>
          <p:nvPr/>
        </p:nvCxnSpPr>
        <p:spPr>
          <a:xfrm>
            <a:off x="1223245" y="875341"/>
            <a:ext cx="597130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00710" y="6597650"/>
            <a:ext cx="1150429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[3] Xu, Y., Xie, L., Gu, X., et al. QA-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LoRA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Quantization-Aware Low-Rank Adaptation of Large Language Models[J]. ICLR, 2024.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191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6227445"/>
            <a:ext cx="1092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43915" y="640588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 Li, Y., Yu, Y., Liang, C., et al. LoftQ: LoRA-Fine-Tuning-Aware Quantization for Large Language Models[J]. International Conference on Learning Representations (ICLR), 2024.</a:t>
            </a:r>
            <a:endParaRPr lang="en-US" sz="10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10" name="菱形 9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11" name="菱形 10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4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62050" y="475077"/>
            <a:ext cx="966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</a:t>
            </a:r>
            <a:r>
              <a:rPr lang="en-US" altLang="zh-CN" sz="2000" b="1" dirty="0" err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LoftQ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：先把「起点」调好，再开始 </a:t>
            </a:r>
            <a:r>
              <a:rPr lang="en-US" altLang="zh-CN" sz="2000" b="1" dirty="0" err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</a:t>
            </a:r>
            <a:endParaRPr lang="zh-CN" altLang="en-US" sz="20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6" name="ul"/>
          <p:cNvCxnSpPr/>
          <p:nvPr/>
        </p:nvCxnSpPr>
        <p:spPr>
          <a:xfrm>
            <a:off x="1326115" y="880421"/>
            <a:ext cx="41615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7cf31f806f119e2579c95a9e740af3c1"/>
          <p:cNvPicPr>
            <a:picLocks noChangeAspect="1"/>
          </p:cNvPicPr>
          <p:nvPr/>
        </p:nvPicPr>
        <p:blipFill>
          <a:blip r:embed="rId3"/>
          <a:srcRect l="2010" t="1628" r="807"/>
          <a:stretch>
            <a:fillRect/>
          </a:stretch>
        </p:blipFill>
        <p:spPr>
          <a:xfrm>
            <a:off x="843915" y="920115"/>
            <a:ext cx="10273665" cy="5607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4200" y="330200"/>
            <a:ext cx="254000" cy="2540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18" name="菱形 17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19" name="菱形 18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62050" y="480157"/>
            <a:ext cx="966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</a:t>
            </a:r>
            <a:r>
              <a:rPr lang="en-US" altLang="zh-CN" sz="2000" b="1" dirty="0" err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LoftQ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：核心算法</a:t>
            </a:r>
            <a:endParaRPr lang="zh-CN" altLang="en-US" sz="20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2" name="ul"/>
          <p:cNvCxnSpPr/>
          <p:nvPr/>
        </p:nvCxnSpPr>
        <p:spPr>
          <a:xfrm>
            <a:off x="1270870" y="880421"/>
            <a:ext cx="41615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8"/>
          <p:cNvSpPr/>
          <p:nvPr/>
        </p:nvSpPr>
        <p:spPr>
          <a:xfrm>
            <a:off x="584200" y="646747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 Li, Y., Yu, Y., Liang, C., et al. LoftQ: LoRA-Fine-Tuning-Aware Quantization for Large Language Models[J]. International Conference on Learning Representations (ICLR), 2024.</a:t>
            </a:r>
            <a:endParaRPr lang="en-US" sz="10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 descr="ChatGPT Image 2026年5月31日 14_30_46"/>
          <p:cNvPicPr>
            <a:picLocks noChangeAspect="1"/>
          </p:cNvPicPr>
          <p:nvPr/>
        </p:nvPicPr>
        <p:blipFill>
          <a:blip r:embed="rId3"/>
          <a:srcRect l="3617" t="11120" r="3364" b="5963"/>
          <a:stretch>
            <a:fillRect/>
          </a:stretch>
        </p:blipFill>
        <p:spPr>
          <a:xfrm>
            <a:off x="896620" y="938530"/>
            <a:ext cx="10195560" cy="5674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" name="ul"/>
          <p:cNvCxnSpPr/>
          <p:nvPr/>
        </p:nvCxnSpPr>
        <p:spPr>
          <a:xfrm>
            <a:off x="1310240" y="875341"/>
            <a:ext cx="590780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62050" y="414752"/>
            <a:ext cx="966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5"/>
            </a:pP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：权重分解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1769110"/>
            <a:ext cx="5263515" cy="3957955"/>
          </a:xfrm>
          <a:prstGeom prst="rect">
            <a:avLst/>
          </a:prstGeom>
        </p:spPr>
      </p:pic>
      <p:sp>
        <p:nvSpPr>
          <p:cNvPr id="5" name="Rounded Rectangle 6"/>
          <p:cNvSpPr/>
          <p:nvPr/>
        </p:nvSpPr>
        <p:spPr>
          <a:xfrm>
            <a:off x="600393" y="1663065"/>
            <a:ext cx="5303520" cy="1097280"/>
          </a:xfrm>
          <a:prstGeom prst="roundRect">
            <a:avLst/>
          </a:prstGeom>
          <a:solidFill>
            <a:srgbClr val="F5F7FA"/>
          </a:solidFill>
          <a:ln w="1778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40233" rtlCol="0" anchor="ctr"/>
          <a:lstStyle/>
          <a:p>
            <a:pPr algn="l"/>
            <a:r>
              <a:rPr b="1">
                <a:solidFill>
                  <a:srgbClr val="20242C"/>
                </a:solidFill>
                <a:latin typeface="微软雅黑" panose="020B0503020204020204" pitchFamily="34" charset="-122"/>
              </a:rPr>
              <a:t>核心思想：将预训练权重分解为 magnitude 和 direction，再分别进行微调。</a:t>
            </a:r>
            <a:endParaRPr b="1">
              <a:solidFill>
                <a:srgbClr val="20242C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715" y="2828290"/>
            <a:ext cx="3698875" cy="6788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81050" y="3548380"/>
            <a:ext cx="5123180" cy="1274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1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的思路来自于权重归一化。它不直接更改权重，而是将权重分解为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幅度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进行连携训练。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将各列向量的模长分离出来作为一个可训练的幅值向量，而原本的权重矩阵则转化为只控制向量角度的方向矩阵，在微调过程中，幅值向量被直接作为可训练参数进行微调。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单圆角矩形 17"/>
          <p:cNvSpPr/>
          <p:nvPr/>
        </p:nvSpPr>
        <p:spPr>
          <a:xfrm>
            <a:off x="843915" y="4956810"/>
            <a:ext cx="4582795" cy="87947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权重分解会对梯度进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行缩放和投影。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因此 Direction 的低秩更新会比原始 LoRA 更稳定。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6460" y="6400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06780" y="6493510"/>
            <a:ext cx="11007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[5]Liu S Y, Wang C Y, Yin H, et al. Dora: Weight-decomposed low-rank adaptation[C]//Forty-first International Conference on Machine Learning. 2024.</a:t>
            </a:r>
            <a:endParaRPr lang="en-US" altLang="zh-CN" sz="1200"/>
          </a:p>
        </p:txBody>
      </p:sp>
      <p:pic>
        <p:nvPicPr>
          <p:cNvPr id="12" name="图片 11" descr="ChatGPT Image 2026年5月31日 14_40_13"/>
          <p:cNvPicPr>
            <a:picLocks noChangeAspect="1"/>
          </p:cNvPicPr>
          <p:nvPr/>
        </p:nvPicPr>
        <p:blipFill>
          <a:blip r:embed="rId3"/>
          <a:srcRect t="14797" r="2163" b="12353"/>
          <a:stretch>
            <a:fillRect/>
          </a:stretch>
        </p:blipFill>
        <p:spPr>
          <a:xfrm>
            <a:off x="448310" y="932815"/>
            <a:ext cx="11375390" cy="55606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419832"/>
            <a:ext cx="966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5"/>
            </a:pP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DoRA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：创新点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单圆角矩形 10"/>
          <p:cNvSpPr/>
          <p:nvPr/>
        </p:nvSpPr>
        <p:spPr>
          <a:xfrm>
            <a:off x="1323975" y="1536700"/>
            <a:ext cx="4582795" cy="133921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创新的权重分解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量化分析了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FT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在参数更新时差异，指出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幅值和方向更新同增同减，缺乏更细腻的参数调整能力。提出将赋值和方向解耦训练的方式来提高权重更新性能。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单圆角矩形 7"/>
          <p:cNvSpPr/>
          <p:nvPr/>
        </p:nvSpPr>
        <p:spPr>
          <a:xfrm>
            <a:off x="1162050" y="2978785"/>
            <a:ext cx="4582795" cy="133921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重塑学习能力以逼近全量微调 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通过将幅值与方向解耦，极大地简化了微调任务。使得模型的更新轨迹同样呈现出与全量微调高度相似的负相关特征 ，从根本上提升了低秩微调的学习能力和训练稳定性 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单圆角矩形 17"/>
          <p:cNvSpPr/>
          <p:nvPr/>
        </p:nvSpPr>
        <p:spPr>
          <a:xfrm>
            <a:off x="1162050" y="4318000"/>
            <a:ext cx="4582795" cy="133921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梯度图剪枝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在反向传播时，将公式分母中的方向更新模长视作常数，不参加梯度计算中，在不损失模型精度的前提下，成功将微调大语言模型（如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LLaMA）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时的显存开销大幅降低。 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4845" y="4964430"/>
            <a:ext cx="5300345" cy="8445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30" y="1172210"/>
            <a:ext cx="4131945" cy="21786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80" y="1275080"/>
            <a:ext cx="3117850" cy="21037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3397885"/>
            <a:ext cx="3354070" cy="21850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160" y="3221990"/>
            <a:ext cx="3062605" cy="10960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2820" y="6624320"/>
            <a:ext cx="11007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[5]Liu S Y, Wang C Y, Yin H, et al. Dora: Weight-decomposed low-rank adaptation[C]//Forty-first International Conference on Machine Learning. 2024.</a:t>
            </a:r>
            <a:endParaRPr lang="en-US" altLang="zh-CN" sz="1200"/>
          </a:p>
        </p:txBody>
      </p:sp>
      <p:pic>
        <p:nvPicPr>
          <p:cNvPr id="5" name="图片 4" descr="ChatGPT Image 2026年5月31日 14_54_54"/>
          <p:cNvPicPr>
            <a:picLocks noChangeAspect="1"/>
          </p:cNvPicPr>
          <p:nvPr/>
        </p:nvPicPr>
        <p:blipFill>
          <a:blip r:embed="rId6"/>
          <a:srcRect t="13324" b="5880"/>
          <a:stretch>
            <a:fillRect/>
          </a:stretch>
        </p:blipFill>
        <p:spPr>
          <a:xfrm>
            <a:off x="600710" y="822325"/>
            <a:ext cx="11070590" cy="5874385"/>
          </a:xfrm>
          <a:prstGeom prst="rect">
            <a:avLst/>
          </a:prstGeom>
        </p:spPr>
      </p:pic>
      <p:cxnSp>
        <p:nvCxnSpPr>
          <p:cNvPr id="22" name="ul"/>
          <p:cNvCxnSpPr/>
          <p:nvPr/>
        </p:nvCxnSpPr>
        <p:spPr>
          <a:xfrm>
            <a:off x="1270870" y="880421"/>
            <a:ext cx="416155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591300" y="3037205"/>
            <a:ext cx="785495" cy="166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972300" y="4639310"/>
            <a:ext cx="801370" cy="245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903970" y="4524375"/>
            <a:ext cx="405765" cy="233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814167"/>
            <a:ext cx="966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5"/>
            </a:pP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的表现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0710" y="1393190"/>
            <a:ext cx="367982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commonsense reasoning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数据集上，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性能稳超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，且逼近全量微调的水平。</a:t>
            </a:r>
            <a:endParaRPr lang="zh-CN" altLang="en-US" sz="1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4235" y="405130"/>
            <a:ext cx="7385050" cy="3856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" y="2083435"/>
            <a:ext cx="4509135" cy="963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5" y="3267075"/>
            <a:ext cx="4403090" cy="9309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6870" y="4568190"/>
            <a:ext cx="397319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VL-BART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模型的图像-文本理解任务中，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性能超过 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 1% 并达到了全量微调的水平 ；在视频-文本理解任务中，更超出 </a:t>
            </a:r>
            <a:r>
              <a:rPr lang="en-US" altLang="zh-CN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 </a:t>
            </a:r>
            <a:r>
              <a:rPr lang="zh-CN" altLang="en-US"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 2% 。展现了模型通用性和强大的泛化能力。</a:t>
            </a:r>
            <a:endParaRPr lang="zh-CN" altLang="en-US" sz="1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815" y="4339590"/>
            <a:ext cx="3124200" cy="15601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3625" y="4333875"/>
            <a:ext cx="2705735" cy="16122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03035" y="5977890"/>
            <a:ext cx="4116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不仅更强，而且在不同设置下都更稳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6780" y="6362700"/>
            <a:ext cx="110070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[5]Liu S Y, Wang C Y, Yin H, et al. Dora: Weight-decomposed low-rank adaptation[C]//Forty-first International Conference on Machine Learning. 2024.</a:t>
            </a:r>
            <a:endParaRPr lang="en-US" altLang="zh-CN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414655"/>
            <a:ext cx="4683125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6"/>
            </a:pPr>
            <a:r>
              <a:rPr lang="en-US" altLang="zh-CN" sz="23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VeRA</a:t>
            </a:r>
            <a:r>
              <a:rPr lang="zh-CN" altLang="en-US" sz="23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：权重分解</a:t>
            </a:r>
            <a:endParaRPr lang="zh-CN" altLang="en-US" sz="23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98245" y="4777105"/>
            <a:ext cx="9075420" cy="1274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1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VeRA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的灵感来源于人工智能中的“随机矩阵投影”和模型“固有维度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理论：大模型的低秩增量矩阵本身不需要费尽心思去从头训练，随机初始化的矩阵就具备足够的表达潜力。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微调在每一层都需要存储不同的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矩阵，造成了很大的内存开销。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>
              <a:lnSpc>
                <a:spcPct val="11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VeRA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架构中，增量矩阵被切分为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全局共享且冻结的随机矩阵（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B）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与层级可训练缩放向量（d 和 b）。通过冻结共享随机矩阵，只训练层次缩放向量，达到节省内存，提高模型训练优化的目的。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465" y="1544955"/>
            <a:ext cx="7804785" cy="30651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2820" y="6628130"/>
            <a:ext cx="116789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[6]Kopiczko D, Blankevoort T, Asano Y. Vera: Vector-based random matrix adaptation[C]//International Conference on Learning Representations. 2024, 2024: 6815-6835.</a:t>
            </a:r>
            <a:endParaRPr lang="en-US" altLang="zh-CN" sz="900"/>
          </a:p>
        </p:txBody>
      </p:sp>
      <p:pic>
        <p:nvPicPr>
          <p:cNvPr id="5" name="图片 4" descr="ChatGPT Image 2026年5月31日 15_10_48"/>
          <p:cNvPicPr>
            <a:picLocks noChangeAspect="1"/>
          </p:cNvPicPr>
          <p:nvPr/>
        </p:nvPicPr>
        <p:blipFill>
          <a:blip r:embed="rId2"/>
          <a:srcRect t="13861" b="3609"/>
          <a:stretch>
            <a:fillRect/>
          </a:stretch>
        </p:blipFill>
        <p:spPr>
          <a:xfrm>
            <a:off x="553720" y="822960"/>
            <a:ext cx="10808335" cy="58508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814167"/>
            <a:ext cx="966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6"/>
            </a:pP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VeRA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：创新点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单圆角矩形 10"/>
          <p:cNvSpPr/>
          <p:nvPr/>
        </p:nvSpPr>
        <p:spPr>
          <a:xfrm>
            <a:off x="499110" y="1481455"/>
            <a:ext cx="4582795" cy="133921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全局共享且冻结的随机矩阵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在整个模型的所有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层之间，甚至在所有不同的微调任务之间，完全共享同一对随机生成的低秩矩阵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B。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它们在训练期间被彻底冻结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不参与更新 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单圆角矩形 7"/>
          <p:cNvSpPr/>
          <p:nvPr/>
        </p:nvSpPr>
        <p:spPr>
          <a:xfrm>
            <a:off x="499110" y="3268345"/>
            <a:ext cx="4582795" cy="133921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层级可训练缩放向量 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引入了两个非常小的可训练向量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b（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在公式中表示为对角矩阵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。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这两个向量的作用就像“开关”和“调节阀”，专门负责放大、缩小或关闭由随机矩阵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组合出来的特定行和列 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单圆角矩形 17"/>
          <p:cNvSpPr/>
          <p:nvPr/>
        </p:nvSpPr>
        <p:spPr>
          <a:xfrm>
            <a:off x="499110" y="4883785"/>
            <a:ext cx="4582795" cy="1339215"/>
          </a:xfrm>
          <a:prstGeom prst="round1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无损压缩的存储范式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是纯随机矩阵，在模型保存和多租户部署时，完全不需要存储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的矩阵数值，只需保存一个几比特的随机数种子（</a:t>
            </a:r>
            <a:r>
              <a:rPr lang="en-US" altLang="zh-CN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Seed）</a:t>
            </a:r>
            <a:r>
              <a:rPr lang="zh-CN" altLang="en-US" sz="1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和层级的缩放向量。</a:t>
            </a:r>
            <a:endParaRPr lang="zh-CN" altLang="en-US" sz="1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087745" y="836930"/>
            <a:ext cx="4313555" cy="1831975"/>
            <a:chOff x="9599" y="1869"/>
            <a:chExt cx="6793" cy="288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34" y="2581"/>
              <a:ext cx="5328" cy="528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6" y="4142"/>
              <a:ext cx="6216" cy="612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9599" y="1869"/>
              <a:ext cx="23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LoRA: </a:t>
              </a:r>
              <a:endParaRPr lang="en-US" altLang="zh-CN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99" y="3450"/>
              <a:ext cx="23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VeRA: </a:t>
              </a:r>
              <a:endParaRPr lang="en-US" altLang="zh-CN"/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525" y="2775585"/>
            <a:ext cx="5802630" cy="236410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277610" y="5393055"/>
            <a:ext cx="47396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这样的改动使得在面对深层模型架构时，参数存储量</a:t>
            </a:r>
            <a:r>
              <a:rPr lang="en-US" altLang="zh-CN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成倍数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减少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6560" y="6309995"/>
            <a:ext cx="116789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[6]Kopiczko D, Blankevoort T, Asano Y. Vera: Vector-based random matrix adaptation[C]//International Conference on Learning Representations. 2024, 2024: 6815-6835.</a:t>
            </a:r>
            <a:endParaRPr lang="en-US" altLang="zh-CN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常用算法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050" y="814167"/>
            <a:ext cx="966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6"/>
            </a:pP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VeRA 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的表现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6870" y="1588135"/>
            <a:ext cx="4116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VeRA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GLUE、E2E、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图像分类、指令微调上整体接近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190" y="659130"/>
            <a:ext cx="6713855" cy="28517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85" y="3510915"/>
            <a:ext cx="5346065" cy="29146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56870" y="5153025"/>
            <a:ext cx="4116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训练参数通常比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LoRA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少一个数量级，某些场景可到 100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缩减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" y="2110105"/>
            <a:ext cx="4010660" cy="2832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6560" y="6362700"/>
            <a:ext cx="116789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[6]Kopiczko D, Blankevoort T, Asano Y. Vera: Vector-based random matrix adaptation[C]//International Conference on Learning Representations. 2024, 2024: 6815-6835.</a:t>
            </a:r>
            <a:endParaRPr lang="en-US" altLang="zh-CN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682029" y="2159568"/>
            <a:ext cx="2827943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04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3394227" y="3277624"/>
            <a:ext cx="53995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典型案例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典型案例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rc"/>
          <p:cNvSpPr/>
          <p:nvPr/>
        </p:nvSpPr>
        <p:spPr>
          <a:xfrm>
            <a:off x="700000" y="1980000"/>
            <a:ext cx="10792000" cy="72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  </a:t>
            </a:r>
            <a:r>
              <a:rPr lang="zh-CN" altLang="en-US" sz="1250" b="0" i="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把一个开源 7B 大模型微调成「客服问答助手」，但手头只有一张 24GB 显存的显卡——全精度微调约需 60GB+，根本做不到。</a:t>
            </a:r>
            <a:endParaRPr lang="zh-CN" altLang="en-US" sz="125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circ"/>
          <p:cNvSpPr/>
          <p:nvPr/>
        </p:nvSpPr>
        <p:spPr>
          <a:xfrm>
            <a:off x="700000" y="2860000"/>
            <a:ext cx="540000" cy="54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zh-CN" altLang="en-US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tx"/>
          <p:cNvSpPr txBox="1"/>
          <p:nvPr/>
        </p:nvSpPr>
        <p:spPr>
          <a:xfrm>
            <a:off x="1420000" y="2820000"/>
            <a:ext cx="6030000" cy="620000"/>
          </a:xfrm>
          <a:prstGeom prst="rect">
            <a:avLst/>
          </a:prstGeom>
          <a:noFill/>
        </p:spPr>
        <p:txBody>
          <a:bodyPr wrap="square" lIns="0" tIns="36000" rIns="0" bIns="0" rtlCol="0" anchor="ctr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加载并量化底座  </a:t>
            </a:r>
            <a:r>
              <a:rPr lang="zh-CN" altLang="en-US" sz="1200" b="0" i="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把底座做 4-bit 量化（NF4）——7B 从约 14GB 压到约 4GB 显存</a:t>
            </a:r>
            <a:endParaRPr lang="zh-CN" altLang="en-US" sz="12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circ"/>
          <p:cNvSpPr/>
          <p:nvPr/>
        </p:nvSpPr>
        <p:spPr>
          <a:xfrm>
            <a:off x="700000" y="3520000"/>
            <a:ext cx="540000" cy="54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tx"/>
          <p:cNvSpPr txBox="1"/>
          <p:nvPr/>
        </p:nvSpPr>
        <p:spPr>
          <a:xfrm>
            <a:off x="1420000" y="3480000"/>
            <a:ext cx="6030000" cy="620000"/>
          </a:xfrm>
          <a:prstGeom prst="rect">
            <a:avLst/>
          </a:prstGeom>
          <a:noFill/>
        </p:spPr>
        <p:txBody>
          <a:bodyPr wrap="square" lIns="0" tIns="36000" rIns="0" bIns="0" rtlCol="0" anchor="ctr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注入 LoRA 适配器  </a:t>
            </a:r>
            <a:r>
              <a:rPr lang="zh-CN" altLang="en-US" sz="1200" b="0" i="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r=64、α=16，加到各线性层，仅 &lt;1% 参数可训练</a:t>
            </a:r>
            <a:endParaRPr lang="zh-CN" altLang="en-US" sz="12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rc"/>
          <p:cNvSpPr/>
          <p:nvPr/>
        </p:nvSpPr>
        <p:spPr>
          <a:xfrm>
            <a:off x="700000" y="4180000"/>
            <a:ext cx="540000" cy="54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endParaRPr lang="zh-CN" altLang="en-US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tx"/>
          <p:cNvSpPr txBox="1"/>
          <p:nvPr/>
        </p:nvSpPr>
        <p:spPr>
          <a:xfrm>
            <a:off x="1420000" y="4140000"/>
            <a:ext cx="6030000" cy="620000"/>
          </a:xfrm>
          <a:prstGeom prst="rect">
            <a:avLst/>
          </a:prstGeom>
          <a:noFill/>
        </p:spPr>
        <p:txBody>
          <a:bodyPr wrap="square" lIns="0" tIns="36000" rIns="0" bIns="0" rtlCol="0" anchor="ctr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准备数据并训练  </a:t>
            </a:r>
            <a:r>
              <a:rPr lang="zh-CN" altLang="en-US" sz="1200" b="0" i="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用问答指令数据集，bf16 计算 + 分页优化器训练</a:t>
            </a:r>
            <a:endParaRPr lang="zh-CN" altLang="en-US" sz="12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rc"/>
          <p:cNvSpPr/>
          <p:nvPr/>
        </p:nvSpPr>
        <p:spPr>
          <a:xfrm>
            <a:off x="700000" y="4840000"/>
            <a:ext cx="540000" cy="54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zh-CN" altLang="en-US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tx"/>
          <p:cNvSpPr txBox="1"/>
          <p:nvPr/>
        </p:nvSpPr>
        <p:spPr>
          <a:xfrm>
            <a:off x="1420000" y="4800000"/>
            <a:ext cx="6030000" cy="620000"/>
          </a:xfrm>
          <a:prstGeom prst="rect">
            <a:avLst/>
          </a:prstGeom>
          <a:noFill/>
        </p:spPr>
        <p:txBody>
          <a:bodyPr wrap="square" lIns="0" tIns="36000" rIns="0" bIns="0" rtlCol="0" anchor="ctr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保存适配器  </a:t>
            </a:r>
            <a:r>
              <a:rPr lang="zh-CN" altLang="en-US" sz="1200" b="0" i="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训练完成，得到的 LoRA 适配器仅几十 MB</a:t>
            </a:r>
            <a:endParaRPr lang="zh-CN" altLang="en-US" sz="12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rc"/>
          <p:cNvSpPr/>
          <p:nvPr/>
        </p:nvSpPr>
        <p:spPr>
          <a:xfrm>
            <a:off x="700000" y="5500000"/>
            <a:ext cx="540000" cy="54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endParaRPr lang="zh-CN" altLang="en-US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tx"/>
          <p:cNvSpPr txBox="1"/>
          <p:nvPr/>
        </p:nvSpPr>
        <p:spPr>
          <a:xfrm>
            <a:off x="1420000" y="5460000"/>
            <a:ext cx="6030000" cy="620000"/>
          </a:xfrm>
          <a:prstGeom prst="rect">
            <a:avLst/>
          </a:prstGeom>
          <a:noFill/>
        </p:spPr>
        <p:txBody>
          <a:bodyPr wrap="square" lIns="0" tIns="36000" rIns="0" bIns="0" rtlCol="0" anchor="ctr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部署与切换  </a:t>
            </a:r>
            <a:r>
              <a:rPr lang="zh-CN" altLang="en-US" sz="1200" b="0" i="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「底座 + 适配器」即可推理；换任务只需替换适配器</a:t>
            </a:r>
            <a:endParaRPr lang="zh-CN" altLang="en-US" sz="1200" b="0" i="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rc"/>
          <p:cNvSpPr/>
          <p:nvPr/>
        </p:nvSpPr>
        <p:spPr>
          <a:xfrm>
            <a:off x="7700000" y="2820000"/>
            <a:ext cx="3792000" cy="3260000"/>
          </a:xfrm>
          <a:prstGeom prst="roundRect">
            <a:avLst>
              <a:gd name="adj" fmla="val 5000"/>
            </a:avLst>
          </a:prstGeom>
          <a:solidFill>
            <a:srgbClr val="00427E"/>
          </a:solidFill>
          <a:ln>
            <a:noFill/>
          </a:ln>
          <a:effectLst>
            <a:outerShdw blurRad="50800" dist="25400" dir="5400000" rotWithShape="0">
              <a:srgbClr val="1A2B45">
                <a:alpha val="22000"/>
              </a:srgbClr>
            </a:outerShdw>
          </a:effectLst>
        </p:spPr>
        <p:txBody>
          <a:bodyPr wrap="square" lIns="137160" tIns="68580" rIns="137160" bIns="68580" rtlCol="0" anchor="ctr">
            <a:norm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zh-CN" altLang="en-US" sz="15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成果</a:t>
            </a:r>
            <a:endParaRPr lang="en-US" altLang="zh-CN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0"/>
              </a:lnSpc>
              <a:spcBef>
                <a:spcPts val="0"/>
              </a:spcBef>
              <a:spcAft>
                <a:spcPts val="320"/>
              </a:spcAft>
              <a:buNone/>
            </a:pPr>
            <a:endParaRPr lang="en-US" altLang="zh-CN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0"/>
              </a:lnSpc>
              <a:spcBef>
                <a:spcPts val="0"/>
              </a:spcBef>
              <a:spcAft>
                <a:spcPts val="320"/>
              </a:spcAft>
              <a:buNone/>
            </a:pPr>
            <a:endParaRPr lang="en-US" altLang="zh-CN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0"/>
              </a:lnSpc>
              <a:spcBef>
                <a:spcPts val="0"/>
              </a:spcBef>
              <a:spcAft>
                <a:spcPts val="320"/>
              </a:spcAft>
              <a:buNone/>
            </a:pPr>
            <a:endParaRPr lang="en-US" altLang="zh-CN" sz="1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0"/>
              </a:lnSpc>
              <a:spcBef>
                <a:spcPts val="0"/>
              </a:spcBef>
              <a:spcAft>
                <a:spcPts val="320"/>
              </a:spcAft>
              <a:buNone/>
            </a:pPr>
            <a:endParaRPr lang="zh-CN" altLang="en-US" sz="150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r>
              <a:rPr lang="zh-CN" altLang="en-US" sz="125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单张 24GB 消费级显卡即可完成</a:t>
            </a: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zh-CN" altLang="en-US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r>
              <a:rPr lang="zh-CN" altLang="en-US" sz="125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显存占用约降至原来的 1/3</a:t>
            </a:r>
            <a:endParaRPr lang="zh-CN" altLang="en-US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r>
              <a:rPr lang="zh-CN" altLang="en-US" sz="125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适配器仅数十 MB，便于分发与多任务切换</a:t>
            </a: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en-US" altLang="zh-CN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240"/>
              </a:spcAft>
              <a:buClr>
                <a:srgbClr val="9DBBDD"/>
              </a:buClr>
              <a:buFont typeface="Arial" panose="020B0604020202020204"/>
              <a:buChar char="•"/>
            </a:pPr>
            <a:endParaRPr lang="zh-CN" altLang="en-US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59715" indent="-259715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9DBBDD"/>
              </a:buClr>
              <a:buFont typeface="Arial" panose="020B0604020202020204"/>
              <a:buChar char="•"/>
            </a:pPr>
            <a:r>
              <a:rPr lang="zh-CN" altLang="en-US" sz="1250" b="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全程使用开源工具链</a:t>
            </a:r>
            <a:endParaRPr lang="zh-CN" altLang="en-US" sz="1250" b="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" name="ul"/>
          <p:cNvCxnSpPr/>
          <p:nvPr/>
        </p:nvCxnSpPr>
        <p:spPr>
          <a:xfrm>
            <a:off x="1223245" y="1378896"/>
            <a:ext cx="713970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62050" y="814167"/>
            <a:ext cx="966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案例：用 </a:t>
            </a: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QLoRA 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在单张消费级显卡上微调 </a:t>
            </a:r>
            <a:r>
              <a:rPr lang="en-US" altLang="zh-CN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7B </a:t>
            </a:r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cxnSp>
        <p:nvCxnSpPr>
          <p:cNvPr id="2" name="ul"/>
          <p:cNvCxnSpPr/>
          <p:nvPr/>
        </p:nvCxnSpPr>
        <p:spPr>
          <a:xfrm>
            <a:off x="1223245" y="993451"/>
            <a:ext cx="7139705" cy="0"/>
          </a:xfrm>
          <a:prstGeom prst="line">
            <a:avLst/>
          </a:prstGeom>
          <a:ln w="5715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62050" y="450312"/>
            <a:ext cx="9664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参考文献</a:t>
            </a:r>
            <a:endParaRPr lang="zh-CN" altLang="en-US" sz="2400" b="1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0710" y="1132840"/>
            <a:ext cx="11504295" cy="489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9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[1]Hu E J, Shen Y, Wallis P, et al. Lora: Low-rank adaptation of large language models[J].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Iclr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2022, 1(2): 3.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[2]Dettmers T, Pagnoni A, Holtzman A, et al.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Qlora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Efficient finetuning of quantized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[J]. Advances in neural information processing systems, 2023, 36: 10088-10115.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[3] Xu, Y., Xie, L., Gu, X., et al. QA-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LoRA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Quantization-Aware Low-Rank Adaptation of Large Language Models[J]. ICLR, 2024.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[4] Li, Y., Yu, Y., Liang, C., et al. LoftQ: LoRA-Fine-Tuning-Aware Quantization for Large Language Models[J]. International Conference on Learning Representations (ICLR), 2024.</a:t>
            </a:r>
            <a:endParaRPr lang="en-US" sz="1600"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90000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[5]Liu S Y, Wang C Y, Yin H, et al. Dora: Weight-decomposed low-rank adaptation[C]//Forty-first International Conference on Machine Learning. 2024.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90000"/>
              </a:lnSpc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[6]Kopiczko D, Blankevoort T, Asano Y. Vera: Vector-based random matrix adaptation[C]//International Conference on Learning Representations. 2024, 2024: 6815-6835.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endParaRPr lang="en-US" altLang="zh-CN" sz="1100"/>
          </a:p>
          <a:p>
            <a:pPr>
              <a:lnSpc>
                <a:spcPct val="190000"/>
              </a:lnSpc>
            </a:pPr>
            <a:endParaRPr lang="en-US" sz="11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90000"/>
              </a:lnSpc>
            </a:pP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2747625"/>
            <a:ext cx="12172121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感 谢 观</a:t>
            </a:r>
            <a:r>
              <a:rPr lang="en-US" altLang="zh-CN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看</a:t>
            </a:r>
            <a:endParaRPr lang="zh-CN" altLang="en-US" sz="72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0" name="thanks_sub"/>
          <p:cNvSpPr txBox="1"/>
          <p:nvPr/>
        </p:nvSpPr>
        <p:spPr>
          <a:xfrm>
            <a:off x="1096000" y="4180000"/>
            <a:ext cx="10000000" cy="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敬请各位老师与同学批评指正</a:t>
            </a:r>
            <a:endParaRPr lang="zh-CN" altLang="en-US" sz="2000" dirty="0">
              <a:solidFill>
                <a:srgbClr val="C7D7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2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3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4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5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6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7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8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9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0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1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2.xml><?xml version="1.0" encoding="utf-8"?>
<p:tagLst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3.xml><?xml version="1.0" encoding="utf-8"?>
<p:tagLst xmlns:p="http://schemas.openxmlformats.org/presentationml/2006/main">
  <p:tag name="ESE00014" val="{&quot;index&quot;:14,&quot;name&quot;:null,&quot;color&quot;:0,&quot;uid&quot;:14,&quot;displayname&quot;:&quot;圆角矩形 13&quot;,&quot;abstypecode&quot;:0,&quot;spid&quot;:14,&quot;nativeid&quot;:0,&quot;isexit&quot;:0,&quot;bhvcode&quot;:&quot;spp&quot;,&quot;oindex&quot;:11,&quot;autoReverse&quot;:false,&quot;isClickTriggered&quot;:false,&quot;rangedatastart&quot;:0.75,&quot;rangedataend&quot;:1.25}"/>
  <p:tag name="ESO0001400331" val="OLDID"/>
  <p:tag name="KSO_WM_DIAGRAM_VIRTUALLY_FRAME" val="{&quot;height&quot;:357.5,&quot;left&quot;:16.05,&quot;top&quot;:111.65,&quot;width&quot;:930.05}"/>
</p:tagLst>
</file>

<file path=ppt/tags/tag14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15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16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17.xml><?xml version="1.0" encoding="utf-8"?>
<p:tagLst xmlns:p="http://schemas.openxmlformats.org/presentationml/2006/main">
  <p:tag name="ESE00014" val="{&quot;index&quot;:14,&quot;name&quot;:null,&quot;color&quot;:0,&quot;uid&quot;:14,&quot;displayname&quot;:&quot;圆角矩形 13&quot;,&quot;abstypecode&quot;:0,&quot;spid&quot;:14,&quot;nativeid&quot;:0,&quot;isexit&quot;:0,&quot;bhvcode&quot;:&quot;spp&quot;,&quot;oindex&quot;:11,&quot;autoReverse&quot;:false,&quot;isClickTriggered&quot;:false,&quot;rangedatastart&quot;:0.75,&quot;rangedataend&quot;:1.25}"/>
  <p:tag name="ESO0001400331" val="OLDID"/>
  <p:tag name="KSO_WM_DIAGRAM_VIRTUALLY_FRAME" val="{&quot;height&quot;:357.5,&quot;left&quot;:16.05,&quot;top&quot;:111.65,&quot;width&quot;:930.05}"/>
</p:tagLst>
</file>

<file path=ppt/tags/tag18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19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20.xml><?xml version="1.0" encoding="utf-8"?>
<p:tagLst xmlns:p="http://schemas.openxmlformats.org/presentationml/2006/main">
  <p:tag name="ESE00014" val="{&quot;index&quot;:14,&quot;name&quot;:null,&quot;color&quot;:0,&quot;uid&quot;:14,&quot;displayname&quot;:&quot;圆角矩形 13&quot;,&quot;abstypecode&quot;:0,&quot;spid&quot;:14,&quot;nativeid&quot;:0,&quot;isexit&quot;:0,&quot;bhvcode&quot;:&quot;spp&quot;,&quot;oindex&quot;:11,&quot;autoReverse&quot;:false,&quot;isClickTriggered&quot;:false,&quot;rangedatastart&quot;:0.75,&quot;rangedataend&quot;:1.25}"/>
  <p:tag name="ESO0001400331" val="OLDID"/>
  <p:tag name="KSO_WM_DIAGRAM_VIRTUALLY_FRAME" val="{&quot;height&quot;:357.5,&quot;left&quot;:16.05,&quot;top&quot;:111.65,&quot;width&quot;:930.05}"/>
</p:tagLst>
</file>

<file path=ppt/tags/tag21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22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23.xml><?xml version="1.0" encoding="utf-8"?>
<p:tagLst xmlns:p="http://schemas.openxmlformats.org/presentationml/2006/main">
  <p:tag name="ESE00014" val="{&quot;index&quot;:14,&quot;name&quot;:null,&quot;color&quot;:0,&quot;uid&quot;:14,&quot;displayname&quot;:&quot;圆角矩形 13&quot;,&quot;abstypecode&quot;:0,&quot;spid&quot;:14,&quot;nativeid&quot;:0,&quot;isexit&quot;:0,&quot;bhvcode&quot;:&quot;spp&quot;,&quot;oindex&quot;:11,&quot;autoReverse&quot;:false,&quot;isClickTriggered&quot;:false,&quot;rangedatastart&quot;:0.75,&quot;rangedataend&quot;:1.25}"/>
  <p:tag name="ESO0001400331" val="OLDID"/>
  <p:tag name="KSO_WM_DIAGRAM_VIRTUALLY_FRAME" val="{&quot;height&quot;:357.5,&quot;left&quot;:16.05,&quot;top&quot;:111.65,&quot;width&quot;:930.05}"/>
</p:tagLst>
</file>

<file path=ppt/tags/tag24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ags/tag25.xml><?xml version="1.0" encoding="utf-8"?>
<p:tagLst xmlns:p="http://schemas.openxmlformats.org/presentationml/2006/main">
  <p:tag name="KSO_WM_DIAGRAM_VIRTUALLY_FRAME" val="{&quot;height&quot;:357.5,&quot;left&quot;:16.05,&quot;top&quot;:111.65,&quot;width&quot;:930.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5CA2"/>
      </a:accent1>
      <a:accent2>
        <a:srgbClr val="02A4EC"/>
      </a:accent2>
      <a:accent3>
        <a:srgbClr val="09DEE9"/>
      </a:accent3>
      <a:accent4>
        <a:srgbClr val="06DCA9"/>
      </a:accent4>
      <a:accent5>
        <a:srgbClr val="74DE95"/>
      </a:accent5>
      <a:accent6>
        <a:srgbClr val="EB9641"/>
      </a:accent6>
      <a:hlink>
        <a:srgbClr val="6B9F25"/>
      </a:hlink>
      <a:folHlink>
        <a:srgbClr val="9F6715"/>
      </a:folHlink>
    </a:clrScheme>
    <a:fontScheme name="自定义 1">
      <a:majorFont>
        <a:latin typeface="Segoe UI Light"/>
        <a:ea typeface="微软雅黑"/>
        <a:cs typeface=""/>
      </a:majorFont>
      <a:minorFont>
        <a:latin typeface="Segoe U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6CF4D12F6D274388BA24624B09F71E" ma:contentTypeVersion="14" ma:contentTypeDescription="Create a new document." ma:contentTypeScope="" ma:versionID="a92876c77cfcbbe12ab191a9623f82f6">
  <xsd:schema xmlns:xsd="http://www.w3.org/2001/XMLSchema" xmlns:xs="http://www.w3.org/2001/XMLSchema" xmlns:p="http://schemas.microsoft.com/office/2006/metadata/properties" xmlns:ns3="3469d720-5ab8-4f6d-9e21-4825a85e22e0" targetNamespace="http://schemas.microsoft.com/office/2006/metadata/properties" ma:root="true" ma:fieldsID="3cb57053222f5d0c2304182915b5c594" ns3:_="">
    <xsd:import namespace="3469d720-5ab8-4f6d-9e21-4825a85e22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9d720-5ab8-4f6d-9e21-4825a85e22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26.xml><?xml version="1.0" encoding="utf-8"?>
<ds:datastoreItem xmlns:ds="http://schemas.openxmlformats.org/officeDocument/2006/customXml" ds:itemID="{D0C2065C-10D2-4E0F-9EA0-B4F02D97E9AB}">
  <ds:schemaRefs/>
</ds:datastoreItem>
</file>

<file path=customXml/itemProps27.xml><?xml version="1.0" encoding="utf-8"?>
<ds:datastoreItem xmlns:ds="http://schemas.openxmlformats.org/officeDocument/2006/customXml" ds:itemID="{89E6F540-1808-45CF-AAC8-56B32EB1537B}">
  <ds:schemaRefs/>
</ds:datastoreItem>
</file>

<file path=customXml/itemProps28.xml><?xml version="1.0" encoding="utf-8"?>
<ds:datastoreItem xmlns:ds="http://schemas.openxmlformats.org/officeDocument/2006/customXml" ds:itemID="{5EE73592-5B0A-40BB-934E-CB58F3BEA33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6382</Words>
  <Application>WPS 演示</Application>
  <PresentationFormat>宽屏</PresentationFormat>
  <Paragraphs>389</Paragraphs>
  <Slides>26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53" baseType="lpstr">
      <vt:lpstr>Arial</vt:lpstr>
      <vt:lpstr>宋体</vt:lpstr>
      <vt:lpstr>Wingdings</vt:lpstr>
      <vt:lpstr>等线</vt:lpstr>
      <vt:lpstr>阿里巴巴普惠体 R</vt:lpstr>
      <vt:lpstr>阿里巴巴普惠体 B</vt:lpstr>
      <vt:lpstr>思源黑体 CN Medium</vt:lpstr>
      <vt:lpstr>黑体</vt:lpstr>
      <vt:lpstr>微软雅黑</vt:lpstr>
      <vt:lpstr>思源黑体 CN Normal</vt:lpstr>
      <vt:lpstr>Segoe UI</vt:lpstr>
      <vt:lpstr>思源黑体 CN Bold</vt:lpstr>
      <vt:lpstr>思源黑体 CN Regular</vt:lpstr>
      <vt:lpstr>Cambria Math</vt:lpstr>
      <vt:lpstr>MS Mincho</vt:lpstr>
      <vt:lpstr>Segoe Print</vt:lpstr>
      <vt:lpstr>KSOFDDF4E7ED</vt:lpstr>
      <vt:lpstr>KSOF954951BB</vt:lpstr>
      <vt:lpstr>Arial Unicode MS</vt:lpstr>
      <vt:lpstr>等线 Light</vt:lpstr>
      <vt:lpstr>Noto Sans SC</vt:lpstr>
      <vt:lpstr>Arial</vt:lpstr>
      <vt:lpstr>微软雅黑 Light</vt:lpstr>
      <vt:lpstr>Segoe UI Light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Manager>www.51pptmoban.com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西南大学 论文答辩</dc:title>
  <dc:creator>小春</dc:creator>
  <cp:keywords>51PPT模板网</cp:keywords>
  <dc:description>www.51pptmoban.com</dc:description>
  <cp:lastModifiedBy>ㅤ</cp:lastModifiedBy>
  <cp:revision>1009</cp:revision>
  <dcterms:created xsi:type="dcterms:W3CDTF">2021-05-21T08:13:00Z</dcterms:created>
  <dcterms:modified xsi:type="dcterms:W3CDTF">2026-06-02T13:49:57Z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8CE433AFD6044A01BABD53A100F3A3EA_13</vt:lpwstr>
  </property>
  <property fmtid="{D5CDD505-2E9C-101B-9397-08002B2CF9AE}" pid="3" name="KSOProductBuildVer">
    <vt:lpwstr>2052-12.1.0.26895</vt:lpwstr>
  </property>
  <property fmtid="{D5CDD505-2E9C-101B-9397-08002B2CF9AE}" pid="4" name="ContentTypeId">
    <vt:lpwstr>0x010100B46CF4D12F6D274388BA24624B09F71E</vt:lpwstr>
  </property>
</Properties>
</file>