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1"/>
  </p:sldMasterIdLst>
  <p:notesMasterIdLst>
    <p:notesMasterId r:id="rId9"/>
  </p:notesMasterIdLst>
  <p:handoutMasterIdLst>
    <p:handoutMasterId r:id="rId10"/>
  </p:handoutMasterIdLst>
  <p:sldIdLst>
    <p:sldId id="2657" r:id="rId2"/>
    <p:sldId id="5143" r:id="rId3"/>
    <p:sldId id="5152" r:id="rId4"/>
    <p:sldId id="5144" r:id="rId5"/>
    <p:sldId id="5145" r:id="rId6"/>
    <p:sldId id="5150" r:id="rId7"/>
    <p:sldId id="5151" r:id="rId8"/>
  </p:sldIdLst>
  <p:sldSz cx="9144000" cy="5143500" type="screen16x9"/>
  <p:notesSz cx="6858000" cy="9144000"/>
  <p:defaultTextStyle>
    <a:defPPr>
      <a:defRPr lang="fi-FI"/>
    </a:defPPr>
    <a:lvl1pPr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1pPr>
    <a:lvl2pPr marL="4556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2pPr>
    <a:lvl3pPr marL="9128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3pPr>
    <a:lvl4pPr marL="13700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4pPr>
    <a:lvl5pPr marL="18272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5pPr>
    <a:lvl6pPr marL="2286000" algn="l" defTabSz="914400" rtl="0" eaLnBrk="1" latinLnBrk="0" hangingPunct="1">
      <a:defRPr sz="1400" kern="1200">
        <a:solidFill>
          <a:schemeClr val="tx1"/>
        </a:solidFill>
        <a:latin typeface="Trebuchet MS" pitchFamily="96" charset="0"/>
        <a:ea typeface="宋体" charset="-122"/>
        <a:cs typeface="+mn-cs"/>
      </a:defRPr>
    </a:lvl6pPr>
    <a:lvl7pPr marL="2743200" algn="l" defTabSz="914400" rtl="0" eaLnBrk="1" latinLnBrk="0" hangingPunct="1">
      <a:defRPr sz="1400" kern="1200">
        <a:solidFill>
          <a:schemeClr val="tx1"/>
        </a:solidFill>
        <a:latin typeface="Trebuchet MS" pitchFamily="96" charset="0"/>
        <a:ea typeface="宋体" charset="-122"/>
        <a:cs typeface="+mn-cs"/>
      </a:defRPr>
    </a:lvl7pPr>
    <a:lvl8pPr marL="3200400" algn="l" defTabSz="914400" rtl="0" eaLnBrk="1" latinLnBrk="0" hangingPunct="1">
      <a:defRPr sz="1400" kern="1200">
        <a:solidFill>
          <a:schemeClr val="tx1"/>
        </a:solidFill>
        <a:latin typeface="Trebuchet MS" pitchFamily="96" charset="0"/>
        <a:ea typeface="宋体" charset="-122"/>
        <a:cs typeface="+mn-cs"/>
      </a:defRPr>
    </a:lvl8pPr>
    <a:lvl9pPr marL="3657600" algn="l" defTabSz="914400" rtl="0" eaLnBrk="1" latinLnBrk="0" hangingPunct="1">
      <a:defRPr sz="1400" kern="1200">
        <a:solidFill>
          <a:schemeClr val="tx1"/>
        </a:solidFill>
        <a:latin typeface="Trebuchet MS" pitchFamily="96" charset="0"/>
        <a:ea typeface="宋体" charset="-122"/>
        <a:cs typeface="+mn-cs"/>
      </a:defRPr>
    </a:lvl9pPr>
  </p:defaultTextStyle>
  <p:extLst>
    <p:ext uri="{521415D9-36F7-43E2-AB2F-B90AF26B5E84}">
      <p14:sectionLst xmlns:p14="http://schemas.microsoft.com/office/powerpoint/2010/main">
        <p14:section name="标题" id="{EB83E03E-195F-4588-BA9C-87CAE50CC123}">
          <p14:sldIdLst>
            <p14:sldId id="2657"/>
            <p14:sldId id="5143"/>
            <p14:sldId id="5152"/>
            <p14:sldId id="5144"/>
            <p14:sldId id="5145"/>
            <p14:sldId id="5150"/>
            <p14:sldId id="5151"/>
          </p14:sldIdLst>
        </p14:section>
      </p14:sectionLst>
    </p:ext>
    <p:ext uri="{EFAFB233-063F-42B5-8137-9DF3F51BA10A}">
      <p15:sldGuideLst xmlns:p15="http://schemas.microsoft.com/office/powerpoint/2012/main">
        <p15:guide id="1" orient="horz" pos="3838" userDrawn="1">
          <p15:clr>
            <a:srgbClr val="A4A3A4"/>
          </p15:clr>
        </p15:guide>
        <p15:guide id="2" pos="295" userDrawn="1">
          <p15:clr>
            <a:srgbClr val="A4A3A4"/>
          </p15:clr>
        </p15:guide>
        <p15:guide id="4" pos="5193" userDrawn="1">
          <p15:clr>
            <a:srgbClr val="A4A3A4"/>
          </p15:clr>
        </p15:guide>
        <p15:guide id="5" pos="3152" userDrawn="1">
          <p15:clr>
            <a:srgbClr val="A4A3A4"/>
          </p15:clr>
        </p15:guide>
        <p15:guide id="6" orient="horz" pos="289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06BA"/>
    <a:srgbClr val="080808"/>
    <a:srgbClr val="339933"/>
    <a:srgbClr val="B5880B"/>
    <a:srgbClr val="E87071"/>
    <a:srgbClr val="00B3EE"/>
    <a:srgbClr val="93E5FF"/>
    <a:srgbClr val="F7FE98"/>
    <a:srgbClr val="FFFFFF"/>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63" autoAdjust="0"/>
    <p:restoredTop sz="93775" autoAdjust="0"/>
  </p:normalViewPr>
  <p:slideViewPr>
    <p:cSldViewPr>
      <p:cViewPr varScale="1">
        <p:scale>
          <a:sx n="106" d="100"/>
          <a:sy n="106" d="100"/>
        </p:scale>
        <p:origin x="758" y="62"/>
      </p:cViewPr>
      <p:guideLst>
        <p:guide orient="horz" pos="3838"/>
        <p:guide pos="295"/>
        <p:guide pos="5193"/>
        <p:guide pos="3152"/>
        <p:guide orient="horz" pos="289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GB" altLang="zh-CN"/>
          </a:p>
        </p:txBody>
      </p:sp>
      <p:sp>
        <p:nvSpPr>
          <p:cNvPr id="1751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58CD87A4-0184-412C-A44A-3DA728178AFF}" type="slidenum">
              <a:rPr lang="en-GB" altLang="zh-CN"/>
              <a:pPr>
                <a:defRPr/>
              </a:pPr>
              <a:t>‹#›</a:t>
            </a:fld>
            <a:endParaRPr lang="en-GB" altLang="zh-CN"/>
          </a:p>
        </p:txBody>
      </p:sp>
    </p:spTree>
    <p:extLst>
      <p:ext uri="{BB962C8B-B14F-4D97-AF65-F5344CB8AC3E}">
        <p14:creationId xmlns:p14="http://schemas.microsoft.com/office/powerpoint/2010/main" val="23572666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US" altLang="zh-CN"/>
          </a:p>
        </p:txBody>
      </p:sp>
      <p:sp>
        <p:nvSpPr>
          <p:cNvPr id="71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i-FI" noProof="0"/>
              <a:t>Muokkaa tekstin perustyylejä napsauttamalla</a:t>
            </a:r>
          </a:p>
          <a:p>
            <a:pPr lvl="1"/>
            <a:r>
              <a:rPr lang="fi-FI" noProof="0"/>
              <a:t>toinen taso</a:t>
            </a:r>
          </a:p>
          <a:p>
            <a:pPr lvl="2"/>
            <a:r>
              <a:rPr lang="fi-FI" noProof="0"/>
              <a:t>kolmas taso</a:t>
            </a:r>
          </a:p>
          <a:p>
            <a:pPr lvl="3"/>
            <a:r>
              <a:rPr lang="fi-FI" noProof="0"/>
              <a:t>neljäs taso</a:t>
            </a:r>
          </a:p>
          <a:p>
            <a:pPr lvl="4"/>
            <a:r>
              <a:rPr lang="fi-FI" noProof="0"/>
              <a:t>viides taso</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BB8C311E-5859-4E0C-A0F3-4690A095D6BE}" type="slidenum">
              <a:rPr lang="fi-FI" altLang="zh-CN"/>
              <a:pPr>
                <a:defRPr/>
              </a:pPr>
              <a:t>‹#›</a:t>
            </a:fld>
            <a:endParaRPr lang="fi-FI" altLang="zh-CN"/>
          </a:p>
        </p:txBody>
      </p:sp>
    </p:spTree>
    <p:extLst>
      <p:ext uri="{BB962C8B-B14F-4D97-AF65-F5344CB8AC3E}">
        <p14:creationId xmlns:p14="http://schemas.microsoft.com/office/powerpoint/2010/main" val="17204162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613" algn="l" rtl="0" eaLnBrk="0" fontAlgn="base" hangingPunct="0">
      <a:spcBef>
        <a:spcPct val="30000"/>
      </a:spcBef>
      <a:spcAft>
        <a:spcPct val="0"/>
      </a:spcAft>
      <a:defRPr sz="1200" kern="1200">
        <a:solidFill>
          <a:schemeClr val="tx1"/>
        </a:solidFill>
        <a:latin typeface="Arial" charset="0"/>
        <a:ea typeface="+mn-ea"/>
        <a:cs typeface="+mn-cs"/>
      </a:defRPr>
    </a:lvl2pPr>
    <a:lvl3pPr marL="912813" algn="l" rtl="0" eaLnBrk="0" fontAlgn="base" hangingPunct="0">
      <a:spcBef>
        <a:spcPct val="30000"/>
      </a:spcBef>
      <a:spcAft>
        <a:spcPct val="0"/>
      </a:spcAft>
      <a:defRPr sz="1200" kern="1200">
        <a:solidFill>
          <a:schemeClr val="tx1"/>
        </a:solidFill>
        <a:latin typeface="Arial" charset="0"/>
        <a:ea typeface="+mn-ea"/>
        <a:cs typeface="+mn-cs"/>
      </a:defRPr>
    </a:lvl3pPr>
    <a:lvl4pPr marL="1370013" algn="l" rtl="0" eaLnBrk="0" fontAlgn="base" hangingPunct="0">
      <a:spcBef>
        <a:spcPct val="30000"/>
      </a:spcBef>
      <a:spcAft>
        <a:spcPct val="0"/>
      </a:spcAft>
      <a:defRPr sz="1200" kern="1200">
        <a:solidFill>
          <a:schemeClr val="tx1"/>
        </a:solidFill>
        <a:latin typeface="Arial" charset="0"/>
        <a:ea typeface="+mn-ea"/>
        <a:cs typeface="+mn-cs"/>
      </a:defRPr>
    </a:lvl4pPr>
    <a:lvl5pPr marL="1827213" algn="l" rtl="0" eaLnBrk="0" fontAlgn="base" hangingPunct="0">
      <a:spcBef>
        <a:spcPct val="30000"/>
      </a:spcBef>
      <a:spcAft>
        <a:spcPct val="0"/>
      </a:spcAft>
      <a:defRPr sz="1200" kern="1200">
        <a:solidFill>
          <a:schemeClr val="tx1"/>
        </a:solidFill>
        <a:latin typeface="Arial" charset="0"/>
        <a:ea typeface="+mn-ea"/>
        <a:cs typeface="+mn-cs"/>
      </a:defRPr>
    </a:lvl5pPr>
    <a:lvl6pPr marL="2285726" algn="l" defTabSz="914290" rtl="0" eaLnBrk="1" latinLnBrk="0" hangingPunct="1">
      <a:defRPr sz="1200" kern="1200">
        <a:solidFill>
          <a:schemeClr val="tx1"/>
        </a:solidFill>
        <a:latin typeface="+mn-lt"/>
        <a:ea typeface="+mn-ea"/>
        <a:cs typeface="+mn-cs"/>
      </a:defRPr>
    </a:lvl6pPr>
    <a:lvl7pPr marL="2742871" algn="l" defTabSz="914290" rtl="0" eaLnBrk="1" latinLnBrk="0" hangingPunct="1">
      <a:defRPr sz="1200" kern="1200">
        <a:solidFill>
          <a:schemeClr val="tx1"/>
        </a:solidFill>
        <a:latin typeface="+mn-lt"/>
        <a:ea typeface="+mn-ea"/>
        <a:cs typeface="+mn-cs"/>
      </a:defRPr>
    </a:lvl7pPr>
    <a:lvl8pPr marL="3200016" algn="l" defTabSz="914290" rtl="0" eaLnBrk="1" latinLnBrk="0" hangingPunct="1">
      <a:defRPr sz="1200" kern="1200">
        <a:solidFill>
          <a:schemeClr val="tx1"/>
        </a:solidFill>
        <a:latin typeface="+mn-lt"/>
        <a:ea typeface="+mn-ea"/>
        <a:cs typeface="+mn-cs"/>
      </a:defRPr>
    </a:lvl8pPr>
    <a:lvl9pPr marL="3657161" algn="l" defTabSz="91429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1</a:t>
            </a:fld>
            <a:endParaRPr lang="fi-FI" altLang="zh-CN"/>
          </a:p>
        </p:txBody>
      </p:sp>
    </p:spTree>
    <p:extLst>
      <p:ext uri="{BB962C8B-B14F-4D97-AF65-F5344CB8AC3E}">
        <p14:creationId xmlns:p14="http://schemas.microsoft.com/office/powerpoint/2010/main" val="3768680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a:t>
            </a:fld>
            <a:endParaRPr lang="fi-FI" altLang="zh-CN"/>
          </a:p>
        </p:txBody>
      </p:sp>
    </p:spTree>
    <p:extLst>
      <p:ext uri="{BB962C8B-B14F-4D97-AF65-F5344CB8AC3E}">
        <p14:creationId xmlns:p14="http://schemas.microsoft.com/office/powerpoint/2010/main" val="2906940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7</a:t>
            </a:fld>
            <a:endParaRPr lang="fi-FI" altLang="zh-CN"/>
          </a:p>
        </p:txBody>
      </p:sp>
    </p:spTree>
    <p:extLst>
      <p:ext uri="{BB962C8B-B14F-4D97-AF65-F5344CB8AC3E}">
        <p14:creationId xmlns:p14="http://schemas.microsoft.com/office/powerpoint/2010/main" val="31336590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611560" y="123478"/>
            <a:ext cx="6480720" cy="514102"/>
          </a:xfrm>
          <a:prstGeom prst="rect">
            <a:avLst/>
          </a:prstGeom>
          <a:solidFill>
            <a:schemeClr val="bg1"/>
          </a:solidFill>
        </p:spPr>
        <p:txBody>
          <a:bodyPr rtlCol="0">
            <a:noAutofit/>
          </a:bodyPr>
          <a:lstStyle>
            <a:lvl1pPr algn="l">
              <a:defRPr sz="2400" b="1" baseline="0">
                <a:solidFill>
                  <a:schemeClr val="tx1"/>
                </a:solidFill>
                <a:latin typeface="Arial" panose="020B0604020202020204" pitchFamily="34" charset="0"/>
                <a:ea typeface="微软雅黑" pitchFamily="34" charset="-122"/>
                <a:cs typeface="Arial" panose="020B0604020202020204" pitchFamily="34" charset="0"/>
              </a:defRPr>
            </a:lvl1pPr>
          </a:lstStyle>
          <a:p>
            <a:r>
              <a:rPr lang="en-US" altLang="zh-CN" dirty="0"/>
              <a:t>Click to edit Master title style</a:t>
            </a:r>
            <a:endParaRPr lang="zh-CN" altLang="en-US" dirty="0"/>
          </a:p>
        </p:txBody>
      </p:sp>
      <p:sp>
        <p:nvSpPr>
          <p:cNvPr id="3" name="Content Placeholder 2"/>
          <p:cNvSpPr>
            <a:spLocks noGrp="1"/>
          </p:cNvSpPr>
          <p:nvPr>
            <p:ph idx="1"/>
          </p:nvPr>
        </p:nvSpPr>
        <p:spPr>
          <a:xfrm>
            <a:off x="251520" y="789553"/>
            <a:ext cx="8568952" cy="3805070"/>
          </a:xfrm>
        </p:spPr>
        <p:txBody>
          <a:bodyPr/>
          <a:lstStyle>
            <a:lvl1pPr>
              <a:defRPr sz="2000">
                <a:latin typeface="Arial" panose="020B0604020202020204" pitchFamily="34" charset="0"/>
                <a:ea typeface="微软雅黑" pitchFamily="34" charset="-122"/>
                <a:cs typeface="Arial" panose="020B0604020202020204" pitchFamily="34" charset="0"/>
              </a:defRPr>
            </a:lvl1pPr>
            <a:lvl2pPr>
              <a:defRPr sz="1800">
                <a:latin typeface="Arial" panose="020B0604020202020204" pitchFamily="34" charset="0"/>
                <a:ea typeface="微软雅黑" pitchFamily="34" charset="-122"/>
                <a:cs typeface="Arial" panose="020B0604020202020204" pitchFamily="34" charset="0"/>
              </a:defRPr>
            </a:lvl2pPr>
            <a:lvl3pPr>
              <a:defRPr sz="1600">
                <a:latin typeface="Arial" panose="020B0604020202020204" pitchFamily="34" charset="0"/>
                <a:ea typeface="微软雅黑" pitchFamily="34" charset="-122"/>
                <a:cs typeface="Arial" panose="020B0604020202020204" pitchFamily="34" charset="0"/>
              </a:defRPr>
            </a:lvl3pPr>
            <a:lvl4pPr>
              <a:defRPr sz="1400">
                <a:latin typeface="Arial" panose="020B0604020202020204" pitchFamily="34" charset="0"/>
                <a:ea typeface="微软雅黑" pitchFamily="34" charset="-122"/>
                <a:cs typeface="Arial" panose="020B0604020202020204" pitchFamily="34" charset="0"/>
              </a:defRPr>
            </a:lvl4pPr>
            <a:lvl5pPr>
              <a:defRPr sz="1400">
                <a:latin typeface="Arial" panose="020B0604020202020204" pitchFamily="34" charset="0"/>
                <a:ea typeface="微软雅黑" pitchFamily="34" charset="-122"/>
                <a:cs typeface="Arial" panose="020B0604020202020204" pitchFamily="34" charset="0"/>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pic>
        <p:nvPicPr>
          <p:cNvPr id="4" name="图形 3">
            <a:extLst>
              <a:ext uri="{FF2B5EF4-FFF2-40B4-BE49-F238E27FC236}">
                <a16:creationId xmlns:a16="http://schemas.microsoft.com/office/drawing/2014/main" id="{D7A9122C-2794-4A95-85D5-67E362F7EFE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322726" y="201457"/>
            <a:ext cx="1587734" cy="386697"/>
          </a:xfrm>
          <a:prstGeom prst="rect">
            <a:avLst/>
          </a:prstGeom>
        </p:spPr>
      </p:pic>
      <p:cxnSp>
        <p:nvCxnSpPr>
          <p:cNvPr id="5" name="PA-102211">
            <a:extLst>
              <a:ext uri="{FF2B5EF4-FFF2-40B4-BE49-F238E27FC236}">
                <a16:creationId xmlns:a16="http://schemas.microsoft.com/office/drawing/2014/main" id="{C87527B0-2AEC-439E-9D61-9F881129AF8A}"/>
              </a:ext>
            </a:extLst>
          </p:cNvPr>
          <p:cNvCxnSpPr/>
          <p:nvPr userDrawn="1">
            <p:custDataLst>
              <p:tags r:id="rId1"/>
            </p:custDataLst>
          </p:nvPr>
        </p:nvCxnSpPr>
        <p:spPr>
          <a:xfrm>
            <a:off x="355283" y="699542"/>
            <a:ext cx="8555177"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 name="等腰三角形 3">
            <a:extLst>
              <a:ext uri="{FF2B5EF4-FFF2-40B4-BE49-F238E27FC236}">
                <a16:creationId xmlns:a16="http://schemas.microsoft.com/office/drawing/2014/main" id="{85669494-41B5-4632-B1D9-01C055E75766}"/>
              </a:ext>
            </a:extLst>
          </p:cNvPr>
          <p:cNvSpPr/>
          <p:nvPr userDrawn="1"/>
        </p:nvSpPr>
        <p:spPr>
          <a:xfrm rot="5400000">
            <a:off x="319564" y="290513"/>
            <a:ext cx="273368" cy="20193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defRPr/>
            </a:pPr>
            <a:endParaRPr lang="zh-CN" altLang="en-US" sz="1350">
              <a:solidFill>
                <a:srgbClr val="FFFFFF"/>
              </a:solidFill>
              <a:latin typeface="Arial" panose="020B0604020202020204"/>
              <a:ea typeface="微软雅黑" panose="020B0503020204020204" pitchFamily="34" charset="-122"/>
            </a:endParaRPr>
          </a:p>
        </p:txBody>
      </p:sp>
    </p:spTree>
    <p:extLst>
      <p:ext uri="{BB962C8B-B14F-4D97-AF65-F5344CB8AC3E}">
        <p14:creationId xmlns:p14="http://schemas.microsoft.com/office/powerpoint/2010/main" val="115569259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864540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文本框 1">
            <a:extLst>
              <a:ext uri="{FF2B5EF4-FFF2-40B4-BE49-F238E27FC236}">
                <a16:creationId xmlns:a16="http://schemas.microsoft.com/office/drawing/2014/main" id="{E0E5853F-F8D3-4201-B7D6-19EE6B4D4F23}"/>
              </a:ext>
            </a:extLst>
          </p:cNvPr>
          <p:cNvSpPr txBox="1"/>
          <p:nvPr userDrawn="1"/>
        </p:nvSpPr>
        <p:spPr>
          <a:xfrm>
            <a:off x="8460432" y="4803998"/>
            <a:ext cx="576064" cy="307777"/>
          </a:xfrm>
          <a:prstGeom prst="rect">
            <a:avLst/>
          </a:prstGeom>
          <a:noFill/>
        </p:spPr>
        <p:txBody>
          <a:bodyPr wrap="square" rtlCol="0">
            <a:spAutoFit/>
          </a:bodyPr>
          <a:lstStyle/>
          <a:p>
            <a:pPr algn="r"/>
            <a:fld id="{0C913308-F349-4B6D-A68A-DD1791B4A57B}" type="slidenum">
              <a:rPr lang="zh-CN" altLang="en-US" b="1" smtClean="0">
                <a:latin typeface="Times New Roman" panose="02020603050405020304" pitchFamily="18" charset="0"/>
                <a:cs typeface="Times New Roman" panose="02020603050405020304" pitchFamily="18" charset="0"/>
              </a:rPr>
              <a:pPr algn="r"/>
              <a:t>‹#›</a:t>
            </a:fld>
            <a:endParaRPr lang="zh-CN" altLang="en-US" b="1" dirty="0">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30" r:id="rId1"/>
    <p:sldLayoutId id="2147483732" r:id="rId2"/>
  </p:sldLayoutIdLst>
  <p:transition>
    <p:fade/>
  </p:transition>
  <p:hf hdr="0" ftr="0" dt="0"/>
  <p:txStyles>
    <p:titleStyle>
      <a:lvl1pPr algn="ctr" rtl="0" eaLnBrk="0" fontAlgn="base" hangingPunct="0">
        <a:spcBef>
          <a:spcPct val="0"/>
        </a:spcBef>
        <a:spcAft>
          <a:spcPct val="0"/>
        </a:spcAft>
        <a:defRPr sz="4400">
          <a:solidFill>
            <a:schemeClr val="tx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3926E56-11E2-4B2B-AA1C-5D1F684EF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13" y="49174"/>
            <a:ext cx="1943199" cy="534777"/>
          </a:xfrm>
          <a:prstGeom prst="rect">
            <a:avLst/>
          </a:prstGeom>
        </p:spPr>
      </p:pic>
      <p:sp>
        <p:nvSpPr>
          <p:cNvPr id="13" name="文本框 12">
            <a:extLst>
              <a:ext uri="{FF2B5EF4-FFF2-40B4-BE49-F238E27FC236}">
                <a16:creationId xmlns:a16="http://schemas.microsoft.com/office/drawing/2014/main" id="{BAD42D23-9145-41EA-AB27-9AA088E35FFA}"/>
              </a:ext>
            </a:extLst>
          </p:cNvPr>
          <p:cNvSpPr txBox="1"/>
          <p:nvPr/>
        </p:nvSpPr>
        <p:spPr>
          <a:xfrm>
            <a:off x="468313" y="2120538"/>
            <a:ext cx="8280151" cy="907941"/>
          </a:xfrm>
          <a:prstGeom prst="rect">
            <a:avLst/>
          </a:prstGeom>
          <a:noFill/>
        </p:spPr>
        <p:txBody>
          <a:bodyPr wrap="square">
            <a:spAutoFit/>
          </a:bodyPr>
          <a:lstStyle/>
          <a:p>
            <a:pPr algn="ctr" fontAlgn="auto">
              <a:spcBef>
                <a:spcPts val="600"/>
              </a:spcBef>
              <a:spcAft>
                <a:spcPts val="0"/>
              </a:spcAft>
              <a:defRPr/>
            </a:pPr>
            <a:r>
              <a:rPr lang="en-US" altLang="zh-CN" sz="2800" b="1" spc="300" dirty="0" err="1">
                <a:solidFill>
                  <a:prstClr val="black"/>
                </a:solidFill>
                <a:latin typeface="微软雅黑" panose="020B0503020204020204" pitchFamily="34" charset="-122"/>
                <a:ea typeface="微软雅黑" panose="020B0503020204020204" pitchFamily="34" charset="-122"/>
              </a:rPr>
              <a:t>PaddleOCR-VL多</a:t>
            </a:r>
            <a:r>
              <a:rPr lang="zh-CN" altLang="en-US" sz="2800" b="1" spc="300" dirty="0">
                <a:solidFill>
                  <a:prstClr val="black"/>
                </a:solidFill>
                <a:latin typeface="微软雅黑" panose="020B0503020204020204" pitchFamily="34" charset="-122"/>
                <a:ea typeface="微软雅黑" panose="020B0503020204020204" pitchFamily="34" charset="-122"/>
              </a:rPr>
              <a:t>模态</a:t>
            </a:r>
            <a:r>
              <a:rPr lang="en-US" altLang="zh-CN" sz="2800" b="1" spc="300" dirty="0" err="1">
                <a:solidFill>
                  <a:prstClr val="black"/>
                </a:solidFill>
                <a:latin typeface="微软雅黑" panose="020B0503020204020204" pitchFamily="34" charset="-122"/>
                <a:ea typeface="微软雅黑" panose="020B0503020204020204" pitchFamily="34" charset="-122"/>
              </a:rPr>
              <a:t>文档解析复现与改进</a:t>
            </a:r>
            <a:endParaRPr lang="en-US" altLang="zh-CN" sz="2800" b="1" spc="300" dirty="0">
              <a:solidFill>
                <a:prstClr val="black"/>
              </a:solidFill>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600"/>
              </a:spcBef>
              <a:spcAft>
                <a:spcPts val="0"/>
              </a:spcAft>
              <a:buClrTx/>
              <a:buSzTx/>
              <a:buFont typeface="Arial" charset="0"/>
              <a:buNone/>
              <a:tabLst/>
              <a:defRPr/>
            </a:pPr>
            <a:endParaRPr kumimoji="0" lang="en-US" altLang="zh-CN" sz="20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iti SC Medium" panose="02000000000000000000" charset="-122"/>
            </a:endParaRPr>
          </a:p>
        </p:txBody>
      </p:sp>
      <p:cxnSp>
        <p:nvCxnSpPr>
          <p:cNvPr id="14" name="直接连接符 13">
            <a:extLst>
              <a:ext uri="{FF2B5EF4-FFF2-40B4-BE49-F238E27FC236}">
                <a16:creationId xmlns:a16="http://schemas.microsoft.com/office/drawing/2014/main" id="{028E2A0A-490D-4FA0-814E-6AD027047792}"/>
              </a:ext>
            </a:extLst>
          </p:cNvPr>
          <p:cNvCxnSpPr/>
          <p:nvPr/>
        </p:nvCxnSpPr>
        <p:spPr>
          <a:xfrm>
            <a:off x="1152128" y="2691158"/>
            <a:ext cx="6984776" cy="0"/>
          </a:xfrm>
          <a:prstGeom prst="line">
            <a:avLst/>
          </a:prstGeom>
          <a:ln w="1270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6" name="文本框 11">
            <a:extLst>
              <a:ext uri="{FF2B5EF4-FFF2-40B4-BE49-F238E27FC236}">
                <a16:creationId xmlns:a16="http://schemas.microsoft.com/office/drawing/2014/main" id="{660725AF-9C86-4A91-AD17-08FDE39EA0E8}"/>
              </a:ext>
            </a:extLst>
          </p:cNvPr>
          <p:cNvSpPr txBox="1">
            <a:spLocks noChangeArrowheads="1"/>
          </p:cNvSpPr>
          <p:nvPr/>
        </p:nvSpPr>
        <p:spPr bwMode="auto">
          <a:xfrm>
            <a:off x="1789761" y="3592397"/>
            <a:ext cx="5715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1800" b="1" dirty="0">
                <a:solidFill>
                  <a:prstClr val="black"/>
                </a:solidFill>
                <a:latin typeface="微软雅黑" panose="020B0503020204020204" pitchFamily="34" charset="-122"/>
                <a:ea typeface="微软雅黑" panose="020B0503020204020204" pitchFamily="34" charset="-122"/>
                <a:cs typeface="Heiti SC Medium" charset="-122"/>
              </a:rPr>
              <a:t>Dec</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iti SC Medium" charset="-122"/>
              </a:rPr>
              <a:t> 17, 2025</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iti SC Medium" charset="-122"/>
            </a:endParaRPr>
          </a:p>
        </p:txBody>
      </p:sp>
      <p:sp>
        <p:nvSpPr>
          <p:cNvPr id="17" name="副标题 3074">
            <a:extLst>
              <a:ext uri="{FF2B5EF4-FFF2-40B4-BE49-F238E27FC236}">
                <a16:creationId xmlns:a16="http://schemas.microsoft.com/office/drawing/2014/main" id="{7ED359D8-6165-457C-A6B9-9EC554BCCA73}"/>
              </a:ext>
            </a:extLst>
          </p:cNvPr>
          <p:cNvSpPr txBox="1">
            <a:spLocks noChangeArrowheads="1"/>
          </p:cNvSpPr>
          <p:nvPr/>
        </p:nvSpPr>
        <p:spPr bwMode="auto">
          <a:xfrm>
            <a:off x="1789761" y="2967471"/>
            <a:ext cx="5714999" cy="533335"/>
          </a:xfrm>
          <a:prstGeom prst="rect">
            <a:avLst/>
          </a:prstGeom>
          <a:noFill/>
          <a:ln>
            <a:noFill/>
          </a:ln>
        </p:spPr>
        <p:txBody>
          <a:bodyPr/>
          <a:lstStyle>
            <a:lvl1pPr marL="171450" indent="-171450">
              <a:lnSpc>
                <a:spcPct val="120000"/>
              </a:lnSpc>
              <a:spcBef>
                <a:spcPts val="750"/>
              </a:spcBef>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1pPr>
            <a:lvl2pPr marL="514350" indent="-171450">
              <a:lnSpc>
                <a:spcPct val="120000"/>
              </a:lnSpc>
              <a:spcBef>
                <a:spcPts val="375"/>
              </a:spcBef>
              <a:buFont typeface="Arial" panose="020B0604020202020204" pitchFamily="34" charset="0"/>
              <a:buChar char="•"/>
              <a:defRPr sz="1500">
                <a:solidFill>
                  <a:schemeClr val="tx1"/>
                </a:solidFill>
                <a:latin typeface="Arial" panose="020B0604020202020204" pitchFamily="34" charset="0"/>
                <a:ea typeface="黑体" panose="02010609060101010101" pitchFamily="49" charset="-122"/>
              </a:defRPr>
            </a:lvl2pPr>
            <a:lvl3pPr marL="857250" indent="-171450">
              <a:lnSpc>
                <a:spcPct val="12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3pPr>
            <a:lvl4pPr marL="1200150" indent="-171450">
              <a:lnSpc>
                <a:spcPct val="12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4pPr>
            <a:lvl5pPr marL="1543050" indent="-171450">
              <a:lnSpc>
                <a:spcPct val="12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5pPr>
            <a:lvl6pPr marL="2000250" indent="-171450" eaLnBrk="0" fontAlgn="base" hangingPunct="0">
              <a:lnSpc>
                <a:spcPct val="12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6pPr>
            <a:lvl7pPr marL="2457450" indent="-171450" eaLnBrk="0" fontAlgn="base" hangingPunct="0">
              <a:lnSpc>
                <a:spcPct val="12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7pPr>
            <a:lvl8pPr marL="2914650" indent="-171450" eaLnBrk="0" fontAlgn="base" hangingPunct="0">
              <a:lnSpc>
                <a:spcPct val="12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8pPr>
            <a:lvl9pPr marL="3371850" indent="-171450" eaLnBrk="0" fontAlgn="base" hangingPunct="0">
              <a:lnSpc>
                <a:spcPct val="12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9pPr>
          </a:lstStyle>
          <a:p>
            <a:pPr marL="171450" marR="0" lvl="0" indent="-171450" algn="ctr" defTabSz="914400" rtl="0" eaLnBrk="1" fontAlgn="base" latinLnBrk="0" hangingPunct="1">
              <a:lnSpc>
                <a:spcPct val="120000"/>
              </a:lnSpc>
              <a:spcBef>
                <a:spcPts val="750"/>
              </a:spcBef>
              <a:spcAft>
                <a:spcPct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李盛鹏</a:t>
            </a:r>
            <a:endParaRPr kumimoji="0" lang="en-US" altLang="zh-CN" sz="20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3704460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38E29C-5329-4C24-9CFB-302A65E98B0D}"/>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57528BA1-6B4F-4EE5-974C-7CEE18397FE8}"/>
              </a:ext>
            </a:extLst>
          </p:cNvPr>
          <p:cNvSpPr>
            <a:spLocks noGrp="1"/>
          </p:cNvSpPr>
          <p:nvPr>
            <p:ph idx="1"/>
          </p:nvPr>
        </p:nvSpPr>
        <p:spPr/>
        <p:txBody>
          <a:bodyPr/>
          <a:lstStyle/>
          <a:p>
            <a:pPr>
              <a:lnSpc>
                <a:spcPct val="200000"/>
              </a:lnSpc>
            </a:pPr>
            <a:r>
              <a:rPr lang="en-US" altLang="zh-CN" sz="2000" b="1" dirty="0" err="1">
                <a:solidFill>
                  <a:srgbClr val="262626"/>
                </a:solidFill>
                <a:latin typeface="MiSans" pitchFamily="34" charset="0"/>
                <a:ea typeface="MiSans" pitchFamily="34" charset="-122"/>
                <a:cs typeface="MiSans" pitchFamily="34" charset="-120"/>
              </a:rPr>
              <a:t>模型核心架构</a:t>
            </a:r>
            <a:endParaRPr lang="en-US" altLang="zh-CN" dirty="0"/>
          </a:p>
          <a:p>
            <a:pPr>
              <a:lnSpc>
                <a:spcPct val="200000"/>
              </a:lnSpc>
            </a:pPr>
            <a:r>
              <a:rPr lang="en-US" altLang="zh-CN" sz="2000" b="1" dirty="0" err="1">
                <a:solidFill>
                  <a:srgbClr val="000000"/>
                </a:solidFill>
                <a:latin typeface="MiSans" pitchFamily="34" charset="0"/>
                <a:ea typeface="MiSans" pitchFamily="34" charset="-122"/>
                <a:cs typeface="MiSans" pitchFamily="34" charset="-120"/>
              </a:rPr>
              <a:t>复现性能评估</a:t>
            </a:r>
            <a:endParaRPr lang="en-US" altLang="zh-CN" dirty="0"/>
          </a:p>
          <a:p>
            <a:pPr>
              <a:lnSpc>
                <a:spcPct val="200000"/>
              </a:lnSpc>
            </a:pPr>
            <a:r>
              <a:rPr lang="en-US" altLang="zh-CN" sz="2000" b="1" dirty="0" err="1">
                <a:solidFill>
                  <a:srgbClr val="000000"/>
                </a:solidFill>
                <a:latin typeface="MiSans" pitchFamily="34" charset="0"/>
                <a:ea typeface="MiSans" pitchFamily="34" charset="-122"/>
                <a:cs typeface="MiSans" pitchFamily="34" charset="-120"/>
              </a:rPr>
              <a:t>优化尝试与分析</a:t>
            </a:r>
            <a:endParaRPr lang="en-US" altLang="zh-CN" dirty="0"/>
          </a:p>
          <a:p>
            <a:pPr>
              <a:lnSpc>
                <a:spcPct val="200000"/>
              </a:lnSpc>
            </a:pPr>
            <a:r>
              <a:rPr lang="en-US" altLang="zh-CN" sz="2000" b="1" dirty="0" err="1">
                <a:solidFill>
                  <a:srgbClr val="000000"/>
                </a:solidFill>
                <a:latin typeface="MiSans" pitchFamily="34" charset="0"/>
                <a:ea typeface="MiSans" pitchFamily="34" charset="-122"/>
                <a:cs typeface="MiSans" pitchFamily="34" charset="-120"/>
              </a:rPr>
              <a:t>总结与展望</a:t>
            </a:r>
            <a:endParaRPr lang="en-US" altLang="zh-CN" dirty="0"/>
          </a:p>
        </p:txBody>
      </p:sp>
    </p:spTree>
    <p:extLst>
      <p:ext uri="{BB962C8B-B14F-4D97-AF65-F5344CB8AC3E}">
        <p14:creationId xmlns:p14="http://schemas.microsoft.com/office/powerpoint/2010/main" val="225773275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D9FA42-28B1-44D8-974C-70151752C6F5}"/>
              </a:ext>
            </a:extLst>
          </p:cNvPr>
          <p:cNvSpPr>
            <a:spLocks noGrp="1"/>
          </p:cNvSpPr>
          <p:nvPr>
            <p:ph type="title"/>
          </p:nvPr>
        </p:nvSpPr>
        <p:spPr/>
        <p:txBody>
          <a:bodyPr/>
          <a:lstStyle/>
          <a:p>
            <a:r>
              <a:rPr lang="zh-CN" altLang="en-US" dirty="0">
                <a:solidFill>
                  <a:srgbClr val="262626"/>
                </a:solidFill>
                <a:latin typeface="MiSans" pitchFamily="34" charset="0"/>
                <a:ea typeface="MiSans" pitchFamily="34" charset="-122"/>
              </a:rPr>
              <a:t>项目简介</a:t>
            </a:r>
            <a:endParaRPr lang="zh-CN" altLang="en-US" dirty="0"/>
          </a:p>
        </p:txBody>
      </p:sp>
      <p:sp>
        <p:nvSpPr>
          <p:cNvPr id="12" name="Text 1">
            <a:extLst>
              <a:ext uri="{FF2B5EF4-FFF2-40B4-BE49-F238E27FC236}">
                <a16:creationId xmlns:a16="http://schemas.microsoft.com/office/drawing/2014/main" id="{8594F8FE-2B1D-6D18-F091-84CC01674979}"/>
              </a:ext>
            </a:extLst>
          </p:cNvPr>
          <p:cNvSpPr/>
          <p:nvPr/>
        </p:nvSpPr>
        <p:spPr>
          <a:xfrm>
            <a:off x="2301240" y="1993265"/>
            <a:ext cx="688975" cy="536575"/>
          </a:xfrm>
          <a:prstGeom prst="rect">
            <a:avLst/>
          </a:prstGeom>
          <a:noFill/>
          <a:ln/>
        </p:spPr>
        <p:txBody>
          <a:bodyPr wrap="square" lIns="0" tIns="0" rIns="0" bIns="0" rtlCol="0" anchor="t"/>
          <a:lstStyle/>
          <a:p>
            <a:pPr algn="ctr">
              <a:lnSpc>
                <a:spcPct val="100000"/>
              </a:lnSpc>
            </a:pPr>
            <a:r>
              <a:rPr lang="en-US" sz="3200" dirty="0">
                <a:solidFill>
                  <a:srgbClr val="FFFFFF"/>
                </a:solidFill>
                <a:latin typeface="MiSans" pitchFamily="34" charset="0"/>
                <a:ea typeface="MiSans" pitchFamily="34" charset="-122"/>
                <a:cs typeface="MiSans" pitchFamily="34" charset="-120"/>
              </a:rPr>
              <a:t>1</a:t>
            </a:r>
            <a:endParaRPr lang="en-US" sz="1600" dirty="0"/>
          </a:p>
        </p:txBody>
      </p:sp>
      <p:grpSp>
        <p:nvGrpSpPr>
          <p:cNvPr id="26" name="组合 25">
            <a:extLst>
              <a:ext uri="{FF2B5EF4-FFF2-40B4-BE49-F238E27FC236}">
                <a16:creationId xmlns:a16="http://schemas.microsoft.com/office/drawing/2014/main" id="{E9027D4B-4382-3E68-12B7-6580D21F5C99}"/>
              </a:ext>
            </a:extLst>
          </p:cNvPr>
          <p:cNvGrpSpPr/>
          <p:nvPr/>
        </p:nvGrpSpPr>
        <p:grpSpPr>
          <a:xfrm>
            <a:off x="5903640" y="3456496"/>
            <a:ext cx="2988706" cy="1206575"/>
            <a:chOff x="-1147363" y="-325654"/>
            <a:chExt cx="3831501" cy="1266294"/>
          </a:xfrm>
        </p:grpSpPr>
        <p:pic>
          <p:nvPicPr>
            <p:cNvPr id="27" name="Image 3">
              <a:extLst>
                <a:ext uri="{FF2B5EF4-FFF2-40B4-BE49-F238E27FC236}">
                  <a16:creationId xmlns:a16="http://schemas.microsoft.com/office/drawing/2014/main" id="{8EC8DA02-B43C-E916-492D-1B69BAB7362E}"/>
                </a:ext>
              </a:extLst>
            </p:cNvPr>
            <p:cNvPicPr>
              <a:picLocks noChangeAspect="1"/>
            </p:cNvPicPr>
            <p:nvPr/>
          </p:nvPicPr>
          <p:blipFill>
            <a:blip r:embed="rId2"/>
            <a:stretch>
              <a:fillRect/>
            </a:stretch>
          </p:blipFill>
          <p:spPr>
            <a:xfrm>
              <a:off x="-1147363" y="-325654"/>
              <a:ext cx="3831501" cy="1266294"/>
            </a:xfrm>
            <a:prstGeom prst="rect">
              <a:avLst/>
            </a:prstGeom>
          </p:spPr>
        </p:pic>
        <p:sp>
          <p:nvSpPr>
            <p:cNvPr id="29" name="Text 2">
              <a:extLst>
                <a:ext uri="{FF2B5EF4-FFF2-40B4-BE49-F238E27FC236}">
                  <a16:creationId xmlns:a16="http://schemas.microsoft.com/office/drawing/2014/main" id="{85AF3A73-58A1-05CA-1F4B-BFBE9AC0F7BB}"/>
                </a:ext>
              </a:extLst>
            </p:cNvPr>
            <p:cNvSpPr/>
            <p:nvPr/>
          </p:nvSpPr>
          <p:spPr>
            <a:xfrm>
              <a:off x="-1147363" y="-291016"/>
              <a:ext cx="3647045" cy="1131477"/>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1100" dirty="0" err="1">
                  <a:solidFill>
                    <a:srgbClr val="262626"/>
                  </a:solidFill>
                  <a:latin typeface="微软雅黑" panose="020B0503020204020204" pitchFamily="34" charset="-122"/>
                  <a:ea typeface="微软雅黑" panose="020B0503020204020204" pitchFamily="34" charset="-122"/>
                  <a:cs typeface="MiSans" pitchFamily="34" charset="-120"/>
                </a:rPr>
                <a:t>PaddleOCR</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-VL</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（基于 </a:t>
              </a:r>
              <a:r>
                <a:rPr lang="en-US" altLang="zh-CN" sz="1100" dirty="0" err="1">
                  <a:solidFill>
                    <a:srgbClr val="262626"/>
                  </a:solidFill>
                  <a:latin typeface="微软雅黑" panose="020B0503020204020204" pitchFamily="34" charset="-122"/>
                  <a:ea typeface="微软雅黑" panose="020B0503020204020204" pitchFamily="34" charset="-122"/>
                  <a:cs typeface="MiSans" pitchFamily="34" charset="-120"/>
                </a:rPr>
                <a:t>NaViT</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 + ERNIE </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的视觉语言模型）是一个对多模态文档中的文本、复杂表格、数学公式、图表进行统一结构化解析的模型。</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grpSp>
      <p:pic>
        <p:nvPicPr>
          <p:cNvPr id="4" name="图片 3" descr="图形用户界面&#10;&#10;AI 生成的内容可能不正确。">
            <a:extLst>
              <a:ext uri="{FF2B5EF4-FFF2-40B4-BE49-F238E27FC236}">
                <a16:creationId xmlns:a16="http://schemas.microsoft.com/office/drawing/2014/main" id="{10929B8C-CAA4-03FA-6541-C9C54160BF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12" y="3407754"/>
            <a:ext cx="5724128" cy="1686573"/>
          </a:xfrm>
          <a:prstGeom prst="rect">
            <a:avLst/>
          </a:prstGeom>
        </p:spPr>
      </p:pic>
      <p:pic>
        <p:nvPicPr>
          <p:cNvPr id="7" name="图片 6">
            <a:extLst>
              <a:ext uri="{FF2B5EF4-FFF2-40B4-BE49-F238E27FC236}">
                <a16:creationId xmlns:a16="http://schemas.microsoft.com/office/drawing/2014/main" id="{4536DEA6-A7B1-16C0-F13F-D7A7E47E0BA6}"/>
              </a:ext>
            </a:extLst>
          </p:cNvPr>
          <p:cNvPicPr>
            <a:picLocks noChangeAspect="1"/>
          </p:cNvPicPr>
          <p:nvPr/>
        </p:nvPicPr>
        <p:blipFill>
          <a:blip r:embed="rId4"/>
          <a:stretch>
            <a:fillRect/>
          </a:stretch>
        </p:blipFill>
        <p:spPr>
          <a:xfrm>
            <a:off x="193057" y="881705"/>
            <a:ext cx="4290098" cy="2338118"/>
          </a:xfrm>
          <a:prstGeom prst="rect">
            <a:avLst/>
          </a:prstGeom>
        </p:spPr>
      </p:pic>
      <p:pic>
        <p:nvPicPr>
          <p:cNvPr id="11" name="图片 10">
            <a:extLst>
              <a:ext uri="{FF2B5EF4-FFF2-40B4-BE49-F238E27FC236}">
                <a16:creationId xmlns:a16="http://schemas.microsoft.com/office/drawing/2014/main" id="{BC6799BB-63D4-92D9-3227-6F72016A0148}"/>
              </a:ext>
            </a:extLst>
          </p:cNvPr>
          <p:cNvPicPr>
            <a:picLocks noChangeAspect="1"/>
          </p:cNvPicPr>
          <p:nvPr/>
        </p:nvPicPr>
        <p:blipFill>
          <a:blip r:embed="rId5"/>
          <a:stretch>
            <a:fillRect/>
          </a:stretch>
        </p:blipFill>
        <p:spPr>
          <a:xfrm>
            <a:off x="4632487" y="900787"/>
            <a:ext cx="4219224" cy="2238693"/>
          </a:xfrm>
          <a:prstGeom prst="rect">
            <a:avLst/>
          </a:prstGeom>
        </p:spPr>
      </p:pic>
    </p:spTree>
    <p:extLst>
      <p:ext uri="{BB962C8B-B14F-4D97-AF65-F5344CB8AC3E}">
        <p14:creationId xmlns:p14="http://schemas.microsoft.com/office/powerpoint/2010/main" val="65869721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D9FA42-28B1-44D8-974C-70151752C6F5}"/>
              </a:ext>
            </a:extLst>
          </p:cNvPr>
          <p:cNvSpPr>
            <a:spLocks noGrp="1"/>
          </p:cNvSpPr>
          <p:nvPr>
            <p:ph type="title"/>
          </p:nvPr>
        </p:nvSpPr>
        <p:spPr/>
        <p:txBody>
          <a:bodyPr/>
          <a:lstStyle/>
          <a:p>
            <a:r>
              <a:rPr lang="en-US" altLang="zh-CN" sz="2400" b="1" dirty="0" err="1">
                <a:solidFill>
                  <a:srgbClr val="262626"/>
                </a:solidFill>
                <a:latin typeface="MiSans" pitchFamily="34" charset="0"/>
                <a:ea typeface="MiSans" pitchFamily="34" charset="-122"/>
                <a:cs typeface="MiSans" pitchFamily="34" charset="-120"/>
              </a:rPr>
              <a:t>模型核心架构</a:t>
            </a:r>
            <a:endParaRPr lang="zh-CN" altLang="en-US" dirty="0"/>
          </a:p>
        </p:txBody>
      </p:sp>
      <p:pic>
        <p:nvPicPr>
          <p:cNvPr id="5" name="图片 4">
            <a:extLst>
              <a:ext uri="{FF2B5EF4-FFF2-40B4-BE49-F238E27FC236}">
                <a16:creationId xmlns:a16="http://schemas.microsoft.com/office/drawing/2014/main" id="{A9EEA3EC-605D-786B-20BD-31195EC74080}"/>
              </a:ext>
            </a:extLst>
          </p:cNvPr>
          <p:cNvPicPr>
            <a:picLocks noChangeAspect="1"/>
          </p:cNvPicPr>
          <p:nvPr/>
        </p:nvPicPr>
        <p:blipFill>
          <a:blip r:embed="rId2"/>
          <a:stretch>
            <a:fillRect/>
          </a:stretch>
        </p:blipFill>
        <p:spPr>
          <a:xfrm>
            <a:off x="1835696" y="916219"/>
            <a:ext cx="7220192" cy="3461626"/>
          </a:xfrm>
          <a:prstGeom prst="rect">
            <a:avLst/>
          </a:prstGeom>
        </p:spPr>
      </p:pic>
      <p:sp>
        <p:nvSpPr>
          <p:cNvPr id="12" name="Text 1">
            <a:extLst>
              <a:ext uri="{FF2B5EF4-FFF2-40B4-BE49-F238E27FC236}">
                <a16:creationId xmlns:a16="http://schemas.microsoft.com/office/drawing/2014/main" id="{8594F8FE-2B1D-6D18-F091-84CC01674979}"/>
              </a:ext>
            </a:extLst>
          </p:cNvPr>
          <p:cNvSpPr/>
          <p:nvPr/>
        </p:nvSpPr>
        <p:spPr>
          <a:xfrm>
            <a:off x="2301240" y="1993265"/>
            <a:ext cx="688975" cy="536575"/>
          </a:xfrm>
          <a:prstGeom prst="rect">
            <a:avLst/>
          </a:prstGeom>
          <a:noFill/>
          <a:ln/>
        </p:spPr>
        <p:txBody>
          <a:bodyPr wrap="square" lIns="0" tIns="0" rIns="0" bIns="0" rtlCol="0" anchor="t"/>
          <a:lstStyle/>
          <a:p>
            <a:pPr algn="ctr">
              <a:lnSpc>
                <a:spcPct val="100000"/>
              </a:lnSpc>
            </a:pPr>
            <a:r>
              <a:rPr lang="en-US" sz="3200" dirty="0">
                <a:solidFill>
                  <a:srgbClr val="FFFFFF"/>
                </a:solidFill>
                <a:latin typeface="MiSans" pitchFamily="34" charset="0"/>
                <a:ea typeface="MiSans" pitchFamily="34" charset="-122"/>
                <a:cs typeface="MiSans" pitchFamily="34" charset="-120"/>
              </a:rPr>
              <a:t>1</a:t>
            </a:r>
            <a:endParaRPr lang="en-US" sz="1600" dirty="0"/>
          </a:p>
        </p:txBody>
      </p:sp>
      <p:grpSp>
        <p:nvGrpSpPr>
          <p:cNvPr id="24" name="组合 23">
            <a:extLst>
              <a:ext uri="{FF2B5EF4-FFF2-40B4-BE49-F238E27FC236}">
                <a16:creationId xmlns:a16="http://schemas.microsoft.com/office/drawing/2014/main" id="{87065C4E-CA5B-4F16-A5FA-255E38901519}"/>
              </a:ext>
            </a:extLst>
          </p:cNvPr>
          <p:cNvGrpSpPr/>
          <p:nvPr/>
        </p:nvGrpSpPr>
        <p:grpSpPr>
          <a:xfrm>
            <a:off x="16018" y="995462"/>
            <a:ext cx="2820775" cy="1035104"/>
            <a:chOff x="-1165433" y="-771363"/>
            <a:chExt cx="3616216" cy="1086335"/>
          </a:xfrm>
        </p:grpSpPr>
        <p:pic>
          <p:nvPicPr>
            <p:cNvPr id="21" name="Image 3">
              <a:extLst>
                <a:ext uri="{FF2B5EF4-FFF2-40B4-BE49-F238E27FC236}">
                  <a16:creationId xmlns:a16="http://schemas.microsoft.com/office/drawing/2014/main" id="{A69F004E-2764-1BBA-32B1-555D57E56F24}"/>
                </a:ext>
              </a:extLst>
            </p:cNvPr>
            <p:cNvPicPr>
              <a:picLocks noChangeAspect="1"/>
            </p:cNvPicPr>
            <p:nvPr/>
          </p:nvPicPr>
          <p:blipFill>
            <a:blip r:embed="rId3"/>
            <a:stretch>
              <a:fillRect/>
            </a:stretch>
          </p:blipFill>
          <p:spPr>
            <a:xfrm>
              <a:off x="-1085493" y="-422898"/>
              <a:ext cx="2252876" cy="737870"/>
            </a:xfrm>
            <a:prstGeom prst="rect">
              <a:avLst/>
            </a:prstGeom>
          </p:spPr>
        </p:pic>
        <p:sp>
          <p:nvSpPr>
            <p:cNvPr id="22" name="Text 1">
              <a:extLst>
                <a:ext uri="{FF2B5EF4-FFF2-40B4-BE49-F238E27FC236}">
                  <a16:creationId xmlns:a16="http://schemas.microsoft.com/office/drawing/2014/main" id="{6669EFB3-2FA2-5C8D-380E-0BFC06E598A1}"/>
                </a:ext>
              </a:extLst>
            </p:cNvPr>
            <p:cNvSpPr/>
            <p:nvPr/>
          </p:nvSpPr>
          <p:spPr>
            <a:xfrm>
              <a:off x="-771207" y="-771363"/>
              <a:ext cx="3221990" cy="29070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200" b="1" dirty="0" err="1">
                  <a:solidFill>
                    <a:srgbClr val="015DBB"/>
                  </a:solidFill>
                  <a:latin typeface="MiSans" pitchFamily="34" charset="0"/>
                  <a:ea typeface="MiSans" pitchFamily="34" charset="-122"/>
                  <a:cs typeface="MiSans" pitchFamily="34" charset="-120"/>
                </a:rPr>
                <a:t>两阶段架构</a:t>
              </a:r>
              <a:endParaRPr lang="en-US" altLang="zh-CN" sz="1200" b="1" dirty="0">
                <a:solidFill>
                  <a:srgbClr val="015DBB"/>
                </a:solidFill>
                <a:latin typeface="MiSans" pitchFamily="34" charset="0"/>
                <a:ea typeface="MiSans" pitchFamily="34" charset="-122"/>
                <a:cs typeface="MiSans" pitchFamily="34" charset="-120"/>
              </a:endParaRPr>
            </a:p>
          </p:txBody>
        </p:sp>
        <p:sp>
          <p:nvSpPr>
            <p:cNvPr id="23" name="Text 2">
              <a:extLst>
                <a:ext uri="{FF2B5EF4-FFF2-40B4-BE49-F238E27FC236}">
                  <a16:creationId xmlns:a16="http://schemas.microsoft.com/office/drawing/2014/main" id="{F6BC021B-4DA5-0191-EF0B-1BFFF45BA934}"/>
                </a:ext>
              </a:extLst>
            </p:cNvPr>
            <p:cNvSpPr/>
            <p:nvPr/>
          </p:nvSpPr>
          <p:spPr>
            <a:xfrm>
              <a:off x="-1165433" y="-388365"/>
              <a:ext cx="2425130" cy="634041"/>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PP-DocLayoutV2布局分析</a:t>
              </a:r>
            </a:p>
            <a:p>
              <a:pPr algn="just">
                <a:lnSpc>
                  <a:spcPct val="150000"/>
                </a:lnSpc>
              </a:pP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PaddleOCR-VL-0.9B</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识别</a:t>
              </a:r>
              <a:endParaRPr lang="en-US" altLang="zh-CN" sz="1100" dirty="0">
                <a:latin typeface="微软雅黑" panose="020B0503020204020204" pitchFamily="34" charset="-122"/>
                <a:ea typeface="微软雅黑" panose="020B0503020204020204" pitchFamily="34" charset="-122"/>
              </a:endParaRPr>
            </a:p>
          </p:txBody>
        </p:sp>
      </p:grpSp>
      <p:grpSp>
        <p:nvGrpSpPr>
          <p:cNvPr id="26" name="组合 25">
            <a:extLst>
              <a:ext uri="{FF2B5EF4-FFF2-40B4-BE49-F238E27FC236}">
                <a16:creationId xmlns:a16="http://schemas.microsoft.com/office/drawing/2014/main" id="{E9027D4B-4382-3E68-12B7-6580D21F5C99}"/>
              </a:ext>
            </a:extLst>
          </p:cNvPr>
          <p:cNvGrpSpPr/>
          <p:nvPr/>
        </p:nvGrpSpPr>
        <p:grpSpPr>
          <a:xfrm>
            <a:off x="31818" y="2182041"/>
            <a:ext cx="1875885" cy="1035104"/>
            <a:chOff x="-1165434" y="-771363"/>
            <a:chExt cx="2404872" cy="1086335"/>
          </a:xfrm>
        </p:grpSpPr>
        <p:pic>
          <p:nvPicPr>
            <p:cNvPr id="27" name="Image 3">
              <a:extLst>
                <a:ext uri="{FF2B5EF4-FFF2-40B4-BE49-F238E27FC236}">
                  <a16:creationId xmlns:a16="http://schemas.microsoft.com/office/drawing/2014/main" id="{8EC8DA02-B43C-E916-492D-1B69BAB7362E}"/>
                </a:ext>
              </a:extLst>
            </p:cNvPr>
            <p:cNvPicPr>
              <a:picLocks noChangeAspect="1"/>
            </p:cNvPicPr>
            <p:nvPr/>
          </p:nvPicPr>
          <p:blipFill>
            <a:blip r:embed="rId3"/>
            <a:stretch>
              <a:fillRect/>
            </a:stretch>
          </p:blipFill>
          <p:spPr>
            <a:xfrm>
              <a:off x="-1085493" y="-422898"/>
              <a:ext cx="2232618" cy="737870"/>
            </a:xfrm>
            <a:prstGeom prst="rect">
              <a:avLst/>
            </a:prstGeom>
          </p:spPr>
        </p:pic>
        <p:sp>
          <p:nvSpPr>
            <p:cNvPr id="28" name="Text 1">
              <a:extLst>
                <a:ext uri="{FF2B5EF4-FFF2-40B4-BE49-F238E27FC236}">
                  <a16:creationId xmlns:a16="http://schemas.microsoft.com/office/drawing/2014/main" id="{EB2F711B-7E64-DEE2-AF79-8F1BB9813A6F}"/>
                </a:ext>
              </a:extLst>
            </p:cNvPr>
            <p:cNvSpPr/>
            <p:nvPr/>
          </p:nvSpPr>
          <p:spPr>
            <a:xfrm>
              <a:off x="-874785" y="-771363"/>
              <a:ext cx="1468027" cy="755842"/>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200" b="1" dirty="0" err="1">
                  <a:solidFill>
                    <a:srgbClr val="015DBB"/>
                  </a:solidFill>
                  <a:latin typeface="MiSans" pitchFamily="34" charset="0"/>
                  <a:ea typeface="MiSans" pitchFamily="34" charset="-122"/>
                  <a:cs typeface="MiSans" pitchFamily="34" charset="-120"/>
                </a:rPr>
                <a:t>视觉编码创新</a:t>
              </a:r>
              <a:endParaRPr lang="en-US" altLang="zh-CN" sz="1200" b="1" dirty="0">
                <a:solidFill>
                  <a:srgbClr val="015DBB"/>
                </a:solidFill>
                <a:latin typeface="MiSans" pitchFamily="34" charset="0"/>
                <a:ea typeface="MiSans" pitchFamily="34" charset="-122"/>
                <a:cs typeface="MiSans" pitchFamily="34" charset="-120"/>
              </a:endParaRPr>
            </a:p>
            <a:p>
              <a:pPr algn="just"/>
              <a:endParaRPr lang="en-US" altLang="zh-CN" sz="1200" b="1" dirty="0">
                <a:solidFill>
                  <a:srgbClr val="015DBB"/>
                </a:solidFill>
                <a:latin typeface="MiSans" pitchFamily="34" charset="0"/>
                <a:ea typeface="MiSans" pitchFamily="34" charset="-122"/>
                <a:cs typeface="MiSans" pitchFamily="34" charset="-120"/>
              </a:endParaRPr>
            </a:p>
            <a:p>
              <a:pPr algn="just"/>
              <a:endParaRPr lang="en-US" altLang="zh-CN" sz="1200" b="1" dirty="0">
                <a:solidFill>
                  <a:srgbClr val="015DBB"/>
                </a:solidFill>
                <a:latin typeface="MiSans" pitchFamily="34" charset="0"/>
                <a:ea typeface="MiSans" pitchFamily="34" charset="-122"/>
                <a:cs typeface="MiSans" pitchFamily="34" charset="-120"/>
              </a:endParaRPr>
            </a:p>
          </p:txBody>
        </p:sp>
        <p:sp>
          <p:nvSpPr>
            <p:cNvPr id="29" name="Text 2">
              <a:extLst>
                <a:ext uri="{FF2B5EF4-FFF2-40B4-BE49-F238E27FC236}">
                  <a16:creationId xmlns:a16="http://schemas.microsoft.com/office/drawing/2014/main" id="{85AF3A73-58A1-05CA-1F4B-BFBE9AC0F7BB}"/>
                </a:ext>
              </a:extLst>
            </p:cNvPr>
            <p:cNvSpPr/>
            <p:nvPr/>
          </p:nvSpPr>
          <p:spPr>
            <a:xfrm>
              <a:off x="-1165434" y="-388365"/>
              <a:ext cx="2404872" cy="598510"/>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1100" dirty="0" err="1">
                  <a:solidFill>
                    <a:srgbClr val="262626"/>
                  </a:solidFill>
                  <a:latin typeface="微软雅黑" panose="020B0503020204020204" pitchFamily="34" charset="-122"/>
                  <a:ea typeface="微软雅黑" panose="020B0503020204020204" pitchFamily="34" charset="-122"/>
                  <a:cs typeface="MiSans" pitchFamily="34" charset="-120"/>
                </a:rPr>
                <a:t>NaViT</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 </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动态分辨率 </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支持任意长宽比，减少</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Padding)</a:t>
              </a:r>
            </a:p>
          </p:txBody>
        </p:sp>
      </p:grpSp>
      <p:grpSp>
        <p:nvGrpSpPr>
          <p:cNvPr id="30" name="组合 29">
            <a:extLst>
              <a:ext uri="{FF2B5EF4-FFF2-40B4-BE49-F238E27FC236}">
                <a16:creationId xmlns:a16="http://schemas.microsoft.com/office/drawing/2014/main" id="{CCA5BE7C-1BA0-4D87-C9CC-52833FB541B9}"/>
              </a:ext>
            </a:extLst>
          </p:cNvPr>
          <p:cNvGrpSpPr/>
          <p:nvPr/>
        </p:nvGrpSpPr>
        <p:grpSpPr>
          <a:xfrm>
            <a:off x="16104" y="3336846"/>
            <a:ext cx="1819592" cy="1035104"/>
            <a:chOff x="-1165433" y="-771363"/>
            <a:chExt cx="2332705" cy="1086335"/>
          </a:xfrm>
        </p:grpSpPr>
        <p:pic>
          <p:nvPicPr>
            <p:cNvPr id="31" name="Image 3">
              <a:extLst>
                <a:ext uri="{FF2B5EF4-FFF2-40B4-BE49-F238E27FC236}">
                  <a16:creationId xmlns:a16="http://schemas.microsoft.com/office/drawing/2014/main" id="{7AC89315-E377-3ED1-AC25-F6AC7FA78411}"/>
                </a:ext>
              </a:extLst>
            </p:cNvPr>
            <p:cNvPicPr>
              <a:picLocks noChangeAspect="1"/>
            </p:cNvPicPr>
            <p:nvPr/>
          </p:nvPicPr>
          <p:blipFill>
            <a:blip r:embed="rId3"/>
            <a:stretch>
              <a:fillRect/>
            </a:stretch>
          </p:blipFill>
          <p:spPr>
            <a:xfrm>
              <a:off x="-1085493" y="-422898"/>
              <a:ext cx="2252765" cy="737870"/>
            </a:xfrm>
            <a:prstGeom prst="rect">
              <a:avLst/>
            </a:prstGeom>
          </p:spPr>
        </p:pic>
        <p:sp>
          <p:nvSpPr>
            <p:cNvPr id="32" name="Text 1">
              <a:extLst>
                <a:ext uri="{FF2B5EF4-FFF2-40B4-BE49-F238E27FC236}">
                  <a16:creationId xmlns:a16="http://schemas.microsoft.com/office/drawing/2014/main" id="{FFE120AD-6378-5079-6392-F75FBDEFD19E}"/>
                </a:ext>
              </a:extLst>
            </p:cNvPr>
            <p:cNvSpPr/>
            <p:nvPr/>
          </p:nvSpPr>
          <p:spPr>
            <a:xfrm>
              <a:off x="-874785" y="-771363"/>
              <a:ext cx="1672801" cy="29070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altLang="zh-CN" sz="1200" b="1" dirty="0" err="1">
                  <a:solidFill>
                    <a:srgbClr val="015DBB"/>
                  </a:solidFill>
                  <a:latin typeface="MiSans" pitchFamily="34" charset="0"/>
                  <a:ea typeface="MiSans" pitchFamily="34" charset="-122"/>
                  <a:cs typeface="MiSans" pitchFamily="34" charset="-120"/>
                </a:rPr>
                <a:t>轻量级语言模型</a:t>
              </a:r>
              <a:endParaRPr lang="en-US" altLang="zh-CN" sz="1200" b="1" dirty="0">
                <a:solidFill>
                  <a:srgbClr val="015DBB"/>
                </a:solidFill>
                <a:latin typeface="MiSans" pitchFamily="34" charset="0"/>
                <a:ea typeface="MiSans" pitchFamily="34" charset="-122"/>
                <a:cs typeface="MiSans" pitchFamily="34" charset="-120"/>
              </a:endParaRPr>
            </a:p>
          </p:txBody>
        </p:sp>
        <p:sp>
          <p:nvSpPr>
            <p:cNvPr id="33" name="Text 2">
              <a:extLst>
                <a:ext uri="{FF2B5EF4-FFF2-40B4-BE49-F238E27FC236}">
                  <a16:creationId xmlns:a16="http://schemas.microsoft.com/office/drawing/2014/main" id="{4DB7A58B-9D40-BC16-90A7-BC2FB3D80A18}"/>
                </a:ext>
              </a:extLst>
            </p:cNvPr>
            <p:cNvSpPr/>
            <p:nvPr/>
          </p:nvSpPr>
          <p:spPr>
            <a:xfrm>
              <a:off x="-1165433" y="-388365"/>
              <a:ext cx="2240391" cy="599452"/>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ERNIE-4.5-0.3B(</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轻量化，适合端侧</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a:t>
              </a:r>
            </a:p>
          </p:txBody>
        </p:sp>
      </p:grpSp>
    </p:spTree>
    <p:extLst>
      <p:ext uri="{BB962C8B-B14F-4D97-AF65-F5344CB8AC3E}">
        <p14:creationId xmlns:p14="http://schemas.microsoft.com/office/powerpoint/2010/main" val="414616078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0">
            <a:extLst>
              <a:ext uri="{FF2B5EF4-FFF2-40B4-BE49-F238E27FC236}">
                <a16:creationId xmlns:a16="http://schemas.microsoft.com/office/drawing/2014/main" id="{D1FC0804-024D-705A-FBCD-DFC1A00C3FD0}"/>
              </a:ext>
            </a:extLst>
          </p:cNvPr>
          <p:cNvPicPr>
            <a:picLocks noChangeAspect="1"/>
          </p:cNvPicPr>
          <p:nvPr/>
        </p:nvPicPr>
        <p:blipFill>
          <a:blip r:embed="rId2"/>
          <a:stretch>
            <a:fillRect/>
          </a:stretch>
        </p:blipFill>
        <p:spPr>
          <a:xfrm>
            <a:off x="4644008" y="771550"/>
            <a:ext cx="4176465" cy="4104456"/>
          </a:xfrm>
          <a:prstGeom prst="rect">
            <a:avLst/>
          </a:prstGeom>
        </p:spPr>
      </p:pic>
      <p:sp>
        <p:nvSpPr>
          <p:cNvPr id="2" name="标题 1">
            <a:extLst>
              <a:ext uri="{FF2B5EF4-FFF2-40B4-BE49-F238E27FC236}">
                <a16:creationId xmlns:a16="http://schemas.microsoft.com/office/drawing/2014/main" id="{01BCF888-7A1A-41B9-83DD-691819A80EEF}"/>
              </a:ext>
            </a:extLst>
          </p:cNvPr>
          <p:cNvSpPr>
            <a:spLocks noGrp="1"/>
          </p:cNvSpPr>
          <p:nvPr>
            <p:ph type="title"/>
          </p:nvPr>
        </p:nvSpPr>
        <p:spPr/>
        <p:txBody>
          <a:bodyPr/>
          <a:lstStyle/>
          <a:p>
            <a:r>
              <a:rPr lang="zh-CN" altLang="en-US" b="1" i="0" dirty="0">
                <a:solidFill>
                  <a:srgbClr val="1A1C1E"/>
                </a:solidFill>
                <a:effectLst/>
                <a:latin typeface="Inter"/>
              </a:rPr>
              <a:t>复现性能评估</a:t>
            </a:r>
            <a:endParaRPr lang="zh-CN" altLang="en-US" dirty="0"/>
          </a:p>
        </p:txBody>
      </p:sp>
      <p:pic>
        <p:nvPicPr>
          <p:cNvPr id="7" name="图片 6">
            <a:extLst>
              <a:ext uri="{FF2B5EF4-FFF2-40B4-BE49-F238E27FC236}">
                <a16:creationId xmlns:a16="http://schemas.microsoft.com/office/drawing/2014/main" id="{0D57099E-F2A0-201D-5E7C-D3222DE35950}"/>
              </a:ext>
            </a:extLst>
          </p:cNvPr>
          <p:cNvPicPr>
            <a:picLocks noChangeAspect="1"/>
          </p:cNvPicPr>
          <p:nvPr/>
        </p:nvPicPr>
        <p:blipFill>
          <a:blip r:embed="rId3"/>
          <a:stretch>
            <a:fillRect/>
          </a:stretch>
        </p:blipFill>
        <p:spPr>
          <a:xfrm>
            <a:off x="532666" y="2148202"/>
            <a:ext cx="3744416" cy="1532847"/>
          </a:xfrm>
          <a:prstGeom prst="rect">
            <a:avLst/>
          </a:prstGeom>
        </p:spPr>
      </p:pic>
      <p:pic>
        <p:nvPicPr>
          <p:cNvPr id="9" name="图片 8">
            <a:extLst>
              <a:ext uri="{FF2B5EF4-FFF2-40B4-BE49-F238E27FC236}">
                <a16:creationId xmlns:a16="http://schemas.microsoft.com/office/drawing/2014/main" id="{A840FCFC-D504-73CB-D49E-7C0912365FAD}"/>
              </a:ext>
            </a:extLst>
          </p:cNvPr>
          <p:cNvPicPr>
            <a:picLocks noChangeAspect="1"/>
          </p:cNvPicPr>
          <p:nvPr/>
        </p:nvPicPr>
        <p:blipFill>
          <a:blip r:embed="rId4"/>
          <a:stretch>
            <a:fillRect/>
          </a:stretch>
        </p:blipFill>
        <p:spPr>
          <a:xfrm>
            <a:off x="633224" y="771550"/>
            <a:ext cx="3543300" cy="1457325"/>
          </a:xfrm>
          <a:prstGeom prst="rect">
            <a:avLst/>
          </a:prstGeom>
        </p:spPr>
      </p:pic>
      <p:pic>
        <p:nvPicPr>
          <p:cNvPr id="11" name="图片 10">
            <a:extLst>
              <a:ext uri="{FF2B5EF4-FFF2-40B4-BE49-F238E27FC236}">
                <a16:creationId xmlns:a16="http://schemas.microsoft.com/office/drawing/2014/main" id="{D0919E45-FC89-6DE6-115C-7D043DC9AE66}"/>
              </a:ext>
            </a:extLst>
          </p:cNvPr>
          <p:cNvPicPr>
            <a:picLocks noChangeAspect="1"/>
          </p:cNvPicPr>
          <p:nvPr/>
        </p:nvPicPr>
        <p:blipFill>
          <a:blip r:embed="rId5"/>
          <a:stretch>
            <a:fillRect/>
          </a:stretch>
        </p:blipFill>
        <p:spPr>
          <a:xfrm>
            <a:off x="611560" y="3624367"/>
            <a:ext cx="3722656" cy="1452337"/>
          </a:xfrm>
          <a:prstGeom prst="rect">
            <a:avLst/>
          </a:prstGeom>
        </p:spPr>
      </p:pic>
      <p:grpSp>
        <p:nvGrpSpPr>
          <p:cNvPr id="12" name="组合 11">
            <a:extLst>
              <a:ext uri="{FF2B5EF4-FFF2-40B4-BE49-F238E27FC236}">
                <a16:creationId xmlns:a16="http://schemas.microsoft.com/office/drawing/2014/main" id="{C061FF7F-2F32-D2E6-50C7-9D003FB6509F}"/>
              </a:ext>
            </a:extLst>
          </p:cNvPr>
          <p:cNvGrpSpPr/>
          <p:nvPr/>
        </p:nvGrpSpPr>
        <p:grpSpPr>
          <a:xfrm>
            <a:off x="4788024" y="942842"/>
            <a:ext cx="3888432" cy="847283"/>
            <a:chOff x="-1165433" y="-679074"/>
            <a:chExt cx="4984945" cy="889219"/>
          </a:xfrm>
        </p:grpSpPr>
        <p:sp>
          <p:nvSpPr>
            <p:cNvPr id="14" name="Text 1">
              <a:extLst>
                <a:ext uri="{FF2B5EF4-FFF2-40B4-BE49-F238E27FC236}">
                  <a16:creationId xmlns:a16="http://schemas.microsoft.com/office/drawing/2014/main" id="{FB71AD25-0F8A-B941-2FAC-9C7B4483ACB4}"/>
                </a:ext>
              </a:extLst>
            </p:cNvPr>
            <p:cNvSpPr/>
            <p:nvPr/>
          </p:nvSpPr>
          <p:spPr>
            <a:xfrm>
              <a:off x="-1165433" y="-679074"/>
              <a:ext cx="3221990" cy="29070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200" b="1" dirty="0" err="1">
                  <a:solidFill>
                    <a:srgbClr val="015DBB"/>
                  </a:solidFill>
                  <a:latin typeface="等线" panose="02010600030101010101" pitchFamily="2" charset="-122"/>
                  <a:ea typeface="等线" panose="02010600030101010101" pitchFamily="2" charset="-122"/>
                  <a:cs typeface="MiSans" pitchFamily="34" charset="-120"/>
                </a:rPr>
                <a:t>OmniDocBench</a:t>
              </a:r>
              <a:r>
                <a:rPr lang="en-US" altLang="zh-CN" sz="1200" b="1" dirty="0">
                  <a:solidFill>
                    <a:srgbClr val="015DBB"/>
                  </a:solidFill>
                  <a:latin typeface="等线" panose="02010600030101010101" pitchFamily="2" charset="-122"/>
                  <a:ea typeface="等线" panose="02010600030101010101" pitchFamily="2" charset="-122"/>
                  <a:cs typeface="MiSans" pitchFamily="34" charset="-120"/>
                </a:rPr>
                <a:t> 1.5 </a:t>
              </a:r>
              <a:r>
                <a:rPr lang="zh-CN" altLang="en-US" sz="1200" b="1" dirty="0">
                  <a:solidFill>
                    <a:srgbClr val="015DBB"/>
                  </a:solidFill>
                  <a:latin typeface="等线" panose="02010600030101010101" pitchFamily="2" charset="-122"/>
                  <a:ea typeface="等线" panose="02010600030101010101" pitchFamily="2" charset="-122"/>
                  <a:cs typeface="MiSans" pitchFamily="34" charset="-120"/>
                </a:rPr>
                <a:t>测试集</a:t>
              </a:r>
              <a:endParaRPr lang="en-US" altLang="zh-CN" sz="1200" b="1" dirty="0">
                <a:solidFill>
                  <a:srgbClr val="015DBB"/>
                </a:solidFill>
                <a:latin typeface="等线" panose="02010600030101010101" pitchFamily="2" charset="-122"/>
                <a:ea typeface="等线" panose="02010600030101010101" pitchFamily="2" charset="-122"/>
                <a:cs typeface="MiSans" pitchFamily="34" charset="-120"/>
              </a:endParaRPr>
            </a:p>
          </p:txBody>
        </p:sp>
        <p:sp>
          <p:nvSpPr>
            <p:cNvPr id="15" name="Text 2">
              <a:extLst>
                <a:ext uri="{FF2B5EF4-FFF2-40B4-BE49-F238E27FC236}">
                  <a16:creationId xmlns:a16="http://schemas.microsoft.com/office/drawing/2014/main" id="{21BA5C86-1F04-677A-0FF2-1014A00705E8}"/>
                </a:ext>
              </a:extLst>
            </p:cNvPr>
            <p:cNvSpPr/>
            <p:nvPr/>
          </p:nvSpPr>
          <p:spPr>
            <a:xfrm>
              <a:off x="-1165433" y="-388365"/>
              <a:ext cx="4984945" cy="598510"/>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差异主要源于硬件平台的计算精度限制和随机初始化引入的微小波动，证实了复现过程的准确性和模型性能的稳定性</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grpSp>
      <p:grpSp>
        <p:nvGrpSpPr>
          <p:cNvPr id="18" name="组合 17">
            <a:extLst>
              <a:ext uri="{FF2B5EF4-FFF2-40B4-BE49-F238E27FC236}">
                <a16:creationId xmlns:a16="http://schemas.microsoft.com/office/drawing/2014/main" id="{35476E13-49EC-6868-CF96-FFFE9766068B}"/>
              </a:ext>
            </a:extLst>
          </p:cNvPr>
          <p:cNvGrpSpPr/>
          <p:nvPr/>
        </p:nvGrpSpPr>
        <p:grpSpPr>
          <a:xfrm>
            <a:off x="4788024" y="2228523"/>
            <a:ext cx="3672408" cy="847283"/>
            <a:chOff x="-1165433" y="-679074"/>
            <a:chExt cx="4708004" cy="889219"/>
          </a:xfrm>
        </p:grpSpPr>
        <p:sp>
          <p:nvSpPr>
            <p:cNvPr id="19" name="Text 1">
              <a:extLst>
                <a:ext uri="{FF2B5EF4-FFF2-40B4-BE49-F238E27FC236}">
                  <a16:creationId xmlns:a16="http://schemas.microsoft.com/office/drawing/2014/main" id="{02408618-D118-CE5B-3C58-479CC8A95A58}"/>
                </a:ext>
              </a:extLst>
            </p:cNvPr>
            <p:cNvSpPr/>
            <p:nvPr/>
          </p:nvSpPr>
          <p:spPr>
            <a:xfrm>
              <a:off x="-1165433" y="-679074"/>
              <a:ext cx="3221990" cy="29070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200" b="1" dirty="0">
                  <a:solidFill>
                    <a:srgbClr val="015DBB"/>
                  </a:solidFill>
                  <a:latin typeface="等线" panose="02010600030101010101" pitchFamily="2" charset="-122"/>
                  <a:ea typeface="等线" panose="02010600030101010101" pitchFamily="2" charset="-122"/>
                  <a:cs typeface="MiSans" pitchFamily="34" charset="-120"/>
                </a:rPr>
                <a:t>场景适应性差异</a:t>
              </a:r>
              <a:endParaRPr lang="en-US" altLang="zh-CN" sz="1200" b="1" dirty="0">
                <a:solidFill>
                  <a:srgbClr val="015DBB"/>
                </a:solidFill>
                <a:latin typeface="等线" panose="02010600030101010101" pitchFamily="2" charset="-122"/>
                <a:ea typeface="等线" panose="02010600030101010101" pitchFamily="2" charset="-122"/>
                <a:cs typeface="MiSans" pitchFamily="34" charset="-120"/>
              </a:endParaRPr>
            </a:p>
          </p:txBody>
        </p:sp>
        <p:sp>
          <p:nvSpPr>
            <p:cNvPr id="20" name="Text 2">
              <a:extLst>
                <a:ext uri="{FF2B5EF4-FFF2-40B4-BE49-F238E27FC236}">
                  <a16:creationId xmlns:a16="http://schemas.microsoft.com/office/drawing/2014/main" id="{637D140F-9C1D-CD1C-DB8D-7DB0F63F51CC}"/>
                </a:ext>
              </a:extLst>
            </p:cNvPr>
            <p:cNvSpPr/>
            <p:nvPr/>
          </p:nvSpPr>
          <p:spPr>
            <a:xfrm>
              <a:off x="-1165433" y="-388365"/>
              <a:ext cx="4708004" cy="598510"/>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模型对现代规范文档的处理能力更强</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而对历史档案等特殊文档仍有优化空间</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grpSp>
      <p:grpSp>
        <p:nvGrpSpPr>
          <p:cNvPr id="21" name="组合 20">
            <a:extLst>
              <a:ext uri="{FF2B5EF4-FFF2-40B4-BE49-F238E27FC236}">
                <a16:creationId xmlns:a16="http://schemas.microsoft.com/office/drawing/2014/main" id="{BB6126E7-77D1-71A6-492B-66F72D884243}"/>
              </a:ext>
            </a:extLst>
          </p:cNvPr>
          <p:cNvGrpSpPr/>
          <p:nvPr/>
        </p:nvGrpSpPr>
        <p:grpSpPr>
          <a:xfrm>
            <a:off x="4788024" y="3668683"/>
            <a:ext cx="3672408" cy="847283"/>
            <a:chOff x="-1165433" y="-679074"/>
            <a:chExt cx="4708004" cy="889219"/>
          </a:xfrm>
        </p:grpSpPr>
        <p:sp>
          <p:nvSpPr>
            <p:cNvPr id="22" name="Text 1">
              <a:extLst>
                <a:ext uri="{FF2B5EF4-FFF2-40B4-BE49-F238E27FC236}">
                  <a16:creationId xmlns:a16="http://schemas.microsoft.com/office/drawing/2014/main" id="{FAD64D5D-6B23-48C6-4B9C-6644AF69116D}"/>
                </a:ext>
              </a:extLst>
            </p:cNvPr>
            <p:cNvSpPr/>
            <p:nvPr/>
          </p:nvSpPr>
          <p:spPr>
            <a:xfrm>
              <a:off x="-1165433" y="-679074"/>
              <a:ext cx="3221990" cy="29070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200" b="1" dirty="0">
                  <a:solidFill>
                    <a:srgbClr val="015DBB"/>
                  </a:solidFill>
                  <a:latin typeface="等线" panose="02010600030101010101" pitchFamily="2" charset="-122"/>
                  <a:ea typeface="等线" panose="02010600030101010101" pitchFamily="2" charset="-122"/>
                  <a:cs typeface="MiSans" pitchFamily="34" charset="-120"/>
                </a:rPr>
                <a:t>典型错误特征</a:t>
              </a:r>
              <a:endParaRPr lang="en-US" altLang="zh-CN" sz="1200" b="1" dirty="0">
                <a:solidFill>
                  <a:srgbClr val="015DBB"/>
                </a:solidFill>
                <a:latin typeface="等线" panose="02010600030101010101" pitchFamily="2" charset="-122"/>
                <a:ea typeface="等线" panose="02010600030101010101" pitchFamily="2" charset="-122"/>
                <a:cs typeface="MiSans" pitchFamily="34" charset="-120"/>
              </a:endParaRPr>
            </a:p>
          </p:txBody>
        </p:sp>
        <p:sp>
          <p:nvSpPr>
            <p:cNvPr id="23" name="Text 2">
              <a:extLst>
                <a:ext uri="{FF2B5EF4-FFF2-40B4-BE49-F238E27FC236}">
                  <a16:creationId xmlns:a16="http://schemas.microsoft.com/office/drawing/2014/main" id="{97977D96-74C0-72E9-16B2-A435B77BA372}"/>
                </a:ext>
              </a:extLst>
            </p:cNvPr>
            <p:cNvSpPr/>
            <p:nvPr/>
          </p:nvSpPr>
          <p:spPr>
            <a:xfrm>
              <a:off x="-1165433" y="-388365"/>
              <a:ext cx="4708004" cy="598510"/>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在公式识别等复杂任务中，模型对易混淆符号展现了较高的辨识度与泛化性。</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grpSp>
    </p:spTree>
    <p:extLst>
      <p:ext uri="{BB962C8B-B14F-4D97-AF65-F5344CB8AC3E}">
        <p14:creationId xmlns:p14="http://schemas.microsoft.com/office/powerpoint/2010/main" val="15797701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0">
            <a:extLst>
              <a:ext uri="{FF2B5EF4-FFF2-40B4-BE49-F238E27FC236}">
                <a16:creationId xmlns:a16="http://schemas.microsoft.com/office/drawing/2014/main" id="{763B6A76-409B-49BD-1B24-3A3ABD35F621}"/>
              </a:ext>
            </a:extLst>
          </p:cNvPr>
          <p:cNvPicPr>
            <a:picLocks noChangeAspect="1"/>
          </p:cNvPicPr>
          <p:nvPr/>
        </p:nvPicPr>
        <p:blipFill>
          <a:blip r:embed="rId2"/>
          <a:stretch>
            <a:fillRect/>
          </a:stretch>
        </p:blipFill>
        <p:spPr>
          <a:xfrm>
            <a:off x="323528" y="2910451"/>
            <a:ext cx="4176465" cy="1926138"/>
          </a:xfrm>
          <a:prstGeom prst="rect">
            <a:avLst/>
          </a:prstGeom>
        </p:spPr>
      </p:pic>
      <p:pic>
        <p:nvPicPr>
          <p:cNvPr id="16" name="Image 0">
            <a:extLst>
              <a:ext uri="{FF2B5EF4-FFF2-40B4-BE49-F238E27FC236}">
                <a16:creationId xmlns:a16="http://schemas.microsoft.com/office/drawing/2014/main" id="{D1FC0804-024D-705A-FBCD-DFC1A00C3FD0}"/>
              </a:ext>
            </a:extLst>
          </p:cNvPr>
          <p:cNvPicPr>
            <a:picLocks noChangeAspect="1"/>
          </p:cNvPicPr>
          <p:nvPr/>
        </p:nvPicPr>
        <p:blipFill>
          <a:blip r:embed="rId2"/>
          <a:stretch>
            <a:fillRect/>
          </a:stretch>
        </p:blipFill>
        <p:spPr>
          <a:xfrm>
            <a:off x="4644007" y="771550"/>
            <a:ext cx="4176465" cy="4320870"/>
          </a:xfrm>
          <a:prstGeom prst="rect">
            <a:avLst/>
          </a:prstGeom>
        </p:spPr>
      </p:pic>
      <p:sp>
        <p:nvSpPr>
          <p:cNvPr id="2" name="标题 1">
            <a:extLst>
              <a:ext uri="{FF2B5EF4-FFF2-40B4-BE49-F238E27FC236}">
                <a16:creationId xmlns:a16="http://schemas.microsoft.com/office/drawing/2014/main" id="{01BCF888-7A1A-41B9-83DD-691819A80EEF}"/>
              </a:ext>
            </a:extLst>
          </p:cNvPr>
          <p:cNvSpPr>
            <a:spLocks noGrp="1"/>
          </p:cNvSpPr>
          <p:nvPr>
            <p:ph type="title"/>
          </p:nvPr>
        </p:nvSpPr>
        <p:spPr/>
        <p:txBody>
          <a:bodyPr/>
          <a:lstStyle/>
          <a:p>
            <a:r>
              <a:rPr lang="en-US" altLang="zh-CN" dirty="0" err="1">
                <a:solidFill>
                  <a:srgbClr val="1A1C1E"/>
                </a:solidFill>
                <a:latin typeface="Inter"/>
              </a:rPr>
              <a:t>优化尝试与分析</a:t>
            </a:r>
            <a:endParaRPr lang="zh-CN" altLang="en-US" dirty="0">
              <a:solidFill>
                <a:srgbClr val="1A1C1E"/>
              </a:solidFill>
              <a:latin typeface="Inter"/>
            </a:endParaRPr>
          </a:p>
        </p:txBody>
      </p:sp>
      <p:grpSp>
        <p:nvGrpSpPr>
          <p:cNvPr id="12" name="组合 11">
            <a:extLst>
              <a:ext uri="{FF2B5EF4-FFF2-40B4-BE49-F238E27FC236}">
                <a16:creationId xmlns:a16="http://schemas.microsoft.com/office/drawing/2014/main" id="{C061FF7F-2F32-D2E6-50C7-9D003FB6509F}"/>
              </a:ext>
            </a:extLst>
          </p:cNvPr>
          <p:cNvGrpSpPr/>
          <p:nvPr/>
        </p:nvGrpSpPr>
        <p:grpSpPr>
          <a:xfrm>
            <a:off x="359536" y="3949902"/>
            <a:ext cx="3931902" cy="648316"/>
            <a:chOff x="-6722770" y="1740825"/>
            <a:chExt cx="5040673" cy="680405"/>
          </a:xfrm>
        </p:grpSpPr>
        <p:sp>
          <p:nvSpPr>
            <p:cNvPr id="14" name="Text 1">
              <a:extLst>
                <a:ext uri="{FF2B5EF4-FFF2-40B4-BE49-F238E27FC236}">
                  <a16:creationId xmlns:a16="http://schemas.microsoft.com/office/drawing/2014/main" id="{FB71AD25-0F8A-B941-2FAC-9C7B4483ACB4}"/>
                </a:ext>
              </a:extLst>
            </p:cNvPr>
            <p:cNvSpPr/>
            <p:nvPr/>
          </p:nvSpPr>
          <p:spPr>
            <a:xfrm>
              <a:off x="-6722770" y="1740825"/>
              <a:ext cx="3221990" cy="29070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200" b="1" dirty="0">
                  <a:solidFill>
                    <a:srgbClr val="015DBB"/>
                  </a:solidFill>
                  <a:latin typeface="MiSans" pitchFamily="34" charset="0"/>
                  <a:ea typeface="MiSans" pitchFamily="34" charset="-122"/>
                  <a:cs typeface="MiSans" pitchFamily="34" charset="-120"/>
                </a:rPr>
                <a:t>顺序判断不准确</a:t>
              </a:r>
              <a:endParaRPr lang="en-US" altLang="zh-CN" sz="1200" b="1" dirty="0">
                <a:solidFill>
                  <a:srgbClr val="015DBB"/>
                </a:solidFill>
                <a:latin typeface="MiSans" pitchFamily="34" charset="0"/>
                <a:ea typeface="MiSans" pitchFamily="34" charset="-122"/>
                <a:cs typeface="MiSans" pitchFamily="34" charset="-120"/>
              </a:endParaRPr>
            </a:p>
          </p:txBody>
        </p:sp>
        <p:sp>
          <p:nvSpPr>
            <p:cNvPr id="15" name="Text 2">
              <a:extLst>
                <a:ext uri="{FF2B5EF4-FFF2-40B4-BE49-F238E27FC236}">
                  <a16:creationId xmlns:a16="http://schemas.microsoft.com/office/drawing/2014/main" id="{21BA5C86-1F04-677A-0FF2-1014A00705E8}"/>
                </a:ext>
              </a:extLst>
            </p:cNvPr>
            <p:cNvSpPr/>
            <p:nvPr/>
          </p:nvSpPr>
          <p:spPr>
            <a:xfrm>
              <a:off x="-6667042" y="2089202"/>
              <a:ext cx="4984945" cy="332028"/>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采用</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XY-cut</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算法进行优化。</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grpSp>
      <p:sp>
        <p:nvSpPr>
          <p:cNvPr id="6" name="文本框 5">
            <a:extLst>
              <a:ext uri="{FF2B5EF4-FFF2-40B4-BE49-F238E27FC236}">
                <a16:creationId xmlns:a16="http://schemas.microsoft.com/office/drawing/2014/main" id="{4A039344-AA22-938E-78BC-291B589F545E}"/>
              </a:ext>
            </a:extLst>
          </p:cNvPr>
          <p:cNvSpPr txBox="1"/>
          <p:nvPr/>
        </p:nvSpPr>
        <p:spPr>
          <a:xfrm>
            <a:off x="1986728" y="3030782"/>
            <a:ext cx="2513265" cy="720197"/>
          </a:xfrm>
          <a:prstGeom prst="rect">
            <a:avLst/>
          </a:prstGeom>
          <a:noFill/>
        </p:spPr>
        <p:txBody>
          <a:bodyPr wrap="square">
            <a:spAutoFit/>
          </a:bodyPr>
          <a:lstStyle/>
          <a:p>
            <a:r>
              <a:rPr lang="zh-CN" altLang="en-US" sz="1200" dirty="0"/>
              <a:t>顺序判断不准确</a:t>
            </a:r>
            <a:endParaRPr lang="en-US" altLang="zh-CN" sz="1200" dirty="0"/>
          </a:p>
          <a:p>
            <a:r>
              <a:rPr lang="zh-CN" altLang="en-US" sz="1200" dirty="0"/>
              <a:t>图表标题与正文的关联逻辑不完善</a:t>
            </a:r>
            <a:endParaRPr lang="en-US" altLang="zh-CN" sz="1200" dirty="0"/>
          </a:p>
          <a:p>
            <a:r>
              <a:rPr lang="zh-CN" altLang="en-US" sz="1200" dirty="0"/>
              <a:t>复杂嵌套结构的阅读路径生成失败</a:t>
            </a:r>
          </a:p>
        </p:txBody>
      </p:sp>
      <p:sp>
        <p:nvSpPr>
          <p:cNvPr id="10" name="文本框 9">
            <a:extLst>
              <a:ext uri="{FF2B5EF4-FFF2-40B4-BE49-F238E27FC236}">
                <a16:creationId xmlns:a16="http://schemas.microsoft.com/office/drawing/2014/main" id="{268D490A-6469-4657-A778-5041C88DC15D}"/>
              </a:ext>
            </a:extLst>
          </p:cNvPr>
          <p:cNvSpPr txBox="1"/>
          <p:nvPr/>
        </p:nvSpPr>
        <p:spPr>
          <a:xfrm>
            <a:off x="359536" y="3252381"/>
            <a:ext cx="1436049" cy="276999"/>
          </a:xfrm>
          <a:prstGeom prst="rect">
            <a:avLst/>
          </a:prstGeom>
          <a:noFill/>
        </p:spPr>
        <p:txBody>
          <a:bodyPr wrap="square">
            <a:spAutoFit/>
          </a:bodyPr>
          <a:lstStyle/>
          <a:p>
            <a:r>
              <a:rPr lang="zh-CN" altLang="en-US" sz="1200" dirty="0"/>
              <a:t>阅读顺序编辑距离</a:t>
            </a:r>
            <a:endParaRPr lang="en-US" altLang="zh-CN" sz="1200" dirty="0"/>
          </a:p>
        </p:txBody>
      </p:sp>
      <p:cxnSp>
        <p:nvCxnSpPr>
          <p:cNvPr id="17" name="直接连接符 16">
            <a:extLst>
              <a:ext uri="{FF2B5EF4-FFF2-40B4-BE49-F238E27FC236}">
                <a16:creationId xmlns:a16="http://schemas.microsoft.com/office/drawing/2014/main" id="{43CE04D6-1BA6-0324-52E4-5A1D255BC49A}"/>
              </a:ext>
            </a:extLst>
          </p:cNvPr>
          <p:cNvCxnSpPr>
            <a:cxnSpLocks/>
            <a:stCxn id="10" idx="3"/>
          </p:cNvCxnSpPr>
          <p:nvPr/>
        </p:nvCxnSpPr>
        <p:spPr>
          <a:xfrm flipV="1">
            <a:off x="1795585" y="3191957"/>
            <a:ext cx="198239" cy="198924"/>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FD8EC073-4267-1170-2B16-02AF3A7313D7}"/>
              </a:ext>
            </a:extLst>
          </p:cNvPr>
          <p:cNvCxnSpPr>
            <a:cxnSpLocks/>
            <a:stCxn id="10" idx="3"/>
            <a:endCxn id="6" idx="1"/>
          </p:cNvCxnSpPr>
          <p:nvPr/>
        </p:nvCxnSpPr>
        <p:spPr>
          <a:xfrm>
            <a:off x="1795585" y="3390881"/>
            <a:ext cx="191143" cy="0"/>
          </a:xfrm>
          <a:prstGeom prst="line">
            <a:avLst/>
          </a:prstGeom>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BD13B67B-406F-5E9B-C1DF-361B5519692D}"/>
              </a:ext>
            </a:extLst>
          </p:cNvPr>
          <p:cNvCxnSpPr>
            <a:cxnSpLocks/>
            <a:stCxn id="10" idx="3"/>
          </p:cNvCxnSpPr>
          <p:nvPr/>
        </p:nvCxnSpPr>
        <p:spPr>
          <a:xfrm>
            <a:off x="1795585" y="3390881"/>
            <a:ext cx="198239" cy="198923"/>
          </a:xfrm>
          <a:prstGeom prst="line">
            <a:avLst/>
          </a:prstGeom>
        </p:spPr>
        <p:style>
          <a:lnRef idx="1">
            <a:schemeClr val="dk1"/>
          </a:lnRef>
          <a:fillRef idx="0">
            <a:schemeClr val="dk1"/>
          </a:fillRef>
          <a:effectRef idx="0">
            <a:schemeClr val="dk1"/>
          </a:effectRef>
          <a:fontRef idx="minor">
            <a:schemeClr val="tx1"/>
          </a:fontRef>
        </p:style>
      </p:cxnSp>
      <p:sp>
        <p:nvSpPr>
          <p:cNvPr id="42" name="文本框 41">
            <a:extLst>
              <a:ext uri="{FF2B5EF4-FFF2-40B4-BE49-F238E27FC236}">
                <a16:creationId xmlns:a16="http://schemas.microsoft.com/office/drawing/2014/main" id="{115A147F-2F5D-5359-473A-8E98E7EE2CF4}"/>
              </a:ext>
            </a:extLst>
          </p:cNvPr>
          <p:cNvSpPr txBox="1"/>
          <p:nvPr/>
        </p:nvSpPr>
        <p:spPr>
          <a:xfrm>
            <a:off x="453607" y="1947144"/>
            <a:ext cx="4118393" cy="891911"/>
          </a:xfrm>
          <a:prstGeom prst="rect">
            <a:avLst/>
          </a:prstGeom>
          <a:noFill/>
        </p:spPr>
        <p:txBody>
          <a:bodyPr wrap="square">
            <a:spAutoFit/>
          </a:bodyPr>
          <a:lstStyle/>
          <a:p>
            <a:pPr>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标准版面场景的阅读顺序编辑距离降低</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a:p>
            <a:pPr>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复杂版面上升</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a:p>
            <a:pPr>
              <a:lnSpc>
                <a:spcPct val="150000"/>
              </a:lnSpc>
            </a:pPr>
            <a:r>
              <a:rPr lang="zh-CN" altLang="en-US" sz="1100">
                <a:solidFill>
                  <a:srgbClr val="262626"/>
                </a:solidFill>
                <a:latin typeface="微软雅黑" panose="020B0503020204020204" pitchFamily="34" charset="-122"/>
                <a:ea typeface="微软雅黑" panose="020B0503020204020204" pitchFamily="34" charset="-122"/>
                <a:cs typeface="MiSans" pitchFamily="34" charset="-120"/>
              </a:rPr>
              <a:t>处理耗时增加</a:t>
            </a:r>
            <a:endPar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pic>
        <p:nvPicPr>
          <p:cNvPr id="8" name="图片 7">
            <a:extLst>
              <a:ext uri="{FF2B5EF4-FFF2-40B4-BE49-F238E27FC236}">
                <a16:creationId xmlns:a16="http://schemas.microsoft.com/office/drawing/2014/main" id="{BD12430F-DB46-B7C8-44C6-151FB143A021}"/>
              </a:ext>
            </a:extLst>
          </p:cNvPr>
          <p:cNvPicPr>
            <a:picLocks noChangeAspect="1"/>
          </p:cNvPicPr>
          <p:nvPr/>
        </p:nvPicPr>
        <p:blipFill>
          <a:blip r:embed="rId3"/>
          <a:stretch>
            <a:fillRect/>
          </a:stretch>
        </p:blipFill>
        <p:spPr>
          <a:xfrm>
            <a:off x="5220072" y="1264084"/>
            <a:ext cx="2033572" cy="512665"/>
          </a:xfrm>
          <a:prstGeom prst="rect">
            <a:avLst/>
          </a:prstGeom>
        </p:spPr>
      </p:pic>
      <p:sp>
        <p:nvSpPr>
          <p:cNvPr id="9" name="Text 2">
            <a:extLst>
              <a:ext uri="{FF2B5EF4-FFF2-40B4-BE49-F238E27FC236}">
                <a16:creationId xmlns:a16="http://schemas.microsoft.com/office/drawing/2014/main" id="{D7D43232-4737-B514-5E06-8A832C5DE5E9}"/>
              </a:ext>
            </a:extLst>
          </p:cNvPr>
          <p:cNvSpPr/>
          <p:nvPr/>
        </p:nvSpPr>
        <p:spPr>
          <a:xfrm>
            <a:off x="4608007" y="920814"/>
            <a:ext cx="3888432" cy="31636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1</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）计算投影直方图</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pic>
        <p:nvPicPr>
          <p:cNvPr id="22" name="图片 21">
            <a:extLst>
              <a:ext uri="{FF2B5EF4-FFF2-40B4-BE49-F238E27FC236}">
                <a16:creationId xmlns:a16="http://schemas.microsoft.com/office/drawing/2014/main" id="{699220EB-A3BF-E35D-C519-7A06A22491C4}"/>
              </a:ext>
            </a:extLst>
          </p:cNvPr>
          <p:cNvPicPr>
            <a:picLocks noChangeAspect="1"/>
          </p:cNvPicPr>
          <p:nvPr/>
        </p:nvPicPr>
        <p:blipFill>
          <a:blip r:embed="rId4"/>
          <a:stretch>
            <a:fillRect/>
          </a:stretch>
        </p:blipFill>
        <p:spPr>
          <a:xfrm>
            <a:off x="5220072" y="1693661"/>
            <a:ext cx="2076450" cy="581025"/>
          </a:xfrm>
          <a:prstGeom prst="rect">
            <a:avLst/>
          </a:prstGeom>
        </p:spPr>
      </p:pic>
      <p:sp>
        <p:nvSpPr>
          <p:cNvPr id="23" name="Text 2">
            <a:extLst>
              <a:ext uri="{FF2B5EF4-FFF2-40B4-BE49-F238E27FC236}">
                <a16:creationId xmlns:a16="http://schemas.microsoft.com/office/drawing/2014/main" id="{CDA33F6C-2587-9886-4DD1-3CBAC6F326B7}"/>
              </a:ext>
            </a:extLst>
          </p:cNvPr>
          <p:cNvSpPr/>
          <p:nvPr/>
        </p:nvSpPr>
        <p:spPr>
          <a:xfrm>
            <a:off x="4824029" y="2170101"/>
            <a:ext cx="3672410" cy="31636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t>投影值为零的区域即为潜在的分割线候选位置。</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sp>
        <p:nvSpPr>
          <p:cNvPr id="24" name="Text 2">
            <a:extLst>
              <a:ext uri="{FF2B5EF4-FFF2-40B4-BE49-F238E27FC236}">
                <a16:creationId xmlns:a16="http://schemas.microsoft.com/office/drawing/2014/main" id="{8B64F3CC-B957-2BD7-E80D-877ED3EA93F7}"/>
              </a:ext>
            </a:extLst>
          </p:cNvPr>
          <p:cNvSpPr/>
          <p:nvPr/>
        </p:nvSpPr>
        <p:spPr>
          <a:xfrm>
            <a:off x="4608000" y="2544137"/>
            <a:ext cx="3888432" cy="31636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2</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）自适应分割线选择</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pic>
        <p:nvPicPr>
          <p:cNvPr id="27" name="图片 26">
            <a:extLst>
              <a:ext uri="{FF2B5EF4-FFF2-40B4-BE49-F238E27FC236}">
                <a16:creationId xmlns:a16="http://schemas.microsoft.com/office/drawing/2014/main" id="{545085AC-2106-CCB5-4528-F6652A3A3569}"/>
              </a:ext>
            </a:extLst>
          </p:cNvPr>
          <p:cNvPicPr>
            <a:picLocks noChangeAspect="1"/>
          </p:cNvPicPr>
          <p:nvPr/>
        </p:nvPicPr>
        <p:blipFill>
          <a:blip r:embed="rId5"/>
          <a:stretch>
            <a:fillRect/>
          </a:stretch>
        </p:blipFill>
        <p:spPr>
          <a:xfrm>
            <a:off x="5508104" y="2807554"/>
            <a:ext cx="1933575" cy="400050"/>
          </a:xfrm>
          <a:prstGeom prst="rect">
            <a:avLst/>
          </a:prstGeom>
        </p:spPr>
      </p:pic>
      <p:sp>
        <p:nvSpPr>
          <p:cNvPr id="28" name="Text 2">
            <a:extLst>
              <a:ext uri="{FF2B5EF4-FFF2-40B4-BE49-F238E27FC236}">
                <a16:creationId xmlns:a16="http://schemas.microsoft.com/office/drawing/2014/main" id="{59742247-39F5-79E8-0968-315A4C062954}"/>
              </a:ext>
            </a:extLst>
          </p:cNvPr>
          <p:cNvSpPr/>
          <p:nvPr/>
        </p:nvSpPr>
        <p:spPr>
          <a:xfrm>
            <a:off x="4817222" y="3049419"/>
            <a:ext cx="3672410" cy="31636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确保剪切位置的同时，尽量均匀地剪切。</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sp>
        <p:nvSpPr>
          <p:cNvPr id="29" name="Text 2">
            <a:extLst>
              <a:ext uri="{FF2B5EF4-FFF2-40B4-BE49-F238E27FC236}">
                <a16:creationId xmlns:a16="http://schemas.microsoft.com/office/drawing/2014/main" id="{A0FBBC61-6BD9-D532-3CCE-AB31633BB244}"/>
              </a:ext>
            </a:extLst>
          </p:cNvPr>
          <p:cNvSpPr/>
          <p:nvPr/>
        </p:nvSpPr>
        <p:spPr>
          <a:xfrm>
            <a:off x="4608000" y="3396516"/>
            <a:ext cx="3888432" cy="316369"/>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a:t>
            </a:r>
            <a:r>
              <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rPr>
              <a:t>3</a:t>
            </a:r>
            <a:r>
              <a:rPr lang="zh-CN" altLang="en-US" sz="1100" dirty="0">
                <a:solidFill>
                  <a:srgbClr val="262626"/>
                </a:solidFill>
                <a:latin typeface="微软雅黑" panose="020B0503020204020204" pitchFamily="34" charset="-122"/>
                <a:ea typeface="微软雅黑" panose="020B0503020204020204" pitchFamily="34" charset="-122"/>
                <a:cs typeface="MiSans" pitchFamily="34" charset="-120"/>
              </a:rPr>
              <a:t>）递归分割与阅读顺序构建</a:t>
            </a:r>
            <a:endParaRPr lang="en-US" altLang="zh-CN" sz="1100" dirty="0">
              <a:solidFill>
                <a:srgbClr val="262626"/>
              </a:solidFill>
              <a:latin typeface="微软雅黑" panose="020B0503020204020204" pitchFamily="34" charset="-122"/>
              <a:ea typeface="微软雅黑" panose="020B0503020204020204" pitchFamily="34" charset="-122"/>
              <a:cs typeface="MiSans" pitchFamily="34" charset="-120"/>
            </a:endParaRPr>
          </a:p>
        </p:txBody>
      </p:sp>
      <p:pic>
        <p:nvPicPr>
          <p:cNvPr id="31" name="图片 30">
            <a:extLst>
              <a:ext uri="{FF2B5EF4-FFF2-40B4-BE49-F238E27FC236}">
                <a16:creationId xmlns:a16="http://schemas.microsoft.com/office/drawing/2014/main" id="{B100188F-F9CA-88FA-44D8-58E223828F3C}"/>
              </a:ext>
            </a:extLst>
          </p:cNvPr>
          <p:cNvPicPr>
            <a:picLocks noChangeAspect="1"/>
          </p:cNvPicPr>
          <p:nvPr/>
        </p:nvPicPr>
        <p:blipFill>
          <a:blip r:embed="rId6"/>
          <a:stretch>
            <a:fillRect/>
          </a:stretch>
        </p:blipFill>
        <p:spPr>
          <a:xfrm>
            <a:off x="5003800" y="3738425"/>
            <a:ext cx="2878049" cy="1213636"/>
          </a:xfrm>
          <a:prstGeom prst="rect">
            <a:avLst/>
          </a:prstGeom>
        </p:spPr>
      </p:pic>
      <p:pic>
        <p:nvPicPr>
          <p:cNvPr id="5" name="图片 4">
            <a:extLst>
              <a:ext uri="{FF2B5EF4-FFF2-40B4-BE49-F238E27FC236}">
                <a16:creationId xmlns:a16="http://schemas.microsoft.com/office/drawing/2014/main" id="{48A0A9DA-BF64-C7FF-2202-EC26CCF1A397}"/>
              </a:ext>
            </a:extLst>
          </p:cNvPr>
          <p:cNvPicPr>
            <a:picLocks noChangeAspect="1"/>
          </p:cNvPicPr>
          <p:nvPr/>
        </p:nvPicPr>
        <p:blipFill>
          <a:blip r:embed="rId7"/>
          <a:stretch>
            <a:fillRect/>
          </a:stretch>
        </p:blipFill>
        <p:spPr>
          <a:xfrm>
            <a:off x="509746" y="759997"/>
            <a:ext cx="3900239" cy="1210419"/>
          </a:xfrm>
          <a:prstGeom prst="rect">
            <a:avLst/>
          </a:prstGeom>
        </p:spPr>
      </p:pic>
    </p:spTree>
    <p:extLst>
      <p:ext uri="{BB962C8B-B14F-4D97-AF65-F5344CB8AC3E}">
        <p14:creationId xmlns:p14="http://schemas.microsoft.com/office/powerpoint/2010/main" val="380928988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3926E56-11E2-4B2B-AA1C-5D1F684EF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13" y="49174"/>
            <a:ext cx="1943199" cy="534777"/>
          </a:xfrm>
          <a:prstGeom prst="rect">
            <a:avLst/>
          </a:prstGeom>
        </p:spPr>
      </p:pic>
      <p:sp>
        <p:nvSpPr>
          <p:cNvPr id="13" name="文本框 12">
            <a:extLst>
              <a:ext uri="{FF2B5EF4-FFF2-40B4-BE49-F238E27FC236}">
                <a16:creationId xmlns:a16="http://schemas.microsoft.com/office/drawing/2014/main" id="{BAD42D23-9145-41EA-AB27-9AA088E35FFA}"/>
              </a:ext>
            </a:extLst>
          </p:cNvPr>
          <p:cNvSpPr txBox="1"/>
          <p:nvPr/>
        </p:nvSpPr>
        <p:spPr>
          <a:xfrm>
            <a:off x="468313" y="2120538"/>
            <a:ext cx="8280151" cy="400110"/>
          </a:xfrm>
          <a:prstGeom prst="rect">
            <a:avLst/>
          </a:prstGeom>
          <a:noFill/>
        </p:spPr>
        <p:txBody>
          <a:bodyPr wrap="square">
            <a:spAutoFit/>
          </a:bodyPr>
          <a:lstStyle/>
          <a:p>
            <a:pPr algn="ctr" fontAlgn="auto">
              <a:spcBef>
                <a:spcPts val="600"/>
              </a:spcBef>
              <a:spcAft>
                <a:spcPts val="0"/>
              </a:spcAft>
              <a:defRPr/>
            </a:pPr>
            <a:r>
              <a:rPr kumimoji="0" lang="zh-CN" altLang="en-US" sz="20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iti SC Medium" panose="02000000000000000000" charset="-122"/>
              </a:rPr>
              <a:t>恳请老师批评指正</a:t>
            </a:r>
            <a:endParaRPr kumimoji="0" lang="en-US" altLang="zh-CN" sz="20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iti SC Medium" panose="02000000000000000000" charset="-122"/>
            </a:endParaRPr>
          </a:p>
        </p:txBody>
      </p:sp>
      <p:cxnSp>
        <p:nvCxnSpPr>
          <p:cNvPr id="14" name="直接连接符 13">
            <a:extLst>
              <a:ext uri="{FF2B5EF4-FFF2-40B4-BE49-F238E27FC236}">
                <a16:creationId xmlns:a16="http://schemas.microsoft.com/office/drawing/2014/main" id="{028E2A0A-490D-4FA0-814E-6AD027047792}"/>
              </a:ext>
            </a:extLst>
          </p:cNvPr>
          <p:cNvCxnSpPr/>
          <p:nvPr/>
        </p:nvCxnSpPr>
        <p:spPr>
          <a:xfrm>
            <a:off x="1152128" y="2691158"/>
            <a:ext cx="6984776" cy="0"/>
          </a:xfrm>
          <a:prstGeom prst="line">
            <a:avLst/>
          </a:prstGeom>
          <a:ln w="1270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6" name="文本框 11">
            <a:extLst>
              <a:ext uri="{FF2B5EF4-FFF2-40B4-BE49-F238E27FC236}">
                <a16:creationId xmlns:a16="http://schemas.microsoft.com/office/drawing/2014/main" id="{660725AF-9C86-4A91-AD17-08FDE39EA0E8}"/>
              </a:ext>
            </a:extLst>
          </p:cNvPr>
          <p:cNvSpPr txBox="1">
            <a:spLocks noChangeArrowheads="1"/>
          </p:cNvSpPr>
          <p:nvPr/>
        </p:nvSpPr>
        <p:spPr bwMode="auto">
          <a:xfrm>
            <a:off x="1789761" y="3592397"/>
            <a:ext cx="5715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1800" b="1" dirty="0">
                <a:solidFill>
                  <a:prstClr val="black"/>
                </a:solidFill>
                <a:latin typeface="微软雅黑" panose="020B0503020204020204" pitchFamily="34" charset="-122"/>
                <a:ea typeface="微软雅黑" panose="020B0503020204020204" pitchFamily="34" charset="-122"/>
                <a:cs typeface="Heiti SC Medium" charset="-122"/>
              </a:rPr>
              <a:t>Dec</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iti SC Medium" charset="-122"/>
              </a:rPr>
              <a:t> 17, 2025</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Heiti SC Medium" charset="-122"/>
            </a:endParaRPr>
          </a:p>
        </p:txBody>
      </p:sp>
      <p:sp>
        <p:nvSpPr>
          <p:cNvPr id="17" name="副标题 3074">
            <a:extLst>
              <a:ext uri="{FF2B5EF4-FFF2-40B4-BE49-F238E27FC236}">
                <a16:creationId xmlns:a16="http://schemas.microsoft.com/office/drawing/2014/main" id="{7ED359D8-6165-457C-A6B9-9EC554BCCA73}"/>
              </a:ext>
            </a:extLst>
          </p:cNvPr>
          <p:cNvSpPr txBox="1">
            <a:spLocks noChangeArrowheads="1"/>
          </p:cNvSpPr>
          <p:nvPr/>
        </p:nvSpPr>
        <p:spPr bwMode="auto">
          <a:xfrm>
            <a:off x="1789761" y="2967471"/>
            <a:ext cx="5714999" cy="533335"/>
          </a:xfrm>
          <a:prstGeom prst="rect">
            <a:avLst/>
          </a:prstGeom>
          <a:noFill/>
          <a:ln>
            <a:noFill/>
          </a:ln>
        </p:spPr>
        <p:txBody>
          <a:bodyPr/>
          <a:lstStyle>
            <a:lvl1pPr marL="171450" indent="-171450">
              <a:lnSpc>
                <a:spcPct val="120000"/>
              </a:lnSpc>
              <a:spcBef>
                <a:spcPts val="750"/>
              </a:spcBef>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1pPr>
            <a:lvl2pPr marL="514350" indent="-171450">
              <a:lnSpc>
                <a:spcPct val="120000"/>
              </a:lnSpc>
              <a:spcBef>
                <a:spcPts val="375"/>
              </a:spcBef>
              <a:buFont typeface="Arial" panose="020B0604020202020204" pitchFamily="34" charset="0"/>
              <a:buChar char="•"/>
              <a:defRPr sz="1500">
                <a:solidFill>
                  <a:schemeClr val="tx1"/>
                </a:solidFill>
                <a:latin typeface="Arial" panose="020B0604020202020204" pitchFamily="34" charset="0"/>
                <a:ea typeface="黑体" panose="02010609060101010101" pitchFamily="49" charset="-122"/>
              </a:defRPr>
            </a:lvl2pPr>
            <a:lvl3pPr marL="857250" indent="-171450">
              <a:lnSpc>
                <a:spcPct val="12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3pPr>
            <a:lvl4pPr marL="1200150" indent="-171450">
              <a:lnSpc>
                <a:spcPct val="12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4pPr>
            <a:lvl5pPr marL="1543050" indent="-171450">
              <a:lnSpc>
                <a:spcPct val="120000"/>
              </a:lnSpc>
              <a:spcBef>
                <a:spcPts val="375"/>
              </a:spcBef>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5pPr>
            <a:lvl6pPr marL="2000250" indent="-171450" eaLnBrk="0" fontAlgn="base" hangingPunct="0">
              <a:lnSpc>
                <a:spcPct val="12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6pPr>
            <a:lvl7pPr marL="2457450" indent="-171450" eaLnBrk="0" fontAlgn="base" hangingPunct="0">
              <a:lnSpc>
                <a:spcPct val="12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7pPr>
            <a:lvl8pPr marL="2914650" indent="-171450" eaLnBrk="0" fontAlgn="base" hangingPunct="0">
              <a:lnSpc>
                <a:spcPct val="12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8pPr>
            <a:lvl9pPr marL="3371850" indent="-171450" eaLnBrk="0" fontAlgn="base" hangingPunct="0">
              <a:lnSpc>
                <a:spcPct val="120000"/>
              </a:lnSpc>
              <a:spcBef>
                <a:spcPts val="375"/>
              </a:spcBef>
              <a:spcAft>
                <a:spcPct val="0"/>
              </a:spcAft>
              <a:buFont typeface="Arial" panose="020B0604020202020204" pitchFamily="34" charset="0"/>
              <a:buChar char="•"/>
              <a:defRPr sz="1300">
                <a:solidFill>
                  <a:schemeClr val="tx1"/>
                </a:solidFill>
                <a:latin typeface="Arial" panose="020B0604020202020204" pitchFamily="34" charset="0"/>
                <a:ea typeface="黑体" panose="02010609060101010101" pitchFamily="49" charset="-122"/>
              </a:defRPr>
            </a:lvl9pPr>
          </a:lstStyle>
          <a:p>
            <a:pPr marL="171450" marR="0" lvl="0" indent="-171450" algn="ctr" defTabSz="914400" rtl="0" eaLnBrk="1" fontAlgn="base" latinLnBrk="0" hangingPunct="1">
              <a:lnSpc>
                <a:spcPct val="120000"/>
              </a:lnSpc>
              <a:spcBef>
                <a:spcPts val="750"/>
              </a:spcBef>
              <a:spcAft>
                <a:spcPct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rPr>
              <a:t>李盛鹏</a:t>
            </a:r>
            <a:endParaRPr kumimoji="0" lang="en-US" altLang="zh-CN" sz="20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1747324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5.2.5"/>
</p:tagLst>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25000</TotalTime>
  <Words>281</Words>
  <Application>Microsoft Office PowerPoint</Application>
  <PresentationFormat>全屏显示(16:9)</PresentationFormat>
  <Paragraphs>48</Paragraphs>
  <Slides>7</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Inter</vt:lpstr>
      <vt:lpstr>MiSans</vt:lpstr>
      <vt:lpstr>等线</vt:lpstr>
      <vt:lpstr>微软雅黑</vt:lpstr>
      <vt:lpstr>Arial</vt:lpstr>
      <vt:lpstr>Times New Roman</vt:lpstr>
      <vt:lpstr>Trebuchet MS</vt:lpstr>
      <vt:lpstr>默认设计模板</vt:lpstr>
      <vt:lpstr>PowerPoint 演示文稿</vt:lpstr>
      <vt:lpstr>目录</vt:lpstr>
      <vt:lpstr>项目简介</vt:lpstr>
      <vt:lpstr>模型核心架构</vt:lpstr>
      <vt:lpstr>复现性能评估</vt:lpstr>
      <vt:lpstr>优化尝试与分析</vt:lpstr>
      <vt:lpstr>PowerPoint 演示文稿</vt:lpstr>
    </vt:vector>
  </TitlesOfParts>
  <Company>Global Intelligence Alliance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Creating System Analysis</dc:title>
  <dc:creator>Jessie Wang</dc:creator>
  <cp:lastModifiedBy>盛鹏 李</cp:lastModifiedBy>
  <cp:revision>1798</cp:revision>
  <dcterms:created xsi:type="dcterms:W3CDTF">2007-09-26T12:04:45Z</dcterms:created>
  <dcterms:modified xsi:type="dcterms:W3CDTF">2025-12-17T03:55:33Z</dcterms:modified>
</cp:coreProperties>
</file>