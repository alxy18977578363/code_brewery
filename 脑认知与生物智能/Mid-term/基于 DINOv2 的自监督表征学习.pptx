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14"/>
  </p:notesMasterIdLst>
  <p:handoutMasterIdLst>
    <p:handoutMasterId r:id="rId15"/>
  </p:handoutMasterIdLst>
  <p:sldIdLst>
    <p:sldId id="511" r:id="rId3"/>
    <p:sldId id="529" r:id="rId4"/>
    <p:sldId id="530" r:id="rId5"/>
    <p:sldId id="531" r:id="rId6"/>
    <p:sldId id="534" r:id="rId7"/>
    <p:sldId id="535" r:id="rId8"/>
    <p:sldId id="538" r:id="rId9"/>
    <p:sldId id="522" r:id="rId10"/>
    <p:sldId id="540" r:id="rId11"/>
    <p:sldId id="541" r:id="rId12"/>
    <p:sldId id="542" r:id="rId13"/>
  </p:sldIdLst>
  <p:sldSz cx="9144000" cy="5143500" type="screen16x9"/>
  <p:notesSz cx="6858000" cy="9144000"/>
  <p:custDataLst>
    <p:tags r:id="rId16"/>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144" userDrawn="1">
          <p15:clr>
            <a:srgbClr val="A4A3A4"/>
          </p15:clr>
        </p15:guide>
        <p15:guide id="2" pos="5624" userDrawn="1">
          <p15:clr>
            <a:srgbClr val="A4A3A4"/>
          </p15:clr>
        </p15:guide>
        <p15:guide id="3" orient="horz" pos="312" userDrawn="1">
          <p15:clr>
            <a:srgbClr val="A4A3A4"/>
          </p15:clr>
        </p15:guide>
        <p15:guide id="4" orient="horz" pos="3040" userDrawn="1">
          <p15:clr>
            <a:srgbClr val="A4A3A4"/>
          </p15:clr>
        </p15:guide>
        <p15:guide id="5" pos="2880" userDrawn="1">
          <p15:clr>
            <a:srgbClr val="A4A3A4"/>
          </p15:clr>
        </p15:guide>
        <p15:guide id="6" orient="horz" pos="2654" userDrawn="1">
          <p15:clr>
            <a:srgbClr val="A4A3A4"/>
          </p15:clr>
        </p15:guide>
        <p15:guide id="7" orient="horz" pos="275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156" autoAdjust="0"/>
  </p:normalViewPr>
  <p:slideViewPr>
    <p:cSldViewPr snapToGrid="0" showGuides="1">
      <p:cViewPr varScale="1">
        <p:scale>
          <a:sx n="113" d="100"/>
          <a:sy n="113" d="100"/>
        </p:scale>
        <p:origin x="614" y="96"/>
      </p:cViewPr>
      <p:guideLst>
        <p:guide pos="144"/>
        <p:guide pos="5624"/>
        <p:guide orient="horz" pos="312"/>
        <p:guide orient="horz" pos="3040"/>
        <p:guide pos="2880"/>
        <p:guide orient="horz" pos="2654"/>
        <p:guide orient="horz" pos="2754"/>
      </p:guideLst>
    </p:cSldViewPr>
  </p:slid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t>2025/11/9</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t>‹#›</a:t>
            </a:fld>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40962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D2A48B96-639E-45A3-A0BA-2464DFDB1FAA}" type="datetimeFigureOut">
              <a:rPr lang="zh-CN" altLang="en-US" smtClean="0"/>
              <a:pPr/>
              <a:t>2025/11/9</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A6837353-30EB-4A48-80EB-173D804AEFBD}" type="slidenum">
              <a:rPr lang="zh-CN" altLang="en-US" smtClean="0"/>
              <a:pPr/>
              <a:t>‹#›</a:t>
            </a:fld>
            <a:endParaRPr lang="zh-CN" altLang="en-US" dirty="0"/>
          </a:p>
        </p:txBody>
      </p:sp>
    </p:spTree>
    <p:extLst>
      <p:ext uri="{BB962C8B-B14F-4D97-AF65-F5344CB8AC3E}">
        <p14:creationId xmlns:p14="http://schemas.microsoft.com/office/powerpoint/2010/main" val="265571955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85803146-42E8-4762-AC50-92C136F6EA99}" type="datetimeFigureOut">
              <a:rPr lang="zh-CN" altLang="en-US" smtClean="0"/>
              <a:t>2025/11/9</a:t>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t>‹#›</a:t>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t>‹#›</a:t>
            </a:fld>
            <a:endParaRPr lang="zh-CN" altLang="en-US"/>
          </a:p>
        </p:txBody>
      </p:sp>
    </p:spTree>
  </p:cSld>
  <p:clrMapOvr>
    <a:masterClrMapping/>
  </p:clrMapOvr>
  <p:transition/>
  <p:hf sldNum="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5" name="矩形 4"/>
          <p:cNvSpPr/>
          <p:nvPr userDrawn="1"/>
        </p:nvSpPr>
        <p:spPr>
          <a:xfrm>
            <a:off x="0" y="2255004"/>
            <a:ext cx="9143999" cy="28884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 name="图片占位符 2"/>
          <p:cNvSpPr>
            <a:spLocks noGrp="1"/>
          </p:cNvSpPr>
          <p:nvPr>
            <p:ph type="pic" sz="quarter" idx="20"/>
          </p:nvPr>
        </p:nvSpPr>
        <p:spPr>
          <a:xfrm>
            <a:off x="323664" y="1380329"/>
            <a:ext cx="2749826" cy="1503332"/>
          </a:xfrm>
        </p:spPr>
        <p:txBody>
          <a:bodyPr>
            <a:normAutofit/>
          </a:bodyPr>
          <a:lstStyle>
            <a:lvl1pPr marL="0" indent="0" algn="ctr">
              <a:buFontTx/>
              <a:buNone/>
              <a:defRPr sz="1400"/>
            </a:lvl1pPr>
          </a:lstStyle>
          <a:p>
            <a:endParaRPr lang="zh-CN" altLang="en-US"/>
          </a:p>
        </p:txBody>
      </p:sp>
      <p:sp>
        <p:nvSpPr>
          <p:cNvPr id="3" name="图片占位符 2"/>
          <p:cNvSpPr>
            <a:spLocks noGrp="1"/>
          </p:cNvSpPr>
          <p:nvPr>
            <p:ph type="pic" sz="quarter" idx="21"/>
          </p:nvPr>
        </p:nvSpPr>
        <p:spPr>
          <a:xfrm>
            <a:off x="3197087" y="1380328"/>
            <a:ext cx="2749826" cy="1503332"/>
          </a:xfrm>
        </p:spPr>
        <p:txBody>
          <a:bodyPr>
            <a:normAutofit/>
          </a:bodyPr>
          <a:lstStyle>
            <a:lvl1pPr marL="0" indent="0" algn="ctr">
              <a:buFontTx/>
              <a:buNone/>
              <a:defRPr sz="1400"/>
            </a:lvl1pPr>
          </a:lstStyle>
          <a:p>
            <a:endParaRPr lang="zh-CN" altLang="en-US"/>
          </a:p>
        </p:txBody>
      </p:sp>
      <p:sp>
        <p:nvSpPr>
          <p:cNvPr id="4" name="图片占位符 2"/>
          <p:cNvSpPr>
            <a:spLocks noGrp="1"/>
          </p:cNvSpPr>
          <p:nvPr>
            <p:ph type="pic" sz="quarter" idx="22"/>
          </p:nvPr>
        </p:nvSpPr>
        <p:spPr>
          <a:xfrm>
            <a:off x="6070509" y="1380329"/>
            <a:ext cx="2749826" cy="1503332"/>
          </a:xfrm>
        </p:spPr>
        <p:txBody>
          <a:bodyPr>
            <a:normAutofit/>
          </a:bodyPr>
          <a:lstStyle>
            <a:lvl1pPr marL="0" indent="0" algn="ctr">
              <a:buFontTx/>
              <a:buNone/>
              <a:defRPr sz="1400"/>
            </a:lvl1pPr>
          </a:lstStyle>
          <a:p>
            <a:endParaRPr lang="zh-CN" altLang="en-US"/>
          </a:p>
        </p:txBody>
      </p:sp>
    </p:spTree>
  </p:cSld>
  <p:clrMapOvr>
    <a:masterClrMapping/>
  </p:clrMapOvr>
  <p:transition/>
  <p:hf sldNum="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F2F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微软雅黑" panose="020B0503020204020204" pitchFamily="34" charset="-122"/>
                <a:ea typeface="微软雅黑" panose="020B0503020204020204" pitchFamily="34" charset="-122"/>
              </a:defRPr>
            </a:lvl1pPr>
          </a:lstStyle>
          <a:p>
            <a:fld id="{D669989D-4831-4E99-B76E-9A53CB0F3A88}" type="datetimeFigureOut">
              <a:rPr lang="zh-CN" altLang="en-US" smtClean="0"/>
              <a:pPr/>
              <a:t>2025/11/9</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微软雅黑" panose="020B0503020204020204" pitchFamily="34" charset="-122"/>
                <a:ea typeface="微软雅黑" panose="020B0503020204020204" pitchFamily="34" charset="-122"/>
              </a:defRPr>
            </a:lvl1pPr>
          </a:lstStyle>
          <a:p>
            <a:fld id="{EE3F9CDB-1F21-4789-A81E-8FEA25CE194B}" type="slidenum">
              <a:rPr lang="zh-CN" altLang="en-US"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hf sldNum="0" ftr="0" dt="0"/>
  <p:txStyles>
    <p:titleStyle>
      <a:lvl1pPr algn="l" defTabSz="685800" rtl="0" eaLnBrk="1" latinLnBrk="0" hangingPunct="1">
        <a:lnSpc>
          <a:spcPct val="90000"/>
        </a:lnSpc>
        <a:spcBef>
          <a:spcPct val="0"/>
        </a:spcBef>
        <a:buNone/>
        <a:defRPr sz="33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ransition/>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6895" indent="-213995"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10" name="文本框 9"/>
          <p:cNvSpPr txBox="1"/>
          <p:nvPr/>
        </p:nvSpPr>
        <p:spPr>
          <a:xfrm>
            <a:off x="2829980" y="4213225"/>
            <a:ext cx="3521804" cy="253916"/>
          </a:xfrm>
          <a:prstGeom prst="rect">
            <a:avLst/>
          </a:prstGeom>
          <a:noFill/>
        </p:spPr>
        <p:txBody>
          <a:bodyPr wrap="square">
            <a:spAutoFit/>
          </a:bodyPr>
          <a:lstStyle/>
          <a:p>
            <a:pPr lvl="0" algn="ctr">
              <a:defRPr/>
            </a:pPr>
            <a:r>
              <a:rPr kumimoji="0" lang="zh-CN" altLang="en-US"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rPr>
              <a:t>答辩学生：</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sym typeface="汉仪旗黑-50S"/>
              </a:rPr>
              <a:t>李盛鹏</a:t>
            </a:r>
            <a:r>
              <a:rPr kumimoji="0" lang="zh-CN" altLang="en-US"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rPr>
              <a:t>      学号：</a:t>
            </a:r>
            <a:r>
              <a:rPr kumimoji="0" lang="en-US" altLang="zh-CN"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rPr>
              <a:t>2351136</a:t>
            </a:r>
          </a:p>
        </p:txBody>
      </p:sp>
      <p:sp>
        <p:nvSpPr>
          <p:cNvPr id="91" name="矩形 90"/>
          <p:cNvSpPr/>
          <p:nvPr/>
        </p:nvSpPr>
        <p:spPr>
          <a:xfrm>
            <a:off x="3113110" y="4821208"/>
            <a:ext cx="2917786" cy="253916"/>
          </a:xfrm>
          <a:prstGeom prst="rect">
            <a:avLst/>
          </a:prstGeom>
        </p:spPr>
        <p:txBody>
          <a:bodyPr wrap="none">
            <a:spAutoFit/>
          </a:bodyPr>
          <a:lstStyle/>
          <a:p>
            <a:pPr algn="ctr"/>
            <a:r>
              <a:rPr lang="zh-CN" altLang="en-US" sz="1050" kern="100" dirty="0">
                <a:solidFill>
                  <a:schemeClr val="accent1"/>
                </a:solidFill>
                <a:latin typeface="微软雅黑" panose="020B0503020204020204" pitchFamily="34" charset="-122"/>
                <a:ea typeface="微软雅黑" panose="020B0503020204020204" pitchFamily="34" charset="-122"/>
                <a:cs typeface="汉仪旗黑-50S" panose="00020600040101010101" charset="-122"/>
                <a:sym typeface="汉仪旗黑-50S"/>
              </a:rPr>
              <a:t>同济大学计算机科学与技术学院 大数据本科班</a:t>
            </a:r>
            <a:endParaRPr lang="en-US" altLang="zh-CN" sz="1050" kern="100" dirty="0">
              <a:solidFill>
                <a:schemeClr val="accent1"/>
              </a:solidFill>
              <a:latin typeface="微软雅黑" panose="020B0503020204020204" pitchFamily="34" charset="-122"/>
              <a:ea typeface="微软雅黑" panose="020B0503020204020204" pitchFamily="34" charset="-122"/>
              <a:cs typeface="汉仪旗黑-50S" panose="00020600040101010101" charset="-122"/>
              <a:sym typeface="汉仪旗黑-50S"/>
            </a:endParaRPr>
          </a:p>
        </p:txBody>
      </p:sp>
      <p:sp>
        <p:nvSpPr>
          <p:cNvPr id="12" name="矩形 11"/>
          <p:cNvSpPr/>
          <p:nvPr/>
        </p:nvSpPr>
        <p:spPr bwMode="auto">
          <a:xfrm>
            <a:off x="1159046" y="2687596"/>
            <a:ext cx="6825907" cy="1323439"/>
          </a:xfrm>
          <a:prstGeom prst="rect">
            <a:avLst/>
          </a:prstGeom>
        </p:spPr>
        <p:txBody>
          <a:bodyPr wrap="none">
            <a:spAutoFit/>
          </a:bodyPr>
          <a:lstStyle/>
          <a:p>
            <a:pPr algn="ctr"/>
            <a:r>
              <a:rPr lang="zh-CN" altLang="zh-CN" sz="3600" kern="100" dirty="0">
                <a:solidFill>
                  <a:schemeClr val="accent1"/>
                </a:solidFill>
                <a:ea typeface="思源宋体 CN Heavy" pitchFamily="18" charset="-122"/>
              </a:rPr>
              <a:t>基于</a:t>
            </a:r>
            <a:r>
              <a:rPr lang="en-US" altLang="zh-CN" sz="3600" kern="100" dirty="0">
                <a:solidFill>
                  <a:schemeClr val="accent1"/>
                </a:solidFill>
                <a:ea typeface="思源宋体 CN Heavy" pitchFamily="18" charset="-122"/>
              </a:rPr>
              <a:t> DINOv2 </a:t>
            </a:r>
            <a:r>
              <a:rPr lang="zh-CN" altLang="zh-CN" sz="3600" kern="100" dirty="0">
                <a:solidFill>
                  <a:schemeClr val="accent1"/>
                </a:solidFill>
                <a:ea typeface="思源宋体 CN Heavy" pitchFamily="18" charset="-122"/>
              </a:rPr>
              <a:t>的自监督表征学习</a:t>
            </a:r>
          </a:p>
          <a:p>
            <a:pPr algn="ctr"/>
            <a:endParaRPr lang="zh-CN" altLang="en-US" sz="4400" kern="100" dirty="0">
              <a:solidFill>
                <a:schemeClr val="accent1"/>
              </a:solidFill>
              <a:latin typeface="思源宋体 CN Heavy" pitchFamily="18" charset="-122"/>
              <a:ea typeface="思源宋体 CN Heavy" pitchFamily="18" charset="-122"/>
              <a:sym typeface="汉仪旗黑-50S"/>
            </a:endParaRPr>
          </a:p>
        </p:txBody>
      </p:sp>
      <p:sp>
        <p:nvSpPr>
          <p:cNvPr id="13" name="矩形 12"/>
          <p:cNvSpPr/>
          <p:nvPr/>
        </p:nvSpPr>
        <p:spPr>
          <a:xfrm>
            <a:off x="745067" y="3469698"/>
            <a:ext cx="7963505" cy="276999"/>
          </a:xfrm>
          <a:prstGeom prst="rect">
            <a:avLst/>
          </a:prstGeom>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spc="30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sym typeface="汉仪旗黑-50S"/>
              </a:rPr>
              <a:t>Self-Supervised Representation Learning Based on DINOv2</a:t>
            </a:r>
            <a:endParaRPr kumimoji="0" lang="zh-CN" altLang="en-US" sz="1200" b="0" i="0" u="none" strike="noStrike" kern="1200" cap="none" spc="30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sym typeface="汉仪旗黑-50S"/>
            </a:endParaRPr>
          </a:p>
        </p:txBody>
      </p:sp>
      <p:cxnSp>
        <p:nvCxnSpPr>
          <p:cNvPr id="8" name="直接连接符 7"/>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93554FDD-CFB1-E208-D1AE-0899ACCAC4FE}"/>
              </a:ext>
            </a:extLst>
          </p:cNvPr>
          <p:cNvGrpSpPr/>
          <p:nvPr/>
        </p:nvGrpSpPr>
        <p:grpSpPr>
          <a:xfrm>
            <a:off x="3456442" y="317817"/>
            <a:ext cx="2236510" cy="922899"/>
            <a:chOff x="448143" y="2000145"/>
            <a:chExt cx="2236510" cy="922899"/>
          </a:xfrm>
        </p:grpSpPr>
        <p:sp>
          <p:nvSpPr>
            <p:cNvPr id="9" name="矩形 8">
              <a:extLst>
                <a:ext uri="{FF2B5EF4-FFF2-40B4-BE49-F238E27FC236}">
                  <a16:creationId xmlns:a16="http://schemas.microsoft.com/office/drawing/2014/main" id="{B0E66F04-4FA0-BD0D-CDAF-28458A8A753A}"/>
                </a:ext>
              </a:extLst>
            </p:cNvPr>
            <p:cNvSpPr/>
            <p:nvPr/>
          </p:nvSpPr>
          <p:spPr bwMode="auto">
            <a:xfrm>
              <a:off x="448143" y="2000145"/>
              <a:ext cx="2236510" cy="707886"/>
            </a:xfrm>
            <a:prstGeom prst="rect">
              <a:avLst/>
            </a:prstGeom>
          </p:spPr>
          <p:txBody>
            <a:bodyPr wrap="none">
              <a:spAutoFit/>
            </a:bodyPr>
            <a:lstStyle/>
            <a:p>
              <a:pPr algn="ctr"/>
              <a:r>
                <a:rPr lang="zh-CN" altLang="en-US" sz="4000" kern="100" dirty="0">
                  <a:solidFill>
                    <a:schemeClr val="bg1"/>
                  </a:solidFill>
                  <a:latin typeface="思源宋体 CN Heavy" pitchFamily="18" charset="-122"/>
                  <a:ea typeface="思源宋体 CN Heavy" pitchFamily="18" charset="-122"/>
                  <a:cs typeface="汉仪旗黑-50S" panose="00020600040101010101" charset="-122"/>
                </a:rPr>
                <a:t>期中答辩</a:t>
              </a:r>
              <a:endParaRPr lang="en-US" altLang="zh-CN" sz="4000" kern="100" dirty="0">
                <a:solidFill>
                  <a:schemeClr val="bg1"/>
                </a:solidFill>
                <a:latin typeface="思源宋体 CN Heavy" pitchFamily="18" charset="-122"/>
                <a:ea typeface="思源宋体 CN Heavy" pitchFamily="18" charset="-122"/>
                <a:cs typeface="汉仪旗黑-50S" panose="00020600040101010101" charset="-122"/>
              </a:endParaRPr>
            </a:p>
          </p:txBody>
        </p:sp>
        <p:sp>
          <p:nvSpPr>
            <p:cNvPr id="11" name="文本框 10">
              <a:extLst>
                <a:ext uri="{FF2B5EF4-FFF2-40B4-BE49-F238E27FC236}">
                  <a16:creationId xmlns:a16="http://schemas.microsoft.com/office/drawing/2014/main" id="{629EFE83-C97D-1E11-4DB7-95F08CB1EBAC}"/>
                </a:ext>
              </a:extLst>
            </p:cNvPr>
            <p:cNvSpPr txBox="1"/>
            <p:nvPr/>
          </p:nvSpPr>
          <p:spPr>
            <a:xfrm>
              <a:off x="545027" y="2615267"/>
              <a:ext cx="2037347" cy="307777"/>
            </a:xfrm>
            <a:prstGeom prst="rect">
              <a:avLst/>
            </a:prstGeom>
            <a:noFill/>
          </p:spPr>
          <p:txBody>
            <a:bodyPr wrap="square">
              <a:spAutoFit/>
            </a:bodyPr>
            <a:lstStyle/>
            <a:p>
              <a:pPr marL="0" marR="0" lvl="0" indent="0" algn="dist" defTabSz="685800" rtl="0" eaLnBrk="1" fontAlgn="auto" latinLnBrk="0" hangingPunct="1">
                <a:lnSpc>
                  <a:spcPct val="100000"/>
                </a:lnSpc>
                <a:spcBef>
                  <a:spcPct val="0"/>
                </a:spcBef>
                <a:spcAft>
                  <a:spcPct val="0"/>
                </a:spcAft>
                <a:buClrTx/>
                <a:buSzTx/>
                <a:buFontTx/>
                <a:buNone/>
                <a:defRPr/>
              </a:pPr>
              <a:endParaRPr kumimoji="0" lang="en-US" altLang="zh-CN" sz="1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汉仪旗黑-50S" panose="00020600040101010101" charset="-122"/>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grpSp>
        <p:nvGrpSpPr>
          <p:cNvPr id="123" name="组合 122"/>
          <p:cNvGrpSpPr/>
          <p:nvPr/>
        </p:nvGrpSpPr>
        <p:grpSpPr>
          <a:xfrm>
            <a:off x="3553326" y="317817"/>
            <a:ext cx="2037347" cy="922899"/>
            <a:chOff x="545027" y="2000145"/>
            <a:chExt cx="2037347" cy="922899"/>
          </a:xfrm>
        </p:grpSpPr>
        <p:sp>
          <p:nvSpPr>
            <p:cNvPr id="124" name="矩形 123"/>
            <p:cNvSpPr/>
            <p:nvPr/>
          </p:nvSpPr>
          <p:spPr bwMode="auto">
            <a:xfrm>
              <a:off x="884959" y="2000145"/>
              <a:ext cx="1362874" cy="707886"/>
            </a:xfrm>
            <a:prstGeom prst="rect">
              <a:avLst/>
            </a:prstGeom>
          </p:spPr>
          <p:txBody>
            <a:bodyPr wrap="none">
              <a:spAutoFit/>
            </a:bodyPr>
            <a:lstStyle/>
            <a:p>
              <a:pPr algn="ctr"/>
              <a:r>
                <a:rPr lang="zh-CN" altLang="en-US" sz="4000" kern="100" dirty="0">
                  <a:solidFill>
                    <a:schemeClr val="bg1"/>
                  </a:solidFill>
                  <a:latin typeface="思源宋体 CN Heavy" pitchFamily="18" charset="-122"/>
                  <a:ea typeface="思源宋体 CN Heavy" pitchFamily="18" charset="-122"/>
                  <a:cs typeface="汉仪旗黑-50S" panose="00020600040101010101" charset="-122"/>
                </a:rPr>
                <a:t>目 录</a:t>
              </a:r>
              <a:endParaRPr lang="en-US" altLang="zh-CN" sz="4000" kern="100" dirty="0">
                <a:solidFill>
                  <a:schemeClr val="bg1"/>
                </a:solidFill>
                <a:latin typeface="思源宋体 CN Heavy" pitchFamily="18" charset="-122"/>
                <a:ea typeface="思源宋体 CN Heavy" pitchFamily="18" charset="-122"/>
                <a:cs typeface="汉仪旗黑-50S" panose="00020600040101010101" charset="-122"/>
              </a:endParaRPr>
            </a:p>
          </p:txBody>
        </p:sp>
        <p:sp>
          <p:nvSpPr>
            <p:cNvPr id="125" name="文本框 124"/>
            <p:cNvSpPr txBox="1"/>
            <p:nvPr/>
          </p:nvSpPr>
          <p:spPr>
            <a:xfrm>
              <a:off x="545027" y="2615267"/>
              <a:ext cx="2037347" cy="307777"/>
            </a:xfrm>
            <a:prstGeom prst="rect">
              <a:avLst/>
            </a:prstGeom>
            <a:noFill/>
          </p:spPr>
          <p:txBody>
            <a:bodyPr wrap="square">
              <a:spAutoFit/>
            </a:bodyPr>
            <a:lstStyle/>
            <a:p>
              <a:pPr marL="0" marR="0" lvl="0" indent="0" algn="dist" defTabSz="685800" rtl="0" eaLnBrk="1" fontAlgn="auto" latinLnBrk="0" hangingPunct="1">
                <a:lnSpc>
                  <a:spcPct val="100000"/>
                </a:lnSpc>
                <a:spcBef>
                  <a:spcPct val="0"/>
                </a:spcBef>
                <a:spcAft>
                  <a:spcPct val="0"/>
                </a:spcAft>
                <a:buClrTx/>
                <a:buSzTx/>
                <a:buFontTx/>
                <a:buNone/>
                <a:defRPr/>
              </a:pPr>
              <a:r>
                <a:rPr kumimoji="0" lang="en-US" altLang="zh-CN" sz="1400" b="1" i="0" u="none" strike="noStrike" kern="1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汉仪旗黑-50S" panose="00020600040101010101" charset="-122"/>
                </a:rPr>
                <a:t>CONTENTS</a:t>
              </a:r>
            </a:p>
          </p:txBody>
        </p:sp>
      </p:grpSp>
      <p:grpSp>
        <p:nvGrpSpPr>
          <p:cNvPr id="7" name="组合 6"/>
          <p:cNvGrpSpPr/>
          <p:nvPr/>
        </p:nvGrpSpPr>
        <p:grpSpPr>
          <a:xfrm>
            <a:off x="823697" y="2348847"/>
            <a:ext cx="7451010" cy="1864378"/>
            <a:chOff x="920911" y="2430447"/>
            <a:chExt cx="7451010" cy="1864378"/>
          </a:xfrm>
        </p:grpSpPr>
        <p:grpSp>
          <p:nvGrpSpPr>
            <p:cNvPr id="127" name="组合 126"/>
            <p:cNvGrpSpPr/>
            <p:nvPr/>
          </p:nvGrpSpPr>
          <p:grpSpPr>
            <a:xfrm>
              <a:off x="1381259" y="2439330"/>
              <a:ext cx="2537301" cy="540501"/>
              <a:chOff x="2199981" y="1083179"/>
              <a:chExt cx="2537301" cy="540501"/>
            </a:xfrm>
          </p:grpSpPr>
          <p:sp>
            <p:nvSpPr>
              <p:cNvPr id="133" name="文本框 6"/>
              <p:cNvSpPr txBox="1">
                <a:spLocks noChangeArrowheads="1"/>
              </p:cNvSpPr>
              <p:nvPr/>
            </p:nvSpPr>
            <p:spPr bwMode="auto">
              <a:xfrm>
                <a:off x="2199981" y="1083179"/>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ea typeface="思源宋体 CN Heavy" pitchFamily="18" charset="-122"/>
                  </a:rPr>
                  <a:t>研究背景与目的</a:t>
                </a:r>
                <a:endParaRPr lang="zh-CN" altLang="en-US" sz="2000" dirty="0">
                  <a:solidFill>
                    <a:schemeClr val="accent1"/>
                  </a:solidFill>
                  <a:ea typeface="思源宋体 CN Heavy" pitchFamily="18" charset="-122"/>
                  <a:sym typeface="汉仪旗黑-50S"/>
                </a:endParaRPr>
              </a:p>
            </p:txBody>
          </p:sp>
          <p:sp>
            <p:nvSpPr>
              <p:cNvPr id="134" name="矩形 133"/>
              <p:cNvSpPr/>
              <p:nvPr/>
            </p:nvSpPr>
            <p:spPr>
              <a:xfrm>
                <a:off x="2213834" y="1392848"/>
                <a:ext cx="2523448" cy="230832"/>
              </a:xfrm>
              <a:prstGeom prst="rect">
                <a:avLst/>
              </a:prstGeom>
            </p:spPr>
            <p:txBody>
              <a:bodyPr wrap="none">
                <a:spAutoFit/>
              </a:bodyPr>
              <a:lstStyle/>
              <a:p>
                <a:pPr lvl="0" fontAlgn="base">
                  <a:spcBef>
                    <a:spcPct val="0"/>
                  </a:spcBef>
                  <a:spcAft>
                    <a:spcPct val="0"/>
                  </a:spcAft>
                  <a:defRPr/>
                </a:pPr>
                <a:r>
                  <a:rPr lang="en-US" altLang="zh-CN" sz="900" dirty="0">
                    <a:solidFill>
                      <a:schemeClr val="accent1"/>
                    </a:solidFill>
                    <a:latin typeface="微软雅黑" panose="020B0503020204020204" pitchFamily="34" charset="-122"/>
                    <a:ea typeface="微软雅黑" panose="020B0503020204020204" pitchFamily="34" charset="-122"/>
                    <a:sym typeface="汉仪旗黑-50S"/>
                  </a:rPr>
                  <a:t>Background And Purpose Of The Research</a:t>
                </a:r>
              </a:p>
            </p:txBody>
          </p:sp>
        </p:grpSp>
        <p:grpSp>
          <p:nvGrpSpPr>
            <p:cNvPr id="128" name="组合 127"/>
            <p:cNvGrpSpPr/>
            <p:nvPr/>
          </p:nvGrpSpPr>
          <p:grpSpPr>
            <a:xfrm>
              <a:off x="5597376" y="2439330"/>
              <a:ext cx="2774545" cy="540501"/>
              <a:chOff x="2199981" y="1083179"/>
              <a:chExt cx="2774545" cy="540501"/>
            </a:xfrm>
          </p:grpSpPr>
          <p:sp>
            <p:nvSpPr>
              <p:cNvPr id="131" name="文本框 6"/>
              <p:cNvSpPr txBox="1">
                <a:spLocks noChangeArrowheads="1"/>
              </p:cNvSpPr>
              <p:nvPr/>
            </p:nvSpPr>
            <p:spPr bwMode="auto">
              <a:xfrm>
                <a:off x="2199981" y="1083179"/>
                <a:ext cx="198002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思源宋体 CN Heavy" pitchFamily="18" charset="-122"/>
                    <a:ea typeface="思源宋体 CN Heavy" pitchFamily="18" charset="-122"/>
                    <a:sym typeface="汉仪旗黑-50S"/>
                  </a:rPr>
                  <a:t>实验结果与改进</a:t>
                </a:r>
              </a:p>
            </p:txBody>
          </p:sp>
          <p:sp>
            <p:nvSpPr>
              <p:cNvPr id="132" name="矩形 131"/>
              <p:cNvSpPr/>
              <p:nvPr/>
            </p:nvSpPr>
            <p:spPr>
              <a:xfrm>
                <a:off x="2213834" y="1392848"/>
                <a:ext cx="2760692" cy="230832"/>
              </a:xfrm>
              <a:prstGeom prst="rect">
                <a:avLst/>
              </a:prstGeom>
            </p:spPr>
            <p:txBody>
              <a:bodyPr wrap="none">
                <a:spAutoFit/>
              </a:bodyPr>
              <a:lstStyle/>
              <a:p>
                <a:pPr lvl="0" fontAlgn="base">
                  <a:spcBef>
                    <a:spcPct val="0"/>
                  </a:spcBef>
                  <a:spcAft>
                    <a:spcPct val="0"/>
                  </a:spcAft>
                  <a:defRPr/>
                </a:pPr>
                <a:r>
                  <a:rPr lang="en-US" altLang="zh-CN" sz="900" dirty="0">
                    <a:solidFill>
                      <a:schemeClr val="accent1"/>
                    </a:solidFill>
                    <a:latin typeface="微软雅黑" panose="020B0503020204020204" pitchFamily="34" charset="-122"/>
                    <a:ea typeface="微软雅黑" panose="020B0503020204020204" pitchFamily="34" charset="-122"/>
                    <a:sym typeface="汉仪旗黑-50S"/>
                  </a:rPr>
                  <a:t>Results and Improvements of the Experiment</a:t>
                </a:r>
              </a:p>
            </p:txBody>
          </p:sp>
        </p:grpSp>
        <p:grpSp>
          <p:nvGrpSpPr>
            <p:cNvPr id="136" name="组合 135"/>
            <p:cNvGrpSpPr/>
            <p:nvPr/>
          </p:nvGrpSpPr>
          <p:grpSpPr>
            <a:xfrm>
              <a:off x="1381259" y="3747290"/>
              <a:ext cx="2492990" cy="547535"/>
              <a:chOff x="2199981" y="1076145"/>
              <a:chExt cx="2492990" cy="547535"/>
            </a:xfrm>
          </p:grpSpPr>
          <p:sp>
            <p:nvSpPr>
              <p:cNvPr id="142" name="文本框 6"/>
              <p:cNvSpPr txBox="1">
                <a:spLocks noChangeArrowheads="1"/>
              </p:cNvSpPr>
              <p:nvPr/>
            </p:nvSpPr>
            <p:spPr bwMode="auto">
              <a:xfrm>
                <a:off x="2199981" y="1076145"/>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ea typeface="思源宋体 CN Heavy" pitchFamily="18" charset="-122"/>
                  </a:rPr>
                  <a:t>模型原理与关键技术</a:t>
                </a:r>
                <a:endParaRPr lang="zh-CN" altLang="en-US" sz="2000" dirty="0">
                  <a:solidFill>
                    <a:schemeClr val="accent1"/>
                  </a:solidFill>
                  <a:ea typeface="思源宋体 CN Heavy" pitchFamily="18" charset="-122"/>
                  <a:sym typeface="汉仪旗黑-50S"/>
                </a:endParaRPr>
              </a:p>
            </p:txBody>
          </p:sp>
          <p:sp>
            <p:nvSpPr>
              <p:cNvPr id="143" name="矩形 142"/>
              <p:cNvSpPr/>
              <p:nvPr/>
            </p:nvSpPr>
            <p:spPr>
              <a:xfrm>
                <a:off x="2213834" y="1392848"/>
                <a:ext cx="2340705" cy="230832"/>
              </a:xfrm>
              <a:prstGeom prst="rect">
                <a:avLst/>
              </a:prstGeom>
            </p:spPr>
            <p:txBody>
              <a:bodyPr wrap="none">
                <a:spAutoFit/>
              </a:bodyPr>
              <a:lstStyle/>
              <a:p>
                <a:pPr lvl="0" fontAlgn="base">
                  <a:spcBef>
                    <a:spcPct val="0"/>
                  </a:spcBef>
                  <a:spcAft>
                    <a:spcPct val="0"/>
                  </a:spcAft>
                  <a:defRPr/>
                </a:pPr>
                <a:r>
                  <a:rPr lang="en-US" altLang="zh-CN" sz="900" dirty="0">
                    <a:solidFill>
                      <a:schemeClr val="accent1"/>
                    </a:solidFill>
                    <a:latin typeface="微软雅黑" panose="020B0503020204020204" pitchFamily="34" charset="-122"/>
                    <a:ea typeface="微软雅黑" panose="020B0503020204020204" pitchFamily="34" charset="-122"/>
                    <a:sym typeface="汉仪旗黑-50S"/>
                  </a:rPr>
                  <a:t>Model Principles and Key Technologies</a:t>
                </a:r>
              </a:p>
            </p:txBody>
          </p:sp>
        </p:grpSp>
        <p:grpSp>
          <p:nvGrpSpPr>
            <p:cNvPr id="137" name="组合 136"/>
            <p:cNvGrpSpPr/>
            <p:nvPr/>
          </p:nvGrpSpPr>
          <p:grpSpPr>
            <a:xfrm>
              <a:off x="5597376" y="3747290"/>
              <a:ext cx="719495" cy="547535"/>
              <a:chOff x="2199981" y="1076145"/>
              <a:chExt cx="719495" cy="547535"/>
            </a:xfrm>
          </p:grpSpPr>
          <p:sp>
            <p:nvSpPr>
              <p:cNvPr id="140" name="文本框 6"/>
              <p:cNvSpPr txBox="1">
                <a:spLocks noChangeArrowheads="1"/>
              </p:cNvSpPr>
              <p:nvPr/>
            </p:nvSpPr>
            <p:spPr bwMode="auto">
              <a:xfrm>
                <a:off x="2199981" y="1076145"/>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300">
                    <a:solidFill>
                      <a:schemeClr val="tx1"/>
                    </a:solidFill>
                    <a:latin typeface="Calibri Light" panose="020F0302020204030204" pitchFamily="34" charset="0"/>
                    <a:ea typeface="方正宋刻本秀楷简体" panose="02000000000000000000" pitchFamily="2" charset="-122"/>
                  </a:defRPr>
                </a:lvl1pPr>
                <a:lvl2pPr marL="742950" indent="-285750">
                  <a:defRPr sz="1300">
                    <a:solidFill>
                      <a:schemeClr val="tx1"/>
                    </a:solidFill>
                    <a:latin typeface="Calibri Light" panose="020F0302020204030204" pitchFamily="34" charset="0"/>
                    <a:ea typeface="方正宋刻本秀楷简体" panose="02000000000000000000" pitchFamily="2" charset="-122"/>
                  </a:defRPr>
                </a:lvl2pPr>
                <a:lvl3pPr marL="1143000" indent="-228600">
                  <a:defRPr sz="1300">
                    <a:solidFill>
                      <a:schemeClr val="tx1"/>
                    </a:solidFill>
                    <a:latin typeface="Calibri Light" panose="020F0302020204030204" pitchFamily="34" charset="0"/>
                    <a:ea typeface="方正宋刻本秀楷简体" panose="02000000000000000000" pitchFamily="2" charset="-122"/>
                  </a:defRPr>
                </a:lvl3pPr>
                <a:lvl4pPr marL="1600200" indent="-228600">
                  <a:defRPr sz="1300">
                    <a:solidFill>
                      <a:schemeClr val="tx1"/>
                    </a:solidFill>
                    <a:latin typeface="Calibri Light" panose="020F0302020204030204" pitchFamily="34" charset="0"/>
                    <a:ea typeface="方正宋刻本秀楷简体" panose="02000000000000000000" pitchFamily="2" charset="-122"/>
                  </a:defRPr>
                </a:lvl4pPr>
                <a:lvl5pPr marL="2057400" indent="-228600">
                  <a:defRPr sz="1300">
                    <a:solidFill>
                      <a:schemeClr val="tx1"/>
                    </a:solidFill>
                    <a:latin typeface="Calibri Light" panose="020F0302020204030204" pitchFamily="34" charset="0"/>
                    <a:ea typeface="方正宋刻本秀楷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Calibri Light" panose="020F0302020204030204" pitchFamily="34" charset="0"/>
                    <a:ea typeface="方正宋刻本秀楷简体" panose="02000000000000000000" pitchFamily="2" charset="-122"/>
                  </a:defRPr>
                </a:lvl9pPr>
              </a:lstStyle>
              <a:p>
                <a:pPr fontAlgn="base">
                  <a:spcBef>
                    <a:spcPct val="0"/>
                  </a:spcBef>
                  <a:spcAft>
                    <a:spcPct val="0"/>
                  </a:spcAft>
                  <a:defRPr/>
                </a:pPr>
                <a:r>
                  <a:rPr lang="zh-CN" altLang="en-US" sz="2000" dirty="0">
                    <a:solidFill>
                      <a:schemeClr val="accent1"/>
                    </a:solidFill>
                    <a:latin typeface="思源宋体 CN Heavy" pitchFamily="18" charset="-122"/>
                    <a:ea typeface="思源宋体 CN Heavy" pitchFamily="18" charset="-122"/>
                    <a:sym typeface="汉仪旗黑-50S"/>
                  </a:rPr>
                  <a:t>总结</a:t>
                </a:r>
              </a:p>
            </p:txBody>
          </p:sp>
          <p:sp>
            <p:nvSpPr>
              <p:cNvPr id="141" name="矩形 140"/>
              <p:cNvSpPr/>
              <p:nvPr/>
            </p:nvSpPr>
            <p:spPr>
              <a:xfrm>
                <a:off x="2213834" y="1392848"/>
                <a:ext cx="705642" cy="230832"/>
              </a:xfrm>
              <a:prstGeom prst="rect">
                <a:avLst/>
              </a:prstGeom>
            </p:spPr>
            <p:txBody>
              <a:bodyPr wrap="none">
                <a:spAutoFit/>
              </a:bodyPr>
              <a:lstStyle/>
              <a:p>
                <a:pPr lvl="0" fontAlgn="base">
                  <a:spcBef>
                    <a:spcPct val="0"/>
                  </a:spcBef>
                  <a:spcAft>
                    <a:spcPct val="0"/>
                  </a:spcAft>
                  <a:defRPr/>
                </a:pPr>
                <a:r>
                  <a:rPr lang="en-US" altLang="zh-CN" sz="900" dirty="0">
                    <a:solidFill>
                      <a:schemeClr val="accent1"/>
                    </a:solidFill>
                    <a:latin typeface="微软雅黑" panose="020B0503020204020204" pitchFamily="34" charset="-122"/>
                    <a:ea typeface="微软雅黑" panose="020B0503020204020204" pitchFamily="34" charset="-122"/>
                    <a:sym typeface="汉仪旗黑-50S"/>
                  </a:rPr>
                  <a:t>Summary</a:t>
                </a:r>
              </a:p>
            </p:txBody>
          </p:sp>
        </p:grpSp>
        <p:grpSp>
          <p:nvGrpSpPr>
            <p:cNvPr id="5" name="组合 4"/>
            <p:cNvGrpSpPr/>
            <p:nvPr/>
          </p:nvGrpSpPr>
          <p:grpSpPr>
            <a:xfrm>
              <a:off x="920911" y="2430447"/>
              <a:ext cx="455286" cy="432340"/>
              <a:chOff x="920911" y="2391806"/>
              <a:chExt cx="455286" cy="432340"/>
            </a:xfrm>
          </p:grpSpPr>
          <p:sp>
            <p:nvSpPr>
              <p:cNvPr id="4" name="椭圆 3"/>
              <p:cNvSpPr/>
              <p:nvPr/>
            </p:nvSpPr>
            <p:spPr>
              <a:xfrm>
                <a:off x="932384" y="2391806"/>
                <a:ext cx="432340" cy="4323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9" name="文本框 128"/>
              <p:cNvSpPr txBox="1"/>
              <p:nvPr/>
            </p:nvSpPr>
            <p:spPr>
              <a:xfrm>
                <a:off x="920911" y="2438699"/>
                <a:ext cx="455286" cy="338554"/>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6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汉仪旗黑-50S" panose="00020600040101010101" charset="-122"/>
                  </a:rPr>
                  <a:t>01</a:t>
                </a:r>
              </a:p>
            </p:txBody>
          </p:sp>
        </p:grpSp>
        <p:grpSp>
          <p:nvGrpSpPr>
            <p:cNvPr id="147" name="组合 146"/>
            <p:cNvGrpSpPr/>
            <p:nvPr/>
          </p:nvGrpSpPr>
          <p:grpSpPr>
            <a:xfrm>
              <a:off x="920911" y="3742244"/>
              <a:ext cx="455286" cy="432340"/>
              <a:chOff x="920911" y="2391806"/>
              <a:chExt cx="455286" cy="432340"/>
            </a:xfrm>
          </p:grpSpPr>
          <p:sp>
            <p:nvSpPr>
              <p:cNvPr id="148" name="椭圆 147"/>
              <p:cNvSpPr/>
              <p:nvPr/>
            </p:nvSpPr>
            <p:spPr>
              <a:xfrm>
                <a:off x="932384" y="2391806"/>
                <a:ext cx="432340" cy="4323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9" name="文本框 148"/>
              <p:cNvSpPr txBox="1"/>
              <p:nvPr/>
            </p:nvSpPr>
            <p:spPr>
              <a:xfrm>
                <a:off x="920911" y="2438699"/>
                <a:ext cx="455286" cy="338554"/>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6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汉仪旗黑-50S" panose="00020600040101010101" charset="-122"/>
                  </a:rPr>
                  <a:t>02</a:t>
                </a:r>
              </a:p>
            </p:txBody>
          </p:sp>
        </p:grpSp>
        <p:grpSp>
          <p:nvGrpSpPr>
            <p:cNvPr id="150" name="组合 149"/>
            <p:cNvGrpSpPr/>
            <p:nvPr/>
          </p:nvGrpSpPr>
          <p:grpSpPr>
            <a:xfrm>
              <a:off x="5143053" y="2430447"/>
              <a:ext cx="455286" cy="432340"/>
              <a:chOff x="920911" y="2391806"/>
              <a:chExt cx="455286" cy="432340"/>
            </a:xfrm>
          </p:grpSpPr>
          <p:sp>
            <p:nvSpPr>
              <p:cNvPr id="151" name="椭圆 150"/>
              <p:cNvSpPr/>
              <p:nvPr/>
            </p:nvSpPr>
            <p:spPr>
              <a:xfrm>
                <a:off x="932384" y="2391806"/>
                <a:ext cx="432340" cy="4323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2" name="文本框 151"/>
              <p:cNvSpPr txBox="1"/>
              <p:nvPr/>
            </p:nvSpPr>
            <p:spPr>
              <a:xfrm>
                <a:off x="920911" y="2438699"/>
                <a:ext cx="455286" cy="338554"/>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6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汉仪旗黑-50S" panose="00020600040101010101" charset="-122"/>
                  </a:rPr>
                  <a:t>03</a:t>
                </a:r>
              </a:p>
            </p:txBody>
          </p:sp>
        </p:grpSp>
        <p:grpSp>
          <p:nvGrpSpPr>
            <p:cNvPr id="153" name="组合 152"/>
            <p:cNvGrpSpPr/>
            <p:nvPr/>
          </p:nvGrpSpPr>
          <p:grpSpPr>
            <a:xfrm>
              <a:off x="5143053" y="3742244"/>
              <a:ext cx="455286" cy="432340"/>
              <a:chOff x="920911" y="2391806"/>
              <a:chExt cx="455286" cy="432340"/>
            </a:xfrm>
          </p:grpSpPr>
          <p:sp>
            <p:nvSpPr>
              <p:cNvPr id="154" name="椭圆 153"/>
              <p:cNvSpPr/>
              <p:nvPr/>
            </p:nvSpPr>
            <p:spPr>
              <a:xfrm>
                <a:off x="932384" y="2391806"/>
                <a:ext cx="432340" cy="43234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5" name="文本框 154"/>
              <p:cNvSpPr txBox="1"/>
              <p:nvPr/>
            </p:nvSpPr>
            <p:spPr>
              <a:xfrm>
                <a:off x="920911" y="2438699"/>
                <a:ext cx="455286" cy="338554"/>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600" b="1" i="0" u="none" strike="noStrike" kern="1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汉仪旗黑-50S" panose="00020600040101010101" charset="-122"/>
                  </a:rPr>
                  <a:t>04</a:t>
                </a:r>
              </a:p>
            </p:txBody>
          </p:sp>
        </p:gr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grpSp>
        <p:nvGrpSpPr>
          <p:cNvPr id="4" name="组合 3"/>
          <p:cNvGrpSpPr/>
          <p:nvPr/>
        </p:nvGrpSpPr>
        <p:grpSpPr>
          <a:xfrm>
            <a:off x="3814333" y="838251"/>
            <a:ext cx="1515335" cy="1515335"/>
            <a:chOff x="3738489" y="766689"/>
            <a:chExt cx="1667021" cy="1667021"/>
          </a:xfrm>
        </p:grpSpPr>
        <p:sp>
          <p:nvSpPr>
            <p:cNvPr id="3" name="椭圆 2"/>
            <p:cNvSpPr/>
            <p:nvPr/>
          </p:nvSpPr>
          <p:spPr>
            <a:xfrm>
              <a:off x="3738489" y="766689"/>
              <a:ext cx="1667021" cy="1667021"/>
            </a:xfrm>
            <a:prstGeom prst="ellipse">
              <a:avLst/>
            </a:prstGeom>
            <a:ln w="571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3863441" y="1092368"/>
              <a:ext cx="1417116" cy="1015663"/>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rPr>
                <a:t>01</a:t>
              </a:r>
              <a:endParaRPr kumimoji="0" lang="zh-CN" altLang="en-US"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endParaRPr>
            </a:p>
          </p:txBody>
        </p:sp>
      </p:grpSp>
      <p:sp>
        <p:nvSpPr>
          <p:cNvPr id="124" name="矩形 123"/>
          <p:cNvSpPr/>
          <p:nvPr/>
        </p:nvSpPr>
        <p:spPr bwMode="auto">
          <a:xfrm>
            <a:off x="2513897" y="2617767"/>
            <a:ext cx="4134465" cy="769441"/>
          </a:xfrm>
          <a:prstGeom prst="rect">
            <a:avLst/>
          </a:prstGeom>
        </p:spPr>
        <p:txBody>
          <a:bodyPr wrap="none">
            <a:spAutoFit/>
          </a:bodyPr>
          <a:lstStyle/>
          <a:p>
            <a:pPr fontAlgn="base">
              <a:spcBef>
                <a:spcPct val="0"/>
              </a:spcBef>
              <a:spcAft>
                <a:spcPct val="0"/>
              </a:spcAft>
              <a:defRPr/>
            </a:pPr>
            <a:r>
              <a:rPr lang="zh-CN" altLang="en-US" sz="4400" dirty="0">
                <a:solidFill>
                  <a:schemeClr val="accent1"/>
                </a:solidFill>
                <a:ea typeface="思源宋体 CN Heavy" pitchFamily="18" charset="-122"/>
              </a:rPr>
              <a:t>研究背景与目的</a:t>
            </a:r>
            <a:endParaRPr lang="zh-CN" altLang="en-US" sz="4400" dirty="0">
              <a:solidFill>
                <a:schemeClr val="accent1"/>
              </a:solidFill>
              <a:ea typeface="思源宋体 CN Heavy" pitchFamily="18" charset="-122"/>
              <a:sym typeface="汉仪旗黑-50S"/>
            </a:endParaRPr>
          </a:p>
        </p:txBody>
      </p:sp>
      <p:sp>
        <p:nvSpPr>
          <p:cNvPr id="125" name="矩形 124"/>
          <p:cNvSpPr/>
          <p:nvPr/>
        </p:nvSpPr>
        <p:spPr>
          <a:xfrm>
            <a:off x="2005968" y="3372917"/>
            <a:ext cx="5132064" cy="276999"/>
          </a:xfrm>
          <a:prstGeom prst="rect">
            <a:avLst/>
          </a:prstGeom>
        </p:spPr>
        <p:txBody>
          <a:bodyPr wrap="square">
            <a:spAutoFit/>
          </a:bodyPr>
          <a:lstStyle/>
          <a:p>
            <a:pPr lvl="0" algn="ctr" fontAlgn="base">
              <a:spcBef>
                <a:spcPct val="0"/>
              </a:spcBef>
              <a:spcAft>
                <a:spcPct val="0"/>
              </a:spcAft>
              <a:defRPr/>
            </a:pPr>
            <a:r>
              <a:rPr lang="en-US" altLang="zh-CN" sz="1200" dirty="0">
                <a:solidFill>
                  <a:schemeClr val="accent1"/>
                </a:solidFill>
                <a:latin typeface="微软雅黑" panose="020B0503020204020204" pitchFamily="34" charset="-122"/>
                <a:ea typeface="微软雅黑" panose="020B0503020204020204" pitchFamily="34" charset="-122"/>
                <a:sym typeface="汉仪旗黑-50S"/>
              </a:rPr>
              <a:t>Background And Purpose Of The Research</a:t>
            </a:r>
          </a:p>
        </p:txBody>
      </p:sp>
      <p:cxnSp>
        <p:nvCxnSpPr>
          <p:cNvPr id="126" name="直接连接符 125"/>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圆角 4"/>
          <p:cNvSpPr/>
          <p:nvPr/>
        </p:nvSpPr>
        <p:spPr>
          <a:xfrm>
            <a:off x="4035287" y="4277801"/>
            <a:ext cx="1073426" cy="310102"/>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第一单元</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0" y="0"/>
            <a:ext cx="9144001" cy="32004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3" name="矩形 2"/>
          <p:cNvSpPr/>
          <p:nvPr/>
        </p:nvSpPr>
        <p:spPr>
          <a:xfrm>
            <a:off x="0" y="-1"/>
            <a:ext cx="9144001" cy="3200401"/>
          </a:xfrm>
          <a:prstGeom prst="rect">
            <a:avLst/>
          </a:prstGeom>
          <a:blipFill dpi="0" rotWithShape="1">
            <a:blip r:embed="rId2">
              <a:alphaModFix amt="10000"/>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31" name="矩形: 圆角 30"/>
          <p:cNvSpPr/>
          <p:nvPr/>
        </p:nvSpPr>
        <p:spPr>
          <a:xfrm>
            <a:off x="3265065" y="590921"/>
            <a:ext cx="2615858" cy="4087046"/>
          </a:xfrm>
          <a:prstGeom prst="roundRect">
            <a:avLst>
              <a:gd name="adj" fmla="val 0"/>
            </a:avLst>
          </a:prstGeom>
          <a:solidFill>
            <a:schemeClr val="bg1"/>
          </a:solidFill>
          <a:ln>
            <a:noFill/>
          </a:ln>
          <a:effectLst>
            <a:outerShdw blurRad="787400" dist="1270000" dir="5400000" sx="70000" sy="70000" algn="t"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32" name="矩形: 圆角 22"/>
          <p:cNvSpPr/>
          <p:nvPr/>
        </p:nvSpPr>
        <p:spPr>
          <a:xfrm>
            <a:off x="521494" y="590921"/>
            <a:ext cx="2615858" cy="4087046"/>
          </a:xfrm>
          <a:custGeom>
            <a:avLst/>
            <a:gdLst>
              <a:gd name="connsiteX0" fmla="*/ 0 w 3487810"/>
              <a:gd name="connsiteY0" fmla="*/ 0 h 4621846"/>
              <a:gd name="connsiteX1" fmla="*/ 0 w 3487810"/>
              <a:gd name="connsiteY1" fmla="*/ 0 h 4621846"/>
              <a:gd name="connsiteX2" fmla="*/ 3487810 w 3487810"/>
              <a:gd name="connsiteY2" fmla="*/ 0 h 4621846"/>
              <a:gd name="connsiteX3" fmla="*/ 3487810 w 3487810"/>
              <a:gd name="connsiteY3" fmla="*/ 0 h 4621846"/>
              <a:gd name="connsiteX4" fmla="*/ 3487810 w 3487810"/>
              <a:gd name="connsiteY4" fmla="*/ 4621846 h 4621846"/>
              <a:gd name="connsiteX5" fmla="*/ 3487810 w 3487810"/>
              <a:gd name="connsiteY5" fmla="*/ 4621846 h 4621846"/>
              <a:gd name="connsiteX6" fmla="*/ 0 w 3487810"/>
              <a:gd name="connsiteY6" fmla="*/ 4621846 h 4621846"/>
              <a:gd name="connsiteX7" fmla="*/ 0 w 3487810"/>
              <a:gd name="connsiteY7" fmla="*/ 4621846 h 4621846"/>
              <a:gd name="connsiteX8" fmla="*/ 0 w 3487810"/>
              <a:gd name="connsiteY8" fmla="*/ 0 h 4621846"/>
              <a:gd name="connsiteX0-1" fmla="*/ 695325 w 4183135"/>
              <a:gd name="connsiteY0-2" fmla="*/ 1615442 h 6237288"/>
              <a:gd name="connsiteX1-3" fmla="*/ 0 w 4183135"/>
              <a:gd name="connsiteY1-4" fmla="*/ 0 h 6237288"/>
              <a:gd name="connsiteX2-5" fmla="*/ 695325 w 4183135"/>
              <a:gd name="connsiteY2-6" fmla="*/ 1615442 h 6237288"/>
              <a:gd name="connsiteX3-7" fmla="*/ 4183135 w 4183135"/>
              <a:gd name="connsiteY3-8" fmla="*/ 1615442 h 6237288"/>
              <a:gd name="connsiteX4-9" fmla="*/ 4183135 w 4183135"/>
              <a:gd name="connsiteY4-10" fmla="*/ 1615442 h 6237288"/>
              <a:gd name="connsiteX5-11" fmla="*/ 4183135 w 4183135"/>
              <a:gd name="connsiteY5-12" fmla="*/ 6237288 h 6237288"/>
              <a:gd name="connsiteX6-13" fmla="*/ 4183135 w 4183135"/>
              <a:gd name="connsiteY6-14" fmla="*/ 6237288 h 6237288"/>
              <a:gd name="connsiteX7-15" fmla="*/ 695325 w 4183135"/>
              <a:gd name="connsiteY7-16" fmla="*/ 6237288 h 6237288"/>
              <a:gd name="connsiteX8-17" fmla="*/ 695325 w 4183135"/>
              <a:gd name="connsiteY8-18" fmla="*/ 6237288 h 6237288"/>
              <a:gd name="connsiteX9" fmla="*/ 695325 w 4183135"/>
              <a:gd name="connsiteY9" fmla="*/ 1615442 h 6237288"/>
              <a:gd name="connsiteX0-19" fmla="*/ 0 w 3487810"/>
              <a:gd name="connsiteY0-20" fmla="*/ 0 h 4621846"/>
              <a:gd name="connsiteX1-21" fmla="*/ 0 w 3487810"/>
              <a:gd name="connsiteY1-22" fmla="*/ 0 h 4621846"/>
              <a:gd name="connsiteX2-23" fmla="*/ 3487810 w 3487810"/>
              <a:gd name="connsiteY2-24" fmla="*/ 0 h 4621846"/>
              <a:gd name="connsiteX3-25" fmla="*/ 3487810 w 3487810"/>
              <a:gd name="connsiteY3-26" fmla="*/ 0 h 4621846"/>
              <a:gd name="connsiteX4-27" fmla="*/ 3487810 w 3487810"/>
              <a:gd name="connsiteY4-28" fmla="*/ 4621846 h 4621846"/>
              <a:gd name="connsiteX5-29" fmla="*/ 3487810 w 3487810"/>
              <a:gd name="connsiteY5-30" fmla="*/ 4621846 h 4621846"/>
              <a:gd name="connsiteX6-31" fmla="*/ 0 w 3487810"/>
              <a:gd name="connsiteY6-32" fmla="*/ 4621846 h 4621846"/>
              <a:gd name="connsiteX7-33" fmla="*/ 0 w 3487810"/>
              <a:gd name="connsiteY7-34" fmla="*/ 4621846 h 4621846"/>
              <a:gd name="connsiteX8-35" fmla="*/ 0 w 3487810"/>
              <a:gd name="connsiteY8-36" fmla="*/ 0 h 462184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487810" h="4621846">
                <a:moveTo>
                  <a:pt x="0" y="0"/>
                </a:moveTo>
                <a:lnTo>
                  <a:pt x="0" y="0"/>
                </a:lnTo>
                <a:lnTo>
                  <a:pt x="3487810" y="0"/>
                </a:lnTo>
                <a:lnTo>
                  <a:pt x="3487810" y="0"/>
                </a:lnTo>
                <a:lnTo>
                  <a:pt x="3487810" y="4621846"/>
                </a:lnTo>
                <a:lnTo>
                  <a:pt x="3487810" y="4621846"/>
                </a:lnTo>
                <a:lnTo>
                  <a:pt x="0" y="4621846"/>
                </a:lnTo>
                <a:lnTo>
                  <a:pt x="0" y="4621846"/>
                </a:lnTo>
                <a:lnTo>
                  <a:pt x="0" y="0"/>
                </a:lnTo>
                <a:close/>
              </a:path>
            </a:pathLst>
          </a:custGeom>
          <a:solidFill>
            <a:schemeClr val="bg1"/>
          </a:solidFill>
          <a:ln>
            <a:noFill/>
          </a:ln>
          <a:effectLst>
            <a:outerShdw blurRad="787400" dist="1270000" dir="5400000" sx="70000" sy="70000" algn="t"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33" name="矩形: 圆角 32"/>
          <p:cNvSpPr/>
          <p:nvPr/>
        </p:nvSpPr>
        <p:spPr>
          <a:xfrm>
            <a:off x="6008636" y="590921"/>
            <a:ext cx="2615858" cy="4087046"/>
          </a:xfrm>
          <a:prstGeom prst="roundRect">
            <a:avLst>
              <a:gd name="adj" fmla="val 0"/>
            </a:avLst>
          </a:prstGeom>
          <a:solidFill>
            <a:schemeClr val="bg1"/>
          </a:solidFill>
          <a:ln>
            <a:noFill/>
          </a:ln>
          <a:effectLst>
            <a:outerShdw blurRad="787400" dist="1270000" dir="5400000" sx="70000" sy="70000" algn="t" rotWithShape="0">
              <a:schemeClr val="accent1">
                <a:lumMod val="75000"/>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34" name="Rectangle 3"/>
          <p:cNvSpPr/>
          <p:nvPr/>
        </p:nvSpPr>
        <p:spPr>
          <a:xfrm>
            <a:off x="521494" y="4643677"/>
            <a:ext cx="2615858" cy="34289"/>
          </a:xfrm>
          <a:prstGeom prst="rect">
            <a:avLst/>
          </a:prstGeom>
          <a:gradFill>
            <a:gsLst>
              <a:gs pos="100000">
                <a:schemeClr val="accent1">
                  <a:lumMod val="7500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dirty="0">
              <a:latin typeface="微软雅黑" panose="020B0503020204020204" pitchFamily="34" charset="-122"/>
              <a:ea typeface="微软雅黑" panose="020B0503020204020204" pitchFamily="34" charset="-122"/>
            </a:endParaRPr>
          </a:p>
        </p:txBody>
      </p:sp>
      <p:sp>
        <p:nvSpPr>
          <p:cNvPr id="35" name="Rectangle 3"/>
          <p:cNvSpPr/>
          <p:nvPr/>
        </p:nvSpPr>
        <p:spPr>
          <a:xfrm>
            <a:off x="3265065" y="4643677"/>
            <a:ext cx="2615858" cy="34289"/>
          </a:xfrm>
          <a:prstGeom prst="rect">
            <a:avLst/>
          </a:prstGeom>
          <a:gradFill>
            <a:gsLst>
              <a:gs pos="100000">
                <a:schemeClr val="accent1">
                  <a:lumMod val="7500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dirty="0">
              <a:latin typeface="微软雅黑" panose="020B0503020204020204" pitchFamily="34" charset="-122"/>
              <a:ea typeface="微软雅黑" panose="020B0503020204020204" pitchFamily="34" charset="-122"/>
            </a:endParaRPr>
          </a:p>
        </p:txBody>
      </p:sp>
      <p:sp>
        <p:nvSpPr>
          <p:cNvPr id="36" name="Rectangle 3"/>
          <p:cNvSpPr/>
          <p:nvPr/>
        </p:nvSpPr>
        <p:spPr>
          <a:xfrm>
            <a:off x="6008636" y="4643677"/>
            <a:ext cx="2615858" cy="34289"/>
          </a:xfrm>
          <a:prstGeom prst="rect">
            <a:avLst/>
          </a:prstGeom>
          <a:gradFill>
            <a:gsLst>
              <a:gs pos="100000">
                <a:schemeClr val="accent1">
                  <a:lumMod val="75000"/>
                </a:schemeClr>
              </a:gs>
              <a:gs pos="0">
                <a:schemeClr val="accent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15" dirty="0">
              <a:latin typeface="微软雅黑" panose="020B0503020204020204" pitchFamily="34" charset="-122"/>
              <a:ea typeface="微软雅黑" panose="020B0503020204020204" pitchFamily="34" charset="-122"/>
            </a:endParaRPr>
          </a:p>
        </p:txBody>
      </p:sp>
      <p:sp>
        <p:nvSpPr>
          <p:cNvPr id="4" name="矩形 3"/>
          <p:cNvSpPr/>
          <p:nvPr/>
        </p:nvSpPr>
        <p:spPr bwMode="auto">
          <a:xfrm>
            <a:off x="133866" y="95405"/>
            <a:ext cx="1980029" cy="400110"/>
          </a:xfrm>
          <a:prstGeom prst="rect">
            <a:avLst/>
          </a:prstGeom>
        </p:spPr>
        <p:txBody>
          <a:bodyPr wrap="none">
            <a:spAutoFit/>
          </a:bodyPr>
          <a:lstStyle/>
          <a:p>
            <a:r>
              <a:rPr lang="zh-CN" altLang="en-US" sz="2000" kern="100" dirty="0">
                <a:solidFill>
                  <a:schemeClr val="bg1"/>
                </a:solidFill>
                <a:latin typeface="思源宋体 CN Heavy" pitchFamily="18" charset="-122"/>
                <a:ea typeface="思源宋体 CN Heavy" pitchFamily="18" charset="-122"/>
                <a:sym typeface="汉仪旗黑-50S"/>
              </a:rPr>
              <a:t>研究背景与目的</a:t>
            </a:r>
          </a:p>
        </p:txBody>
      </p:sp>
      <p:grpSp>
        <p:nvGrpSpPr>
          <p:cNvPr id="5" name="组合 4"/>
          <p:cNvGrpSpPr/>
          <p:nvPr/>
        </p:nvGrpSpPr>
        <p:grpSpPr>
          <a:xfrm>
            <a:off x="8708572" y="235295"/>
            <a:ext cx="206828" cy="123371"/>
            <a:chOff x="6709229" y="856343"/>
            <a:chExt cx="232229" cy="58057"/>
          </a:xfrm>
        </p:grpSpPr>
        <p:cxnSp>
          <p:nvCxnSpPr>
            <p:cNvPr id="6" name="直接连接符 5"/>
            <p:cNvCxnSpPr/>
            <p:nvPr/>
          </p:nvCxnSpPr>
          <p:spPr>
            <a:xfrm>
              <a:off x="6709229" y="856343"/>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709229" y="885372"/>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709229" y="914400"/>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7" name="文本框 6"/>
          <p:cNvSpPr txBox="1">
            <a:spLocks noChangeArrowheads="1"/>
          </p:cNvSpPr>
          <p:nvPr/>
        </p:nvSpPr>
        <p:spPr bwMode="auto">
          <a:xfrm>
            <a:off x="635589" y="1872338"/>
            <a:ext cx="1978918"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zh-CN" altLang="en-US" sz="1800" dirty="0">
                <a:solidFill>
                  <a:schemeClr val="accent1"/>
                </a:solidFill>
              </a:rPr>
              <a:t>无监督</a:t>
            </a:r>
            <a:r>
              <a:rPr lang="en-US" altLang="zh-CN" sz="1800" dirty="0">
                <a:solidFill>
                  <a:schemeClr val="accent1"/>
                </a:solidFill>
              </a:rPr>
              <a:t>/</a:t>
            </a:r>
            <a:r>
              <a:rPr lang="zh-CN" altLang="en-US" sz="1800" dirty="0">
                <a:solidFill>
                  <a:schemeClr val="accent1"/>
                </a:solidFill>
              </a:rPr>
              <a:t>监督学习</a:t>
            </a:r>
          </a:p>
        </p:txBody>
      </p:sp>
      <p:sp>
        <p:nvSpPr>
          <p:cNvPr id="38" name="矩形 37"/>
          <p:cNvSpPr/>
          <p:nvPr/>
        </p:nvSpPr>
        <p:spPr>
          <a:xfrm>
            <a:off x="633939" y="2622097"/>
            <a:ext cx="2446886" cy="792076"/>
          </a:xfrm>
          <a:prstGeom prst="rect">
            <a:avLst/>
          </a:prstGeom>
        </p:spPr>
        <p:txBody>
          <a:bodyPr wrap="square">
            <a:spAutoFit/>
          </a:bodyPr>
          <a:lstStyle/>
          <a:p>
            <a:pPr indent="266700">
              <a:lnSpc>
                <a:spcPct val="150000"/>
              </a:lnSpc>
            </a:pPr>
            <a:r>
              <a:rPr lang="zh-CN" altLang="zh-CN" sz="1050" kern="100" dirty="0">
                <a:solidFill>
                  <a:srgbClr val="0F1115"/>
                </a:solidFill>
                <a:effectLst/>
                <a:latin typeface="等线" panose="02010600030101010101" pitchFamily="2" charset="-122"/>
                <a:ea typeface="宋体" panose="02010600030101010101" pitchFamily="2" charset="-122"/>
                <a:cs typeface="宋体" panose="02010600030101010101" pitchFamily="2" charset="-122"/>
              </a:rPr>
              <a:t>有监督和无监督最主要的区别在于模型在训练时是否需要人工标注的标签信息。</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cxnSp>
        <p:nvCxnSpPr>
          <p:cNvPr id="17" name="直接连接符 16"/>
          <p:cNvCxnSpPr/>
          <p:nvPr/>
        </p:nvCxnSpPr>
        <p:spPr>
          <a:xfrm>
            <a:off x="748496" y="2473221"/>
            <a:ext cx="23467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52355" y="2473221"/>
            <a:ext cx="6076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4" name="文本框 6"/>
          <p:cNvSpPr txBox="1">
            <a:spLocks noChangeArrowheads="1"/>
          </p:cNvSpPr>
          <p:nvPr/>
        </p:nvSpPr>
        <p:spPr bwMode="auto">
          <a:xfrm>
            <a:off x="3387609" y="1872338"/>
            <a:ext cx="1404227"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zh-CN" altLang="en-US" sz="1800" dirty="0">
                <a:solidFill>
                  <a:schemeClr val="accent1"/>
                </a:solidFill>
              </a:rPr>
              <a:t>自监督学习</a:t>
            </a:r>
          </a:p>
        </p:txBody>
      </p:sp>
      <p:sp>
        <p:nvSpPr>
          <p:cNvPr id="45" name="矩形 44"/>
          <p:cNvSpPr/>
          <p:nvPr/>
        </p:nvSpPr>
        <p:spPr>
          <a:xfrm>
            <a:off x="3385959" y="2622097"/>
            <a:ext cx="2446886" cy="151804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前置任务（</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rPr>
              <a:t>Pretext Task</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）：让模型通过完成简单任务自己学会理解图像。</a:t>
            </a:r>
            <a:endPar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endPar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下游任务（</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rPr>
              <a:t>Downstream Task</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）：把学到的特征应用到分类、检测、分割等实际任务中。</a:t>
            </a:r>
          </a:p>
        </p:txBody>
      </p:sp>
      <p:cxnSp>
        <p:nvCxnSpPr>
          <p:cNvPr id="46" name="直接连接符 45"/>
          <p:cNvCxnSpPr/>
          <p:nvPr/>
        </p:nvCxnSpPr>
        <p:spPr>
          <a:xfrm>
            <a:off x="3500516" y="2473221"/>
            <a:ext cx="23467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3504375" y="2473221"/>
            <a:ext cx="6076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9" name="文本框 6"/>
          <p:cNvSpPr txBox="1">
            <a:spLocks noChangeArrowheads="1"/>
          </p:cNvSpPr>
          <p:nvPr/>
        </p:nvSpPr>
        <p:spPr bwMode="auto">
          <a:xfrm>
            <a:off x="6048211" y="1853805"/>
            <a:ext cx="2012056"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en-US" altLang="zh-CN" sz="1800" kern="100" dirty="0">
                <a:solidFill>
                  <a:schemeClr val="accent1"/>
                </a:solidFill>
                <a:ea typeface="思源宋体 CN Heavy" pitchFamily="18" charset="-122"/>
              </a:rPr>
              <a:t>DINOv2 </a:t>
            </a:r>
            <a:r>
              <a:rPr lang="zh-CN" altLang="en-US" sz="1800" kern="100" dirty="0">
                <a:solidFill>
                  <a:schemeClr val="accent1"/>
                </a:solidFill>
                <a:ea typeface="思源宋体 CN Heavy" pitchFamily="18" charset="-122"/>
              </a:rPr>
              <a:t>的优势</a:t>
            </a:r>
            <a:endParaRPr lang="zh-CN" altLang="en-US" sz="1800" dirty="0">
              <a:solidFill>
                <a:schemeClr val="accent1"/>
              </a:solidFill>
            </a:endParaRPr>
          </a:p>
        </p:txBody>
      </p:sp>
      <p:sp>
        <p:nvSpPr>
          <p:cNvPr id="50" name="矩形 49"/>
          <p:cNvSpPr/>
          <p:nvPr/>
        </p:nvSpPr>
        <p:spPr>
          <a:xfrm>
            <a:off x="6061525" y="2623578"/>
            <a:ext cx="2446886" cy="1516313"/>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集成了</a:t>
            </a:r>
            <a:r>
              <a:rPr lang="zh-CN" altLang="zh-CN" sz="1050" b="1" kern="100" dirty="0">
                <a:solidFill>
                  <a:srgbClr val="0F1115"/>
                </a:solidFill>
                <a:effectLst/>
                <a:ea typeface="宋体" panose="02010600030101010101" pitchFamily="2" charset="-122"/>
                <a:cs typeface="宋体" panose="02010600030101010101" pitchFamily="2" charset="-122"/>
              </a:rPr>
              <a:t>图像级别的特征对齐</a:t>
            </a:r>
            <a:r>
              <a:rPr lang="zh-CN" altLang="zh-CN" sz="1050" kern="100" dirty="0">
                <a:solidFill>
                  <a:srgbClr val="0F1115"/>
                </a:solidFill>
                <a:effectLst/>
                <a:ea typeface="宋体" panose="02010600030101010101" pitchFamily="2" charset="-122"/>
                <a:cs typeface="宋体" panose="02010600030101010101" pitchFamily="2" charset="-122"/>
              </a:rPr>
              <a:t>（关注整体语义）和</a:t>
            </a:r>
            <a:r>
              <a:rPr lang="zh-CN" altLang="zh-CN" sz="1050" b="1" kern="100" dirty="0">
                <a:solidFill>
                  <a:srgbClr val="0F1115"/>
                </a:solidFill>
                <a:effectLst/>
                <a:ea typeface="宋体" panose="02010600030101010101" pitchFamily="2" charset="-122"/>
                <a:cs typeface="宋体" panose="02010600030101010101" pitchFamily="2" charset="-122"/>
              </a:rPr>
              <a:t>块级别的掩码预测</a:t>
            </a:r>
            <a:r>
              <a:rPr lang="zh-CN" altLang="zh-CN" sz="1050" kern="100" dirty="0">
                <a:solidFill>
                  <a:srgbClr val="0F1115"/>
                </a:solidFill>
                <a:effectLst/>
                <a:ea typeface="宋体" panose="02010600030101010101" pitchFamily="2" charset="-122"/>
                <a:cs typeface="宋体" panose="02010600030101010101" pitchFamily="2" charset="-122"/>
              </a:rPr>
              <a:t>（学习局部细节）</a:t>
            </a:r>
            <a:endParaRPr lang="en-US" altLang="zh-CN" sz="1050" kern="100" dirty="0">
              <a:solidFill>
                <a:srgbClr val="0F1115"/>
              </a:solidFill>
              <a:effectLst/>
              <a:ea typeface="宋体" panose="02010600030101010101" pitchFamily="2" charset="-122"/>
              <a:cs typeface="宋体" panose="02010600030101010101" pitchFamily="2" charset="-122"/>
            </a:endParaRPr>
          </a:p>
          <a:p>
            <a:pPr>
              <a:lnSpc>
                <a:spcPct val="150000"/>
              </a:lnSpc>
            </a:pPr>
            <a:endParaRPr lang="en-US" altLang="zh-CN" sz="1050" kern="100" dirty="0">
              <a:solidFill>
                <a:srgbClr val="0F1115"/>
              </a:solidFill>
              <a:latin typeface="宋体" panose="02010600030101010101" pitchFamily="2" charset="-122"/>
              <a:ea typeface="宋体" panose="02010600030101010101" pitchFamily="2" charset="-122"/>
            </a:endParaRPr>
          </a:p>
          <a:p>
            <a:pPr>
              <a:lnSpc>
                <a:spcPct val="150000"/>
              </a:lnSpc>
            </a:pPr>
            <a:r>
              <a:rPr lang="zh-CN" altLang="en-US" sz="1050" kern="100" dirty="0">
                <a:solidFill>
                  <a:srgbClr val="0F1115"/>
                </a:solidFill>
                <a:ea typeface="宋体" panose="02010600030101010101" pitchFamily="2" charset="-122"/>
              </a:rPr>
              <a:t>由于自监督学习无需人工标注，从而降低成本、增强泛化</a:t>
            </a:r>
          </a:p>
        </p:txBody>
      </p:sp>
      <p:cxnSp>
        <p:nvCxnSpPr>
          <p:cNvPr id="51" name="直接连接符 50"/>
          <p:cNvCxnSpPr/>
          <p:nvPr/>
        </p:nvCxnSpPr>
        <p:spPr>
          <a:xfrm>
            <a:off x="6117224" y="2494071"/>
            <a:ext cx="234677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121083" y="2494071"/>
            <a:ext cx="607606" cy="0"/>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181772C3-7AD7-BDFA-E74A-E67EAE96AAB6}"/>
              </a:ext>
            </a:extLst>
          </p:cNvPr>
          <p:cNvPicPr>
            <a:picLocks noChangeAspect="1"/>
          </p:cNvPicPr>
          <p:nvPr/>
        </p:nvPicPr>
        <p:blipFill>
          <a:blip r:embed="rId3"/>
          <a:stretch>
            <a:fillRect/>
          </a:stretch>
        </p:blipFill>
        <p:spPr>
          <a:xfrm>
            <a:off x="605980" y="643804"/>
            <a:ext cx="2446886" cy="1204153"/>
          </a:xfrm>
          <a:prstGeom prst="rect">
            <a:avLst/>
          </a:prstGeom>
        </p:spPr>
      </p:pic>
      <p:pic>
        <p:nvPicPr>
          <p:cNvPr id="11" name="图片 10">
            <a:extLst>
              <a:ext uri="{FF2B5EF4-FFF2-40B4-BE49-F238E27FC236}">
                <a16:creationId xmlns:a16="http://schemas.microsoft.com/office/drawing/2014/main" id="{019BCD2A-2592-BBEF-0703-4A327D738DE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20252" y="590920"/>
            <a:ext cx="1708740" cy="1268910"/>
          </a:xfrm>
          <a:prstGeom prst="rect">
            <a:avLst/>
          </a:prstGeom>
          <a:noFill/>
          <a:ln>
            <a:noFill/>
          </a:ln>
        </p:spPr>
      </p:pic>
      <p:pic>
        <p:nvPicPr>
          <p:cNvPr id="13" name="图片 12">
            <a:extLst>
              <a:ext uri="{FF2B5EF4-FFF2-40B4-BE49-F238E27FC236}">
                <a16:creationId xmlns:a16="http://schemas.microsoft.com/office/drawing/2014/main" id="{11BD876B-F219-7304-7629-E875EF19E96F}"/>
              </a:ext>
            </a:extLst>
          </p:cNvPr>
          <p:cNvPicPr>
            <a:picLocks noChangeAspect="1"/>
          </p:cNvPicPr>
          <p:nvPr/>
        </p:nvPicPr>
        <p:blipFill>
          <a:blip r:embed="rId5"/>
          <a:stretch>
            <a:fillRect/>
          </a:stretch>
        </p:blipFill>
        <p:spPr>
          <a:xfrm>
            <a:off x="6008636" y="704541"/>
            <a:ext cx="2580049" cy="1082678"/>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grpSp>
        <p:nvGrpSpPr>
          <p:cNvPr id="4" name="组合 3"/>
          <p:cNvGrpSpPr/>
          <p:nvPr/>
        </p:nvGrpSpPr>
        <p:grpSpPr>
          <a:xfrm>
            <a:off x="3814333" y="838251"/>
            <a:ext cx="1515335" cy="1515335"/>
            <a:chOff x="3738489" y="766689"/>
            <a:chExt cx="1667021" cy="1667021"/>
          </a:xfrm>
        </p:grpSpPr>
        <p:sp>
          <p:nvSpPr>
            <p:cNvPr id="3" name="椭圆 2"/>
            <p:cNvSpPr/>
            <p:nvPr/>
          </p:nvSpPr>
          <p:spPr>
            <a:xfrm>
              <a:off x="3738489" y="766689"/>
              <a:ext cx="1667021" cy="1667021"/>
            </a:xfrm>
            <a:prstGeom prst="ellipse">
              <a:avLst/>
            </a:prstGeom>
            <a:ln w="571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3863441" y="1092368"/>
              <a:ext cx="1417116" cy="1015663"/>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rPr>
                <a:t>02</a:t>
              </a:r>
              <a:endParaRPr kumimoji="0" lang="zh-CN" altLang="en-US"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endParaRPr>
            </a:p>
          </p:txBody>
        </p:sp>
      </p:grpSp>
      <p:sp>
        <p:nvSpPr>
          <p:cNvPr id="124" name="矩形 123"/>
          <p:cNvSpPr/>
          <p:nvPr/>
        </p:nvSpPr>
        <p:spPr bwMode="auto">
          <a:xfrm>
            <a:off x="1935808" y="2617767"/>
            <a:ext cx="5262979" cy="769441"/>
          </a:xfrm>
          <a:prstGeom prst="rect">
            <a:avLst/>
          </a:prstGeom>
        </p:spPr>
        <p:txBody>
          <a:bodyPr wrap="none">
            <a:spAutoFit/>
          </a:bodyPr>
          <a:lstStyle/>
          <a:p>
            <a:pPr fontAlgn="base">
              <a:spcBef>
                <a:spcPct val="0"/>
              </a:spcBef>
              <a:spcAft>
                <a:spcPct val="0"/>
              </a:spcAft>
              <a:defRPr/>
            </a:pPr>
            <a:r>
              <a:rPr lang="zh-CN" altLang="en-US" sz="4400" dirty="0">
                <a:solidFill>
                  <a:schemeClr val="accent1"/>
                </a:solidFill>
                <a:ea typeface="思源宋体 CN Heavy" pitchFamily="18" charset="-122"/>
              </a:rPr>
              <a:t>模型原理与关键技术</a:t>
            </a:r>
            <a:endParaRPr lang="zh-CN" altLang="en-US" sz="4400" dirty="0">
              <a:solidFill>
                <a:schemeClr val="accent1"/>
              </a:solidFill>
              <a:ea typeface="思源宋体 CN Heavy" pitchFamily="18" charset="-122"/>
              <a:sym typeface="汉仪旗黑-50S"/>
            </a:endParaRPr>
          </a:p>
        </p:txBody>
      </p:sp>
      <p:sp>
        <p:nvSpPr>
          <p:cNvPr id="125" name="矩形 124"/>
          <p:cNvSpPr/>
          <p:nvPr/>
        </p:nvSpPr>
        <p:spPr>
          <a:xfrm>
            <a:off x="2005968" y="3372917"/>
            <a:ext cx="5132064" cy="276999"/>
          </a:xfrm>
          <a:prstGeom prst="rect">
            <a:avLst/>
          </a:prstGeom>
        </p:spPr>
        <p:txBody>
          <a:bodyPr wrap="square">
            <a:spAutoFit/>
          </a:bodyPr>
          <a:lstStyle/>
          <a:p>
            <a:pPr lvl="0" algn="ctr" fontAlgn="base">
              <a:spcBef>
                <a:spcPct val="0"/>
              </a:spcBef>
              <a:spcAft>
                <a:spcPct val="0"/>
              </a:spcAft>
              <a:defRPr/>
            </a:pPr>
            <a:r>
              <a:rPr lang="en-US" altLang="zh-CN" sz="1200" dirty="0">
                <a:solidFill>
                  <a:schemeClr val="accent1"/>
                </a:solidFill>
                <a:latin typeface="微软雅黑" panose="020B0503020204020204" pitchFamily="34" charset="-122"/>
                <a:ea typeface="微软雅黑" panose="020B0503020204020204" pitchFamily="34" charset="-122"/>
                <a:sym typeface="汉仪旗黑-50S"/>
              </a:rPr>
              <a:t>Model Principles and Key Technologies</a:t>
            </a:r>
          </a:p>
        </p:txBody>
      </p:sp>
      <p:cxnSp>
        <p:nvCxnSpPr>
          <p:cNvPr id="126" name="直接连接符 125"/>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圆角 4"/>
          <p:cNvSpPr/>
          <p:nvPr/>
        </p:nvSpPr>
        <p:spPr>
          <a:xfrm>
            <a:off x="4035287" y="4277801"/>
            <a:ext cx="1073426" cy="310102"/>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第二单元</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椭圆 9"/>
          <p:cNvSpPr/>
          <p:nvPr/>
        </p:nvSpPr>
        <p:spPr>
          <a:xfrm rot="11700000">
            <a:off x="2685081" y="666427"/>
            <a:ext cx="3773838" cy="3773838"/>
          </a:xfrm>
          <a:prstGeom prst="ellipse">
            <a:avLst/>
          </a:prstGeom>
          <a:noFill/>
          <a:ln w="12700" cap="rnd">
            <a:gradFill>
              <a:gsLst>
                <a:gs pos="0">
                  <a:srgbClr val="138CF7">
                    <a:alpha val="39000"/>
                  </a:srgbClr>
                </a:gs>
                <a:gs pos="65000">
                  <a:srgbClr val="138CF7">
                    <a:alpha val="0"/>
                  </a:srgbClr>
                </a:gs>
              </a:gsLst>
              <a:lin ang="5400000" scaled="1"/>
            </a:gra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40" name="矩形 39"/>
          <p:cNvSpPr/>
          <p:nvPr/>
        </p:nvSpPr>
        <p:spPr>
          <a:xfrm>
            <a:off x="0" y="-1"/>
            <a:ext cx="9144001" cy="5588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4" name="矩形 3"/>
          <p:cNvSpPr/>
          <p:nvPr/>
        </p:nvSpPr>
        <p:spPr bwMode="auto">
          <a:xfrm>
            <a:off x="133866" y="95405"/>
            <a:ext cx="2492990" cy="400110"/>
          </a:xfrm>
          <a:prstGeom prst="rect">
            <a:avLst/>
          </a:prstGeom>
        </p:spPr>
        <p:txBody>
          <a:bodyPr wrap="none">
            <a:spAutoFit/>
          </a:bodyPr>
          <a:lstStyle/>
          <a:p>
            <a:r>
              <a:rPr lang="zh-CN" altLang="en-US" sz="2000" kern="100" dirty="0">
                <a:solidFill>
                  <a:schemeClr val="bg1"/>
                </a:solidFill>
                <a:latin typeface="思源宋体 CN Heavy" pitchFamily="18" charset="-122"/>
                <a:ea typeface="思源宋体 CN Heavy" pitchFamily="18" charset="-122"/>
                <a:sym typeface="汉仪旗黑-50S"/>
              </a:rPr>
              <a:t>模型原理与关键技术</a:t>
            </a:r>
          </a:p>
        </p:txBody>
      </p:sp>
      <p:grpSp>
        <p:nvGrpSpPr>
          <p:cNvPr id="5" name="组合 4"/>
          <p:cNvGrpSpPr/>
          <p:nvPr/>
        </p:nvGrpSpPr>
        <p:grpSpPr>
          <a:xfrm>
            <a:off x="8708572" y="235295"/>
            <a:ext cx="206828" cy="123371"/>
            <a:chOff x="6709229" y="856343"/>
            <a:chExt cx="232229" cy="58057"/>
          </a:xfrm>
        </p:grpSpPr>
        <p:cxnSp>
          <p:nvCxnSpPr>
            <p:cNvPr id="6" name="直接连接符 5"/>
            <p:cNvCxnSpPr/>
            <p:nvPr/>
          </p:nvCxnSpPr>
          <p:spPr>
            <a:xfrm>
              <a:off x="6709229" y="856343"/>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709229" y="885372"/>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709229" y="914400"/>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9" name="椭圆 18"/>
          <p:cNvSpPr/>
          <p:nvPr/>
        </p:nvSpPr>
        <p:spPr>
          <a:xfrm>
            <a:off x="3740150" y="1721496"/>
            <a:ext cx="1663700" cy="16637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20" name="椭圆 19"/>
          <p:cNvSpPr/>
          <p:nvPr/>
        </p:nvSpPr>
        <p:spPr>
          <a:xfrm>
            <a:off x="3509146" y="1490492"/>
            <a:ext cx="2125709" cy="2125709"/>
          </a:xfrm>
          <a:prstGeom prst="ellipse">
            <a:avLst/>
          </a:prstGeom>
          <a:noFill/>
          <a:ln w="12700" cap="rnd">
            <a:gradFill>
              <a:gsLst>
                <a:gs pos="0">
                  <a:srgbClr val="138CF7">
                    <a:alpha val="39000"/>
                  </a:srgbClr>
                </a:gs>
                <a:gs pos="65000">
                  <a:srgbClr val="138CF7">
                    <a:alpha val="0"/>
                  </a:srgbClr>
                </a:gs>
              </a:gsLst>
              <a:lin ang="5400000" scaled="1"/>
            </a:gra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21" name="弧形 20"/>
          <p:cNvSpPr/>
          <p:nvPr/>
        </p:nvSpPr>
        <p:spPr>
          <a:xfrm>
            <a:off x="3515868" y="1497214"/>
            <a:ext cx="2112264" cy="2112264"/>
          </a:xfrm>
          <a:prstGeom prst="arc">
            <a:avLst>
              <a:gd name="adj1" fmla="val 21192328"/>
              <a:gd name="adj2" fmla="val 13412766"/>
            </a:avLst>
          </a:prstGeom>
          <a:ln w="25400">
            <a:gradFill flip="none" rotWithShape="1">
              <a:gsLst>
                <a:gs pos="46000">
                  <a:schemeClr val="accent1"/>
                </a:gs>
                <a:gs pos="97000">
                  <a:schemeClr val="accent1">
                    <a:alpha val="0"/>
                  </a:schemeClr>
                </a:gs>
              </a:gsLst>
              <a:lin ang="0" scaled="1"/>
            </a:gradFill>
          </a:ln>
          <a:effectLst>
            <a:outerShdw blurRad="63500" algn="ctr" rotWithShape="0">
              <a:schemeClr val="accent1">
                <a:alpha val="50000"/>
              </a:scheme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23" name="椭圆 22"/>
          <p:cNvSpPr/>
          <p:nvPr/>
        </p:nvSpPr>
        <p:spPr>
          <a:xfrm flipV="1">
            <a:off x="3768488" y="1788848"/>
            <a:ext cx="95619" cy="95619"/>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latin typeface="微软雅黑" panose="020B0503020204020204" pitchFamily="34" charset="-122"/>
              <a:ea typeface="微软雅黑" panose="020B0503020204020204" pitchFamily="34" charset="-122"/>
            </a:endParaRPr>
          </a:p>
        </p:txBody>
      </p:sp>
      <p:sp>
        <p:nvSpPr>
          <p:cNvPr id="24" name="Oval 350"/>
          <p:cNvSpPr>
            <a:spLocks noChangeArrowheads="1"/>
          </p:cNvSpPr>
          <p:nvPr/>
        </p:nvSpPr>
        <p:spPr bwMode="auto">
          <a:xfrm>
            <a:off x="5710151" y="1044831"/>
            <a:ext cx="248628" cy="245985"/>
          </a:xfrm>
          <a:prstGeom prst="ellipse">
            <a:avLst/>
          </a:prstGeom>
          <a:gradFill flip="none" rotWithShape="1">
            <a:gsLst>
              <a:gs pos="100000">
                <a:schemeClr val="accent1">
                  <a:alpha val="0"/>
                </a:schemeClr>
              </a:gs>
              <a:gs pos="0">
                <a:schemeClr val="accent1"/>
              </a:gs>
            </a:gsLst>
            <a:lin ang="2700000" scaled="1"/>
          </a:gradFill>
          <a:ln>
            <a:noFill/>
          </a:ln>
          <a:effectLst>
            <a:softEdge rad="76200"/>
          </a:effectLst>
        </p:spPr>
        <p:txBody>
          <a:bodyPr vert="horz" wrap="square" lIns="68580" tIns="34290" rIns="68580" bIns="34290" numCol="1" anchor="t" anchorCtr="0" compatLnSpc="1"/>
          <a:lstStyle/>
          <a:p>
            <a:endParaRPr lang="zh-CN" altLang="en-US" sz="1015" dirty="0">
              <a:solidFill>
                <a:prstClr val="black"/>
              </a:solidFill>
              <a:latin typeface="微软雅黑" panose="020B0503020204020204" pitchFamily="34" charset="-122"/>
              <a:ea typeface="微软雅黑" panose="020B0503020204020204" pitchFamily="34" charset="-122"/>
            </a:endParaRPr>
          </a:p>
        </p:txBody>
      </p:sp>
      <p:sp>
        <p:nvSpPr>
          <p:cNvPr id="26" name="Oval 350"/>
          <p:cNvSpPr>
            <a:spLocks noChangeArrowheads="1"/>
          </p:cNvSpPr>
          <p:nvPr/>
        </p:nvSpPr>
        <p:spPr bwMode="auto">
          <a:xfrm>
            <a:off x="5319428" y="3456154"/>
            <a:ext cx="496725" cy="491442"/>
          </a:xfrm>
          <a:prstGeom prst="ellipse">
            <a:avLst/>
          </a:prstGeom>
          <a:gradFill flip="none" rotWithShape="1">
            <a:gsLst>
              <a:gs pos="100000">
                <a:schemeClr val="accent1">
                  <a:alpha val="0"/>
                </a:schemeClr>
              </a:gs>
              <a:gs pos="0">
                <a:schemeClr val="accent1">
                  <a:alpha val="30000"/>
                </a:schemeClr>
              </a:gs>
            </a:gsLst>
            <a:lin ang="2700000" scaled="1"/>
          </a:gradFill>
          <a:ln>
            <a:noFill/>
          </a:ln>
          <a:effectLst>
            <a:softEdge rad="63500"/>
          </a:effectLst>
        </p:spPr>
        <p:txBody>
          <a:bodyPr vert="horz" wrap="square" lIns="68580" tIns="34290" rIns="68580" bIns="34290" numCol="1" anchor="t" anchorCtr="0" compatLnSpc="1"/>
          <a:lstStyle/>
          <a:p>
            <a:endParaRPr lang="zh-CN" altLang="en-US" sz="1015" dirty="0">
              <a:solidFill>
                <a:prstClr val="black"/>
              </a:solidFill>
              <a:latin typeface="微软雅黑" panose="020B0503020204020204" pitchFamily="34" charset="-122"/>
              <a:ea typeface="微软雅黑" panose="020B0503020204020204" pitchFamily="34" charset="-122"/>
            </a:endParaRPr>
          </a:p>
        </p:txBody>
      </p:sp>
      <p:sp>
        <p:nvSpPr>
          <p:cNvPr id="33" name="Oval 350"/>
          <p:cNvSpPr>
            <a:spLocks noChangeArrowheads="1"/>
          </p:cNvSpPr>
          <p:nvPr/>
        </p:nvSpPr>
        <p:spPr bwMode="auto">
          <a:xfrm>
            <a:off x="3541038" y="3556945"/>
            <a:ext cx="270180" cy="267308"/>
          </a:xfrm>
          <a:prstGeom prst="ellipse">
            <a:avLst/>
          </a:prstGeom>
          <a:gradFill flip="none" rotWithShape="1">
            <a:gsLst>
              <a:gs pos="0">
                <a:schemeClr val="accent1">
                  <a:alpha val="0"/>
                </a:schemeClr>
              </a:gs>
              <a:gs pos="100000">
                <a:schemeClr val="accent1">
                  <a:alpha val="64000"/>
                </a:schemeClr>
              </a:gs>
            </a:gsLst>
            <a:lin ang="13500000" scaled="1"/>
          </a:gradFill>
          <a:ln>
            <a:noFill/>
          </a:ln>
          <a:effectLst>
            <a:softEdge rad="0"/>
          </a:effectLst>
        </p:spPr>
        <p:txBody>
          <a:bodyPr vert="horz" wrap="square" lIns="68580" tIns="34290" rIns="68580" bIns="34290" numCol="1" anchor="t" anchorCtr="0" compatLnSpc="1"/>
          <a:lstStyle/>
          <a:p>
            <a:pPr>
              <a:defRPr/>
            </a:pPr>
            <a:endParaRPr lang="zh-CN" altLang="en-US" dirty="0">
              <a:solidFill>
                <a:prstClr val="black"/>
              </a:solidFill>
              <a:latin typeface="微软雅黑" panose="020B0503020204020204" pitchFamily="34" charset="-122"/>
              <a:ea typeface="微软雅黑" panose="020B0503020204020204" pitchFamily="34" charset="-122"/>
            </a:endParaRPr>
          </a:p>
        </p:txBody>
      </p:sp>
      <p:sp>
        <p:nvSpPr>
          <p:cNvPr id="34" name="矩形 33"/>
          <p:cNvSpPr/>
          <p:nvPr/>
        </p:nvSpPr>
        <p:spPr>
          <a:xfrm>
            <a:off x="3864118" y="2352460"/>
            <a:ext cx="1415772" cy="461665"/>
          </a:xfrm>
          <a:prstGeom prst="rect">
            <a:avLst/>
          </a:prstGeom>
        </p:spPr>
        <p:txBody>
          <a:bodyPr wrap="none">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模型原理</a:t>
            </a:r>
          </a:p>
        </p:txBody>
      </p:sp>
      <p:sp>
        <p:nvSpPr>
          <p:cNvPr id="35" name="文本框 6"/>
          <p:cNvSpPr txBox="1">
            <a:spLocks noChangeArrowheads="1"/>
          </p:cNvSpPr>
          <p:nvPr/>
        </p:nvSpPr>
        <p:spPr bwMode="auto">
          <a:xfrm flipH="1">
            <a:off x="1378383" y="1230923"/>
            <a:ext cx="1391445"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en-US" altLang="zh-CN" sz="1800" b="0" dirty="0">
                <a:solidFill>
                  <a:schemeClr val="accent1"/>
                </a:solidFill>
              </a:rPr>
              <a:t>DINO </a:t>
            </a:r>
            <a:r>
              <a:rPr lang="zh-CN" altLang="en-US" sz="1800" b="0" dirty="0">
                <a:solidFill>
                  <a:schemeClr val="accent1"/>
                </a:solidFill>
              </a:rPr>
              <a:t>损失</a:t>
            </a:r>
          </a:p>
        </p:txBody>
      </p:sp>
      <mc:AlternateContent xmlns:mc="http://schemas.openxmlformats.org/markup-compatibility/2006">
        <mc:Choice xmlns:a14="http://schemas.microsoft.com/office/drawing/2010/main" Requires="a14">
          <p:sp>
            <p:nvSpPr>
              <p:cNvPr id="36" name="矩形 35"/>
              <p:cNvSpPr/>
              <p:nvPr/>
            </p:nvSpPr>
            <p:spPr>
              <a:xfrm flipH="1">
                <a:off x="792405" y="3432011"/>
                <a:ext cx="2842033" cy="371127"/>
              </a:xfrm>
              <a:prstGeom prst="rect">
                <a:avLst/>
              </a:prstGeom>
            </p:spPr>
            <p:txBody>
              <a:bodyPr wrap="square">
                <a:spAutoFit/>
              </a:bodyPr>
              <a:lstStyle/>
              <a:p>
                <a:pPr indent="127000">
                  <a:lnSpc>
                    <a:spcPct val="150000"/>
                  </a:lnSpc>
                </a:pPr>
                <a:r>
                  <a:rPr lang="zh-CN" altLang="en-US" sz="1200" kern="100" dirty="0">
                    <a:solidFill>
                      <a:srgbClr val="0F1115"/>
                    </a:solidFill>
                    <a:effectLst/>
                    <a:ea typeface="Cambria Math" panose="02040503050406030204" pitchFamily="18" charset="0"/>
                    <a:cs typeface="宋体" panose="02010600030101010101" pitchFamily="2" charset="-122"/>
                  </a:rPr>
                  <a:t>公式</a:t>
                </a:r>
                <a14:m>
                  <m:oMath xmlns:m="http://schemas.openxmlformats.org/officeDocument/2006/math">
                    <m:r>
                      <a:rPr lang="zh-CN" altLang="en-US" sz="1200" i="1" kern="100">
                        <a:solidFill>
                          <a:srgbClr val="0F1115"/>
                        </a:solidFill>
                        <a:latin typeface="Cambria Math" panose="02040503050406030204" pitchFamily="18" charset="0"/>
                        <a:ea typeface="Cambria Math" panose="02040503050406030204" pitchFamily="18" charset="0"/>
                        <a:cs typeface="宋体" panose="02010600030101010101" pitchFamily="2" charset="-122"/>
                      </a:rPr>
                      <m:t>：</m:t>
                    </m:r>
                    <m:sSub>
                      <m:sSubPr>
                        <m:ctrlPr>
                          <a:rPr lang="zh-CN" altLang="zh-CN" sz="1200" i="1" kern="100" smtClean="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𝐿</m:t>
                        </m:r>
                      </m:e>
                      <m:sub>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𝑖𝐵𝑂𝑇</m:t>
                        </m:r>
                      </m:sub>
                    </m:sSub>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m:t>
                    </m:r>
                    <m:nary>
                      <m:naryPr>
                        <m:chr m:val="∑"/>
                        <m:limLoc m:val="undOvr"/>
                        <m:subHide m:val="on"/>
                        <m:supHide m:val="on"/>
                        <m:ctrlPr>
                          <a:rPr lang="zh-CN" altLang="zh-CN" sz="1200" i="1" kern="10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naryPr>
                      <m:sub/>
                      <m:sup/>
                      <m:e>
                        <m:sSub>
                          <m:sSubPr>
                            <m:ctrlPr>
                              <a:rPr lang="zh-CN" altLang="zh-CN" sz="1200" i="1" kern="10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𝑝</m:t>
                            </m:r>
                          </m:e>
                          <m:sub>
                            <m:sSub>
                              <m:sSubPr>
                                <m:ctrlPr>
                                  <a:rPr lang="zh-CN" altLang="zh-CN" sz="1200" i="1" kern="10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𝑡</m:t>
                                </m:r>
                              </m:e>
                              <m:sub>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𝑖</m:t>
                                </m:r>
                              </m:sub>
                            </m:sSub>
                          </m:sub>
                        </m:sSub>
                        <m:sSub>
                          <m:sSubPr>
                            <m:ctrlPr>
                              <a:rPr lang="zh-CN" altLang="zh-CN" sz="1200" i="1" kern="10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𝑙𝑜𝑔</m:t>
                            </m:r>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 </m:t>
                            </m:r>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𝑝</m:t>
                            </m:r>
                          </m:e>
                          <m:sub>
                            <m:sSub>
                              <m:sSubPr>
                                <m:ctrlPr>
                                  <a:rPr lang="zh-CN" altLang="zh-CN" sz="1200" i="1" kern="100">
                                    <a:solidFill>
                                      <a:srgbClr val="0F1115"/>
                                    </a:solidFill>
                                    <a:effectLst/>
                                    <a:latin typeface="Cambria Math" panose="02040503050406030204" pitchFamily="18" charset="0"/>
                                    <a:ea typeface="Cambria Math" panose="02040503050406030204" pitchFamily="18" charset="0"/>
                                    <a:cs typeface="宋体" panose="02010600030101010101" pitchFamily="2" charset="-122"/>
                                  </a:rPr>
                                </m:ctrlPr>
                              </m:sSubPr>
                              <m:e>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𝑠</m:t>
                                </m:r>
                              </m:e>
                              <m:sub>
                                <m:r>
                                  <a:rPr lang="en-US" altLang="zh-CN" sz="1200" i="1" kern="100">
                                    <a:solidFill>
                                      <a:srgbClr val="0F1115"/>
                                    </a:solidFill>
                                    <a:effectLst/>
                                    <a:latin typeface="Cambria Math" panose="02040503050406030204" pitchFamily="18" charset="0"/>
                                    <a:ea typeface="宋体" panose="02010600030101010101" pitchFamily="2" charset="-122"/>
                                    <a:cs typeface="宋体" panose="02010600030101010101" pitchFamily="2" charset="-122"/>
                                  </a:rPr>
                                  <m:t>𝑖</m:t>
                                </m:r>
                              </m:sub>
                            </m:sSub>
                          </m:sub>
                        </m:sSub>
                      </m:e>
                    </m:nary>
                  </m:oMath>
                </a14:m>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p:sp>
            <p:nvSpPr>
              <p:cNvPr id="36" name="矩形 35"/>
              <p:cNvSpPr>
                <a:spLocks noRot="1" noChangeAspect="1" noMove="1" noResize="1" noEditPoints="1" noAdjustHandles="1" noChangeArrowheads="1" noChangeShapeType="1" noTextEdit="1"/>
              </p:cNvSpPr>
              <p:nvPr/>
            </p:nvSpPr>
            <p:spPr>
              <a:xfrm flipH="1">
                <a:off x="792405" y="3432011"/>
                <a:ext cx="2842033" cy="371127"/>
              </a:xfrm>
              <a:prstGeom prst="rect">
                <a:avLst/>
              </a:prstGeom>
              <a:blipFill>
                <a:blip r:embed="rId2"/>
                <a:stretch>
                  <a:fillRect t="-50820" b="-114754"/>
                </a:stretch>
              </a:blipFill>
            </p:spPr>
            <p:txBody>
              <a:bodyPr/>
              <a:lstStyle/>
              <a:p>
                <a:r>
                  <a:rPr lang="zh-CN" altLang="en-US">
                    <a:noFill/>
                  </a:rPr>
                  <a:t> </a:t>
                </a:r>
              </a:p>
            </p:txBody>
          </p:sp>
        </mc:Fallback>
      </mc:AlternateContent>
      <p:sp>
        <p:nvSpPr>
          <p:cNvPr id="37" name="文本框 6"/>
          <p:cNvSpPr txBox="1">
            <a:spLocks noChangeArrowheads="1"/>
          </p:cNvSpPr>
          <p:nvPr/>
        </p:nvSpPr>
        <p:spPr bwMode="auto">
          <a:xfrm flipH="1">
            <a:off x="1469586" y="3147765"/>
            <a:ext cx="1230501"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r"/>
            <a:r>
              <a:rPr lang="en-US" altLang="zh-CN" sz="1800" b="0" dirty="0" err="1">
                <a:solidFill>
                  <a:schemeClr val="accent1"/>
                </a:solidFill>
              </a:rPr>
              <a:t>iBOT</a:t>
            </a:r>
            <a:r>
              <a:rPr lang="en-US" altLang="zh-CN" sz="1800" b="0" dirty="0">
                <a:solidFill>
                  <a:schemeClr val="accent1"/>
                </a:solidFill>
              </a:rPr>
              <a:t> </a:t>
            </a:r>
            <a:r>
              <a:rPr lang="zh-CN" altLang="en-US" sz="1800" b="0" dirty="0">
                <a:solidFill>
                  <a:schemeClr val="accent1"/>
                </a:solidFill>
              </a:rPr>
              <a:t>损失</a:t>
            </a:r>
          </a:p>
        </p:txBody>
      </p:sp>
      <p:sp>
        <p:nvSpPr>
          <p:cNvPr id="38" name="矩形 37"/>
          <p:cNvSpPr/>
          <p:nvPr/>
        </p:nvSpPr>
        <p:spPr>
          <a:xfrm flipH="1">
            <a:off x="584983" y="1975551"/>
            <a:ext cx="2417243" cy="306174"/>
          </a:xfrm>
          <a:prstGeom prst="rect">
            <a:avLst/>
          </a:prstGeom>
        </p:spPr>
        <p:txBody>
          <a:bodyPr wrap="square">
            <a:spAutoFit/>
          </a:bodyPr>
          <a:lstStyle/>
          <a:p>
            <a:pPr algn="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负责图像级的全局特征对齐</a:t>
            </a:r>
          </a:p>
        </p:txBody>
      </p:sp>
      <p:sp>
        <p:nvSpPr>
          <p:cNvPr id="2" name="椭圆 1"/>
          <p:cNvSpPr/>
          <p:nvPr/>
        </p:nvSpPr>
        <p:spPr>
          <a:xfrm>
            <a:off x="2812942" y="1294108"/>
            <a:ext cx="333215" cy="3332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9" name="椭圆 38"/>
          <p:cNvSpPr/>
          <p:nvPr/>
        </p:nvSpPr>
        <p:spPr>
          <a:xfrm>
            <a:off x="2774196" y="3192650"/>
            <a:ext cx="333215" cy="3332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1" name="椭圆 40"/>
          <p:cNvSpPr/>
          <p:nvPr/>
        </p:nvSpPr>
        <p:spPr>
          <a:xfrm>
            <a:off x="6044338" y="1294108"/>
            <a:ext cx="333215" cy="3332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2" name="椭圆 41"/>
          <p:cNvSpPr/>
          <p:nvPr/>
        </p:nvSpPr>
        <p:spPr>
          <a:xfrm>
            <a:off x="6090833" y="3231396"/>
            <a:ext cx="333215" cy="3332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3" name="文本框 6"/>
          <p:cNvSpPr txBox="1">
            <a:spLocks noChangeArrowheads="1"/>
          </p:cNvSpPr>
          <p:nvPr/>
        </p:nvSpPr>
        <p:spPr bwMode="auto">
          <a:xfrm flipH="1">
            <a:off x="6510856" y="1230923"/>
            <a:ext cx="2064321"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en-US" altLang="zh-CN" sz="1800" b="0" dirty="0" err="1">
                <a:solidFill>
                  <a:schemeClr val="accent1"/>
                </a:solidFill>
              </a:rPr>
              <a:t>Sinkhorn-Knopp</a:t>
            </a:r>
            <a:endParaRPr lang="zh-CN" altLang="en-US" sz="1800" b="0" dirty="0">
              <a:solidFill>
                <a:schemeClr val="accent1"/>
              </a:solidFill>
            </a:endParaRPr>
          </a:p>
        </p:txBody>
      </p:sp>
      <p:sp>
        <p:nvSpPr>
          <p:cNvPr id="44" name="矩形 43"/>
          <p:cNvSpPr/>
          <p:nvPr/>
        </p:nvSpPr>
        <p:spPr>
          <a:xfrm flipH="1">
            <a:off x="6510857" y="1497575"/>
            <a:ext cx="2417243" cy="30617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防止特征坍塌</a:t>
            </a:r>
          </a:p>
        </p:txBody>
      </p:sp>
      <p:sp>
        <p:nvSpPr>
          <p:cNvPr id="45" name="文本框 6"/>
          <p:cNvSpPr txBox="1">
            <a:spLocks noChangeArrowheads="1"/>
          </p:cNvSpPr>
          <p:nvPr/>
        </p:nvSpPr>
        <p:spPr bwMode="auto">
          <a:xfrm flipH="1">
            <a:off x="6510857" y="3230205"/>
            <a:ext cx="1230501"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zh-CN" altLang="en-US" sz="1800" b="0" dirty="0">
                <a:solidFill>
                  <a:schemeClr val="accent1"/>
                </a:solidFill>
              </a:rPr>
              <a:t>知识蒸馏</a:t>
            </a:r>
          </a:p>
        </p:txBody>
      </p:sp>
      <p:sp>
        <p:nvSpPr>
          <p:cNvPr id="46" name="矩形 45"/>
          <p:cNvSpPr/>
          <p:nvPr/>
        </p:nvSpPr>
        <p:spPr>
          <a:xfrm flipH="1">
            <a:off x="6510857" y="3496857"/>
            <a:ext cx="2417243" cy="30617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让小模型继承大模型能力</a:t>
            </a:r>
          </a:p>
        </p:txBody>
      </p:sp>
      <p:sp>
        <p:nvSpPr>
          <p:cNvPr id="29" name="Freeform 5"/>
          <p:cNvSpPr>
            <a:spLocks noEditPoints="1"/>
          </p:cNvSpPr>
          <p:nvPr/>
        </p:nvSpPr>
        <p:spPr bwMode="auto">
          <a:xfrm>
            <a:off x="2918127" y="1373767"/>
            <a:ext cx="122845" cy="156012"/>
          </a:xfrm>
          <a:custGeom>
            <a:avLst/>
            <a:gdLst>
              <a:gd name="T0" fmla="*/ 613 w 623"/>
              <a:gd name="T1" fmla="*/ 84 h 798"/>
              <a:gd name="T2" fmla="*/ 504 w 623"/>
              <a:gd name="T3" fmla="*/ 10 h 798"/>
              <a:gd name="T4" fmla="*/ 423 w 623"/>
              <a:gd name="T5" fmla="*/ 91 h 798"/>
              <a:gd name="T6" fmla="*/ 224 w 623"/>
              <a:gd name="T7" fmla="*/ 291 h 798"/>
              <a:gd name="T8" fmla="*/ 181 w 623"/>
              <a:gd name="T9" fmla="*/ 283 h 798"/>
              <a:gd name="T10" fmla="*/ 181 w 623"/>
              <a:gd name="T11" fmla="*/ 318 h 798"/>
              <a:gd name="T12" fmla="*/ 132 w 623"/>
              <a:gd name="T13" fmla="*/ 383 h 798"/>
              <a:gd name="T14" fmla="*/ 206 w 623"/>
              <a:gd name="T15" fmla="*/ 492 h 798"/>
              <a:gd name="T16" fmla="*/ 241 w 623"/>
              <a:gd name="T17" fmla="*/ 492 h 798"/>
              <a:gd name="T18" fmla="*/ 305 w 623"/>
              <a:gd name="T19" fmla="*/ 443 h 798"/>
              <a:gd name="T20" fmla="*/ 341 w 623"/>
              <a:gd name="T21" fmla="*/ 408 h 798"/>
              <a:gd name="T22" fmla="*/ 446 w 623"/>
              <a:gd name="T23" fmla="*/ 287 h 798"/>
              <a:gd name="T24" fmla="*/ 496 w 623"/>
              <a:gd name="T25" fmla="*/ 268 h 798"/>
              <a:gd name="T26" fmla="*/ 463 w 623"/>
              <a:gd name="T27" fmla="*/ 550 h 798"/>
              <a:gd name="T28" fmla="*/ 75 w 623"/>
              <a:gd name="T29" fmla="*/ 525 h 798"/>
              <a:gd name="T30" fmla="*/ 75 w 623"/>
              <a:gd name="T31" fmla="*/ 574 h 798"/>
              <a:gd name="T32" fmla="*/ 312 w 623"/>
              <a:gd name="T33" fmla="*/ 574 h 798"/>
              <a:gd name="T34" fmla="*/ 298 w 623"/>
              <a:gd name="T35" fmla="*/ 649 h 798"/>
              <a:gd name="T36" fmla="*/ 0 w 623"/>
              <a:gd name="T37" fmla="*/ 674 h 798"/>
              <a:gd name="T38" fmla="*/ 0 w 623"/>
              <a:gd name="T39" fmla="*/ 773 h 798"/>
              <a:gd name="T40" fmla="*/ 25 w 623"/>
              <a:gd name="T41" fmla="*/ 798 h 798"/>
              <a:gd name="T42" fmla="*/ 596 w 623"/>
              <a:gd name="T43" fmla="*/ 773 h 798"/>
              <a:gd name="T44" fmla="*/ 596 w 623"/>
              <a:gd name="T45" fmla="*/ 674 h 798"/>
              <a:gd name="T46" fmla="*/ 571 w 623"/>
              <a:gd name="T47" fmla="*/ 649 h 798"/>
              <a:gd name="T48" fmla="*/ 497 w 623"/>
              <a:gd name="T49" fmla="*/ 624 h 798"/>
              <a:gd name="T50" fmla="*/ 596 w 623"/>
              <a:gd name="T51" fmla="*/ 395 h 798"/>
              <a:gd name="T52" fmla="*/ 525 w 623"/>
              <a:gd name="T53" fmla="*/ 229 h 798"/>
              <a:gd name="T54" fmla="*/ 613 w 623"/>
              <a:gd name="T55" fmla="*/ 120 h 798"/>
              <a:gd name="T56" fmla="*/ 546 w 623"/>
              <a:gd name="T57" fmla="*/ 748 h 798"/>
              <a:gd name="T58" fmla="*/ 50 w 623"/>
              <a:gd name="T59" fmla="*/ 698 h 798"/>
              <a:gd name="T60" fmla="*/ 348 w 623"/>
              <a:gd name="T61" fmla="*/ 649 h 798"/>
              <a:gd name="T62" fmla="*/ 397 w 623"/>
              <a:gd name="T63" fmla="*/ 574 h 798"/>
              <a:gd name="T64" fmla="*/ 447 w 623"/>
              <a:gd name="T65" fmla="*/ 649 h 798"/>
              <a:gd name="T66" fmla="*/ 522 w 623"/>
              <a:gd name="T67" fmla="*/ 63 h 798"/>
              <a:gd name="T68" fmla="*/ 522 w 623"/>
              <a:gd name="T69" fmla="*/ 141 h 798"/>
              <a:gd name="T70" fmla="*/ 516 w 623"/>
              <a:gd name="T71" fmla="*/ 132 h 798"/>
              <a:gd name="T72" fmla="*/ 488 w 623"/>
              <a:gd name="T73" fmla="*/ 105 h 798"/>
              <a:gd name="T74" fmla="*/ 522 w 623"/>
              <a:gd name="T75" fmla="*/ 63 h 798"/>
              <a:gd name="T76" fmla="*/ 184 w 623"/>
              <a:gd name="T77" fmla="*/ 400 h 798"/>
              <a:gd name="T78" fmla="*/ 263 w 623"/>
              <a:gd name="T79" fmla="*/ 400 h 798"/>
              <a:gd name="T80" fmla="*/ 298 w 623"/>
              <a:gd name="T81" fmla="*/ 365 h 798"/>
              <a:gd name="T82" fmla="*/ 348 w 623"/>
              <a:gd name="T83" fmla="*/ 237 h 798"/>
              <a:gd name="T84" fmla="*/ 354 w 623"/>
              <a:gd name="T85" fmla="*/ 246 h 798"/>
              <a:gd name="T86" fmla="*/ 382 w 623"/>
              <a:gd name="T87" fmla="*/ 273 h 798"/>
              <a:gd name="T88" fmla="*/ 298 w 623"/>
              <a:gd name="T89" fmla="*/ 365 h 798"/>
              <a:gd name="T90" fmla="*/ 385 w 623"/>
              <a:gd name="T91" fmla="*/ 189 h 798"/>
              <a:gd name="T92" fmla="*/ 484 w 623"/>
              <a:gd name="T93" fmla="*/ 189 h 798"/>
              <a:gd name="T94" fmla="*/ 435 w 623"/>
              <a:gd name="T95" fmla="*/ 23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3" h="798">
                <a:moveTo>
                  <a:pt x="613" y="120"/>
                </a:moveTo>
                <a:cubicBezTo>
                  <a:pt x="623" y="110"/>
                  <a:pt x="623" y="94"/>
                  <a:pt x="613" y="84"/>
                </a:cubicBezTo>
                <a:cubicBezTo>
                  <a:pt x="539" y="10"/>
                  <a:pt x="539" y="10"/>
                  <a:pt x="539" y="10"/>
                </a:cubicBezTo>
                <a:cubicBezTo>
                  <a:pt x="529" y="0"/>
                  <a:pt x="514" y="0"/>
                  <a:pt x="504" y="10"/>
                </a:cubicBezTo>
                <a:cubicBezTo>
                  <a:pt x="504" y="10"/>
                  <a:pt x="504" y="10"/>
                  <a:pt x="504" y="10"/>
                </a:cubicBezTo>
                <a:cubicBezTo>
                  <a:pt x="423" y="91"/>
                  <a:pt x="423" y="91"/>
                  <a:pt x="423" y="91"/>
                </a:cubicBezTo>
                <a:cubicBezTo>
                  <a:pt x="378" y="96"/>
                  <a:pt x="342" y="132"/>
                  <a:pt x="337" y="178"/>
                </a:cubicBezTo>
                <a:cubicBezTo>
                  <a:pt x="224" y="291"/>
                  <a:pt x="224" y="291"/>
                  <a:pt x="224" y="291"/>
                </a:cubicBezTo>
                <a:cubicBezTo>
                  <a:pt x="216" y="283"/>
                  <a:pt x="216" y="283"/>
                  <a:pt x="216" y="283"/>
                </a:cubicBezTo>
                <a:cubicBezTo>
                  <a:pt x="207" y="274"/>
                  <a:pt x="191" y="274"/>
                  <a:pt x="181" y="283"/>
                </a:cubicBezTo>
                <a:cubicBezTo>
                  <a:pt x="172" y="293"/>
                  <a:pt x="172" y="309"/>
                  <a:pt x="181" y="318"/>
                </a:cubicBezTo>
                <a:cubicBezTo>
                  <a:pt x="181" y="318"/>
                  <a:pt x="181" y="318"/>
                  <a:pt x="181" y="318"/>
                </a:cubicBezTo>
                <a:cubicBezTo>
                  <a:pt x="189" y="326"/>
                  <a:pt x="189" y="326"/>
                  <a:pt x="189" y="326"/>
                </a:cubicBezTo>
                <a:cubicBezTo>
                  <a:pt x="132" y="383"/>
                  <a:pt x="132" y="383"/>
                  <a:pt x="132" y="383"/>
                </a:cubicBezTo>
                <a:cubicBezTo>
                  <a:pt x="122" y="392"/>
                  <a:pt x="122" y="408"/>
                  <a:pt x="132" y="418"/>
                </a:cubicBezTo>
                <a:cubicBezTo>
                  <a:pt x="206" y="492"/>
                  <a:pt x="206" y="492"/>
                  <a:pt x="206" y="492"/>
                </a:cubicBezTo>
                <a:cubicBezTo>
                  <a:pt x="216" y="502"/>
                  <a:pt x="232" y="502"/>
                  <a:pt x="241" y="492"/>
                </a:cubicBezTo>
                <a:cubicBezTo>
                  <a:pt x="241" y="492"/>
                  <a:pt x="241" y="492"/>
                  <a:pt x="241" y="492"/>
                </a:cubicBezTo>
                <a:cubicBezTo>
                  <a:pt x="298" y="435"/>
                  <a:pt x="298" y="435"/>
                  <a:pt x="298" y="435"/>
                </a:cubicBezTo>
                <a:cubicBezTo>
                  <a:pt x="305" y="443"/>
                  <a:pt x="305" y="443"/>
                  <a:pt x="305" y="443"/>
                </a:cubicBezTo>
                <a:cubicBezTo>
                  <a:pt x="315" y="452"/>
                  <a:pt x="331" y="452"/>
                  <a:pt x="341" y="443"/>
                </a:cubicBezTo>
                <a:cubicBezTo>
                  <a:pt x="350" y="433"/>
                  <a:pt x="350" y="417"/>
                  <a:pt x="341" y="408"/>
                </a:cubicBezTo>
                <a:cubicBezTo>
                  <a:pt x="333" y="400"/>
                  <a:pt x="333" y="400"/>
                  <a:pt x="333" y="400"/>
                </a:cubicBezTo>
                <a:cubicBezTo>
                  <a:pt x="446" y="287"/>
                  <a:pt x="446" y="287"/>
                  <a:pt x="446" y="287"/>
                </a:cubicBezTo>
                <a:cubicBezTo>
                  <a:pt x="464" y="285"/>
                  <a:pt x="481" y="278"/>
                  <a:pt x="495" y="267"/>
                </a:cubicBezTo>
                <a:cubicBezTo>
                  <a:pt x="496" y="267"/>
                  <a:pt x="496" y="268"/>
                  <a:pt x="496" y="268"/>
                </a:cubicBezTo>
                <a:cubicBezTo>
                  <a:pt x="528" y="302"/>
                  <a:pt x="546" y="348"/>
                  <a:pt x="546" y="395"/>
                </a:cubicBezTo>
                <a:cubicBezTo>
                  <a:pt x="546" y="457"/>
                  <a:pt x="515" y="514"/>
                  <a:pt x="463" y="550"/>
                </a:cubicBezTo>
                <a:cubicBezTo>
                  <a:pt x="445" y="534"/>
                  <a:pt x="422" y="525"/>
                  <a:pt x="397" y="525"/>
                </a:cubicBezTo>
                <a:cubicBezTo>
                  <a:pt x="75" y="525"/>
                  <a:pt x="75" y="525"/>
                  <a:pt x="75" y="525"/>
                </a:cubicBezTo>
                <a:cubicBezTo>
                  <a:pt x="61" y="525"/>
                  <a:pt x="50" y="536"/>
                  <a:pt x="50" y="549"/>
                </a:cubicBezTo>
                <a:cubicBezTo>
                  <a:pt x="50" y="563"/>
                  <a:pt x="61" y="574"/>
                  <a:pt x="75" y="574"/>
                </a:cubicBezTo>
                <a:cubicBezTo>
                  <a:pt x="75" y="574"/>
                  <a:pt x="75" y="574"/>
                  <a:pt x="75" y="574"/>
                </a:cubicBezTo>
                <a:cubicBezTo>
                  <a:pt x="312" y="574"/>
                  <a:pt x="312" y="574"/>
                  <a:pt x="312" y="574"/>
                </a:cubicBezTo>
                <a:cubicBezTo>
                  <a:pt x="303" y="589"/>
                  <a:pt x="298" y="606"/>
                  <a:pt x="298" y="624"/>
                </a:cubicBezTo>
                <a:cubicBezTo>
                  <a:pt x="298" y="649"/>
                  <a:pt x="298" y="649"/>
                  <a:pt x="298" y="649"/>
                </a:cubicBezTo>
                <a:cubicBezTo>
                  <a:pt x="25" y="649"/>
                  <a:pt x="25" y="649"/>
                  <a:pt x="25" y="649"/>
                </a:cubicBezTo>
                <a:cubicBezTo>
                  <a:pt x="12" y="649"/>
                  <a:pt x="0" y="660"/>
                  <a:pt x="0" y="674"/>
                </a:cubicBezTo>
                <a:cubicBezTo>
                  <a:pt x="0" y="674"/>
                  <a:pt x="0" y="674"/>
                  <a:pt x="0" y="674"/>
                </a:cubicBezTo>
                <a:cubicBezTo>
                  <a:pt x="0" y="773"/>
                  <a:pt x="0" y="773"/>
                  <a:pt x="0" y="773"/>
                </a:cubicBezTo>
                <a:cubicBezTo>
                  <a:pt x="0" y="787"/>
                  <a:pt x="12" y="798"/>
                  <a:pt x="25" y="798"/>
                </a:cubicBezTo>
                <a:cubicBezTo>
                  <a:pt x="25" y="798"/>
                  <a:pt x="25" y="798"/>
                  <a:pt x="25" y="798"/>
                </a:cubicBezTo>
                <a:cubicBezTo>
                  <a:pt x="571" y="798"/>
                  <a:pt x="571" y="798"/>
                  <a:pt x="571" y="798"/>
                </a:cubicBezTo>
                <a:cubicBezTo>
                  <a:pt x="585" y="798"/>
                  <a:pt x="596" y="787"/>
                  <a:pt x="596" y="773"/>
                </a:cubicBezTo>
                <a:cubicBezTo>
                  <a:pt x="596" y="773"/>
                  <a:pt x="596" y="773"/>
                  <a:pt x="596" y="773"/>
                </a:cubicBezTo>
                <a:cubicBezTo>
                  <a:pt x="596" y="674"/>
                  <a:pt x="596" y="674"/>
                  <a:pt x="596" y="674"/>
                </a:cubicBezTo>
                <a:cubicBezTo>
                  <a:pt x="596" y="660"/>
                  <a:pt x="585" y="649"/>
                  <a:pt x="571" y="649"/>
                </a:cubicBezTo>
                <a:cubicBezTo>
                  <a:pt x="571" y="649"/>
                  <a:pt x="571" y="649"/>
                  <a:pt x="571" y="649"/>
                </a:cubicBezTo>
                <a:cubicBezTo>
                  <a:pt x="497" y="649"/>
                  <a:pt x="497" y="649"/>
                  <a:pt x="497" y="649"/>
                </a:cubicBezTo>
                <a:cubicBezTo>
                  <a:pt x="497" y="624"/>
                  <a:pt x="497" y="624"/>
                  <a:pt x="497" y="624"/>
                </a:cubicBezTo>
                <a:cubicBezTo>
                  <a:pt x="497" y="613"/>
                  <a:pt x="495" y="602"/>
                  <a:pt x="491" y="591"/>
                </a:cubicBezTo>
                <a:cubicBezTo>
                  <a:pt x="557" y="546"/>
                  <a:pt x="596" y="473"/>
                  <a:pt x="596" y="395"/>
                </a:cubicBezTo>
                <a:cubicBezTo>
                  <a:pt x="596" y="335"/>
                  <a:pt x="573" y="278"/>
                  <a:pt x="532" y="234"/>
                </a:cubicBezTo>
                <a:cubicBezTo>
                  <a:pt x="530" y="232"/>
                  <a:pt x="528" y="230"/>
                  <a:pt x="525" y="229"/>
                </a:cubicBezTo>
                <a:cubicBezTo>
                  <a:pt x="529" y="220"/>
                  <a:pt x="532" y="210"/>
                  <a:pt x="533" y="200"/>
                </a:cubicBezTo>
                <a:lnTo>
                  <a:pt x="613" y="120"/>
                </a:lnTo>
                <a:close/>
                <a:moveTo>
                  <a:pt x="546" y="698"/>
                </a:moveTo>
                <a:cubicBezTo>
                  <a:pt x="546" y="748"/>
                  <a:pt x="546" y="748"/>
                  <a:pt x="546" y="748"/>
                </a:cubicBezTo>
                <a:cubicBezTo>
                  <a:pt x="50" y="748"/>
                  <a:pt x="50" y="748"/>
                  <a:pt x="50" y="748"/>
                </a:cubicBezTo>
                <a:cubicBezTo>
                  <a:pt x="50" y="698"/>
                  <a:pt x="50" y="698"/>
                  <a:pt x="50" y="698"/>
                </a:cubicBezTo>
                <a:lnTo>
                  <a:pt x="546" y="698"/>
                </a:lnTo>
                <a:close/>
                <a:moveTo>
                  <a:pt x="348" y="649"/>
                </a:moveTo>
                <a:cubicBezTo>
                  <a:pt x="348" y="624"/>
                  <a:pt x="348" y="624"/>
                  <a:pt x="348" y="624"/>
                </a:cubicBezTo>
                <a:cubicBezTo>
                  <a:pt x="348" y="597"/>
                  <a:pt x="370" y="574"/>
                  <a:pt x="397" y="574"/>
                </a:cubicBezTo>
                <a:cubicBezTo>
                  <a:pt x="425" y="574"/>
                  <a:pt x="447" y="597"/>
                  <a:pt x="447" y="624"/>
                </a:cubicBezTo>
                <a:cubicBezTo>
                  <a:pt x="447" y="649"/>
                  <a:pt x="447" y="649"/>
                  <a:pt x="447" y="649"/>
                </a:cubicBezTo>
                <a:lnTo>
                  <a:pt x="348" y="649"/>
                </a:lnTo>
                <a:close/>
                <a:moveTo>
                  <a:pt x="522" y="63"/>
                </a:moveTo>
                <a:cubicBezTo>
                  <a:pt x="561" y="102"/>
                  <a:pt x="561" y="102"/>
                  <a:pt x="561" y="102"/>
                </a:cubicBezTo>
                <a:cubicBezTo>
                  <a:pt x="522" y="141"/>
                  <a:pt x="522" y="141"/>
                  <a:pt x="522" y="141"/>
                </a:cubicBezTo>
                <a:cubicBezTo>
                  <a:pt x="521" y="139"/>
                  <a:pt x="519" y="138"/>
                  <a:pt x="518" y="136"/>
                </a:cubicBezTo>
                <a:cubicBezTo>
                  <a:pt x="517" y="135"/>
                  <a:pt x="517" y="133"/>
                  <a:pt x="516" y="132"/>
                </a:cubicBezTo>
                <a:cubicBezTo>
                  <a:pt x="509" y="123"/>
                  <a:pt x="501" y="114"/>
                  <a:pt x="492" y="108"/>
                </a:cubicBezTo>
                <a:cubicBezTo>
                  <a:pt x="490" y="107"/>
                  <a:pt x="489" y="106"/>
                  <a:pt x="488" y="105"/>
                </a:cubicBezTo>
                <a:cubicBezTo>
                  <a:pt x="486" y="104"/>
                  <a:pt x="484" y="103"/>
                  <a:pt x="482" y="102"/>
                </a:cubicBezTo>
                <a:lnTo>
                  <a:pt x="522" y="63"/>
                </a:lnTo>
                <a:close/>
                <a:moveTo>
                  <a:pt x="224" y="440"/>
                </a:moveTo>
                <a:cubicBezTo>
                  <a:pt x="184" y="400"/>
                  <a:pt x="184" y="400"/>
                  <a:pt x="184" y="400"/>
                </a:cubicBezTo>
                <a:cubicBezTo>
                  <a:pt x="224" y="361"/>
                  <a:pt x="224" y="361"/>
                  <a:pt x="224" y="361"/>
                </a:cubicBezTo>
                <a:cubicBezTo>
                  <a:pt x="263" y="400"/>
                  <a:pt x="263" y="400"/>
                  <a:pt x="263" y="400"/>
                </a:cubicBezTo>
                <a:lnTo>
                  <a:pt x="224" y="440"/>
                </a:lnTo>
                <a:close/>
                <a:moveTo>
                  <a:pt x="298" y="365"/>
                </a:moveTo>
                <a:cubicBezTo>
                  <a:pt x="259" y="326"/>
                  <a:pt x="259" y="326"/>
                  <a:pt x="259" y="326"/>
                </a:cubicBezTo>
                <a:cubicBezTo>
                  <a:pt x="348" y="237"/>
                  <a:pt x="348" y="237"/>
                  <a:pt x="348" y="237"/>
                </a:cubicBezTo>
                <a:cubicBezTo>
                  <a:pt x="349" y="239"/>
                  <a:pt x="350" y="240"/>
                  <a:pt x="351" y="242"/>
                </a:cubicBezTo>
                <a:cubicBezTo>
                  <a:pt x="352" y="243"/>
                  <a:pt x="353" y="245"/>
                  <a:pt x="354" y="246"/>
                </a:cubicBezTo>
                <a:cubicBezTo>
                  <a:pt x="360" y="255"/>
                  <a:pt x="368" y="264"/>
                  <a:pt x="378" y="270"/>
                </a:cubicBezTo>
                <a:cubicBezTo>
                  <a:pt x="379" y="271"/>
                  <a:pt x="380" y="272"/>
                  <a:pt x="382" y="273"/>
                </a:cubicBezTo>
                <a:cubicBezTo>
                  <a:pt x="384" y="274"/>
                  <a:pt x="385" y="275"/>
                  <a:pt x="387" y="276"/>
                </a:cubicBezTo>
                <a:lnTo>
                  <a:pt x="298" y="365"/>
                </a:lnTo>
                <a:close/>
                <a:moveTo>
                  <a:pt x="435" y="239"/>
                </a:moveTo>
                <a:cubicBezTo>
                  <a:pt x="407" y="239"/>
                  <a:pt x="385" y="217"/>
                  <a:pt x="385" y="189"/>
                </a:cubicBezTo>
                <a:cubicBezTo>
                  <a:pt x="385" y="162"/>
                  <a:pt x="407" y="139"/>
                  <a:pt x="435" y="139"/>
                </a:cubicBezTo>
                <a:cubicBezTo>
                  <a:pt x="462" y="139"/>
                  <a:pt x="484" y="161"/>
                  <a:pt x="484" y="189"/>
                </a:cubicBezTo>
                <a:cubicBezTo>
                  <a:pt x="484" y="189"/>
                  <a:pt x="484" y="189"/>
                  <a:pt x="484" y="189"/>
                </a:cubicBezTo>
                <a:cubicBezTo>
                  <a:pt x="484" y="216"/>
                  <a:pt x="462" y="239"/>
                  <a:pt x="435" y="239"/>
                </a:cubicBezTo>
                <a:close/>
              </a:path>
            </a:pathLst>
          </a:custGeom>
          <a:solidFill>
            <a:schemeClr val="bg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0" name="Freeform 9"/>
          <p:cNvSpPr>
            <a:spLocks noEditPoints="1"/>
          </p:cNvSpPr>
          <p:nvPr/>
        </p:nvSpPr>
        <p:spPr bwMode="auto">
          <a:xfrm>
            <a:off x="6141746" y="1391730"/>
            <a:ext cx="138398" cy="137971"/>
          </a:xfrm>
          <a:custGeom>
            <a:avLst/>
            <a:gdLst>
              <a:gd name="T0" fmla="*/ 623 w 797"/>
              <a:gd name="T1" fmla="*/ 324 h 797"/>
              <a:gd name="T2" fmla="*/ 672 w 797"/>
              <a:gd name="T3" fmla="*/ 373 h 797"/>
              <a:gd name="T4" fmla="*/ 423 w 797"/>
              <a:gd name="T5" fmla="*/ 324 h 797"/>
              <a:gd name="T6" fmla="*/ 374 w 797"/>
              <a:gd name="T7" fmla="*/ 373 h 797"/>
              <a:gd name="T8" fmla="*/ 423 w 797"/>
              <a:gd name="T9" fmla="*/ 324 h 797"/>
              <a:gd name="T10" fmla="*/ 125 w 797"/>
              <a:gd name="T11" fmla="*/ 324 h 797"/>
              <a:gd name="T12" fmla="*/ 174 w 797"/>
              <a:gd name="T13" fmla="*/ 373 h 797"/>
              <a:gd name="T14" fmla="*/ 747 w 797"/>
              <a:gd name="T15" fmla="*/ 249 h 797"/>
              <a:gd name="T16" fmla="*/ 722 w 797"/>
              <a:gd name="T17" fmla="*/ 0 h 797"/>
              <a:gd name="T18" fmla="*/ 573 w 797"/>
              <a:gd name="T19" fmla="*/ 0 h 797"/>
              <a:gd name="T20" fmla="*/ 548 w 797"/>
              <a:gd name="T21" fmla="*/ 25 h 797"/>
              <a:gd name="T22" fmla="*/ 498 w 797"/>
              <a:gd name="T23" fmla="*/ 249 h 797"/>
              <a:gd name="T24" fmla="*/ 473 w 797"/>
              <a:gd name="T25" fmla="*/ 0 h 797"/>
              <a:gd name="T26" fmla="*/ 324 w 797"/>
              <a:gd name="T27" fmla="*/ 0 h 797"/>
              <a:gd name="T28" fmla="*/ 299 w 797"/>
              <a:gd name="T29" fmla="*/ 25 h 797"/>
              <a:gd name="T30" fmla="*/ 249 w 797"/>
              <a:gd name="T31" fmla="*/ 249 h 797"/>
              <a:gd name="T32" fmla="*/ 224 w 797"/>
              <a:gd name="T33" fmla="*/ 0 h 797"/>
              <a:gd name="T34" fmla="*/ 75 w 797"/>
              <a:gd name="T35" fmla="*/ 0 h 797"/>
              <a:gd name="T36" fmla="*/ 50 w 797"/>
              <a:gd name="T37" fmla="*/ 25 h 797"/>
              <a:gd name="T38" fmla="*/ 0 w 797"/>
              <a:gd name="T39" fmla="*/ 299 h 797"/>
              <a:gd name="T40" fmla="*/ 50 w 797"/>
              <a:gd name="T41" fmla="*/ 448 h 797"/>
              <a:gd name="T42" fmla="*/ 149 w 797"/>
              <a:gd name="T43" fmla="*/ 797 h 797"/>
              <a:gd name="T44" fmla="*/ 249 w 797"/>
              <a:gd name="T45" fmla="*/ 448 h 797"/>
              <a:gd name="T46" fmla="*/ 299 w 797"/>
              <a:gd name="T47" fmla="*/ 697 h 797"/>
              <a:gd name="T48" fmla="*/ 498 w 797"/>
              <a:gd name="T49" fmla="*/ 697 h 797"/>
              <a:gd name="T50" fmla="*/ 548 w 797"/>
              <a:gd name="T51" fmla="*/ 448 h 797"/>
              <a:gd name="T52" fmla="*/ 647 w 797"/>
              <a:gd name="T53" fmla="*/ 797 h 797"/>
              <a:gd name="T54" fmla="*/ 747 w 797"/>
              <a:gd name="T55" fmla="*/ 448 h 797"/>
              <a:gd name="T56" fmla="*/ 797 w 797"/>
              <a:gd name="T57" fmla="*/ 299 h 797"/>
              <a:gd name="T58" fmla="*/ 598 w 797"/>
              <a:gd name="T59" fmla="*/ 50 h 797"/>
              <a:gd name="T60" fmla="*/ 697 w 797"/>
              <a:gd name="T61" fmla="*/ 99 h 797"/>
              <a:gd name="T62" fmla="*/ 598 w 797"/>
              <a:gd name="T63" fmla="*/ 50 h 797"/>
              <a:gd name="T64" fmla="*/ 697 w 797"/>
              <a:gd name="T65" fmla="*/ 149 h 797"/>
              <a:gd name="T66" fmla="*/ 598 w 797"/>
              <a:gd name="T67" fmla="*/ 249 h 797"/>
              <a:gd name="T68" fmla="*/ 349 w 797"/>
              <a:gd name="T69" fmla="*/ 50 h 797"/>
              <a:gd name="T70" fmla="*/ 448 w 797"/>
              <a:gd name="T71" fmla="*/ 99 h 797"/>
              <a:gd name="T72" fmla="*/ 349 w 797"/>
              <a:gd name="T73" fmla="*/ 50 h 797"/>
              <a:gd name="T74" fmla="*/ 448 w 797"/>
              <a:gd name="T75" fmla="*/ 149 h 797"/>
              <a:gd name="T76" fmla="*/ 349 w 797"/>
              <a:gd name="T77" fmla="*/ 249 h 797"/>
              <a:gd name="T78" fmla="*/ 100 w 797"/>
              <a:gd name="T79" fmla="*/ 50 h 797"/>
              <a:gd name="T80" fmla="*/ 199 w 797"/>
              <a:gd name="T81" fmla="*/ 99 h 797"/>
              <a:gd name="T82" fmla="*/ 100 w 797"/>
              <a:gd name="T83" fmla="*/ 50 h 797"/>
              <a:gd name="T84" fmla="*/ 199 w 797"/>
              <a:gd name="T85" fmla="*/ 149 h 797"/>
              <a:gd name="T86" fmla="*/ 100 w 797"/>
              <a:gd name="T87" fmla="*/ 249 h 797"/>
              <a:gd name="T88" fmla="*/ 199 w 797"/>
              <a:gd name="T89" fmla="*/ 697 h 797"/>
              <a:gd name="T90" fmla="*/ 100 w 797"/>
              <a:gd name="T91" fmla="*/ 697 h 797"/>
              <a:gd name="T92" fmla="*/ 199 w 797"/>
              <a:gd name="T93" fmla="*/ 448 h 797"/>
              <a:gd name="T94" fmla="*/ 448 w 797"/>
              <a:gd name="T95" fmla="*/ 697 h 797"/>
              <a:gd name="T96" fmla="*/ 349 w 797"/>
              <a:gd name="T97" fmla="*/ 697 h 797"/>
              <a:gd name="T98" fmla="*/ 448 w 797"/>
              <a:gd name="T99" fmla="*/ 448 h 797"/>
              <a:gd name="T100" fmla="*/ 697 w 797"/>
              <a:gd name="T101" fmla="*/ 697 h 797"/>
              <a:gd name="T102" fmla="*/ 598 w 797"/>
              <a:gd name="T103" fmla="*/ 697 h 797"/>
              <a:gd name="T104" fmla="*/ 697 w 797"/>
              <a:gd name="T105" fmla="*/ 448 h 797"/>
              <a:gd name="T106" fmla="*/ 747 w 797"/>
              <a:gd name="T107" fmla="*/ 398 h 797"/>
              <a:gd name="T108" fmla="*/ 50 w 797"/>
              <a:gd name="T109" fmla="*/ 299 h 797"/>
              <a:gd name="T110" fmla="*/ 747 w 797"/>
              <a:gd name="T111" fmla="*/ 398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97" h="797">
                <a:moveTo>
                  <a:pt x="672" y="324"/>
                </a:moveTo>
                <a:cubicBezTo>
                  <a:pt x="623" y="324"/>
                  <a:pt x="623" y="324"/>
                  <a:pt x="623" y="324"/>
                </a:cubicBezTo>
                <a:cubicBezTo>
                  <a:pt x="623" y="373"/>
                  <a:pt x="623" y="373"/>
                  <a:pt x="623" y="373"/>
                </a:cubicBezTo>
                <a:cubicBezTo>
                  <a:pt x="672" y="373"/>
                  <a:pt x="672" y="373"/>
                  <a:pt x="672" y="373"/>
                </a:cubicBezTo>
                <a:lnTo>
                  <a:pt x="672" y="324"/>
                </a:lnTo>
                <a:close/>
                <a:moveTo>
                  <a:pt x="423" y="324"/>
                </a:moveTo>
                <a:cubicBezTo>
                  <a:pt x="374" y="324"/>
                  <a:pt x="374" y="324"/>
                  <a:pt x="374" y="324"/>
                </a:cubicBezTo>
                <a:cubicBezTo>
                  <a:pt x="374" y="373"/>
                  <a:pt x="374" y="373"/>
                  <a:pt x="374" y="373"/>
                </a:cubicBezTo>
                <a:cubicBezTo>
                  <a:pt x="423" y="373"/>
                  <a:pt x="423" y="373"/>
                  <a:pt x="423" y="373"/>
                </a:cubicBezTo>
                <a:lnTo>
                  <a:pt x="423" y="324"/>
                </a:lnTo>
                <a:close/>
                <a:moveTo>
                  <a:pt x="174" y="324"/>
                </a:moveTo>
                <a:cubicBezTo>
                  <a:pt x="125" y="324"/>
                  <a:pt x="125" y="324"/>
                  <a:pt x="125" y="324"/>
                </a:cubicBezTo>
                <a:cubicBezTo>
                  <a:pt x="125" y="373"/>
                  <a:pt x="125" y="373"/>
                  <a:pt x="125" y="373"/>
                </a:cubicBezTo>
                <a:cubicBezTo>
                  <a:pt x="174" y="373"/>
                  <a:pt x="174" y="373"/>
                  <a:pt x="174" y="373"/>
                </a:cubicBezTo>
                <a:lnTo>
                  <a:pt x="174" y="324"/>
                </a:lnTo>
                <a:close/>
                <a:moveTo>
                  <a:pt x="747" y="249"/>
                </a:moveTo>
                <a:cubicBezTo>
                  <a:pt x="747" y="25"/>
                  <a:pt x="747" y="25"/>
                  <a:pt x="747" y="25"/>
                </a:cubicBezTo>
                <a:cubicBezTo>
                  <a:pt x="747" y="11"/>
                  <a:pt x="736" y="0"/>
                  <a:pt x="722" y="0"/>
                </a:cubicBezTo>
                <a:cubicBezTo>
                  <a:pt x="722" y="0"/>
                  <a:pt x="722" y="0"/>
                  <a:pt x="722" y="0"/>
                </a:cubicBezTo>
                <a:cubicBezTo>
                  <a:pt x="573" y="0"/>
                  <a:pt x="573" y="0"/>
                  <a:pt x="573" y="0"/>
                </a:cubicBezTo>
                <a:cubicBezTo>
                  <a:pt x="559" y="0"/>
                  <a:pt x="548" y="11"/>
                  <a:pt x="548" y="25"/>
                </a:cubicBezTo>
                <a:cubicBezTo>
                  <a:pt x="548" y="25"/>
                  <a:pt x="548" y="25"/>
                  <a:pt x="548" y="25"/>
                </a:cubicBezTo>
                <a:cubicBezTo>
                  <a:pt x="548" y="249"/>
                  <a:pt x="548" y="249"/>
                  <a:pt x="548" y="249"/>
                </a:cubicBezTo>
                <a:cubicBezTo>
                  <a:pt x="498" y="249"/>
                  <a:pt x="498" y="249"/>
                  <a:pt x="498" y="249"/>
                </a:cubicBezTo>
                <a:cubicBezTo>
                  <a:pt x="498" y="25"/>
                  <a:pt x="498" y="25"/>
                  <a:pt x="498" y="25"/>
                </a:cubicBezTo>
                <a:cubicBezTo>
                  <a:pt x="498" y="11"/>
                  <a:pt x="487" y="0"/>
                  <a:pt x="473" y="0"/>
                </a:cubicBezTo>
                <a:cubicBezTo>
                  <a:pt x="473" y="0"/>
                  <a:pt x="473" y="0"/>
                  <a:pt x="473" y="0"/>
                </a:cubicBezTo>
                <a:cubicBezTo>
                  <a:pt x="324" y="0"/>
                  <a:pt x="324" y="0"/>
                  <a:pt x="324" y="0"/>
                </a:cubicBezTo>
                <a:cubicBezTo>
                  <a:pt x="310" y="0"/>
                  <a:pt x="299" y="11"/>
                  <a:pt x="299" y="25"/>
                </a:cubicBezTo>
                <a:cubicBezTo>
                  <a:pt x="299" y="25"/>
                  <a:pt x="299" y="25"/>
                  <a:pt x="299" y="25"/>
                </a:cubicBezTo>
                <a:cubicBezTo>
                  <a:pt x="299" y="249"/>
                  <a:pt x="299" y="249"/>
                  <a:pt x="299" y="249"/>
                </a:cubicBezTo>
                <a:cubicBezTo>
                  <a:pt x="249" y="249"/>
                  <a:pt x="249" y="249"/>
                  <a:pt x="249" y="249"/>
                </a:cubicBezTo>
                <a:cubicBezTo>
                  <a:pt x="249" y="25"/>
                  <a:pt x="249" y="25"/>
                  <a:pt x="249" y="25"/>
                </a:cubicBezTo>
                <a:cubicBezTo>
                  <a:pt x="249" y="11"/>
                  <a:pt x="238" y="0"/>
                  <a:pt x="224" y="0"/>
                </a:cubicBezTo>
                <a:cubicBezTo>
                  <a:pt x="224" y="0"/>
                  <a:pt x="224" y="0"/>
                  <a:pt x="224" y="0"/>
                </a:cubicBezTo>
                <a:cubicBezTo>
                  <a:pt x="75" y="0"/>
                  <a:pt x="75" y="0"/>
                  <a:pt x="75" y="0"/>
                </a:cubicBezTo>
                <a:cubicBezTo>
                  <a:pt x="61" y="0"/>
                  <a:pt x="50" y="11"/>
                  <a:pt x="50" y="25"/>
                </a:cubicBezTo>
                <a:cubicBezTo>
                  <a:pt x="50" y="25"/>
                  <a:pt x="50" y="25"/>
                  <a:pt x="50" y="25"/>
                </a:cubicBezTo>
                <a:cubicBezTo>
                  <a:pt x="50" y="249"/>
                  <a:pt x="50" y="249"/>
                  <a:pt x="50" y="249"/>
                </a:cubicBezTo>
                <a:cubicBezTo>
                  <a:pt x="22" y="249"/>
                  <a:pt x="0" y="271"/>
                  <a:pt x="0" y="299"/>
                </a:cubicBezTo>
                <a:cubicBezTo>
                  <a:pt x="0" y="398"/>
                  <a:pt x="0" y="398"/>
                  <a:pt x="0" y="398"/>
                </a:cubicBezTo>
                <a:cubicBezTo>
                  <a:pt x="0" y="426"/>
                  <a:pt x="22" y="448"/>
                  <a:pt x="50" y="448"/>
                </a:cubicBezTo>
                <a:cubicBezTo>
                  <a:pt x="50" y="697"/>
                  <a:pt x="50" y="697"/>
                  <a:pt x="50" y="697"/>
                </a:cubicBezTo>
                <a:cubicBezTo>
                  <a:pt x="50" y="752"/>
                  <a:pt x="94" y="797"/>
                  <a:pt x="149" y="797"/>
                </a:cubicBezTo>
                <a:cubicBezTo>
                  <a:pt x="204" y="797"/>
                  <a:pt x="249" y="752"/>
                  <a:pt x="249" y="697"/>
                </a:cubicBezTo>
                <a:cubicBezTo>
                  <a:pt x="249" y="448"/>
                  <a:pt x="249" y="448"/>
                  <a:pt x="249" y="448"/>
                </a:cubicBezTo>
                <a:cubicBezTo>
                  <a:pt x="299" y="448"/>
                  <a:pt x="299" y="448"/>
                  <a:pt x="299" y="448"/>
                </a:cubicBezTo>
                <a:cubicBezTo>
                  <a:pt x="299" y="697"/>
                  <a:pt x="299" y="697"/>
                  <a:pt x="299" y="697"/>
                </a:cubicBezTo>
                <a:cubicBezTo>
                  <a:pt x="299" y="752"/>
                  <a:pt x="343" y="797"/>
                  <a:pt x="398" y="797"/>
                </a:cubicBezTo>
                <a:cubicBezTo>
                  <a:pt x="453" y="797"/>
                  <a:pt x="498" y="752"/>
                  <a:pt x="498" y="697"/>
                </a:cubicBezTo>
                <a:cubicBezTo>
                  <a:pt x="498" y="448"/>
                  <a:pt x="498" y="448"/>
                  <a:pt x="498" y="448"/>
                </a:cubicBezTo>
                <a:cubicBezTo>
                  <a:pt x="548" y="448"/>
                  <a:pt x="548" y="448"/>
                  <a:pt x="548" y="448"/>
                </a:cubicBezTo>
                <a:cubicBezTo>
                  <a:pt x="548" y="697"/>
                  <a:pt x="548" y="697"/>
                  <a:pt x="548" y="697"/>
                </a:cubicBezTo>
                <a:cubicBezTo>
                  <a:pt x="548" y="752"/>
                  <a:pt x="592" y="797"/>
                  <a:pt x="647" y="797"/>
                </a:cubicBezTo>
                <a:cubicBezTo>
                  <a:pt x="702" y="797"/>
                  <a:pt x="747" y="752"/>
                  <a:pt x="747" y="697"/>
                </a:cubicBezTo>
                <a:cubicBezTo>
                  <a:pt x="747" y="448"/>
                  <a:pt x="747" y="448"/>
                  <a:pt x="747" y="448"/>
                </a:cubicBezTo>
                <a:cubicBezTo>
                  <a:pt x="775" y="448"/>
                  <a:pt x="797" y="426"/>
                  <a:pt x="797" y="398"/>
                </a:cubicBezTo>
                <a:cubicBezTo>
                  <a:pt x="797" y="299"/>
                  <a:pt x="797" y="299"/>
                  <a:pt x="797" y="299"/>
                </a:cubicBezTo>
                <a:cubicBezTo>
                  <a:pt x="797" y="271"/>
                  <a:pt x="775" y="249"/>
                  <a:pt x="747" y="249"/>
                </a:cubicBezTo>
                <a:close/>
                <a:moveTo>
                  <a:pt x="598" y="50"/>
                </a:moveTo>
                <a:cubicBezTo>
                  <a:pt x="697" y="50"/>
                  <a:pt x="697" y="50"/>
                  <a:pt x="697" y="50"/>
                </a:cubicBezTo>
                <a:cubicBezTo>
                  <a:pt x="697" y="99"/>
                  <a:pt x="697" y="99"/>
                  <a:pt x="697" y="99"/>
                </a:cubicBezTo>
                <a:cubicBezTo>
                  <a:pt x="598" y="99"/>
                  <a:pt x="598" y="99"/>
                  <a:pt x="598" y="99"/>
                </a:cubicBezTo>
                <a:lnTo>
                  <a:pt x="598" y="50"/>
                </a:lnTo>
                <a:close/>
                <a:moveTo>
                  <a:pt x="598" y="149"/>
                </a:moveTo>
                <a:cubicBezTo>
                  <a:pt x="697" y="149"/>
                  <a:pt x="697" y="149"/>
                  <a:pt x="697" y="149"/>
                </a:cubicBezTo>
                <a:cubicBezTo>
                  <a:pt x="697" y="249"/>
                  <a:pt x="697" y="249"/>
                  <a:pt x="697" y="249"/>
                </a:cubicBezTo>
                <a:cubicBezTo>
                  <a:pt x="598" y="249"/>
                  <a:pt x="598" y="249"/>
                  <a:pt x="598" y="249"/>
                </a:cubicBezTo>
                <a:lnTo>
                  <a:pt x="598" y="149"/>
                </a:lnTo>
                <a:close/>
                <a:moveTo>
                  <a:pt x="349" y="50"/>
                </a:moveTo>
                <a:cubicBezTo>
                  <a:pt x="448" y="50"/>
                  <a:pt x="448" y="50"/>
                  <a:pt x="448" y="50"/>
                </a:cubicBezTo>
                <a:cubicBezTo>
                  <a:pt x="448" y="99"/>
                  <a:pt x="448" y="99"/>
                  <a:pt x="448" y="99"/>
                </a:cubicBezTo>
                <a:cubicBezTo>
                  <a:pt x="349" y="99"/>
                  <a:pt x="349" y="99"/>
                  <a:pt x="349" y="99"/>
                </a:cubicBezTo>
                <a:lnTo>
                  <a:pt x="349" y="50"/>
                </a:lnTo>
                <a:close/>
                <a:moveTo>
                  <a:pt x="349" y="149"/>
                </a:moveTo>
                <a:cubicBezTo>
                  <a:pt x="448" y="149"/>
                  <a:pt x="448" y="149"/>
                  <a:pt x="448" y="149"/>
                </a:cubicBezTo>
                <a:cubicBezTo>
                  <a:pt x="448" y="249"/>
                  <a:pt x="448" y="249"/>
                  <a:pt x="448" y="249"/>
                </a:cubicBezTo>
                <a:cubicBezTo>
                  <a:pt x="349" y="249"/>
                  <a:pt x="349" y="249"/>
                  <a:pt x="349" y="249"/>
                </a:cubicBezTo>
                <a:lnTo>
                  <a:pt x="349" y="149"/>
                </a:lnTo>
                <a:close/>
                <a:moveTo>
                  <a:pt x="100" y="50"/>
                </a:moveTo>
                <a:cubicBezTo>
                  <a:pt x="199" y="50"/>
                  <a:pt x="199" y="50"/>
                  <a:pt x="199" y="50"/>
                </a:cubicBezTo>
                <a:cubicBezTo>
                  <a:pt x="199" y="99"/>
                  <a:pt x="199" y="99"/>
                  <a:pt x="199" y="99"/>
                </a:cubicBezTo>
                <a:cubicBezTo>
                  <a:pt x="100" y="99"/>
                  <a:pt x="100" y="99"/>
                  <a:pt x="100" y="99"/>
                </a:cubicBezTo>
                <a:lnTo>
                  <a:pt x="100" y="50"/>
                </a:lnTo>
                <a:close/>
                <a:moveTo>
                  <a:pt x="100" y="149"/>
                </a:moveTo>
                <a:cubicBezTo>
                  <a:pt x="199" y="149"/>
                  <a:pt x="199" y="149"/>
                  <a:pt x="199" y="149"/>
                </a:cubicBezTo>
                <a:cubicBezTo>
                  <a:pt x="199" y="249"/>
                  <a:pt x="199" y="249"/>
                  <a:pt x="199" y="249"/>
                </a:cubicBezTo>
                <a:cubicBezTo>
                  <a:pt x="100" y="249"/>
                  <a:pt x="100" y="249"/>
                  <a:pt x="100" y="249"/>
                </a:cubicBezTo>
                <a:lnTo>
                  <a:pt x="100" y="149"/>
                </a:lnTo>
                <a:close/>
                <a:moveTo>
                  <a:pt x="199" y="697"/>
                </a:moveTo>
                <a:cubicBezTo>
                  <a:pt x="199" y="725"/>
                  <a:pt x="177" y="747"/>
                  <a:pt x="149" y="747"/>
                </a:cubicBezTo>
                <a:cubicBezTo>
                  <a:pt x="122" y="747"/>
                  <a:pt x="100" y="725"/>
                  <a:pt x="100" y="697"/>
                </a:cubicBezTo>
                <a:cubicBezTo>
                  <a:pt x="100" y="448"/>
                  <a:pt x="100" y="448"/>
                  <a:pt x="100" y="448"/>
                </a:cubicBezTo>
                <a:cubicBezTo>
                  <a:pt x="199" y="448"/>
                  <a:pt x="199" y="448"/>
                  <a:pt x="199" y="448"/>
                </a:cubicBezTo>
                <a:lnTo>
                  <a:pt x="199" y="697"/>
                </a:lnTo>
                <a:close/>
                <a:moveTo>
                  <a:pt x="448" y="697"/>
                </a:moveTo>
                <a:cubicBezTo>
                  <a:pt x="448" y="725"/>
                  <a:pt x="426" y="747"/>
                  <a:pt x="398" y="747"/>
                </a:cubicBezTo>
                <a:cubicBezTo>
                  <a:pt x="371" y="747"/>
                  <a:pt x="349" y="725"/>
                  <a:pt x="349" y="697"/>
                </a:cubicBezTo>
                <a:cubicBezTo>
                  <a:pt x="349" y="448"/>
                  <a:pt x="349" y="448"/>
                  <a:pt x="349" y="448"/>
                </a:cubicBezTo>
                <a:cubicBezTo>
                  <a:pt x="448" y="448"/>
                  <a:pt x="448" y="448"/>
                  <a:pt x="448" y="448"/>
                </a:cubicBezTo>
                <a:lnTo>
                  <a:pt x="448" y="697"/>
                </a:lnTo>
                <a:close/>
                <a:moveTo>
                  <a:pt x="697" y="697"/>
                </a:moveTo>
                <a:cubicBezTo>
                  <a:pt x="697" y="725"/>
                  <a:pt x="675" y="747"/>
                  <a:pt x="647" y="747"/>
                </a:cubicBezTo>
                <a:cubicBezTo>
                  <a:pt x="620" y="747"/>
                  <a:pt x="598" y="725"/>
                  <a:pt x="598" y="697"/>
                </a:cubicBezTo>
                <a:cubicBezTo>
                  <a:pt x="598" y="448"/>
                  <a:pt x="598" y="448"/>
                  <a:pt x="598" y="448"/>
                </a:cubicBezTo>
                <a:cubicBezTo>
                  <a:pt x="697" y="448"/>
                  <a:pt x="697" y="448"/>
                  <a:pt x="697" y="448"/>
                </a:cubicBezTo>
                <a:lnTo>
                  <a:pt x="697" y="697"/>
                </a:lnTo>
                <a:close/>
                <a:moveTo>
                  <a:pt x="747" y="398"/>
                </a:moveTo>
                <a:cubicBezTo>
                  <a:pt x="50" y="398"/>
                  <a:pt x="50" y="398"/>
                  <a:pt x="50" y="398"/>
                </a:cubicBezTo>
                <a:cubicBezTo>
                  <a:pt x="50" y="299"/>
                  <a:pt x="50" y="299"/>
                  <a:pt x="50" y="299"/>
                </a:cubicBezTo>
                <a:cubicBezTo>
                  <a:pt x="747" y="299"/>
                  <a:pt x="747" y="299"/>
                  <a:pt x="747" y="299"/>
                </a:cubicBezTo>
                <a:lnTo>
                  <a:pt x="747" y="398"/>
                </a:lnTo>
                <a:close/>
              </a:path>
            </a:pathLst>
          </a:custGeom>
          <a:solidFill>
            <a:schemeClr val="bg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31" name="Freeform 13"/>
          <p:cNvSpPr>
            <a:spLocks noEditPoints="1"/>
          </p:cNvSpPr>
          <p:nvPr/>
        </p:nvSpPr>
        <p:spPr bwMode="auto">
          <a:xfrm>
            <a:off x="2879381" y="3277837"/>
            <a:ext cx="122845" cy="162841"/>
          </a:xfrm>
          <a:custGeom>
            <a:avLst/>
            <a:gdLst>
              <a:gd name="T0" fmla="*/ 598 w 598"/>
              <a:gd name="T1" fmla="*/ 287 h 797"/>
              <a:gd name="T2" fmla="*/ 299 w 598"/>
              <a:gd name="T3" fmla="*/ 0 h 797"/>
              <a:gd name="T4" fmla="*/ 0 w 598"/>
              <a:gd name="T5" fmla="*/ 287 h 797"/>
              <a:gd name="T6" fmla="*/ 167 w 598"/>
              <a:gd name="T7" fmla="*/ 543 h 797"/>
              <a:gd name="T8" fmla="*/ 163 w 598"/>
              <a:gd name="T9" fmla="*/ 623 h 797"/>
              <a:gd name="T10" fmla="*/ 150 w 598"/>
              <a:gd name="T11" fmla="*/ 660 h 797"/>
              <a:gd name="T12" fmla="*/ 212 w 598"/>
              <a:gd name="T13" fmla="*/ 723 h 797"/>
              <a:gd name="T14" fmla="*/ 225 w 598"/>
              <a:gd name="T15" fmla="*/ 723 h 797"/>
              <a:gd name="T16" fmla="*/ 299 w 598"/>
              <a:gd name="T17" fmla="*/ 797 h 797"/>
              <a:gd name="T18" fmla="*/ 374 w 598"/>
              <a:gd name="T19" fmla="*/ 723 h 797"/>
              <a:gd name="T20" fmla="*/ 386 w 598"/>
              <a:gd name="T21" fmla="*/ 723 h 797"/>
              <a:gd name="T22" fmla="*/ 449 w 598"/>
              <a:gd name="T23" fmla="*/ 660 h 797"/>
              <a:gd name="T24" fmla="*/ 436 w 598"/>
              <a:gd name="T25" fmla="*/ 623 h 797"/>
              <a:gd name="T26" fmla="*/ 432 w 598"/>
              <a:gd name="T27" fmla="*/ 543 h 797"/>
              <a:gd name="T28" fmla="*/ 598 w 598"/>
              <a:gd name="T29" fmla="*/ 287 h 797"/>
              <a:gd name="T30" fmla="*/ 225 w 598"/>
              <a:gd name="T31" fmla="*/ 355 h 797"/>
              <a:gd name="T32" fmla="*/ 249 w 598"/>
              <a:gd name="T33" fmla="*/ 305 h 797"/>
              <a:gd name="T34" fmla="*/ 277 w 598"/>
              <a:gd name="T35" fmla="*/ 360 h 797"/>
              <a:gd name="T36" fmla="*/ 322 w 598"/>
              <a:gd name="T37" fmla="*/ 360 h 797"/>
              <a:gd name="T38" fmla="*/ 349 w 598"/>
              <a:gd name="T39" fmla="*/ 305 h 797"/>
              <a:gd name="T40" fmla="*/ 374 w 598"/>
              <a:gd name="T41" fmla="*/ 355 h 797"/>
              <a:gd name="T42" fmla="*/ 374 w 598"/>
              <a:gd name="T43" fmla="*/ 512 h 797"/>
              <a:gd name="T44" fmla="*/ 225 w 598"/>
              <a:gd name="T45" fmla="*/ 512 h 797"/>
              <a:gd name="T46" fmla="*/ 225 w 598"/>
              <a:gd name="T47" fmla="*/ 355 h 797"/>
              <a:gd name="T48" fmla="*/ 200 w 598"/>
              <a:gd name="T49" fmla="*/ 586 h 797"/>
              <a:gd name="T50" fmla="*/ 212 w 598"/>
              <a:gd name="T51" fmla="*/ 573 h 797"/>
              <a:gd name="T52" fmla="*/ 386 w 598"/>
              <a:gd name="T53" fmla="*/ 573 h 797"/>
              <a:gd name="T54" fmla="*/ 399 w 598"/>
              <a:gd name="T55" fmla="*/ 586 h 797"/>
              <a:gd name="T56" fmla="*/ 386 w 598"/>
              <a:gd name="T57" fmla="*/ 598 h 797"/>
              <a:gd name="T58" fmla="*/ 212 w 598"/>
              <a:gd name="T59" fmla="*/ 598 h 797"/>
              <a:gd name="T60" fmla="*/ 200 w 598"/>
              <a:gd name="T61" fmla="*/ 586 h 797"/>
              <a:gd name="T62" fmla="*/ 299 w 598"/>
              <a:gd name="T63" fmla="*/ 747 h 797"/>
              <a:gd name="T64" fmla="*/ 274 w 598"/>
              <a:gd name="T65" fmla="*/ 723 h 797"/>
              <a:gd name="T66" fmla="*/ 324 w 598"/>
              <a:gd name="T67" fmla="*/ 723 h 797"/>
              <a:gd name="T68" fmla="*/ 299 w 598"/>
              <a:gd name="T69" fmla="*/ 747 h 797"/>
              <a:gd name="T70" fmla="*/ 386 w 598"/>
              <a:gd name="T71" fmla="*/ 673 h 797"/>
              <a:gd name="T72" fmla="*/ 212 w 598"/>
              <a:gd name="T73" fmla="*/ 673 h 797"/>
              <a:gd name="T74" fmla="*/ 200 w 598"/>
              <a:gd name="T75" fmla="*/ 660 h 797"/>
              <a:gd name="T76" fmla="*/ 212 w 598"/>
              <a:gd name="T77" fmla="*/ 648 h 797"/>
              <a:gd name="T78" fmla="*/ 386 w 598"/>
              <a:gd name="T79" fmla="*/ 648 h 797"/>
              <a:gd name="T80" fmla="*/ 399 w 598"/>
              <a:gd name="T81" fmla="*/ 660 h 797"/>
              <a:gd name="T82" fmla="*/ 386 w 598"/>
              <a:gd name="T83" fmla="*/ 673 h 797"/>
              <a:gd name="T84" fmla="*/ 424 w 598"/>
              <a:gd name="T85" fmla="*/ 491 h 797"/>
              <a:gd name="T86" fmla="*/ 424 w 598"/>
              <a:gd name="T87" fmla="*/ 355 h 797"/>
              <a:gd name="T88" fmla="*/ 471 w 598"/>
              <a:gd name="T89" fmla="*/ 261 h 797"/>
              <a:gd name="T90" fmla="*/ 460 w 598"/>
              <a:gd name="T91" fmla="*/ 227 h 797"/>
              <a:gd name="T92" fmla="*/ 426 w 598"/>
              <a:gd name="T93" fmla="*/ 238 h 797"/>
              <a:gd name="T94" fmla="*/ 399 w 598"/>
              <a:gd name="T95" fmla="*/ 293 h 797"/>
              <a:gd name="T96" fmla="*/ 371 w 598"/>
              <a:gd name="T97" fmla="*/ 238 h 797"/>
              <a:gd name="T98" fmla="*/ 327 w 598"/>
              <a:gd name="T99" fmla="*/ 238 h 797"/>
              <a:gd name="T100" fmla="*/ 299 w 598"/>
              <a:gd name="T101" fmla="*/ 293 h 797"/>
              <a:gd name="T102" fmla="*/ 272 w 598"/>
              <a:gd name="T103" fmla="*/ 238 h 797"/>
              <a:gd name="T104" fmla="*/ 227 w 598"/>
              <a:gd name="T105" fmla="*/ 238 h 797"/>
              <a:gd name="T106" fmla="*/ 200 w 598"/>
              <a:gd name="T107" fmla="*/ 293 h 797"/>
              <a:gd name="T108" fmla="*/ 172 w 598"/>
              <a:gd name="T109" fmla="*/ 238 h 797"/>
              <a:gd name="T110" fmla="*/ 139 w 598"/>
              <a:gd name="T111" fmla="*/ 227 h 797"/>
              <a:gd name="T112" fmla="*/ 128 w 598"/>
              <a:gd name="T113" fmla="*/ 261 h 797"/>
              <a:gd name="T114" fmla="*/ 175 w 598"/>
              <a:gd name="T115" fmla="*/ 355 h 797"/>
              <a:gd name="T116" fmla="*/ 175 w 598"/>
              <a:gd name="T117" fmla="*/ 491 h 797"/>
              <a:gd name="T118" fmla="*/ 50 w 598"/>
              <a:gd name="T119" fmla="*/ 287 h 797"/>
              <a:gd name="T120" fmla="*/ 299 w 598"/>
              <a:gd name="T121" fmla="*/ 50 h 797"/>
              <a:gd name="T122" fmla="*/ 548 w 598"/>
              <a:gd name="T123" fmla="*/ 287 h 797"/>
              <a:gd name="T124" fmla="*/ 424 w 598"/>
              <a:gd name="T125" fmla="*/ 491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98" h="797">
                <a:moveTo>
                  <a:pt x="598" y="287"/>
                </a:moveTo>
                <a:cubicBezTo>
                  <a:pt x="598" y="129"/>
                  <a:pt x="464" y="0"/>
                  <a:pt x="299" y="0"/>
                </a:cubicBezTo>
                <a:cubicBezTo>
                  <a:pt x="134" y="0"/>
                  <a:pt x="0" y="129"/>
                  <a:pt x="0" y="287"/>
                </a:cubicBezTo>
                <a:cubicBezTo>
                  <a:pt x="0" y="399"/>
                  <a:pt x="68" y="496"/>
                  <a:pt x="167" y="543"/>
                </a:cubicBezTo>
                <a:cubicBezTo>
                  <a:pt x="146" y="565"/>
                  <a:pt x="144" y="599"/>
                  <a:pt x="163" y="623"/>
                </a:cubicBezTo>
                <a:cubicBezTo>
                  <a:pt x="154" y="634"/>
                  <a:pt x="150" y="647"/>
                  <a:pt x="150" y="660"/>
                </a:cubicBezTo>
                <a:cubicBezTo>
                  <a:pt x="150" y="695"/>
                  <a:pt x="178" y="723"/>
                  <a:pt x="212" y="723"/>
                </a:cubicBezTo>
                <a:cubicBezTo>
                  <a:pt x="225" y="723"/>
                  <a:pt x="225" y="723"/>
                  <a:pt x="225" y="723"/>
                </a:cubicBezTo>
                <a:cubicBezTo>
                  <a:pt x="225" y="764"/>
                  <a:pt x="258" y="797"/>
                  <a:pt x="299" y="797"/>
                </a:cubicBezTo>
                <a:cubicBezTo>
                  <a:pt x="340" y="797"/>
                  <a:pt x="374" y="764"/>
                  <a:pt x="374" y="723"/>
                </a:cubicBezTo>
                <a:cubicBezTo>
                  <a:pt x="386" y="723"/>
                  <a:pt x="386" y="723"/>
                  <a:pt x="386" y="723"/>
                </a:cubicBezTo>
                <a:cubicBezTo>
                  <a:pt x="421" y="723"/>
                  <a:pt x="449" y="695"/>
                  <a:pt x="449" y="660"/>
                </a:cubicBezTo>
                <a:cubicBezTo>
                  <a:pt x="449" y="647"/>
                  <a:pt x="444" y="634"/>
                  <a:pt x="436" y="623"/>
                </a:cubicBezTo>
                <a:cubicBezTo>
                  <a:pt x="454" y="599"/>
                  <a:pt x="453" y="565"/>
                  <a:pt x="432" y="543"/>
                </a:cubicBezTo>
                <a:cubicBezTo>
                  <a:pt x="530" y="496"/>
                  <a:pt x="598" y="399"/>
                  <a:pt x="598" y="287"/>
                </a:cubicBezTo>
                <a:close/>
                <a:moveTo>
                  <a:pt x="225" y="355"/>
                </a:moveTo>
                <a:cubicBezTo>
                  <a:pt x="249" y="305"/>
                  <a:pt x="249" y="305"/>
                  <a:pt x="249" y="305"/>
                </a:cubicBezTo>
                <a:cubicBezTo>
                  <a:pt x="277" y="360"/>
                  <a:pt x="277" y="360"/>
                  <a:pt x="277" y="360"/>
                </a:cubicBezTo>
                <a:cubicBezTo>
                  <a:pt x="285" y="377"/>
                  <a:pt x="313" y="377"/>
                  <a:pt x="322" y="360"/>
                </a:cubicBezTo>
                <a:cubicBezTo>
                  <a:pt x="349" y="305"/>
                  <a:pt x="349" y="305"/>
                  <a:pt x="349" y="305"/>
                </a:cubicBezTo>
                <a:cubicBezTo>
                  <a:pt x="374" y="355"/>
                  <a:pt x="374" y="355"/>
                  <a:pt x="374" y="355"/>
                </a:cubicBezTo>
                <a:cubicBezTo>
                  <a:pt x="374" y="512"/>
                  <a:pt x="374" y="512"/>
                  <a:pt x="374" y="512"/>
                </a:cubicBezTo>
                <a:cubicBezTo>
                  <a:pt x="325" y="527"/>
                  <a:pt x="273" y="527"/>
                  <a:pt x="225" y="512"/>
                </a:cubicBezTo>
                <a:lnTo>
                  <a:pt x="225" y="355"/>
                </a:lnTo>
                <a:close/>
                <a:moveTo>
                  <a:pt x="200" y="586"/>
                </a:moveTo>
                <a:cubicBezTo>
                  <a:pt x="200" y="579"/>
                  <a:pt x="205" y="573"/>
                  <a:pt x="212" y="573"/>
                </a:cubicBezTo>
                <a:cubicBezTo>
                  <a:pt x="386" y="573"/>
                  <a:pt x="386" y="573"/>
                  <a:pt x="386" y="573"/>
                </a:cubicBezTo>
                <a:cubicBezTo>
                  <a:pt x="393" y="573"/>
                  <a:pt x="399" y="579"/>
                  <a:pt x="399" y="586"/>
                </a:cubicBezTo>
                <a:cubicBezTo>
                  <a:pt x="399" y="593"/>
                  <a:pt x="393" y="598"/>
                  <a:pt x="386" y="598"/>
                </a:cubicBezTo>
                <a:cubicBezTo>
                  <a:pt x="212" y="598"/>
                  <a:pt x="212" y="598"/>
                  <a:pt x="212" y="598"/>
                </a:cubicBezTo>
                <a:cubicBezTo>
                  <a:pt x="205" y="598"/>
                  <a:pt x="200" y="592"/>
                  <a:pt x="200" y="586"/>
                </a:cubicBezTo>
                <a:close/>
                <a:moveTo>
                  <a:pt x="299" y="747"/>
                </a:moveTo>
                <a:cubicBezTo>
                  <a:pt x="285" y="747"/>
                  <a:pt x="274" y="736"/>
                  <a:pt x="274" y="723"/>
                </a:cubicBezTo>
                <a:cubicBezTo>
                  <a:pt x="324" y="723"/>
                  <a:pt x="324" y="723"/>
                  <a:pt x="324" y="723"/>
                </a:cubicBezTo>
                <a:cubicBezTo>
                  <a:pt x="324" y="736"/>
                  <a:pt x="313" y="747"/>
                  <a:pt x="299" y="747"/>
                </a:cubicBezTo>
                <a:close/>
                <a:moveTo>
                  <a:pt x="386" y="673"/>
                </a:moveTo>
                <a:cubicBezTo>
                  <a:pt x="212" y="673"/>
                  <a:pt x="212" y="673"/>
                  <a:pt x="212" y="673"/>
                </a:cubicBezTo>
                <a:cubicBezTo>
                  <a:pt x="205" y="673"/>
                  <a:pt x="200" y="667"/>
                  <a:pt x="200" y="660"/>
                </a:cubicBezTo>
                <a:cubicBezTo>
                  <a:pt x="200" y="653"/>
                  <a:pt x="205" y="648"/>
                  <a:pt x="212" y="648"/>
                </a:cubicBezTo>
                <a:cubicBezTo>
                  <a:pt x="386" y="648"/>
                  <a:pt x="386" y="648"/>
                  <a:pt x="386" y="648"/>
                </a:cubicBezTo>
                <a:cubicBezTo>
                  <a:pt x="393" y="648"/>
                  <a:pt x="399" y="654"/>
                  <a:pt x="399" y="660"/>
                </a:cubicBezTo>
                <a:cubicBezTo>
                  <a:pt x="399" y="667"/>
                  <a:pt x="393" y="673"/>
                  <a:pt x="386" y="673"/>
                </a:cubicBezTo>
                <a:close/>
                <a:moveTo>
                  <a:pt x="424" y="491"/>
                </a:moveTo>
                <a:cubicBezTo>
                  <a:pt x="424" y="355"/>
                  <a:pt x="424" y="355"/>
                  <a:pt x="424" y="355"/>
                </a:cubicBezTo>
                <a:cubicBezTo>
                  <a:pt x="471" y="261"/>
                  <a:pt x="471" y="261"/>
                  <a:pt x="471" y="261"/>
                </a:cubicBezTo>
                <a:cubicBezTo>
                  <a:pt x="477" y="248"/>
                  <a:pt x="472" y="233"/>
                  <a:pt x="460" y="227"/>
                </a:cubicBezTo>
                <a:cubicBezTo>
                  <a:pt x="447" y="221"/>
                  <a:pt x="433" y="226"/>
                  <a:pt x="426" y="238"/>
                </a:cubicBezTo>
                <a:cubicBezTo>
                  <a:pt x="399" y="293"/>
                  <a:pt x="399" y="293"/>
                  <a:pt x="399" y="293"/>
                </a:cubicBezTo>
                <a:cubicBezTo>
                  <a:pt x="371" y="238"/>
                  <a:pt x="371" y="238"/>
                  <a:pt x="371" y="238"/>
                </a:cubicBezTo>
                <a:cubicBezTo>
                  <a:pt x="363" y="221"/>
                  <a:pt x="335" y="221"/>
                  <a:pt x="327" y="238"/>
                </a:cubicBezTo>
                <a:cubicBezTo>
                  <a:pt x="299" y="293"/>
                  <a:pt x="299" y="293"/>
                  <a:pt x="299" y="293"/>
                </a:cubicBezTo>
                <a:cubicBezTo>
                  <a:pt x="272" y="238"/>
                  <a:pt x="272" y="238"/>
                  <a:pt x="272" y="238"/>
                </a:cubicBezTo>
                <a:cubicBezTo>
                  <a:pt x="263" y="221"/>
                  <a:pt x="236" y="221"/>
                  <a:pt x="227" y="238"/>
                </a:cubicBezTo>
                <a:cubicBezTo>
                  <a:pt x="200" y="293"/>
                  <a:pt x="200" y="293"/>
                  <a:pt x="200" y="293"/>
                </a:cubicBezTo>
                <a:cubicBezTo>
                  <a:pt x="172" y="238"/>
                  <a:pt x="172" y="238"/>
                  <a:pt x="172" y="238"/>
                </a:cubicBezTo>
                <a:cubicBezTo>
                  <a:pt x="166" y="226"/>
                  <a:pt x="151" y="221"/>
                  <a:pt x="139" y="227"/>
                </a:cubicBezTo>
                <a:cubicBezTo>
                  <a:pt x="126" y="234"/>
                  <a:pt x="122" y="248"/>
                  <a:pt x="128" y="261"/>
                </a:cubicBezTo>
                <a:cubicBezTo>
                  <a:pt x="175" y="355"/>
                  <a:pt x="175" y="355"/>
                  <a:pt x="175" y="355"/>
                </a:cubicBezTo>
                <a:cubicBezTo>
                  <a:pt x="175" y="491"/>
                  <a:pt x="175" y="491"/>
                  <a:pt x="175" y="491"/>
                </a:cubicBezTo>
                <a:cubicBezTo>
                  <a:pt x="100" y="450"/>
                  <a:pt x="50" y="374"/>
                  <a:pt x="50" y="287"/>
                </a:cubicBezTo>
                <a:cubicBezTo>
                  <a:pt x="50" y="156"/>
                  <a:pt x="162" y="50"/>
                  <a:pt x="299" y="50"/>
                </a:cubicBezTo>
                <a:cubicBezTo>
                  <a:pt x="437" y="50"/>
                  <a:pt x="548" y="156"/>
                  <a:pt x="548" y="287"/>
                </a:cubicBezTo>
                <a:cubicBezTo>
                  <a:pt x="548" y="374"/>
                  <a:pt x="498" y="450"/>
                  <a:pt x="424" y="491"/>
                </a:cubicBezTo>
                <a:close/>
              </a:path>
            </a:pathLst>
          </a:custGeom>
          <a:solidFill>
            <a:schemeClr val="bg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grpSp>
        <p:nvGrpSpPr>
          <p:cNvPr id="32" name="组合 31"/>
          <p:cNvGrpSpPr/>
          <p:nvPr/>
        </p:nvGrpSpPr>
        <p:grpSpPr>
          <a:xfrm>
            <a:off x="6185957" y="3334558"/>
            <a:ext cx="142967" cy="126890"/>
            <a:chOff x="7551221" y="4142793"/>
            <a:chExt cx="388974" cy="345232"/>
          </a:xfrm>
          <a:solidFill>
            <a:schemeClr val="bg1"/>
          </a:solidFill>
        </p:grpSpPr>
        <p:sp>
          <p:nvSpPr>
            <p:cNvPr id="47" name="Freeform 5"/>
            <p:cNvSpPr>
              <a:spLocks noEditPoints="1"/>
            </p:cNvSpPr>
            <p:nvPr/>
          </p:nvSpPr>
          <p:spPr bwMode="auto">
            <a:xfrm>
              <a:off x="7831781" y="4142793"/>
              <a:ext cx="108414" cy="345232"/>
            </a:xfrm>
            <a:custGeom>
              <a:avLst/>
              <a:gdLst>
                <a:gd name="T0" fmla="*/ 194 w 194"/>
                <a:gd name="T1" fmla="*/ 164 h 617"/>
                <a:gd name="T2" fmla="*/ 194 w 194"/>
                <a:gd name="T3" fmla="*/ 164 h 617"/>
                <a:gd name="T4" fmla="*/ 194 w 194"/>
                <a:gd name="T5" fmla="*/ 160 h 617"/>
                <a:gd name="T6" fmla="*/ 193 w 194"/>
                <a:gd name="T7" fmla="*/ 160 h 617"/>
                <a:gd name="T8" fmla="*/ 193 w 194"/>
                <a:gd name="T9" fmla="*/ 159 h 617"/>
                <a:gd name="T10" fmla="*/ 192 w 194"/>
                <a:gd name="T11" fmla="*/ 156 h 617"/>
                <a:gd name="T12" fmla="*/ 192 w 194"/>
                <a:gd name="T13" fmla="*/ 156 h 617"/>
                <a:gd name="T14" fmla="*/ 192 w 194"/>
                <a:gd name="T15" fmla="*/ 156 h 617"/>
                <a:gd name="T16" fmla="*/ 115 w 194"/>
                <a:gd name="T17" fmla="*/ 11 h 617"/>
                <a:gd name="T18" fmla="*/ 97 w 194"/>
                <a:gd name="T19" fmla="*/ 0 h 617"/>
                <a:gd name="T20" fmla="*/ 80 w 194"/>
                <a:gd name="T21" fmla="*/ 11 h 617"/>
                <a:gd name="T22" fmla="*/ 3 w 194"/>
                <a:gd name="T23" fmla="*/ 156 h 617"/>
                <a:gd name="T24" fmla="*/ 3 w 194"/>
                <a:gd name="T25" fmla="*/ 156 h 617"/>
                <a:gd name="T26" fmla="*/ 3 w 194"/>
                <a:gd name="T27" fmla="*/ 156 h 617"/>
                <a:gd name="T28" fmla="*/ 2 w 194"/>
                <a:gd name="T29" fmla="*/ 159 h 617"/>
                <a:gd name="T30" fmla="*/ 1 w 194"/>
                <a:gd name="T31" fmla="*/ 160 h 617"/>
                <a:gd name="T32" fmla="*/ 1 w 194"/>
                <a:gd name="T33" fmla="*/ 160 h 617"/>
                <a:gd name="T34" fmla="*/ 1 w 194"/>
                <a:gd name="T35" fmla="*/ 164 h 617"/>
                <a:gd name="T36" fmla="*/ 1 w 194"/>
                <a:gd name="T37" fmla="*/ 164 h 617"/>
                <a:gd name="T38" fmla="*/ 0 w 194"/>
                <a:gd name="T39" fmla="*/ 166 h 617"/>
                <a:gd name="T40" fmla="*/ 0 w 194"/>
                <a:gd name="T41" fmla="*/ 597 h 617"/>
                <a:gd name="T42" fmla="*/ 20 w 194"/>
                <a:gd name="T43" fmla="*/ 617 h 617"/>
                <a:gd name="T44" fmla="*/ 174 w 194"/>
                <a:gd name="T45" fmla="*/ 617 h 617"/>
                <a:gd name="T46" fmla="*/ 194 w 194"/>
                <a:gd name="T47" fmla="*/ 597 h 617"/>
                <a:gd name="T48" fmla="*/ 194 w 194"/>
                <a:gd name="T49" fmla="*/ 166 h 617"/>
                <a:gd name="T50" fmla="*/ 194 w 194"/>
                <a:gd name="T51" fmla="*/ 164 h 617"/>
                <a:gd name="T52" fmla="*/ 40 w 194"/>
                <a:gd name="T53" fmla="*/ 193 h 617"/>
                <a:gd name="T54" fmla="*/ 91 w 194"/>
                <a:gd name="T55" fmla="*/ 209 h 617"/>
                <a:gd name="T56" fmla="*/ 97 w 194"/>
                <a:gd name="T57" fmla="*/ 210 h 617"/>
                <a:gd name="T58" fmla="*/ 103 w 194"/>
                <a:gd name="T59" fmla="*/ 209 h 617"/>
                <a:gd name="T60" fmla="*/ 154 w 194"/>
                <a:gd name="T61" fmla="*/ 193 h 617"/>
                <a:gd name="T62" fmla="*/ 154 w 194"/>
                <a:gd name="T63" fmla="*/ 491 h 617"/>
                <a:gd name="T64" fmla="*/ 40 w 194"/>
                <a:gd name="T65" fmla="*/ 491 h 617"/>
                <a:gd name="T66" fmla="*/ 40 w 194"/>
                <a:gd name="T67" fmla="*/ 193 h 617"/>
                <a:gd name="T68" fmla="*/ 97 w 194"/>
                <a:gd name="T69" fmla="*/ 63 h 617"/>
                <a:gd name="T70" fmla="*/ 145 w 194"/>
                <a:gd name="T71" fmla="*/ 154 h 617"/>
                <a:gd name="T72" fmla="*/ 97 w 194"/>
                <a:gd name="T73" fmla="*/ 169 h 617"/>
                <a:gd name="T74" fmla="*/ 49 w 194"/>
                <a:gd name="T75" fmla="*/ 154 h 617"/>
                <a:gd name="T76" fmla="*/ 97 w 194"/>
                <a:gd name="T77" fmla="*/ 63 h 617"/>
                <a:gd name="T78" fmla="*/ 40 w 194"/>
                <a:gd name="T79" fmla="*/ 577 h 617"/>
                <a:gd name="T80" fmla="*/ 40 w 194"/>
                <a:gd name="T81" fmla="*/ 577 h 617"/>
                <a:gd name="T82" fmla="*/ 40 w 194"/>
                <a:gd name="T83" fmla="*/ 531 h 617"/>
                <a:gd name="T84" fmla="*/ 154 w 194"/>
                <a:gd name="T85" fmla="*/ 531 h 617"/>
                <a:gd name="T86" fmla="*/ 154 w 194"/>
                <a:gd name="T87" fmla="*/ 577 h 617"/>
                <a:gd name="T88" fmla="*/ 40 w 194"/>
                <a:gd name="T89" fmla="*/ 57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4" h="617">
                  <a:moveTo>
                    <a:pt x="194" y="164"/>
                  </a:moveTo>
                  <a:cubicBezTo>
                    <a:pt x="194" y="164"/>
                    <a:pt x="194" y="164"/>
                    <a:pt x="194" y="164"/>
                  </a:cubicBezTo>
                  <a:cubicBezTo>
                    <a:pt x="194" y="162"/>
                    <a:pt x="194" y="161"/>
                    <a:pt x="194" y="160"/>
                  </a:cubicBezTo>
                  <a:cubicBezTo>
                    <a:pt x="194" y="160"/>
                    <a:pt x="194" y="160"/>
                    <a:pt x="193" y="160"/>
                  </a:cubicBezTo>
                  <a:cubicBezTo>
                    <a:pt x="193" y="160"/>
                    <a:pt x="193" y="160"/>
                    <a:pt x="193" y="159"/>
                  </a:cubicBezTo>
                  <a:cubicBezTo>
                    <a:pt x="193" y="158"/>
                    <a:pt x="193" y="157"/>
                    <a:pt x="192" y="156"/>
                  </a:cubicBezTo>
                  <a:cubicBezTo>
                    <a:pt x="192" y="156"/>
                    <a:pt x="192" y="156"/>
                    <a:pt x="192" y="156"/>
                  </a:cubicBezTo>
                  <a:cubicBezTo>
                    <a:pt x="192" y="156"/>
                    <a:pt x="192" y="156"/>
                    <a:pt x="192" y="156"/>
                  </a:cubicBezTo>
                  <a:cubicBezTo>
                    <a:pt x="115" y="11"/>
                    <a:pt x="115" y="11"/>
                    <a:pt x="115" y="11"/>
                  </a:cubicBezTo>
                  <a:cubicBezTo>
                    <a:pt x="112" y="4"/>
                    <a:pt x="105" y="0"/>
                    <a:pt x="97" y="0"/>
                  </a:cubicBezTo>
                  <a:cubicBezTo>
                    <a:pt x="90" y="0"/>
                    <a:pt x="83" y="4"/>
                    <a:pt x="80" y="11"/>
                  </a:cubicBezTo>
                  <a:cubicBezTo>
                    <a:pt x="3" y="156"/>
                    <a:pt x="3" y="156"/>
                    <a:pt x="3" y="156"/>
                  </a:cubicBezTo>
                  <a:cubicBezTo>
                    <a:pt x="3" y="156"/>
                    <a:pt x="3" y="156"/>
                    <a:pt x="3" y="156"/>
                  </a:cubicBezTo>
                  <a:cubicBezTo>
                    <a:pt x="3" y="156"/>
                    <a:pt x="3" y="156"/>
                    <a:pt x="3" y="156"/>
                  </a:cubicBezTo>
                  <a:cubicBezTo>
                    <a:pt x="2" y="157"/>
                    <a:pt x="2" y="158"/>
                    <a:pt x="2" y="159"/>
                  </a:cubicBezTo>
                  <a:cubicBezTo>
                    <a:pt x="1" y="160"/>
                    <a:pt x="1" y="160"/>
                    <a:pt x="1" y="160"/>
                  </a:cubicBezTo>
                  <a:cubicBezTo>
                    <a:pt x="1" y="160"/>
                    <a:pt x="1" y="160"/>
                    <a:pt x="1" y="160"/>
                  </a:cubicBezTo>
                  <a:cubicBezTo>
                    <a:pt x="1" y="161"/>
                    <a:pt x="1" y="162"/>
                    <a:pt x="1" y="164"/>
                  </a:cubicBezTo>
                  <a:cubicBezTo>
                    <a:pt x="1" y="164"/>
                    <a:pt x="1" y="164"/>
                    <a:pt x="1" y="164"/>
                  </a:cubicBezTo>
                  <a:cubicBezTo>
                    <a:pt x="1" y="165"/>
                    <a:pt x="0" y="165"/>
                    <a:pt x="0" y="166"/>
                  </a:cubicBezTo>
                  <a:cubicBezTo>
                    <a:pt x="0" y="597"/>
                    <a:pt x="0" y="597"/>
                    <a:pt x="0" y="597"/>
                  </a:cubicBezTo>
                  <a:cubicBezTo>
                    <a:pt x="0" y="608"/>
                    <a:pt x="9" y="617"/>
                    <a:pt x="20" y="617"/>
                  </a:cubicBezTo>
                  <a:cubicBezTo>
                    <a:pt x="174" y="617"/>
                    <a:pt x="174" y="617"/>
                    <a:pt x="174" y="617"/>
                  </a:cubicBezTo>
                  <a:cubicBezTo>
                    <a:pt x="185" y="617"/>
                    <a:pt x="194" y="608"/>
                    <a:pt x="194" y="597"/>
                  </a:cubicBezTo>
                  <a:cubicBezTo>
                    <a:pt x="194" y="166"/>
                    <a:pt x="194" y="166"/>
                    <a:pt x="194" y="166"/>
                  </a:cubicBezTo>
                  <a:cubicBezTo>
                    <a:pt x="194" y="165"/>
                    <a:pt x="194" y="165"/>
                    <a:pt x="194" y="164"/>
                  </a:cubicBezTo>
                  <a:close/>
                  <a:moveTo>
                    <a:pt x="40" y="193"/>
                  </a:moveTo>
                  <a:cubicBezTo>
                    <a:pt x="91" y="209"/>
                    <a:pt x="91" y="209"/>
                    <a:pt x="91" y="209"/>
                  </a:cubicBezTo>
                  <a:cubicBezTo>
                    <a:pt x="93" y="209"/>
                    <a:pt x="95" y="210"/>
                    <a:pt x="97" y="210"/>
                  </a:cubicBezTo>
                  <a:cubicBezTo>
                    <a:pt x="99" y="210"/>
                    <a:pt x="101" y="209"/>
                    <a:pt x="103" y="209"/>
                  </a:cubicBezTo>
                  <a:cubicBezTo>
                    <a:pt x="154" y="193"/>
                    <a:pt x="154" y="193"/>
                    <a:pt x="154" y="193"/>
                  </a:cubicBezTo>
                  <a:cubicBezTo>
                    <a:pt x="154" y="491"/>
                    <a:pt x="154" y="491"/>
                    <a:pt x="154" y="491"/>
                  </a:cubicBezTo>
                  <a:cubicBezTo>
                    <a:pt x="40" y="491"/>
                    <a:pt x="40" y="491"/>
                    <a:pt x="40" y="491"/>
                  </a:cubicBezTo>
                  <a:lnTo>
                    <a:pt x="40" y="193"/>
                  </a:lnTo>
                  <a:close/>
                  <a:moveTo>
                    <a:pt x="97" y="63"/>
                  </a:moveTo>
                  <a:cubicBezTo>
                    <a:pt x="145" y="154"/>
                    <a:pt x="145" y="154"/>
                    <a:pt x="145" y="154"/>
                  </a:cubicBezTo>
                  <a:cubicBezTo>
                    <a:pt x="97" y="169"/>
                    <a:pt x="97" y="169"/>
                    <a:pt x="97" y="169"/>
                  </a:cubicBezTo>
                  <a:cubicBezTo>
                    <a:pt x="49" y="154"/>
                    <a:pt x="49" y="154"/>
                    <a:pt x="49" y="154"/>
                  </a:cubicBezTo>
                  <a:lnTo>
                    <a:pt x="97" y="63"/>
                  </a:lnTo>
                  <a:close/>
                  <a:moveTo>
                    <a:pt x="40" y="577"/>
                  </a:moveTo>
                  <a:cubicBezTo>
                    <a:pt x="40" y="577"/>
                    <a:pt x="40" y="577"/>
                    <a:pt x="40" y="577"/>
                  </a:cubicBezTo>
                  <a:cubicBezTo>
                    <a:pt x="40" y="531"/>
                    <a:pt x="40" y="531"/>
                    <a:pt x="40" y="531"/>
                  </a:cubicBezTo>
                  <a:cubicBezTo>
                    <a:pt x="154" y="531"/>
                    <a:pt x="154" y="531"/>
                    <a:pt x="154" y="531"/>
                  </a:cubicBezTo>
                  <a:cubicBezTo>
                    <a:pt x="154" y="577"/>
                    <a:pt x="154" y="577"/>
                    <a:pt x="154" y="577"/>
                  </a:cubicBezTo>
                  <a:lnTo>
                    <a:pt x="40" y="5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48" name="Freeform 6"/>
            <p:cNvSpPr>
              <a:spLocks noEditPoints="1"/>
            </p:cNvSpPr>
            <p:nvPr/>
          </p:nvSpPr>
          <p:spPr bwMode="auto">
            <a:xfrm>
              <a:off x="7551221" y="4142793"/>
              <a:ext cx="259159" cy="345232"/>
            </a:xfrm>
            <a:custGeom>
              <a:avLst/>
              <a:gdLst>
                <a:gd name="T0" fmla="*/ 443 w 463"/>
                <a:gd name="T1" fmla="*/ 0 h 617"/>
                <a:gd name="T2" fmla="*/ 20 w 463"/>
                <a:gd name="T3" fmla="*/ 0 h 617"/>
                <a:gd name="T4" fmla="*/ 0 w 463"/>
                <a:gd name="T5" fmla="*/ 20 h 617"/>
                <a:gd name="T6" fmla="*/ 0 w 463"/>
                <a:gd name="T7" fmla="*/ 597 h 617"/>
                <a:gd name="T8" fmla="*/ 20 w 463"/>
                <a:gd name="T9" fmla="*/ 617 h 617"/>
                <a:gd name="T10" fmla="*/ 443 w 463"/>
                <a:gd name="T11" fmla="*/ 617 h 617"/>
                <a:gd name="T12" fmla="*/ 463 w 463"/>
                <a:gd name="T13" fmla="*/ 597 h 617"/>
                <a:gd name="T14" fmla="*/ 463 w 463"/>
                <a:gd name="T15" fmla="*/ 20 h 617"/>
                <a:gd name="T16" fmla="*/ 443 w 463"/>
                <a:gd name="T17" fmla="*/ 0 h 617"/>
                <a:gd name="T18" fmla="*/ 423 w 463"/>
                <a:gd name="T19" fmla="*/ 577 h 617"/>
                <a:gd name="T20" fmla="*/ 40 w 463"/>
                <a:gd name="T21" fmla="*/ 577 h 617"/>
                <a:gd name="T22" fmla="*/ 40 w 463"/>
                <a:gd name="T23" fmla="*/ 40 h 617"/>
                <a:gd name="T24" fmla="*/ 423 w 463"/>
                <a:gd name="T25" fmla="*/ 40 h 617"/>
                <a:gd name="T26" fmla="*/ 423 w 463"/>
                <a:gd name="T27" fmla="*/ 57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2" h="617">
                  <a:moveTo>
                    <a:pt x="443" y="0"/>
                  </a:moveTo>
                  <a:cubicBezTo>
                    <a:pt x="20" y="0"/>
                    <a:pt x="20" y="0"/>
                    <a:pt x="20" y="0"/>
                  </a:cubicBezTo>
                  <a:cubicBezTo>
                    <a:pt x="9" y="0"/>
                    <a:pt x="0" y="9"/>
                    <a:pt x="0" y="20"/>
                  </a:cubicBezTo>
                  <a:cubicBezTo>
                    <a:pt x="0" y="597"/>
                    <a:pt x="0" y="597"/>
                    <a:pt x="0" y="597"/>
                  </a:cubicBezTo>
                  <a:cubicBezTo>
                    <a:pt x="0" y="608"/>
                    <a:pt x="9" y="617"/>
                    <a:pt x="20" y="617"/>
                  </a:cubicBezTo>
                  <a:cubicBezTo>
                    <a:pt x="443" y="617"/>
                    <a:pt x="443" y="617"/>
                    <a:pt x="443" y="617"/>
                  </a:cubicBezTo>
                  <a:cubicBezTo>
                    <a:pt x="454" y="617"/>
                    <a:pt x="463" y="608"/>
                    <a:pt x="463" y="597"/>
                  </a:cubicBezTo>
                  <a:cubicBezTo>
                    <a:pt x="463" y="20"/>
                    <a:pt x="463" y="20"/>
                    <a:pt x="463" y="20"/>
                  </a:cubicBezTo>
                  <a:cubicBezTo>
                    <a:pt x="463" y="9"/>
                    <a:pt x="454" y="0"/>
                    <a:pt x="443" y="0"/>
                  </a:cubicBezTo>
                  <a:close/>
                  <a:moveTo>
                    <a:pt x="423" y="577"/>
                  </a:moveTo>
                  <a:cubicBezTo>
                    <a:pt x="40" y="577"/>
                    <a:pt x="40" y="577"/>
                    <a:pt x="40" y="577"/>
                  </a:cubicBezTo>
                  <a:cubicBezTo>
                    <a:pt x="40" y="40"/>
                    <a:pt x="40" y="40"/>
                    <a:pt x="40" y="40"/>
                  </a:cubicBezTo>
                  <a:cubicBezTo>
                    <a:pt x="423" y="40"/>
                    <a:pt x="423" y="40"/>
                    <a:pt x="423" y="40"/>
                  </a:cubicBezTo>
                  <a:lnTo>
                    <a:pt x="423" y="5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49" name="Freeform 7"/>
            <p:cNvSpPr/>
            <p:nvPr/>
          </p:nvSpPr>
          <p:spPr bwMode="auto">
            <a:xfrm>
              <a:off x="7595433" y="4276606"/>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50" name="Freeform 8"/>
            <p:cNvSpPr/>
            <p:nvPr/>
          </p:nvSpPr>
          <p:spPr bwMode="auto">
            <a:xfrm>
              <a:off x="7595433" y="4221105"/>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51" name="Freeform 9"/>
            <p:cNvSpPr/>
            <p:nvPr/>
          </p:nvSpPr>
          <p:spPr bwMode="auto">
            <a:xfrm>
              <a:off x="7595433" y="4331401"/>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2"/>
                    <a:pt x="307" y="20"/>
                  </a:cubicBezTo>
                  <a:cubicBezTo>
                    <a:pt x="307" y="9"/>
                    <a:pt x="298" y="0"/>
                    <a:pt x="287" y="0"/>
                  </a:cubicBezTo>
                  <a:cubicBezTo>
                    <a:pt x="20" y="0"/>
                    <a:pt x="20" y="0"/>
                    <a:pt x="20" y="0"/>
                  </a:cubicBezTo>
                  <a:cubicBezTo>
                    <a:pt x="9" y="0"/>
                    <a:pt x="0" y="9"/>
                    <a:pt x="0" y="20"/>
                  </a:cubicBezTo>
                  <a:cubicBezTo>
                    <a:pt x="0" y="32"/>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52" name="Freeform 10"/>
            <p:cNvSpPr/>
            <p:nvPr/>
          </p:nvSpPr>
          <p:spPr bwMode="auto">
            <a:xfrm>
              <a:off x="7595433" y="4386901"/>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grpSp>
      <p:sp>
        <p:nvSpPr>
          <p:cNvPr id="3" name="文本框 6">
            <a:extLst>
              <a:ext uri="{FF2B5EF4-FFF2-40B4-BE49-F238E27FC236}">
                <a16:creationId xmlns:a16="http://schemas.microsoft.com/office/drawing/2014/main" id="{CC17FBFE-DC40-2AD9-9D59-33B8C719BEC0}"/>
              </a:ext>
            </a:extLst>
          </p:cNvPr>
          <p:cNvSpPr txBox="1">
            <a:spLocks noChangeArrowheads="1"/>
          </p:cNvSpPr>
          <p:nvPr/>
        </p:nvSpPr>
        <p:spPr bwMode="auto">
          <a:xfrm flipH="1">
            <a:off x="2141610" y="2455671"/>
            <a:ext cx="1513619" cy="307777"/>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algn="ctr"/>
            <a:r>
              <a:rPr lang="zh-CN" altLang="zh-CN" sz="1400" b="1" kern="100" dirty="0">
                <a:solidFill>
                  <a:srgbClr val="0F1115"/>
                </a:solidFill>
                <a:effectLst/>
                <a:ea typeface="宋体" panose="02010600030101010101" pitchFamily="2" charset="-122"/>
                <a:cs typeface="宋体" panose="02010600030101010101" pitchFamily="2" charset="-122"/>
              </a:rPr>
              <a:t>多目标损失</a:t>
            </a:r>
            <a:endParaRPr lang="zh-CN" altLang="en-US" sz="1400" b="0" dirty="0">
              <a:solidFill>
                <a:schemeClr val="accent1"/>
              </a:solidFill>
            </a:endParaRP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974A03EC-71BB-2616-E568-B6DFA198A514}"/>
                  </a:ext>
                </a:extLst>
              </p:cNvPr>
              <p:cNvSpPr txBox="1"/>
              <p:nvPr/>
            </p:nvSpPr>
            <p:spPr>
              <a:xfrm>
                <a:off x="826961" y="1563168"/>
                <a:ext cx="2500887" cy="5395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1200" kern="100" dirty="0">
                          <a:solidFill>
                            <a:srgbClr val="0F1115"/>
                          </a:solidFill>
                          <a:ea typeface="Cambria Math" panose="02040503050406030204" pitchFamily="18" charset="0"/>
                          <a:cs typeface="宋体" panose="02010600030101010101" pitchFamily="2" charset="-122"/>
                        </a:rPr>
                        <m:t>公式</m:t>
                      </m:r>
                      <m:r>
                        <a:rPr lang="zh-CN" altLang="en-US" sz="1200" i="1" kern="100">
                          <a:solidFill>
                            <a:srgbClr val="0F1115"/>
                          </a:solidFill>
                          <a:latin typeface="Cambria Math" panose="02040503050406030204" pitchFamily="18" charset="0"/>
                          <a:ea typeface="Cambria Math" panose="02040503050406030204" pitchFamily="18" charset="0"/>
                          <a:cs typeface="宋体" panose="02010600030101010101" pitchFamily="2" charset="-122"/>
                        </a:rPr>
                        <m:t>：</m:t>
                      </m:r>
                      <m:sSub>
                        <m:sSubPr>
                          <m:ctrlPr>
                            <a:rPr lang="zh-CN" altLang="en-US" sz="1200" i="1" smtClean="0">
                              <a:solidFill>
                                <a:srgbClr val="836967"/>
                              </a:solidFill>
                              <a:latin typeface="Cambria Math" panose="02040503050406030204" pitchFamily="18" charset="0"/>
                            </a:rPr>
                          </m:ctrlPr>
                        </m:sSubPr>
                        <m:e>
                          <m:r>
                            <a:rPr lang="zh-CN" altLang="en-US" sz="1200" i="1">
                              <a:latin typeface="Cambria Math" panose="02040503050406030204" pitchFamily="18" charset="0"/>
                            </a:rPr>
                            <m:t>𝐿</m:t>
                          </m:r>
                        </m:e>
                        <m:sub>
                          <m:r>
                            <a:rPr lang="zh-CN" altLang="en-US" sz="1200" i="1">
                              <a:latin typeface="Cambria Math" panose="02040503050406030204" pitchFamily="18" charset="0"/>
                            </a:rPr>
                            <m:t>𝐷𝐼𝑁𝑂</m:t>
                          </m:r>
                        </m:sub>
                      </m:sSub>
                      <m:r>
                        <a:rPr lang="zh-CN" altLang="en-US" sz="1200" i="0">
                          <a:latin typeface="Cambria Math" panose="02040503050406030204" pitchFamily="18" charset="0"/>
                        </a:rPr>
                        <m:t>= −</m:t>
                      </m:r>
                      <m:nary>
                        <m:naryPr>
                          <m:chr m:val="∑"/>
                          <m:subHide m:val="on"/>
                          <m:supHide m:val="on"/>
                          <m:ctrlPr>
                            <a:rPr lang="zh-CN" altLang="en-US" sz="1200" i="1">
                              <a:latin typeface="Cambria Math" panose="02040503050406030204" pitchFamily="18" charset="0"/>
                            </a:rPr>
                          </m:ctrlPr>
                        </m:naryPr>
                        <m:sub/>
                        <m:sup/>
                        <m:e>
                          <m:sSub>
                            <m:sSubPr>
                              <m:ctrlPr>
                                <a:rPr lang="zh-CN" altLang="en-US" sz="1200" i="1">
                                  <a:solidFill>
                                    <a:srgbClr val="836967"/>
                                  </a:solidFill>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𝑡</m:t>
                              </m:r>
                            </m:sub>
                          </m:sSub>
                          <m:sSub>
                            <m:sSubPr>
                              <m:ctrlPr>
                                <a:rPr lang="zh-CN" altLang="en-US" sz="1200" i="1">
                                  <a:solidFill>
                                    <a:srgbClr val="836967"/>
                                  </a:solidFill>
                                  <a:latin typeface="Cambria Math" panose="02040503050406030204" pitchFamily="18" charset="0"/>
                                </a:rPr>
                              </m:ctrlPr>
                            </m:sSubPr>
                            <m:e>
                              <m:r>
                                <a:rPr lang="zh-CN" altLang="en-US" sz="1200" i="1">
                                  <a:latin typeface="Cambria Math" panose="02040503050406030204" pitchFamily="18" charset="0"/>
                                </a:rPr>
                                <m:t>𝑙𝑜𝑔</m:t>
                              </m:r>
                            </m:e>
                            <m:sub>
                              <m:sSub>
                                <m:sSubPr>
                                  <m:ctrlPr>
                                    <a:rPr lang="zh-CN" altLang="en-US" sz="1200" i="1">
                                      <a:solidFill>
                                        <a:srgbClr val="836967"/>
                                      </a:solidFill>
                                      <a:latin typeface="Cambria Math" panose="02040503050406030204" pitchFamily="18" charset="0"/>
                                    </a:rPr>
                                  </m:ctrlPr>
                                </m:sSubPr>
                                <m:e>
                                  <m:r>
                                    <a:rPr lang="zh-CN" altLang="en-US" sz="1200" i="1">
                                      <a:latin typeface="Cambria Math" panose="02040503050406030204" pitchFamily="18" charset="0"/>
                                    </a:rPr>
                                    <m:t>𝑝</m:t>
                                  </m:r>
                                </m:e>
                                <m:sub>
                                  <m:r>
                                    <a:rPr lang="zh-CN" altLang="en-US" sz="1200" i="1">
                                      <a:latin typeface="Cambria Math" panose="02040503050406030204" pitchFamily="18" charset="0"/>
                                    </a:rPr>
                                    <m:t>𝑠</m:t>
                                  </m:r>
                                </m:sub>
                              </m:sSub>
                            </m:sub>
                          </m:sSub>
                        </m:e>
                      </m:nary>
                    </m:oMath>
                  </m:oMathPara>
                </a14:m>
                <a:endParaRPr lang="zh-CN" altLang="en-US" sz="1200" dirty="0"/>
              </a:p>
            </p:txBody>
          </p:sp>
        </mc:Choice>
        <mc:Fallback>
          <p:sp>
            <p:nvSpPr>
              <p:cNvPr id="13" name="文本框 12">
                <a:extLst>
                  <a:ext uri="{FF2B5EF4-FFF2-40B4-BE49-F238E27FC236}">
                    <a16:creationId xmlns:a16="http://schemas.microsoft.com/office/drawing/2014/main" id="{974A03EC-71BB-2616-E568-B6DFA198A514}"/>
                  </a:ext>
                </a:extLst>
              </p:cNvPr>
              <p:cNvSpPr txBox="1">
                <a:spLocks noRot="1" noChangeAspect="1" noMove="1" noResize="1" noEditPoints="1" noAdjustHandles="1" noChangeArrowheads="1" noChangeShapeType="1" noTextEdit="1"/>
              </p:cNvSpPr>
              <p:nvPr/>
            </p:nvSpPr>
            <p:spPr>
              <a:xfrm>
                <a:off x="826961" y="1563168"/>
                <a:ext cx="2500887" cy="539571"/>
              </a:xfrm>
              <a:prstGeom prst="rect">
                <a:avLst/>
              </a:prstGeom>
              <a:blipFill>
                <a:blip r:embed="rId3"/>
                <a:stretch>
                  <a:fillRect t="-115730" r="-13659" b="-162921"/>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820F3A91-BAFE-6497-1E60-2B4BE2E3AC0E}"/>
              </a:ext>
            </a:extLst>
          </p:cNvPr>
          <p:cNvSpPr/>
          <p:nvPr/>
        </p:nvSpPr>
        <p:spPr>
          <a:xfrm flipH="1">
            <a:off x="725807" y="3801343"/>
            <a:ext cx="2528034" cy="306174"/>
          </a:xfrm>
          <a:prstGeom prst="rect">
            <a:avLst/>
          </a:prstGeom>
        </p:spPr>
        <p:txBody>
          <a:bodyPr wrap="square">
            <a:spAutoFit/>
          </a:bodyPr>
          <a:lstStyle/>
          <a:p>
            <a:pPr algn="r">
              <a:lnSpc>
                <a:spcPct val="150000"/>
              </a:lnSpc>
            </a:pPr>
            <a:r>
              <a:rPr lang="en-US" altLang="zh-CN" sz="1050" kern="0" dirty="0" err="1">
                <a:solidFill>
                  <a:schemeClr val="tx1">
                    <a:lumMod val="75000"/>
                    <a:lumOff val="25000"/>
                  </a:schemeClr>
                </a:solidFill>
                <a:latin typeface="微软雅黑" panose="020B0503020204020204" pitchFamily="34" charset="-122"/>
                <a:ea typeface="微软雅黑" panose="020B0503020204020204" pitchFamily="34" charset="-122"/>
              </a:rPr>
              <a:t>iBOT</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损失专注于块级的局部特征建模</a:t>
            </a:r>
          </a:p>
        </p:txBody>
      </p:sp>
      <p:sp>
        <p:nvSpPr>
          <p:cNvPr id="16" name="文本框 15">
            <a:extLst>
              <a:ext uri="{FF2B5EF4-FFF2-40B4-BE49-F238E27FC236}">
                <a16:creationId xmlns:a16="http://schemas.microsoft.com/office/drawing/2014/main" id="{F4D97A44-A6D1-7A7A-DCBA-F91775F13D94}"/>
              </a:ext>
            </a:extLst>
          </p:cNvPr>
          <p:cNvSpPr txBox="1"/>
          <p:nvPr/>
        </p:nvSpPr>
        <p:spPr>
          <a:xfrm>
            <a:off x="5471033" y="2421709"/>
            <a:ext cx="944075" cy="300082"/>
          </a:xfrm>
          <a:prstGeom prst="rect">
            <a:avLst/>
          </a:prstGeom>
          <a:noFill/>
        </p:spPr>
        <p:txBody>
          <a:bodyPr wrap="square">
            <a:spAutoFit/>
          </a:bodyPr>
          <a:lstStyle/>
          <a:p>
            <a:r>
              <a:rPr lang="zh-CN" altLang="en-US" dirty="0"/>
              <a:t>技术亮点</a:t>
            </a:r>
          </a:p>
        </p:txBody>
      </p:sp>
      <p:sp>
        <p:nvSpPr>
          <p:cNvPr id="17" name="文本框 6">
            <a:extLst>
              <a:ext uri="{FF2B5EF4-FFF2-40B4-BE49-F238E27FC236}">
                <a16:creationId xmlns:a16="http://schemas.microsoft.com/office/drawing/2014/main" id="{8846F0C2-1612-B9D4-EA52-55CEED566E1E}"/>
              </a:ext>
            </a:extLst>
          </p:cNvPr>
          <p:cNvSpPr txBox="1">
            <a:spLocks noChangeArrowheads="1"/>
          </p:cNvSpPr>
          <p:nvPr/>
        </p:nvSpPr>
        <p:spPr bwMode="auto">
          <a:xfrm flipH="1">
            <a:off x="6493928" y="2243536"/>
            <a:ext cx="2064321" cy="369332"/>
          </a:xfrm>
          <a:prstGeom prst="rect">
            <a:avLst/>
          </a:prstGeom>
        </p:spPr>
        <p:txBody>
          <a:bodyPr wrap="square">
            <a:spAutoFit/>
          </a:bodyPr>
          <a:lstStyle>
            <a:defPPr>
              <a:defRPr lang="zh-CN"/>
            </a:defPPr>
            <a:lvl1pPr marR="0" lvl="0" indent="0" defTabSz="914400" fontAlgn="auto">
              <a:lnSpc>
                <a:spcPct val="100000"/>
              </a:lnSpc>
              <a:spcBef>
                <a:spcPct val="0"/>
              </a:spcBef>
              <a:spcAft>
                <a:spcPct val="0"/>
              </a:spcAft>
              <a:buClrTx/>
              <a:buSzTx/>
              <a:buFontTx/>
              <a:buNone/>
              <a:defRPr kumimoji="0" sz="2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r>
              <a:rPr lang="en-US" altLang="zh-CN" sz="1800" b="0" dirty="0" err="1">
                <a:solidFill>
                  <a:schemeClr val="accent1"/>
                </a:solidFill>
              </a:rPr>
              <a:t>KoLeo</a:t>
            </a:r>
            <a:r>
              <a:rPr lang="en-US" altLang="zh-CN" sz="1800" b="0" dirty="0">
                <a:solidFill>
                  <a:schemeClr val="accent1"/>
                </a:solidFill>
              </a:rPr>
              <a:t> </a:t>
            </a:r>
            <a:r>
              <a:rPr lang="zh-CN" altLang="en-US" sz="1800" b="0" dirty="0">
                <a:solidFill>
                  <a:schemeClr val="accent1"/>
                </a:solidFill>
              </a:rPr>
              <a:t>正则化</a:t>
            </a:r>
          </a:p>
        </p:txBody>
      </p:sp>
      <p:sp>
        <p:nvSpPr>
          <p:cNvPr id="18" name="矩形 17">
            <a:extLst>
              <a:ext uri="{FF2B5EF4-FFF2-40B4-BE49-F238E27FC236}">
                <a16:creationId xmlns:a16="http://schemas.microsoft.com/office/drawing/2014/main" id="{B0923532-45D6-516A-A20D-738C76B31BAF}"/>
              </a:ext>
            </a:extLst>
          </p:cNvPr>
          <p:cNvSpPr/>
          <p:nvPr/>
        </p:nvSpPr>
        <p:spPr>
          <a:xfrm flipH="1">
            <a:off x="6493929" y="2510188"/>
            <a:ext cx="2417243" cy="30617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rPr>
              <a:t>保持特征多样性</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grpSp>
        <p:nvGrpSpPr>
          <p:cNvPr id="4" name="组合 3"/>
          <p:cNvGrpSpPr/>
          <p:nvPr/>
        </p:nvGrpSpPr>
        <p:grpSpPr>
          <a:xfrm>
            <a:off x="3814333" y="838251"/>
            <a:ext cx="1515335" cy="1515335"/>
            <a:chOff x="3738489" y="766689"/>
            <a:chExt cx="1667021" cy="1667021"/>
          </a:xfrm>
        </p:grpSpPr>
        <p:sp>
          <p:nvSpPr>
            <p:cNvPr id="3" name="椭圆 2"/>
            <p:cNvSpPr/>
            <p:nvPr/>
          </p:nvSpPr>
          <p:spPr>
            <a:xfrm>
              <a:off x="3738489" y="766689"/>
              <a:ext cx="1667021" cy="1667021"/>
            </a:xfrm>
            <a:prstGeom prst="ellipse">
              <a:avLst/>
            </a:prstGeom>
            <a:ln w="571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3863441" y="1092368"/>
              <a:ext cx="1417116" cy="1015663"/>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rPr>
                <a:t>03</a:t>
              </a:r>
              <a:endParaRPr kumimoji="0" lang="zh-CN" altLang="en-US"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endParaRPr>
            </a:p>
          </p:txBody>
        </p:sp>
      </p:grpSp>
      <p:sp>
        <p:nvSpPr>
          <p:cNvPr id="124" name="矩形 123"/>
          <p:cNvSpPr/>
          <p:nvPr/>
        </p:nvSpPr>
        <p:spPr bwMode="auto">
          <a:xfrm>
            <a:off x="2511821" y="2617767"/>
            <a:ext cx="4134465" cy="769441"/>
          </a:xfrm>
          <a:prstGeom prst="rect">
            <a:avLst/>
          </a:prstGeom>
        </p:spPr>
        <p:txBody>
          <a:bodyPr wrap="none">
            <a:spAutoFit/>
          </a:bodyPr>
          <a:lstStyle/>
          <a:p>
            <a:pPr fontAlgn="base">
              <a:spcBef>
                <a:spcPct val="0"/>
              </a:spcBef>
              <a:spcAft>
                <a:spcPct val="0"/>
              </a:spcAft>
              <a:defRPr/>
            </a:pPr>
            <a:r>
              <a:rPr lang="zh-CN" altLang="en-US" sz="4400" dirty="0">
                <a:solidFill>
                  <a:schemeClr val="accent1"/>
                </a:solidFill>
                <a:latin typeface="思源宋体 CN Heavy" pitchFamily="18" charset="-122"/>
                <a:ea typeface="思源宋体 CN Heavy" pitchFamily="18" charset="-122"/>
                <a:sym typeface="汉仪旗黑-50S"/>
              </a:rPr>
              <a:t>实验结果与改进</a:t>
            </a:r>
          </a:p>
        </p:txBody>
      </p:sp>
      <p:sp>
        <p:nvSpPr>
          <p:cNvPr id="125" name="矩形 124"/>
          <p:cNvSpPr/>
          <p:nvPr/>
        </p:nvSpPr>
        <p:spPr>
          <a:xfrm>
            <a:off x="2005968" y="3372917"/>
            <a:ext cx="5132064" cy="276999"/>
          </a:xfrm>
          <a:prstGeom prst="rect">
            <a:avLst/>
          </a:prstGeom>
        </p:spPr>
        <p:txBody>
          <a:bodyPr wrap="square">
            <a:spAutoFit/>
          </a:bodyPr>
          <a:lstStyle/>
          <a:p>
            <a:pPr lvl="0" algn="ctr" fontAlgn="base">
              <a:spcBef>
                <a:spcPct val="0"/>
              </a:spcBef>
              <a:spcAft>
                <a:spcPct val="0"/>
              </a:spcAft>
              <a:defRPr/>
            </a:pPr>
            <a:r>
              <a:rPr lang="en-US" altLang="zh-CN" sz="1200" dirty="0">
                <a:solidFill>
                  <a:schemeClr val="accent1"/>
                </a:solidFill>
                <a:latin typeface="微软雅黑" panose="020B0503020204020204" pitchFamily="34" charset="-122"/>
                <a:ea typeface="微软雅黑" panose="020B0503020204020204" pitchFamily="34" charset="-122"/>
                <a:sym typeface="汉仪旗黑-50S"/>
              </a:rPr>
              <a:t>Results and Improvements of the Experiment</a:t>
            </a:r>
          </a:p>
        </p:txBody>
      </p:sp>
      <p:cxnSp>
        <p:nvCxnSpPr>
          <p:cNvPr id="126" name="直接连接符 125"/>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圆角 4"/>
          <p:cNvSpPr/>
          <p:nvPr/>
        </p:nvSpPr>
        <p:spPr>
          <a:xfrm>
            <a:off x="4035287" y="4277801"/>
            <a:ext cx="1073426" cy="310102"/>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第三单元</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9144001" cy="5588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4" name="矩形 3"/>
          <p:cNvSpPr/>
          <p:nvPr/>
        </p:nvSpPr>
        <p:spPr bwMode="auto">
          <a:xfrm>
            <a:off x="133866" y="95405"/>
            <a:ext cx="1980029" cy="400110"/>
          </a:xfrm>
          <a:prstGeom prst="rect">
            <a:avLst/>
          </a:prstGeom>
        </p:spPr>
        <p:txBody>
          <a:bodyPr wrap="none">
            <a:spAutoFit/>
          </a:bodyPr>
          <a:lstStyle/>
          <a:p>
            <a:r>
              <a:rPr lang="zh-CN" altLang="en-US" sz="2000" kern="100" dirty="0">
                <a:solidFill>
                  <a:schemeClr val="bg1"/>
                </a:solidFill>
                <a:latin typeface="思源宋体 CN Heavy" pitchFamily="18" charset="-122"/>
                <a:ea typeface="思源宋体 CN Heavy" pitchFamily="18" charset="-122"/>
                <a:sym typeface="汉仪旗黑-50S"/>
              </a:rPr>
              <a:t>实验结果与改进</a:t>
            </a:r>
          </a:p>
        </p:txBody>
      </p:sp>
      <p:grpSp>
        <p:nvGrpSpPr>
          <p:cNvPr id="5" name="组合 4"/>
          <p:cNvGrpSpPr/>
          <p:nvPr/>
        </p:nvGrpSpPr>
        <p:grpSpPr>
          <a:xfrm>
            <a:off x="8708572" y="235295"/>
            <a:ext cx="206828" cy="123371"/>
            <a:chOff x="6709229" y="856343"/>
            <a:chExt cx="232229" cy="58057"/>
          </a:xfrm>
        </p:grpSpPr>
        <p:cxnSp>
          <p:nvCxnSpPr>
            <p:cNvPr id="6" name="直接连接符 5"/>
            <p:cNvCxnSpPr/>
            <p:nvPr/>
          </p:nvCxnSpPr>
          <p:spPr>
            <a:xfrm>
              <a:off x="6709229" y="856343"/>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709229" y="885372"/>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709229" y="914400"/>
              <a:ext cx="23222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9" name="椭圆 18"/>
          <p:cNvSpPr/>
          <p:nvPr/>
        </p:nvSpPr>
        <p:spPr>
          <a:xfrm>
            <a:off x="327021" y="1443258"/>
            <a:ext cx="428137" cy="428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矩形: 圆角 19"/>
          <p:cNvSpPr/>
          <p:nvPr/>
        </p:nvSpPr>
        <p:spPr>
          <a:xfrm>
            <a:off x="228600" y="1306286"/>
            <a:ext cx="4684901" cy="70207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745151" y="1491888"/>
            <a:ext cx="4142104" cy="306174"/>
          </a:xfrm>
          <a:prstGeom prst="rect">
            <a:avLst/>
          </a:prstGeom>
        </p:spPr>
        <p:txBody>
          <a:bodyPr wrap="square">
            <a:spAutoFit/>
          </a:bodyPr>
          <a:lstStyle/>
          <a:p>
            <a:pPr>
              <a:lnSpc>
                <a:spcPct val="150000"/>
              </a:lnSpc>
            </a:pP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ImageNet </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线性评估：</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Top-1 </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准确率 </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86.5%</a:t>
            </a:r>
            <a:endPar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endParaRPr>
          </a:p>
        </p:txBody>
      </p:sp>
      <p:sp>
        <p:nvSpPr>
          <p:cNvPr id="22" name="椭圆 21"/>
          <p:cNvSpPr/>
          <p:nvPr/>
        </p:nvSpPr>
        <p:spPr>
          <a:xfrm>
            <a:off x="327021" y="2375608"/>
            <a:ext cx="428137" cy="428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矩形: 圆角 22"/>
          <p:cNvSpPr/>
          <p:nvPr/>
        </p:nvSpPr>
        <p:spPr>
          <a:xfrm>
            <a:off x="228600" y="2238636"/>
            <a:ext cx="4684901" cy="70207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矩形 23"/>
          <p:cNvSpPr/>
          <p:nvPr/>
        </p:nvSpPr>
        <p:spPr>
          <a:xfrm>
            <a:off x="745151" y="2417467"/>
            <a:ext cx="4142104" cy="306174"/>
          </a:xfrm>
          <a:prstGeom prst="rect">
            <a:avLst/>
          </a:prstGeom>
        </p:spPr>
        <p:txBody>
          <a:bodyPr wrap="square">
            <a:spAutoFit/>
          </a:bodyPr>
          <a:lstStyle/>
          <a:p>
            <a:pPr>
              <a:lnSpc>
                <a:spcPct val="150000"/>
              </a:lnSpc>
            </a:pP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ADE20K </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语义分割：</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53.0 </a:t>
            </a:r>
            <a:r>
              <a:rPr lang="en-US" altLang="zh-CN" sz="1050" kern="0" dirty="0" err="1">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mIoU</a:t>
            </a:r>
            <a:endPar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endParaRPr>
          </a:p>
        </p:txBody>
      </p:sp>
      <p:sp>
        <p:nvSpPr>
          <p:cNvPr id="25" name="椭圆 24"/>
          <p:cNvSpPr/>
          <p:nvPr/>
        </p:nvSpPr>
        <p:spPr>
          <a:xfrm>
            <a:off x="327021" y="3299792"/>
            <a:ext cx="428137" cy="428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矩形: 圆角 25"/>
          <p:cNvSpPr/>
          <p:nvPr/>
        </p:nvSpPr>
        <p:spPr>
          <a:xfrm>
            <a:off x="228600" y="3162821"/>
            <a:ext cx="4684901" cy="70207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745151" y="3357562"/>
            <a:ext cx="4142104" cy="30617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泛化能力较强，模型具有鲁棒性</a:t>
            </a:r>
          </a:p>
        </p:txBody>
      </p:sp>
      <p:sp>
        <p:nvSpPr>
          <p:cNvPr id="31" name="椭圆 30"/>
          <p:cNvSpPr/>
          <p:nvPr/>
        </p:nvSpPr>
        <p:spPr>
          <a:xfrm>
            <a:off x="327021" y="4189772"/>
            <a:ext cx="428137" cy="42813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矩形: 圆角 31"/>
          <p:cNvSpPr/>
          <p:nvPr/>
        </p:nvSpPr>
        <p:spPr>
          <a:xfrm>
            <a:off x="228600" y="4052801"/>
            <a:ext cx="4684901" cy="702079"/>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745151" y="4125623"/>
            <a:ext cx="4142104" cy="556434"/>
          </a:xfrm>
          <a:prstGeom prst="rect">
            <a:avLst/>
          </a:prstGeom>
        </p:spPr>
        <p:txBody>
          <a:bodyPr wrap="square">
            <a:spAutoFit/>
          </a:bodyPr>
          <a:lstStyle/>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自主改进数据增强策略（</a:t>
            </a:r>
            <a:r>
              <a:rPr lang="en-US" altLang="zh-CN" sz="1050" kern="0" dirty="0" err="1">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MixUp</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 + </a:t>
            </a: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激进颜色抖动）</a:t>
            </a:r>
            <a:endPar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endParaRPr>
          </a:p>
          <a:p>
            <a:pPr>
              <a:lnSpc>
                <a:spcPct val="150000"/>
              </a:lnSpc>
            </a:pPr>
            <a:r>
              <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 准确率提升 </a:t>
            </a:r>
            <a:r>
              <a:rPr lang="en-US" altLang="zh-CN"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rPr>
              <a:t>+1.2%</a:t>
            </a:r>
            <a:endParaRPr lang="zh-CN" altLang="en-US" sz="1050" kern="0" dirty="0">
              <a:solidFill>
                <a:schemeClr val="tx1">
                  <a:lumMod val="75000"/>
                  <a:lumOff val="25000"/>
                </a:schemeClr>
              </a:solidFill>
              <a:latin typeface="微软雅黑" panose="020B0503020204020204" pitchFamily="34" charset="-122"/>
              <a:ea typeface="微软雅黑" panose="020B0503020204020204" pitchFamily="34" charset="-122"/>
              <a:cs typeface="汉仪旗黑-50S" panose="00020600040101010101" charset="-122"/>
              <a:sym typeface="汉仪旗黑-50S"/>
            </a:endParaRPr>
          </a:p>
        </p:txBody>
      </p:sp>
      <p:sp>
        <p:nvSpPr>
          <p:cNvPr id="38" name="Freeform 5"/>
          <p:cNvSpPr>
            <a:spLocks noEditPoints="1"/>
          </p:cNvSpPr>
          <p:nvPr/>
        </p:nvSpPr>
        <p:spPr bwMode="auto">
          <a:xfrm>
            <a:off x="452552" y="1544885"/>
            <a:ext cx="177074" cy="224882"/>
          </a:xfrm>
          <a:custGeom>
            <a:avLst/>
            <a:gdLst>
              <a:gd name="T0" fmla="*/ 613 w 623"/>
              <a:gd name="T1" fmla="*/ 84 h 798"/>
              <a:gd name="T2" fmla="*/ 504 w 623"/>
              <a:gd name="T3" fmla="*/ 10 h 798"/>
              <a:gd name="T4" fmla="*/ 423 w 623"/>
              <a:gd name="T5" fmla="*/ 91 h 798"/>
              <a:gd name="T6" fmla="*/ 224 w 623"/>
              <a:gd name="T7" fmla="*/ 291 h 798"/>
              <a:gd name="T8" fmla="*/ 181 w 623"/>
              <a:gd name="T9" fmla="*/ 283 h 798"/>
              <a:gd name="T10" fmla="*/ 181 w 623"/>
              <a:gd name="T11" fmla="*/ 318 h 798"/>
              <a:gd name="T12" fmla="*/ 132 w 623"/>
              <a:gd name="T13" fmla="*/ 383 h 798"/>
              <a:gd name="T14" fmla="*/ 206 w 623"/>
              <a:gd name="T15" fmla="*/ 492 h 798"/>
              <a:gd name="T16" fmla="*/ 241 w 623"/>
              <a:gd name="T17" fmla="*/ 492 h 798"/>
              <a:gd name="T18" fmla="*/ 305 w 623"/>
              <a:gd name="T19" fmla="*/ 443 h 798"/>
              <a:gd name="T20" fmla="*/ 341 w 623"/>
              <a:gd name="T21" fmla="*/ 408 h 798"/>
              <a:gd name="T22" fmla="*/ 446 w 623"/>
              <a:gd name="T23" fmla="*/ 287 h 798"/>
              <a:gd name="T24" fmla="*/ 496 w 623"/>
              <a:gd name="T25" fmla="*/ 268 h 798"/>
              <a:gd name="T26" fmla="*/ 463 w 623"/>
              <a:gd name="T27" fmla="*/ 550 h 798"/>
              <a:gd name="T28" fmla="*/ 75 w 623"/>
              <a:gd name="T29" fmla="*/ 525 h 798"/>
              <a:gd name="T30" fmla="*/ 75 w 623"/>
              <a:gd name="T31" fmla="*/ 574 h 798"/>
              <a:gd name="T32" fmla="*/ 312 w 623"/>
              <a:gd name="T33" fmla="*/ 574 h 798"/>
              <a:gd name="T34" fmla="*/ 298 w 623"/>
              <a:gd name="T35" fmla="*/ 649 h 798"/>
              <a:gd name="T36" fmla="*/ 0 w 623"/>
              <a:gd name="T37" fmla="*/ 674 h 798"/>
              <a:gd name="T38" fmla="*/ 0 w 623"/>
              <a:gd name="T39" fmla="*/ 773 h 798"/>
              <a:gd name="T40" fmla="*/ 25 w 623"/>
              <a:gd name="T41" fmla="*/ 798 h 798"/>
              <a:gd name="T42" fmla="*/ 596 w 623"/>
              <a:gd name="T43" fmla="*/ 773 h 798"/>
              <a:gd name="T44" fmla="*/ 596 w 623"/>
              <a:gd name="T45" fmla="*/ 674 h 798"/>
              <a:gd name="T46" fmla="*/ 571 w 623"/>
              <a:gd name="T47" fmla="*/ 649 h 798"/>
              <a:gd name="T48" fmla="*/ 497 w 623"/>
              <a:gd name="T49" fmla="*/ 624 h 798"/>
              <a:gd name="T50" fmla="*/ 596 w 623"/>
              <a:gd name="T51" fmla="*/ 395 h 798"/>
              <a:gd name="T52" fmla="*/ 525 w 623"/>
              <a:gd name="T53" fmla="*/ 229 h 798"/>
              <a:gd name="T54" fmla="*/ 613 w 623"/>
              <a:gd name="T55" fmla="*/ 120 h 798"/>
              <a:gd name="T56" fmla="*/ 546 w 623"/>
              <a:gd name="T57" fmla="*/ 748 h 798"/>
              <a:gd name="T58" fmla="*/ 50 w 623"/>
              <a:gd name="T59" fmla="*/ 698 h 798"/>
              <a:gd name="T60" fmla="*/ 348 w 623"/>
              <a:gd name="T61" fmla="*/ 649 h 798"/>
              <a:gd name="T62" fmla="*/ 397 w 623"/>
              <a:gd name="T63" fmla="*/ 574 h 798"/>
              <a:gd name="T64" fmla="*/ 447 w 623"/>
              <a:gd name="T65" fmla="*/ 649 h 798"/>
              <a:gd name="T66" fmla="*/ 522 w 623"/>
              <a:gd name="T67" fmla="*/ 63 h 798"/>
              <a:gd name="T68" fmla="*/ 522 w 623"/>
              <a:gd name="T69" fmla="*/ 141 h 798"/>
              <a:gd name="T70" fmla="*/ 516 w 623"/>
              <a:gd name="T71" fmla="*/ 132 h 798"/>
              <a:gd name="T72" fmla="*/ 488 w 623"/>
              <a:gd name="T73" fmla="*/ 105 h 798"/>
              <a:gd name="T74" fmla="*/ 522 w 623"/>
              <a:gd name="T75" fmla="*/ 63 h 798"/>
              <a:gd name="T76" fmla="*/ 184 w 623"/>
              <a:gd name="T77" fmla="*/ 400 h 798"/>
              <a:gd name="T78" fmla="*/ 263 w 623"/>
              <a:gd name="T79" fmla="*/ 400 h 798"/>
              <a:gd name="T80" fmla="*/ 298 w 623"/>
              <a:gd name="T81" fmla="*/ 365 h 798"/>
              <a:gd name="T82" fmla="*/ 348 w 623"/>
              <a:gd name="T83" fmla="*/ 237 h 798"/>
              <a:gd name="T84" fmla="*/ 354 w 623"/>
              <a:gd name="T85" fmla="*/ 246 h 798"/>
              <a:gd name="T86" fmla="*/ 382 w 623"/>
              <a:gd name="T87" fmla="*/ 273 h 798"/>
              <a:gd name="T88" fmla="*/ 298 w 623"/>
              <a:gd name="T89" fmla="*/ 365 h 798"/>
              <a:gd name="T90" fmla="*/ 385 w 623"/>
              <a:gd name="T91" fmla="*/ 189 h 798"/>
              <a:gd name="T92" fmla="*/ 484 w 623"/>
              <a:gd name="T93" fmla="*/ 189 h 798"/>
              <a:gd name="T94" fmla="*/ 435 w 623"/>
              <a:gd name="T95" fmla="*/ 23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3" h="798">
                <a:moveTo>
                  <a:pt x="613" y="120"/>
                </a:moveTo>
                <a:cubicBezTo>
                  <a:pt x="623" y="110"/>
                  <a:pt x="623" y="94"/>
                  <a:pt x="613" y="84"/>
                </a:cubicBezTo>
                <a:cubicBezTo>
                  <a:pt x="539" y="10"/>
                  <a:pt x="539" y="10"/>
                  <a:pt x="539" y="10"/>
                </a:cubicBezTo>
                <a:cubicBezTo>
                  <a:pt x="529" y="0"/>
                  <a:pt x="514" y="0"/>
                  <a:pt x="504" y="10"/>
                </a:cubicBezTo>
                <a:cubicBezTo>
                  <a:pt x="504" y="10"/>
                  <a:pt x="504" y="10"/>
                  <a:pt x="504" y="10"/>
                </a:cubicBezTo>
                <a:cubicBezTo>
                  <a:pt x="423" y="91"/>
                  <a:pt x="423" y="91"/>
                  <a:pt x="423" y="91"/>
                </a:cubicBezTo>
                <a:cubicBezTo>
                  <a:pt x="378" y="96"/>
                  <a:pt x="342" y="132"/>
                  <a:pt x="337" y="178"/>
                </a:cubicBezTo>
                <a:cubicBezTo>
                  <a:pt x="224" y="291"/>
                  <a:pt x="224" y="291"/>
                  <a:pt x="224" y="291"/>
                </a:cubicBezTo>
                <a:cubicBezTo>
                  <a:pt x="216" y="283"/>
                  <a:pt x="216" y="283"/>
                  <a:pt x="216" y="283"/>
                </a:cubicBezTo>
                <a:cubicBezTo>
                  <a:pt x="207" y="274"/>
                  <a:pt x="191" y="274"/>
                  <a:pt x="181" y="283"/>
                </a:cubicBezTo>
                <a:cubicBezTo>
                  <a:pt x="172" y="293"/>
                  <a:pt x="172" y="309"/>
                  <a:pt x="181" y="318"/>
                </a:cubicBezTo>
                <a:cubicBezTo>
                  <a:pt x="181" y="318"/>
                  <a:pt x="181" y="318"/>
                  <a:pt x="181" y="318"/>
                </a:cubicBezTo>
                <a:cubicBezTo>
                  <a:pt x="189" y="326"/>
                  <a:pt x="189" y="326"/>
                  <a:pt x="189" y="326"/>
                </a:cubicBezTo>
                <a:cubicBezTo>
                  <a:pt x="132" y="383"/>
                  <a:pt x="132" y="383"/>
                  <a:pt x="132" y="383"/>
                </a:cubicBezTo>
                <a:cubicBezTo>
                  <a:pt x="122" y="392"/>
                  <a:pt x="122" y="408"/>
                  <a:pt x="132" y="418"/>
                </a:cubicBezTo>
                <a:cubicBezTo>
                  <a:pt x="206" y="492"/>
                  <a:pt x="206" y="492"/>
                  <a:pt x="206" y="492"/>
                </a:cubicBezTo>
                <a:cubicBezTo>
                  <a:pt x="216" y="502"/>
                  <a:pt x="232" y="502"/>
                  <a:pt x="241" y="492"/>
                </a:cubicBezTo>
                <a:cubicBezTo>
                  <a:pt x="241" y="492"/>
                  <a:pt x="241" y="492"/>
                  <a:pt x="241" y="492"/>
                </a:cubicBezTo>
                <a:cubicBezTo>
                  <a:pt x="298" y="435"/>
                  <a:pt x="298" y="435"/>
                  <a:pt x="298" y="435"/>
                </a:cubicBezTo>
                <a:cubicBezTo>
                  <a:pt x="305" y="443"/>
                  <a:pt x="305" y="443"/>
                  <a:pt x="305" y="443"/>
                </a:cubicBezTo>
                <a:cubicBezTo>
                  <a:pt x="315" y="452"/>
                  <a:pt x="331" y="452"/>
                  <a:pt x="341" y="443"/>
                </a:cubicBezTo>
                <a:cubicBezTo>
                  <a:pt x="350" y="433"/>
                  <a:pt x="350" y="417"/>
                  <a:pt x="341" y="408"/>
                </a:cubicBezTo>
                <a:cubicBezTo>
                  <a:pt x="333" y="400"/>
                  <a:pt x="333" y="400"/>
                  <a:pt x="333" y="400"/>
                </a:cubicBezTo>
                <a:cubicBezTo>
                  <a:pt x="446" y="287"/>
                  <a:pt x="446" y="287"/>
                  <a:pt x="446" y="287"/>
                </a:cubicBezTo>
                <a:cubicBezTo>
                  <a:pt x="464" y="285"/>
                  <a:pt x="481" y="278"/>
                  <a:pt x="495" y="267"/>
                </a:cubicBezTo>
                <a:cubicBezTo>
                  <a:pt x="496" y="267"/>
                  <a:pt x="496" y="268"/>
                  <a:pt x="496" y="268"/>
                </a:cubicBezTo>
                <a:cubicBezTo>
                  <a:pt x="528" y="302"/>
                  <a:pt x="546" y="348"/>
                  <a:pt x="546" y="395"/>
                </a:cubicBezTo>
                <a:cubicBezTo>
                  <a:pt x="546" y="457"/>
                  <a:pt x="515" y="514"/>
                  <a:pt x="463" y="550"/>
                </a:cubicBezTo>
                <a:cubicBezTo>
                  <a:pt x="445" y="534"/>
                  <a:pt x="422" y="525"/>
                  <a:pt x="397" y="525"/>
                </a:cubicBezTo>
                <a:cubicBezTo>
                  <a:pt x="75" y="525"/>
                  <a:pt x="75" y="525"/>
                  <a:pt x="75" y="525"/>
                </a:cubicBezTo>
                <a:cubicBezTo>
                  <a:pt x="61" y="525"/>
                  <a:pt x="50" y="536"/>
                  <a:pt x="50" y="549"/>
                </a:cubicBezTo>
                <a:cubicBezTo>
                  <a:pt x="50" y="563"/>
                  <a:pt x="61" y="574"/>
                  <a:pt x="75" y="574"/>
                </a:cubicBezTo>
                <a:cubicBezTo>
                  <a:pt x="75" y="574"/>
                  <a:pt x="75" y="574"/>
                  <a:pt x="75" y="574"/>
                </a:cubicBezTo>
                <a:cubicBezTo>
                  <a:pt x="312" y="574"/>
                  <a:pt x="312" y="574"/>
                  <a:pt x="312" y="574"/>
                </a:cubicBezTo>
                <a:cubicBezTo>
                  <a:pt x="303" y="589"/>
                  <a:pt x="298" y="606"/>
                  <a:pt x="298" y="624"/>
                </a:cubicBezTo>
                <a:cubicBezTo>
                  <a:pt x="298" y="649"/>
                  <a:pt x="298" y="649"/>
                  <a:pt x="298" y="649"/>
                </a:cubicBezTo>
                <a:cubicBezTo>
                  <a:pt x="25" y="649"/>
                  <a:pt x="25" y="649"/>
                  <a:pt x="25" y="649"/>
                </a:cubicBezTo>
                <a:cubicBezTo>
                  <a:pt x="12" y="649"/>
                  <a:pt x="0" y="660"/>
                  <a:pt x="0" y="674"/>
                </a:cubicBezTo>
                <a:cubicBezTo>
                  <a:pt x="0" y="674"/>
                  <a:pt x="0" y="674"/>
                  <a:pt x="0" y="674"/>
                </a:cubicBezTo>
                <a:cubicBezTo>
                  <a:pt x="0" y="773"/>
                  <a:pt x="0" y="773"/>
                  <a:pt x="0" y="773"/>
                </a:cubicBezTo>
                <a:cubicBezTo>
                  <a:pt x="0" y="787"/>
                  <a:pt x="12" y="798"/>
                  <a:pt x="25" y="798"/>
                </a:cubicBezTo>
                <a:cubicBezTo>
                  <a:pt x="25" y="798"/>
                  <a:pt x="25" y="798"/>
                  <a:pt x="25" y="798"/>
                </a:cubicBezTo>
                <a:cubicBezTo>
                  <a:pt x="571" y="798"/>
                  <a:pt x="571" y="798"/>
                  <a:pt x="571" y="798"/>
                </a:cubicBezTo>
                <a:cubicBezTo>
                  <a:pt x="585" y="798"/>
                  <a:pt x="596" y="787"/>
                  <a:pt x="596" y="773"/>
                </a:cubicBezTo>
                <a:cubicBezTo>
                  <a:pt x="596" y="773"/>
                  <a:pt x="596" y="773"/>
                  <a:pt x="596" y="773"/>
                </a:cubicBezTo>
                <a:cubicBezTo>
                  <a:pt x="596" y="674"/>
                  <a:pt x="596" y="674"/>
                  <a:pt x="596" y="674"/>
                </a:cubicBezTo>
                <a:cubicBezTo>
                  <a:pt x="596" y="660"/>
                  <a:pt x="585" y="649"/>
                  <a:pt x="571" y="649"/>
                </a:cubicBezTo>
                <a:cubicBezTo>
                  <a:pt x="571" y="649"/>
                  <a:pt x="571" y="649"/>
                  <a:pt x="571" y="649"/>
                </a:cubicBezTo>
                <a:cubicBezTo>
                  <a:pt x="497" y="649"/>
                  <a:pt x="497" y="649"/>
                  <a:pt x="497" y="649"/>
                </a:cubicBezTo>
                <a:cubicBezTo>
                  <a:pt x="497" y="624"/>
                  <a:pt x="497" y="624"/>
                  <a:pt x="497" y="624"/>
                </a:cubicBezTo>
                <a:cubicBezTo>
                  <a:pt x="497" y="613"/>
                  <a:pt x="495" y="602"/>
                  <a:pt x="491" y="591"/>
                </a:cubicBezTo>
                <a:cubicBezTo>
                  <a:pt x="557" y="546"/>
                  <a:pt x="596" y="473"/>
                  <a:pt x="596" y="395"/>
                </a:cubicBezTo>
                <a:cubicBezTo>
                  <a:pt x="596" y="335"/>
                  <a:pt x="573" y="278"/>
                  <a:pt x="532" y="234"/>
                </a:cubicBezTo>
                <a:cubicBezTo>
                  <a:pt x="530" y="232"/>
                  <a:pt x="528" y="230"/>
                  <a:pt x="525" y="229"/>
                </a:cubicBezTo>
                <a:cubicBezTo>
                  <a:pt x="529" y="220"/>
                  <a:pt x="532" y="210"/>
                  <a:pt x="533" y="200"/>
                </a:cubicBezTo>
                <a:lnTo>
                  <a:pt x="613" y="120"/>
                </a:lnTo>
                <a:close/>
                <a:moveTo>
                  <a:pt x="546" y="698"/>
                </a:moveTo>
                <a:cubicBezTo>
                  <a:pt x="546" y="748"/>
                  <a:pt x="546" y="748"/>
                  <a:pt x="546" y="748"/>
                </a:cubicBezTo>
                <a:cubicBezTo>
                  <a:pt x="50" y="748"/>
                  <a:pt x="50" y="748"/>
                  <a:pt x="50" y="748"/>
                </a:cubicBezTo>
                <a:cubicBezTo>
                  <a:pt x="50" y="698"/>
                  <a:pt x="50" y="698"/>
                  <a:pt x="50" y="698"/>
                </a:cubicBezTo>
                <a:lnTo>
                  <a:pt x="546" y="698"/>
                </a:lnTo>
                <a:close/>
                <a:moveTo>
                  <a:pt x="348" y="649"/>
                </a:moveTo>
                <a:cubicBezTo>
                  <a:pt x="348" y="624"/>
                  <a:pt x="348" y="624"/>
                  <a:pt x="348" y="624"/>
                </a:cubicBezTo>
                <a:cubicBezTo>
                  <a:pt x="348" y="597"/>
                  <a:pt x="370" y="574"/>
                  <a:pt x="397" y="574"/>
                </a:cubicBezTo>
                <a:cubicBezTo>
                  <a:pt x="425" y="574"/>
                  <a:pt x="447" y="597"/>
                  <a:pt x="447" y="624"/>
                </a:cubicBezTo>
                <a:cubicBezTo>
                  <a:pt x="447" y="649"/>
                  <a:pt x="447" y="649"/>
                  <a:pt x="447" y="649"/>
                </a:cubicBezTo>
                <a:lnTo>
                  <a:pt x="348" y="649"/>
                </a:lnTo>
                <a:close/>
                <a:moveTo>
                  <a:pt x="522" y="63"/>
                </a:moveTo>
                <a:cubicBezTo>
                  <a:pt x="561" y="102"/>
                  <a:pt x="561" y="102"/>
                  <a:pt x="561" y="102"/>
                </a:cubicBezTo>
                <a:cubicBezTo>
                  <a:pt x="522" y="141"/>
                  <a:pt x="522" y="141"/>
                  <a:pt x="522" y="141"/>
                </a:cubicBezTo>
                <a:cubicBezTo>
                  <a:pt x="521" y="139"/>
                  <a:pt x="519" y="138"/>
                  <a:pt x="518" y="136"/>
                </a:cubicBezTo>
                <a:cubicBezTo>
                  <a:pt x="517" y="135"/>
                  <a:pt x="517" y="133"/>
                  <a:pt x="516" y="132"/>
                </a:cubicBezTo>
                <a:cubicBezTo>
                  <a:pt x="509" y="123"/>
                  <a:pt x="501" y="114"/>
                  <a:pt x="492" y="108"/>
                </a:cubicBezTo>
                <a:cubicBezTo>
                  <a:pt x="490" y="107"/>
                  <a:pt x="489" y="106"/>
                  <a:pt x="488" y="105"/>
                </a:cubicBezTo>
                <a:cubicBezTo>
                  <a:pt x="486" y="104"/>
                  <a:pt x="484" y="103"/>
                  <a:pt x="482" y="102"/>
                </a:cubicBezTo>
                <a:lnTo>
                  <a:pt x="522" y="63"/>
                </a:lnTo>
                <a:close/>
                <a:moveTo>
                  <a:pt x="224" y="440"/>
                </a:moveTo>
                <a:cubicBezTo>
                  <a:pt x="184" y="400"/>
                  <a:pt x="184" y="400"/>
                  <a:pt x="184" y="400"/>
                </a:cubicBezTo>
                <a:cubicBezTo>
                  <a:pt x="224" y="361"/>
                  <a:pt x="224" y="361"/>
                  <a:pt x="224" y="361"/>
                </a:cubicBezTo>
                <a:cubicBezTo>
                  <a:pt x="263" y="400"/>
                  <a:pt x="263" y="400"/>
                  <a:pt x="263" y="400"/>
                </a:cubicBezTo>
                <a:lnTo>
                  <a:pt x="224" y="440"/>
                </a:lnTo>
                <a:close/>
                <a:moveTo>
                  <a:pt x="298" y="365"/>
                </a:moveTo>
                <a:cubicBezTo>
                  <a:pt x="259" y="326"/>
                  <a:pt x="259" y="326"/>
                  <a:pt x="259" y="326"/>
                </a:cubicBezTo>
                <a:cubicBezTo>
                  <a:pt x="348" y="237"/>
                  <a:pt x="348" y="237"/>
                  <a:pt x="348" y="237"/>
                </a:cubicBezTo>
                <a:cubicBezTo>
                  <a:pt x="349" y="239"/>
                  <a:pt x="350" y="240"/>
                  <a:pt x="351" y="242"/>
                </a:cubicBezTo>
                <a:cubicBezTo>
                  <a:pt x="352" y="243"/>
                  <a:pt x="353" y="245"/>
                  <a:pt x="354" y="246"/>
                </a:cubicBezTo>
                <a:cubicBezTo>
                  <a:pt x="360" y="255"/>
                  <a:pt x="368" y="264"/>
                  <a:pt x="378" y="270"/>
                </a:cubicBezTo>
                <a:cubicBezTo>
                  <a:pt x="379" y="271"/>
                  <a:pt x="380" y="272"/>
                  <a:pt x="382" y="273"/>
                </a:cubicBezTo>
                <a:cubicBezTo>
                  <a:pt x="384" y="274"/>
                  <a:pt x="385" y="275"/>
                  <a:pt x="387" y="276"/>
                </a:cubicBezTo>
                <a:lnTo>
                  <a:pt x="298" y="365"/>
                </a:lnTo>
                <a:close/>
                <a:moveTo>
                  <a:pt x="435" y="239"/>
                </a:moveTo>
                <a:cubicBezTo>
                  <a:pt x="407" y="239"/>
                  <a:pt x="385" y="217"/>
                  <a:pt x="385" y="189"/>
                </a:cubicBezTo>
                <a:cubicBezTo>
                  <a:pt x="385" y="162"/>
                  <a:pt x="407" y="139"/>
                  <a:pt x="435" y="139"/>
                </a:cubicBezTo>
                <a:cubicBezTo>
                  <a:pt x="462" y="139"/>
                  <a:pt x="484" y="161"/>
                  <a:pt x="484" y="189"/>
                </a:cubicBezTo>
                <a:cubicBezTo>
                  <a:pt x="484" y="189"/>
                  <a:pt x="484" y="189"/>
                  <a:pt x="484" y="189"/>
                </a:cubicBezTo>
                <a:cubicBezTo>
                  <a:pt x="484" y="216"/>
                  <a:pt x="462" y="239"/>
                  <a:pt x="435" y="239"/>
                </a:cubicBez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Freeform 9"/>
          <p:cNvSpPr>
            <a:spLocks noEditPoints="1"/>
          </p:cNvSpPr>
          <p:nvPr/>
        </p:nvSpPr>
        <p:spPr bwMode="auto">
          <a:xfrm>
            <a:off x="441343" y="3414422"/>
            <a:ext cx="199493" cy="198877"/>
          </a:xfrm>
          <a:custGeom>
            <a:avLst/>
            <a:gdLst>
              <a:gd name="T0" fmla="*/ 623 w 797"/>
              <a:gd name="T1" fmla="*/ 324 h 797"/>
              <a:gd name="T2" fmla="*/ 672 w 797"/>
              <a:gd name="T3" fmla="*/ 373 h 797"/>
              <a:gd name="T4" fmla="*/ 423 w 797"/>
              <a:gd name="T5" fmla="*/ 324 h 797"/>
              <a:gd name="T6" fmla="*/ 374 w 797"/>
              <a:gd name="T7" fmla="*/ 373 h 797"/>
              <a:gd name="T8" fmla="*/ 423 w 797"/>
              <a:gd name="T9" fmla="*/ 324 h 797"/>
              <a:gd name="T10" fmla="*/ 125 w 797"/>
              <a:gd name="T11" fmla="*/ 324 h 797"/>
              <a:gd name="T12" fmla="*/ 174 w 797"/>
              <a:gd name="T13" fmla="*/ 373 h 797"/>
              <a:gd name="T14" fmla="*/ 747 w 797"/>
              <a:gd name="T15" fmla="*/ 249 h 797"/>
              <a:gd name="T16" fmla="*/ 722 w 797"/>
              <a:gd name="T17" fmla="*/ 0 h 797"/>
              <a:gd name="T18" fmla="*/ 573 w 797"/>
              <a:gd name="T19" fmla="*/ 0 h 797"/>
              <a:gd name="T20" fmla="*/ 548 w 797"/>
              <a:gd name="T21" fmla="*/ 25 h 797"/>
              <a:gd name="T22" fmla="*/ 498 w 797"/>
              <a:gd name="T23" fmla="*/ 249 h 797"/>
              <a:gd name="T24" fmla="*/ 473 w 797"/>
              <a:gd name="T25" fmla="*/ 0 h 797"/>
              <a:gd name="T26" fmla="*/ 324 w 797"/>
              <a:gd name="T27" fmla="*/ 0 h 797"/>
              <a:gd name="T28" fmla="*/ 299 w 797"/>
              <a:gd name="T29" fmla="*/ 25 h 797"/>
              <a:gd name="T30" fmla="*/ 249 w 797"/>
              <a:gd name="T31" fmla="*/ 249 h 797"/>
              <a:gd name="T32" fmla="*/ 224 w 797"/>
              <a:gd name="T33" fmla="*/ 0 h 797"/>
              <a:gd name="T34" fmla="*/ 75 w 797"/>
              <a:gd name="T35" fmla="*/ 0 h 797"/>
              <a:gd name="T36" fmla="*/ 50 w 797"/>
              <a:gd name="T37" fmla="*/ 25 h 797"/>
              <a:gd name="T38" fmla="*/ 0 w 797"/>
              <a:gd name="T39" fmla="*/ 299 h 797"/>
              <a:gd name="T40" fmla="*/ 50 w 797"/>
              <a:gd name="T41" fmla="*/ 448 h 797"/>
              <a:gd name="T42" fmla="*/ 149 w 797"/>
              <a:gd name="T43" fmla="*/ 797 h 797"/>
              <a:gd name="T44" fmla="*/ 249 w 797"/>
              <a:gd name="T45" fmla="*/ 448 h 797"/>
              <a:gd name="T46" fmla="*/ 299 w 797"/>
              <a:gd name="T47" fmla="*/ 697 h 797"/>
              <a:gd name="T48" fmla="*/ 498 w 797"/>
              <a:gd name="T49" fmla="*/ 697 h 797"/>
              <a:gd name="T50" fmla="*/ 548 w 797"/>
              <a:gd name="T51" fmla="*/ 448 h 797"/>
              <a:gd name="T52" fmla="*/ 647 w 797"/>
              <a:gd name="T53" fmla="*/ 797 h 797"/>
              <a:gd name="T54" fmla="*/ 747 w 797"/>
              <a:gd name="T55" fmla="*/ 448 h 797"/>
              <a:gd name="T56" fmla="*/ 797 w 797"/>
              <a:gd name="T57" fmla="*/ 299 h 797"/>
              <a:gd name="T58" fmla="*/ 598 w 797"/>
              <a:gd name="T59" fmla="*/ 50 h 797"/>
              <a:gd name="T60" fmla="*/ 697 w 797"/>
              <a:gd name="T61" fmla="*/ 99 h 797"/>
              <a:gd name="T62" fmla="*/ 598 w 797"/>
              <a:gd name="T63" fmla="*/ 50 h 797"/>
              <a:gd name="T64" fmla="*/ 697 w 797"/>
              <a:gd name="T65" fmla="*/ 149 h 797"/>
              <a:gd name="T66" fmla="*/ 598 w 797"/>
              <a:gd name="T67" fmla="*/ 249 h 797"/>
              <a:gd name="T68" fmla="*/ 349 w 797"/>
              <a:gd name="T69" fmla="*/ 50 h 797"/>
              <a:gd name="T70" fmla="*/ 448 w 797"/>
              <a:gd name="T71" fmla="*/ 99 h 797"/>
              <a:gd name="T72" fmla="*/ 349 w 797"/>
              <a:gd name="T73" fmla="*/ 50 h 797"/>
              <a:gd name="T74" fmla="*/ 448 w 797"/>
              <a:gd name="T75" fmla="*/ 149 h 797"/>
              <a:gd name="T76" fmla="*/ 349 w 797"/>
              <a:gd name="T77" fmla="*/ 249 h 797"/>
              <a:gd name="T78" fmla="*/ 100 w 797"/>
              <a:gd name="T79" fmla="*/ 50 h 797"/>
              <a:gd name="T80" fmla="*/ 199 w 797"/>
              <a:gd name="T81" fmla="*/ 99 h 797"/>
              <a:gd name="T82" fmla="*/ 100 w 797"/>
              <a:gd name="T83" fmla="*/ 50 h 797"/>
              <a:gd name="T84" fmla="*/ 199 w 797"/>
              <a:gd name="T85" fmla="*/ 149 h 797"/>
              <a:gd name="T86" fmla="*/ 100 w 797"/>
              <a:gd name="T87" fmla="*/ 249 h 797"/>
              <a:gd name="T88" fmla="*/ 199 w 797"/>
              <a:gd name="T89" fmla="*/ 697 h 797"/>
              <a:gd name="T90" fmla="*/ 100 w 797"/>
              <a:gd name="T91" fmla="*/ 697 h 797"/>
              <a:gd name="T92" fmla="*/ 199 w 797"/>
              <a:gd name="T93" fmla="*/ 448 h 797"/>
              <a:gd name="T94" fmla="*/ 448 w 797"/>
              <a:gd name="T95" fmla="*/ 697 h 797"/>
              <a:gd name="T96" fmla="*/ 349 w 797"/>
              <a:gd name="T97" fmla="*/ 697 h 797"/>
              <a:gd name="T98" fmla="*/ 448 w 797"/>
              <a:gd name="T99" fmla="*/ 448 h 797"/>
              <a:gd name="T100" fmla="*/ 697 w 797"/>
              <a:gd name="T101" fmla="*/ 697 h 797"/>
              <a:gd name="T102" fmla="*/ 598 w 797"/>
              <a:gd name="T103" fmla="*/ 697 h 797"/>
              <a:gd name="T104" fmla="*/ 697 w 797"/>
              <a:gd name="T105" fmla="*/ 448 h 797"/>
              <a:gd name="T106" fmla="*/ 747 w 797"/>
              <a:gd name="T107" fmla="*/ 398 h 797"/>
              <a:gd name="T108" fmla="*/ 50 w 797"/>
              <a:gd name="T109" fmla="*/ 299 h 797"/>
              <a:gd name="T110" fmla="*/ 747 w 797"/>
              <a:gd name="T111" fmla="*/ 398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97" h="797">
                <a:moveTo>
                  <a:pt x="672" y="324"/>
                </a:moveTo>
                <a:cubicBezTo>
                  <a:pt x="623" y="324"/>
                  <a:pt x="623" y="324"/>
                  <a:pt x="623" y="324"/>
                </a:cubicBezTo>
                <a:cubicBezTo>
                  <a:pt x="623" y="373"/>
                  <a:pt x="623" y="373"/>
                  <a:pt x="623" y="373"/>
                </a:cubicBezTo>
                <a:cubicBezTo>
                  <a:pt x="672" y="373"/>
                  <a:pt x="672" y="373"/>
                  <a:pt x="672" y="373"/>
                </a:cubicBezTo>
                <a:lnTo>
                  <a:pt x="672" y="324"/>
                </a:lnTo>
                <a:close/>
                <a:moveTo>
                  <a:pt x="423" y="324"/>
                </a:moveTo>
                <a:cubicBezTo>
                  <a:pt x="374" y="324"/>
                  <a:pt x="374" y="324"/>
                  <a:pt x="374" y="324"/>
                </a:cubicBezTo>
                <a:cubicBezTo>
                  <a:pt x="374" y="373"/>
                  <a:pt x="374" y="373"/>
                  <a:pt x="374" y="373"/>
                </a:cubicBezTo>
                <a:cubicBezTo>
                  <a:pt x="423" y="373"/>
                  <a:pt x="423" y="373"/>
                  <a:pt x="423" y="373"/>
                </a:cubicBezTo>
                <a:lnTo>
                  <a:pt x="423" y="324"/>
                </a:lnTo>
                <a:close/>
                <a:moveTo>
                  <a:pt x="174" y="324"/>
                </a:moveTo>
                <a:cubicBezTo>
                  <a:pt x="125" y="324"/>
                  <a:pt x="125" y="324"/>
                  <a:pt x="125" y="324"/>
                </a:cubicBezTo>
                <a:cubicBezTo>
                  <a:pt x="125" y="373"/>
                  <a:pt x="125" y="373"/>
                  <a:pt x="125" y="373"/>
                </a:cubicBezTo>
                <a:cubicBezTo>
                  <a:pt x="174" y="373"/>
                  <a:pt x="174" y="373"/>
                  <a:pt x="174" y="373"/>
                </a:cubicBezTo>
                <a:lnTo>
                  <a:pt x="174" y="324"/>
                </a:lnTo>
                <a:close/>
                <a:moveTo>
                  <a:pt x="747" y="249"/>
                </a:moveTo>
                <a:cubicBezTo>
                  <a:pt x="747" y="25"/>
                  <a:pt x="747" y="25"/>
                  <a:pt x="747" y="25"/>
                </a:cubicBezTo>
                <a:cubicBezTo>
                  <a:pt x="747" y="11"/>
                  <a:pt x="736" y="0"/>
                  <a:pt x="722" y="0"/>
                </a:cubicBezTo>
                <a:cubicBezTo>
                  <a:pt x="722" y="0"/>
                  <a:pt x="722" y="0"/>
                  <a:pt x="722" y="0"/>
                </a:cubicBezTo>
                <a:cubicBezTo>
                  <a:pt x="573" y="0"/>
                  <a:pt x="573" y="0"/>
                  <a:pt x="573" y="0"/>
                </a:cubicBezTo>
                <a:cubicBezTo>
                  <a:pt x="559" y="0"/>
                  <a:pt x="548" y="11"/>
                  <a:pt x="548" y="25"/>
                </a:cubicBezTo>
                <a:cubicBezTo>
                  <a:pt x="548" y="25"/>
                  <a:pt x="548" y="25"/>
                  <a:pt x="548" y="25"/>
                </a:cubicBezTo>
                <a:cubicBezTo>
                  <a:pt x="548" y="249"/>
                  <a:pt x="548" y="249"/>
                  <a:pt x="548" y="249"/>
                </a:cubicBezTo>
                <a:cubicBezTo>
                  <a:pt x="498" y="249"/>
                  <a:pt x="498" y="249"/>
                  <a:pt x="498" y="249"/>
                </a:cubicBezTo>
                <a:cubicBezTo>
                  <a:pt x="498" y="25"/>
                  <a:pt x="498" y="25"/>
                  <a:pt x="498" y="25"/>
                </a:cubicBezTo>
                <a:cubicBezTo>
                  <a:pt x="498" y="11"/>
                  <a:pt x="487" y="0"/>
                  <a:pt x="473" y="0"/>
                </a:cubicBezTo>
                <a:cubicBezTo>
                  <a:pt x="473" y="0"/>
                  <a:pt x="473" y="0"/>
                  <a:pt x="473" y="0"/>
                </a:cubicBezTo>
                <a:cubicBezTo>
                  <a:pt x="324" y="0"/>
                  <a:pt x="324" y="0"/>
                  <a:pt x="324" y="0"/>
                </a:cubicBezTo>
                <a:cubicBezTo>
                  <a:pt x="310" y="0"/>
                  <a:pt x="299" y="11"/>
                  <a:pt x="299" y="25"/>
                </a:cubicBezTo>
                <a:cubicBezTo>
                  <a:pt x="299" y="25"/>
                  <a:pt x="299" y="25"/>
                  <a:pt x="299" y="25"/>
                </a:cubicBezTo>
                <a:cubicBezTo>
                  <a:pt x="299" y="249"/>
                  <a:pt x="299" y="249"/>
                  <a:pt x="299" y="249"/>
                </a:cubicBezTo>
                <a:cubicBezTo>
                  <a:pt x="249" y="249"/>
                  <a:pt x="249" y="249"/>
                  <a:pt x="249" y="249"/>
                </a:cubicBezTo>
                <a:cubicBezTo>
                  <a:pt x="249" y="25"/>
                  <a:pt x="249" y="25"/>
                  <a:pt x="249" y="25"/>
                </a:cubicBezTo>
                <a:cubicBezTo>
                  <a:pt x="249" y="11"/>
                  <a:pt x="238" y="0"/>
                  <a:pt x="224" y="0"/>
                </a:cubicBezTo>
                <a:cubicBezTo>
                  <a:pt x="224" y="0"/>
                  <a:pt x="224" y="0"/>
                  <a:pt x="224" y="0"/>
                </a:cubicBezTo>
                <a:cubicBezTo>
                  <a:pt x="75" y="0"/>
                  <a:pt x="75" y="0"/>
                  <a:pt x="75" y="0"/>
                </a:cubicBezTo>
                <a:cubicBezTo>
                  <a:pt x="61" y="0"/>
                  <a:pt x="50" y="11"/>
                  <a:pt x="50" y="25"/>
                </a:cubicBezTo>
                <a:cubicBezTo>
                  <a:pt x="50" y="25"/>
                  <a:pt x="50" y="25"/>
                  <a:pt x="50" y="25"/>
                </a:cubicBezTo>
                <a:cubicBezTo>
                  <a:pt x="50" y="249"/>
                  <a:pt x="50" y="249"/>
                  <a:pt x="50" y="249"/>
                </a:cubicBezTo>
                <a:cubicBezTo>
                  <a:pt x="22" y="249"/>
                  <a:pt x="0" y="271"/>
                  <a:pt x="0" y="299"/>
                </a:cubicBezTo>
                <a:cubicBezTo>
                  <a:pt x="0" y="398"/>
                  <a:pt x="0" y="398"/>
                  <a:pt x="0" y="398"/>
                </a:cubicBezTo>
                <a:cubicBezTo>
                  <a:pt x="0" y="426"/>
                  <a:pt x="22" y="448"/>
                  <a:pt x="50" y="448"/>
                </a:cubicBezTo>
                <a:cubicBezTo>
                  <a:pt x="50" y="697"/>
                  <a:pt x="50" y="697"/>
                  <a:pt x="50" y="697"/>
                </a:cubicBezTo>
                <a:cubicBezTo>
                  <a:pt x="50" y="752"/>
                  <a:pt x="94" y="797"/>
                  <a:pt x="149" y="797"/>
                </a:cubicBezTo>
                <a:cubicBezTo>
                  <a:pt x="204" y="797"/>
                  <a:pt x="249" y="752"/>
                  <a:pt x="249" y="697"/>
                </a:cubicBezTo>
                <a:cubicBezTo>
                  <a:pt x="249" y="448"/>
                  <a:pt x="249" y="448"/>
                  <a:pt x="249" y="448"/>
                </a:cubicBezTo>
                <a:cubicBezTo>
                  <a:pt x="299" y="448"/>
                  <a:pt x="299" y="448"/>
                  <a:pt x="299" y="448"/>
                </a:cubicBezTo>
                <a:cubicBezTo>
                  <a:pt x="299" y="697"/>
                  <a:pt x="299" y="697"/>
                  <a:pt x="299" y="697"/>
                </a:cubicBezTo>
                <a:cubicBezTo>
                  <a:pt x="299" y="752"/>
                  <a:pt x="343" y="797"/>
                  <a:pt x="398" y="797"/>
                </a:cubicBezTo>
                <a:cubicBezTo>
                  <a:pt x="453" y="797"/>
                  <a:pt x="498" y="752"/>
                  <a:pt x="498" y="697"/>
                </a:cubicBezTo>
                <a:cubicBezTo>
                  <a:pt x="498" y="448"/>
                  <a:pt x="498" y="448"/>
                  <a:pt x="498" y="448"/>
                </a:cubicBezTo>
                <a:cubicBezTo>
                  <a:pt x="548" y="448"/>
                  <a:pt x="548" y="448"/>
                  <a:pt x="548" y="448"/>
                </a:cubicBezTo>
                <a:cubicBezTo>
                  <a:pt x="548" y="697"/>
                  <a:pt x="548" y="697"/>
                  <a:pt x="548" y="697"/>
                </a:cubicBezTo>
                <a:cubicBezTo>
                  <a:pt x="548" y="752"/>
                  <a:pt x="592" y="797"/>
                  <a:pt x="647" y="797"/>
                </a:cubicBezTo>
                <a:cubicBezTo>
                  <a:pt x="702" y="797"/>
                  <a:pt x="747" y="752"/>
                  <a:pt x="747" y="697"/>
                </a:cubicBezTo>
                <a:cubicBezTo>
                  <a:pt x="747" y="448"/>
                  <a:pt x="747" y="448"/>
                  <a:pt x="747" y="448"/>
                </a:cubicBezTo>
                <a:cubicBezTo>
                  <a:pt x="775" y="448"/>
                  <a:pt x="797" y="426"/>
                  <a:pt x="797" y="398"/>
                </a:cubicBezTo>
                <a:cubicBezTo>
                  <a:pt x="797" y="299"/>
                  <a:pt x="797" y="299"/>
                  <a:pt x="797" y="299"/>
                </a:cubicBezTo>
                <a:cubicBezTo>
                  <a:pt x="797" y="271"/>
                  <a:pt x="775" y="249"/>
                  <a:pt x="747" y="249"/>
                </a:cubicBezTo>
                <a:close/>
                <a:moveTo>
                  <a:pt x="598" y="50"/>
                </a:moveTo>
                <a:cubicBezTo>
                  <a:pt x="697" y="50"/>
                  <a:pt x="697" y="50"/>
                  <a:pt x="697" y="50"/>
                </a:cubicBezTo>
                <a:cubicBezTo>
                  <a:pt x="697" y="99"/>
                  <a:pt x="697" y="99"/>
                  <a:pt x="697" y="99"/>
                </a:cubicBezTo>
                <a:cubicBezTo>
                  <a:pt x="598" y="99"/>
                  <a:pt x="598" y="99"/>
                  <a:pt x="598" y="99"/>
                </a:cubicBezTo>
                <a:lnTo>
                  <a:pt x="598" y="50"/>
                </a:lnTo>
                <a:close/>
                <a:moveTo>
                  <a:pt x="598" y="149"/>
                </a:moveTo>
                <a:cubicBezTo>
                  <a:pt x="697" y="149"/>
                  <a:pt x="697" y="149"/>
                  <a:pt x="697" y="149"/>
                </a:cubicBezTo>
                <a:cubicBezTo>
                  <a:pt x="697" y="249"/>
                  <a:pt x="697" y="249"/>
                  <a:pt x="697" y="249"/>
                </a:cubicBezTo>
                <a:cubicBezTo>
                  <a:pt x="598" y="249"/>
                  <a:pt x="598" y="249"/>
                  <a:pt x="598" y="249"/>
                </a:cubicBezTo>
                <a:lnTo>
                  <a:pt x="598" y="149"/>
                </a:lnTo>
                <a:close/>
                <a:moveTo>
                  <a:pt x="349" y="50"/>
                </a:moveTo>
                <a:cubicBezTo>
                  <a:pt x="448" y="50"/>
                  <a:pt x="448" y="50"/>
                  <a:pt x="448" y="50"/>
                </a:cubicBezTo>
                <a:cubicBezTo>
                  <a:pt x="448" y="99"/>
                  <a:pt x="448" y="99"/>
                  <a:pt x="448" y="99"/>
                </a:cubicBezTo>
                <a:cubicBezTo>
                  <a:pt x="349" y="99"/>
                  <a:pt x="349" y="99"/>
                  <a:pt x="349" y="99"/>
                </a:cubicBezTo>
                <a:lnTo>
                  <a:pt x="349" y="50"/>
                </a:lnTo>
                <a:close/>
                <a:moveTo>
                  <a:pt x="349" y="149"/>
                </a:moveTo>
                <a:cubicBezTo>
                  <a:pt x="448" y="149"/>
                  <a:pt x="448" y="149"/>
                  <a:pt x="448" y="149"/>
                </a:cubicBezTo>
                <a:cubicBezTo>
                  <a:pt x="448" y="249"/>
                  <a:pt x="448" y="249"/>
                  <a:pt x="448" y="249"/>
                </a:cubicBezTo>
                <a:cubicBezTo>
                  <a:pt x="349" y="249"/>
                  <a:pt x="349" y="249"/>
                  <a:pt x="349" y="249"/>
                </a:cubicBezTo>
                <a:lnTo>
                  <a:pt x="349" y="149"/>
                </a:lnTo>
                <a:close/>
                <a:moveTo>
                  <a:pt x="100" y="50"/>
                </a:moveTo>
                <a:cubicBezTo>
                  <a:pt x="199" y="50"/>
                  <a:pt x="199" y="50"/>
                  <a:pt x="199" y="50"/>
                </a:cubicBezTo>
                <a:cubicBezTo>
                  <a:pt x="199" y="99"/>
                  <a:pt x="199" y="99"/>
                  <a:pt x="199" y="99"/>
                </a:cubicBezTo>
                <a:cubicBezTo>
                  <a:pt x="100" y="99"/>
                  <a:pt x="100" y="99"/>
                  <a:pt x="100" y="99"/>
                </a:cubicBezTo>
                <a:lnTo>
                  <a:pt x="100" y="50"/>
                </a:lnTo>
                <a:close/>
                <a:moveTo>
                  <a:pt x="100" y="149"/>
                </a:moveTo>
                <a:cubicBezTo>
                  <a:pt x="199" y="149"/>
                  <a:pt x="199" y="149"/>
                  <a:pt x="199" y="149"/>
                </a:cubicBezTo>
                <a:cubicBezTo>
                  <a:pt x="199" y="249"/>
                  <a:pt x="199" y="249"/>
                  <a:pt x="199" y="249"/>
                </a:cubicBezTo>
                <a:cubicBezTo>
                  <a:pt x="100" y="249"/>
                  <a:pt x="100" y="249"/>
                  <a:pt x="100" y="249"/>
                </a:cubicBezTo>
                <a:lnTo>
                  <a:pt x="100" y="149"/>
                </a:lnTo>
                <a:close/>
                <a:moveTo>
                  <a:pt x="199" y="697"/>
                </a:moveTo>
                <a:cubicBezTo>
                  <a:pt x="199" y="725"/>
                  <a:pt x="177" y="747"/>
                  <a:pt x="149" y="747"/>
                </a:cubicBezTo>
                <a:cubicBezTo>
                  <a:pt x="122" y="747"/>
                  <a:pt x="100" y="725"/>
                  <a:pt x="100" y="697"/>
                </a:cubicBezTo>
                <a:cubicBezTo>
                  <a:pt x="100" y="448"/>
                  <a:pt x="100" y="448"/>
                  <a:pt x="100" y="448"/>
                </a:cubicBezTo>
                <a:cubicBezTo>
                  <a:pt x="199" y="448"/>
                  <a:pt x="199" y="448"/>
                  <a:pt x="199" y="448"/>
                </a:cubicBezTo>
                <a:lnTo>
                  <a:pt x="199" y="697"/>
                </a:lnTo>
                <a:close/>
                <a:moveTo>
                  <a:pt x="448" y="697"/>
                </a:moveTo>
                <a:cubicBezTo>
                  <a:pt x="448" y="725"/>
                  <a:pt x="426" y="747"/>
                  <a:pt x="398" y="747"/>
                </a:cubicBezTo>
                <a:cubicBezTo>
                  <a:pt x="371" y="747"/>
                  <a:pt x="349" y="725"/>
                  <a:pt x="349" y="697"/>
                </a:cubicBezTo>
                <a:cubicBezTo>
                  <a:pt x="349" y="448"/>
                  <a:pt x="349" y="448"/>
                  <a:pt x="349" y="448"/>
                </a:cubicBezTo>
                <a:cubicBezTo>
                  <a:pt x="448" y="448"/>
                  <a:pt x="448" y="448"/>
                  <a:pt x="448" y="448"/>
                </a:cubicBezTo>
                <a:lnTo>
                  <a:pt x="448" y="697"/>
                </a:lnTo>
                <a:close/>
                <a:moveTo>
                  <a:pt x="697" y="697"/>
                </a:moveTo>
                <a:cubicBezTo>
                  <a:pt x="697" y="725"/>
                  <a:pt x="675" y="747"/>
                  <a:pt x="647" y="747"/>
                </a:cubicBezTo>
                <a:cubicBezTo>
                  <a:pt x="620" y="747"/>
                  <a:pt x="598" y="725"/>
                  <a:pt x="598" y="697"/>
                </a:cubicBezTo>
                <a:cubicBezTo>
                  <a:pt x="598" y="448"/>
                  <a:pt x="598" y="448"/>
                  <a:pt x="598" y="448"/>
                </a:cubicBezTo>
                <a:cubicBezTo>
                  <a:pt x="697" y="448"/>
                  <a:pt x="697" y="448"/>
                  <a:pt x="697" y="448"/>
                </a:cubicBezTo>
                <a:lnTo>
                  <a:pt x="697" y="697"/>
                </a:lnTo>
                <a:close/>
                <a:moveTo>
                  <a:pt x="747" y="398"/>
                </a:moveTo>
                <a:cubicBezTo>
                  <a:pt x="50" y="398"/>
                  <a:pt x="50" y="398"/>
                  <a:pt x="50" y="398"/>
                </a:cubicBezTo>
                <a:cubicBezTo>
                  <a:pt x="50" y="299"/>
                  <a:pt x="50" y="299"/>
                  <a:pt x="50" y="299"/>
                </a:cubicBezTo>
                <a:cubicBezTo>
                  <a:pt x="747" y="299"/>
                  <a:pt x="747" y="299"/>
                  <a:pt x="747" y="299"/>
                </a:cubicBezTo>
                <a:lnTo>
                  <a:pt x="747" y="398"/>
                </a:ln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Freeform 13"/>
          <p:cNvSpPr>
            <a:spLocks noEditPoints="1"/>
          </p:cNvSpPr>
          <p:nvPr/>
        </p:nvSpPr>
        <p:spPr bwMode="auto">
          <a:xfrm>
            <a:off x="452552" y="2472313"/>
            <a:ext cx="177075" cy="234727"/>
          </a:xfrm>
          <a:custGeom>
            <a:avLst/>
            <a:gdLst>
              <a:gd name="T0" fmla="*/ 598 w 598"/>
              <a:gd name="T1" fmla="*/ 287 h 797"/>
              <a:gd name="T2" fmla="*/ 299 w 598"/>
              <a:gd name="T3" fmla="*/ 0 h 797"/>
              <a:gd name="T4" fmla="*/ 0 w 598"/>
              <a:gd name="T5" fmla="*/ 287 h 797"/>
              <a:gd name="T6" fmla="*/ 167 w 598"/>
              <a:gd name="T7" fmla="*/ 543 h 797"/>
              <a:gd name="T8" fmla="*/ 163 w 598"/>
              <a:gd name="T9" fmla="*/ 623 h 797"/>
              <a:gd name="T10" fmla="*/ 150 w 598"/>
              <a:gd name="T11" fmla="*/ 660 h 797"/>
              <a:gd name="T12" fmla="*/ 212 w 598"/>
              <a:gd name="T13" fmla="*/ 723 h 797"/>
              <a:gd name="T14" fmla="*/ 225 w 598"/>
              <a:gd name="T15" fmla="*/ 723 h 797"/>
              <a:gd name="T16" fmla="*/ 299 w 598"/>
              <a:gd name="T17" fmla="*/ 797 h 797"/>
              <a:gd name="T18" fmla="*/ 374 w 598"/>
              <a:gd name="T19" fmla="*/ 723 h 797"/>
              <a:gd name="T20" fmla="*/ 386 w 598"/>
              <a:gd name="T21" fmla="*/ 723 h 797"/>
              <a:gd name="T22" fmla="*/ 449 w 598"/>
              <a:gd name="T23" fmla="*/ 660 h 797"/>
              <a:gd name="T24" fmla="*/ 436 w 598"/>
              <a:gd name="T25" fmla="*/ 623 h 797"/>
              <a:gd name="T26" fmla="*/ 432 w 598"/>
              <a:gd name="T27" fmla="*/ 543 h 797"/>
              <a:gd name="T28" fmla="*/ 598 w 598"/>
              <a:gd name="T29" fmla="*/ 287 h 797"/>
              <a:gd name="T30" fmla="*/ 225 w 598"/>
              <a:gd name="T31" fmla="*/ 355 h 797"/>
              <a:gd name="T32" fmla="*/ 249 w 598"/>
              <a:gd name="T33" fmla="*/ 305 h 797"/>
              <a:gd name="T34" fmla="*/ 277 w 598"/>
              <a:gd name="T35" fmla="*/ 360 h 797"/>
              <a:gd name="T36" fmla="*/ 322 w 598"/>
              <a:gd name="T37" fmla="*/ 360 h 797"/>
              <a:gd name="T38" fmla="*/ 349 w 598"/>
              <a:gd name="T39" fmla="*/ 305 h 797"/>
              <a:gd name="T40" fmla="*/ 374 w 598"/>
              <a:gd name="T41" fmla="*/ 355 h 797"/>
              <a:gd name="T42" fmla="*/ 374 w 598"/>
              <a:gd name="T43" fmla="*/ 512 h 797"/>
              <a:gd name="T44" fmla="*/ 225 w 598"/>
              <a:gd name="T45" fmla="*/ 512 h 797"/>
              <a:gd name="T46" fmla="*/ 225 w 598"/>
              <a:gd name="T47" fmla="*/ 355 h 797"/>
              <a:gd name="T48" fmla="*/ 200 w 598"/>
              <a:gd name="T49" fmla="*/ 586 h 797"/>
              <a:gd name="T50" fmla="*/ 212 w 598"/>
              <a:gd name="T51" fmla="*/ 573 h 797"/>
              <a:gd name="T52" fmla="*/ 386 w 598"/>
              <a:gd name="T53" fmla="*/ 573 h 797"/>
              <a:gd name="T54" fmla="*/ 399 w 598"/>
              <a:gd name="T55" fmla="*/ 586 h 797"/>
              <a:gd name="T56" fmla="*/ 386 w 598"/>
              <a:gd name="T57" fmla="*/ 598 h 797"/>
              <a:gd name="T58" fmla="*/ 212 w 598"/>
              <a:gd name="T59" fmla="*/ 598 h 797"/>
              <a:gd name="T60" fmla="*/ 200 w 598"/>
              <a:gd name="T61" fmla="*/ 586 h 797"/>
              <a:gd name="T62" fmla="*/ 299 w 598"/>
              <a:gd name="T63" fmla="*/ 747 h 797"/>
              <a:gd name="T64" fmla="*/ 274 w 598"/>
              <a:gd name="T65" fmla="*/ 723 h 797"/>
              <a:gd name="T66" fmla="*/ 324 w 598"/>
              <a:gd name="T67" fmla="*/ 723 h 797"/>
              <a:gd name="T68" fmla="*/ 299 w 598"/>
              <a:gd name="T69" fmla="*/ 747 h 797"/>
              <a:gd name="T70" fmla="*/ 386 w 598"/>
              <a:gd name="T71" fmla="*/ 673 h 797"/>
              <a:gd name="T72" fmla="*/ 212 w 598"/>
              <a:gd name="T73" fmla="*/ 673 h 797"/>
              <a:gd name="T74" fmla="*/ 200 w 598"/>
              <a:gd name="T75" fmla="*/ 660 h 797"/>
              <a:gd name="T76" fmla="*/ 212 w 598"/>
              <a:gd name="T77" fmla="*/ 648 h 797"/>
              <a:gd name="T78" fmla="*/ 386 w 598"/>
              <a:gd name="T79" fmla="*/ 648 h 797"/>
              <a:gd name="T80" fmla="*/ 399 w 598"/>
              <a:gd name="T81" fmla="*/ 660 h 797"/>
              <a:gd name="T82" fmla="*/ 386 w 598"/>
              <a:gd name="T83" fmla="*/ 673 h 797"/>
              <a:gd name="T84" fmla="*/ 424 w 598"/>
              <a:gd name="T85" fmla="*/ 491 h 797"/>
              <a:gd name="T86" fmla="*/ 424 w 598"/>
              <a:gd name="T87" fmla="*/ 355 h 797"/>
              <a:gd name="T88" fmla="*/ 471 w 598"/>
              <a:gd name="T89" fmla="*/ 261 h 797"/>
              <a:gd name="T90" fmla="*/ 460 w 598"/>
              <a:gd name="T91" fmla="*/ 227 h 797"/>
              <a:gd name="T92" fmla="*/ 426 w 598"/>
              <a:gd name="T93" fmla="*/ 238 h 797"/>
              <a:gd name="T94" fmla="*/ 399 w 598"/>
              <a:gd name="T95" fmla="*/ 293 h 797"/>
              <a:gd name="T96" fmla="*/ 371 w 598"/>
              <a:gd name="T97" fmla="*/ 238 h 797"/>
              <a:gd name="T98" fmla="*/ 327 w 598"/>
              <a:gd name="T99" fmla="*/ 238 h 797"/>
              <a:gd name="T100" fmla="*/ 299 w 598"/>
              <a:gd name="T101" fmla="*/ 293 h 797"/>
              <a:gd name="T102" fmla="*/ 272 w 598"/>
              <a:gd name="T103" fmla="*/ 238 h 797"/>
              <a:gd name="T104" fmla="*/ 227 w 598"/>
              <a:gd name="T105" fmla="*/ 238 h 797"/>
              <a:gd name="T106" fmla="*/ 200 w 598"/>
              <a:gd name="T107" fmla="*/ 293 h 797"/>
              <a:gd name="T108" fmla="*/ 172 w 598"/>
              <a:gd name="T109" fmla="*/ 238 h 797"/>
              <a:gd name="T110" fmla="*/ 139 w 598"/>
              <a:gd name="T111" fmla="*/ 227 h 797"/>
              <a:gd name="T112" fmla="*/ 128 w 598"/>
              <a:gd name="T113" fmla="*/ 261 h 797"/>
              <a:gd name="T114" fmla="*/ 175 w 598"/>
              <a:gd name="T115" fmla="*/ 355 h 797"/>
              <a:gd name="T116" fmla="*/ 175 w 598"/>
              <a:gd name="T117" fmla="*/ 491 h 797"/>
              <a:gd name="T118" fmla="*/ 50 w 598"/>
              <a:gd name="T119" fmla="*/ 287 h 797"/>
              <a:gd name="T120" fmla="*/ 299 w 598"/>
              <a:gd name="T121" fmla="*/ 50 h 797"/>
              <a:gd name="T122" fmla="*/ 548 w 598"/>
              <a:gd name="T123" fmla="*/ 287 h 797"/>
              <a:gd name="T124" fmla="*/ 424 w 598"/>
              <a:gd name="T125" fmla="*/ 491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98" h="797">
                <a:moveTo>
                  <a:pt x="598" y="287"/>
                </a:moveTo>
                <a:cubicBezTo>
                  <a:pt x="598" y="129"/>
                  <a:pt x="464" y="0"/>
                  <a:pt x="299" y="0"/>
                </a:cubicBezTo>
                <a:cubicBezTo>
                  <a:pt x="134" y="0"/>
                  <a:pt x="0" y="129"/>
                  <a:pt x="0" y="287"/>
                </a:cubicBezTo>
                <a:cubicBezTo>
                  <a:pt x="0" y="399"/>
                  <a:pt x="68" y="496"/>
                  <a:pt x="167" y="543"/>
                </a:cubicBezTo>
                <a:cubicBezTo>
                  <a:pt x="146" y="565"/>
                  <a:pt x="144" y="599"/>
                  <a:pt x="163" y="623"/>
                </a:cubicBezTo>
                <a:cubicBezTo>
                  <a:pt x="154" y="634"/>
                  <a:pt x="150" y="647"/>
                  <a:pt x="150" y="660"/>
                </a:cubicBezTo>
                <a:cubicBezTo>
                  <a:pt x="150" y="695"/>
                  <a:pt x="178" y="723"/>
                  <a:pt x="212" y="723"/>
                </a:cubicBezTo>
                <a:cubicBezTo>
                  <a:pt x="225" y="723"/>
                  <a:pt x="225" y="723"/>
                  <a:pt x="225" y="723"/>
                </a:cubicBezTo>
                <a:cubicBezTo>
                  <a:pt x="225" y="764"/>
                  <a:pt x="258" y="797"/>
                  <a:pt x="299" y="797"/>
                </a:cubicBezTo>
                <a:cubicBezTo>
                  <a:pt x="340" y="797"/>
                  <a:pt x="374" y="764"/>
                  <a:pt x="374" y="723"/>
                </a:cubicBezTo>
                <a:cubicBezTo>
                  <a:pt x="386" y="723"/>
                  <a:pt x="386" y="723"/>
                  <a:pt x="386" y="723"/>
                </a:cubicBezTo>
                <a:cubicBezTo>
                  <a:pt x="421" y="723"/>
                  <a:pt x="449" y="695"/>
                  <a:pt x="449" y="660"/>
                </a:cubicBezTo>
                <a:cubicBezTo>
                  <a:pt x="449" y="647"/>
                  <a:pt x="444" y="634"/>
                  <a:pt x="436" y="623"/>
                </a:cubicBezTo>
                <a:cubicBezTo>
                  <a:pt x="454" y="599"/>
                  <a:pt x="453" y="565"/>
                  <a:pt x="432" y="543"/>
                </a:cubicBezTo>
                <a:cubicBezTo>
                  <a:pt x="530" y="496"/>
                  <a:pt x="598" y="399"/>
                  <a:pt x="598" y="287"/>
                </a:cubicBezTo>
                <a:close/>
                <a:moveTo>
                  <a:pt x="225" y="355"/>
                </a:moveTo>
                <a:cubicBezTo>
                  <a:pt x="249" y="305"/>
                  <a:pt x="249" y="305"/>
                  <a:pt x="249" y="305"/>
                </a:cubicBezTo>
                <a:cubicBezTo>
                  <a:pt x="277" y="360"/>
                  <a:pt x="277" y="360"/>
                  <a:pt x="277" y="360"/>
                </a:cubicBezTo>
                <a:cubicBezTo>
                  <a:pt x="285" y="377"/>
                  <a:pt x="313" y="377"/>
                  <a:pt x="322" y="360"/>
                </a:cubicBezTo>
                <a:cubicBezTo>
                  <a:pt x="349" y="305"/>
                  <a:pt x="349" y="305"/>
                  <a:pt x="349" y="305"/>
                </a:cubicBezTo>
                <a:cubicBezTo>
                  <a:pt x="374" y="355"/>
                  <a:pt x="374" y="355"/>
                  <a:pt x="374" y="355"/>
                </a:cubicBezTo>
                <a:cubicBezTo>
                  <a:pt x="374" y="512"/>
                  <a:pt x="374" y="512"/>
                  <a:pt x="374" y="512"/>
                </a:cubicBezTo>
                <a:cubicBezTo>
                  <a:pt x="325" y="527"/>
                  <a:pt x="273" y="527"/>
                  <a:pt x="225" y="512"/>
                </a:cubicBezTo>
                <a:lnTo>
                  <a:pt x="225" y="355"/>
                </a:lnTo>
                <a:close/>
                <a:moveTo>
                  <a:pt x="200" y="586"/>
                </a:moveTo>
                <a:cubicBezTo>
                  <a:pt x="200" y="579"/>
                  <a:pt x="205" y="573"/>
                  <a:pt x="212" y="573"/>
                </a:cubicBezTo>
                <a:cubicBezTo>
                  <a:pt x="386" y="573"/>
                  <a:pt x="386" y="573"/>
                  <a:pt x="386" y="573"/>
                </a:cubicBezTo>
                <a:cubicBezTo>
                  <a:pt x="393" y="573"/>
                  <a:pt x="399" y="579"/>
                  <a:pt x="399" y="586"/>
                </a:cubicBezTo>
                <a:cubicBezTo>
                  <a:pt x="399" y="593"/>
                  <a:pt x="393" y="598"/>
                  <a:pt x="386" y="598"/>
                </a:cubicBezTo>
                <a:cubicBezTo>
                  <a:pt x="212" y="598"/>
                  <a:pt x="212" y="598"/>
                  <a:pt x="212" y="598"/>
                </a:cubicBezTo>
                <a:cubicBezTo>
                  <a:pt x="205" y="598"/>
                  <a:pt x="200" y="592"/>
                  <a:pt x="200" y="586"/>
                </a:cubicBezTo>
                <a:close/>
                <a:moveTo>
                  <a:pt x="299" y="747"/>
                </a:moveTo>
                <a:cubicBezTo>
                  <a:pt x="285" y="747"/>
                  <a:pt x="274" y="736"/>
                  <a:pt x="274" y="723"/>
                </a:cubicBezTo>
                <a:cubicBezTo>
                  <a:pt x="324" y="723"/>
                  <a:pt x="324" y="723"/>
                  <a:pt x="324" y="723"/>
                </a:cubicBezTo>
                <a:cubicBezTo>
                  <a:pt x="324" y="736"/>
                  <a:pt x="313" y="747"/>
                  <a:pt x="299" y="747"/>
                </a:cubicBezTo>
                <a:close/>
                <a:moveTo>
                  <a:pt x="386" y="673"/>
                </a:moveTo>
                <a:cubicBezTo>
                  <a:pt x="212" y="673"/>
                  <a:pt x="212" y="673"/>
                  <a:pt x="212" y="673"/>
                </a:cubicBezTo>
                <a:cubicBezTo>
                  <a:pt x="205" y="673"/>
                  <a:pt x="200" y="667"/>
                  <a:pt x="200" y="660"/>
                </a:cubicBezTo>
                <a:cubicBezTo>
                  <a:pt x="200" y="653"/>
                  <a:pt x="205" y="648"/>
                  <a:pt x="212" y="648"/>
                </a:cubicBezTo>
                <a:cubicBezTo>
                  <a:pt x="386" y="648"/>
                  <a:pt x="386" y="648"/>
                  <a:pt x="386" y="648"/>
                </a:cubicBezTo>
                <a:cubicBezTo>
                  <a:pt x="393" y="648"/>
                  <a:pt x="399" y="654"/>
                  <a:pt x="399" y="660"/>
                </a:cubicBezTo>
                <a:cubicBezTo>
                  <a:pt x="399" y="667"/>
                  <a:pt x="393" y="673"/>
                  <a:pt x="386" y="673"/>
                </a:cubicBezTo>
                <a:close/>
                <a:moveTo>
                  <a:pt x="424" y="491"/>
                </a:moveTo>
                <a:cubicBezTo>
                  <a:pt x="424" y="355"/>
                  <a:pt x="424" y="355"/>
                  <a:pt x="424" y="355"/>
                </a:cubicBezTo>
                <a:cubicBezTo>
                  <a:pt x="471" y="261"/>
                  <a:pt x="471" y="261"/>
                  <a:pt x="471" y="261"/>
                </a:cubicBezTo>
                <a:cubicBezTo>
                  <a:pt x="477" y="248"/>
                  <a:pt x="472" y="233"/>
                  <a:pt x="460" y="227"/>
                </a:cubicBezTo>
                <a:cubicBezTo>
                  <a:pt x="447" y="221"/>
                  <a:pt x="433" y="226"/>
                  <a:pt x="426" y="238"/>
                </a:cubicBezTo>
                <a:cubicBezTo>
                  <a:pt x="399" y="293"/>
                  <a:pt x="399" y="293"/>
                  <a:pt x="399" y="293"/>
                </a:cubicBezTo>
                <a:cubicBezTo>
                  <a:pt x="371" y="238"/>
                  <a:pt x="371" y="238"/>
                  <a:pt x="371" y="238"/>
                </a:cubicBezTo>
                <a:cubicBezTo>
                  <a:pt x="363" y="221"/>
                  <a:pt x="335" y="221"/>
                  <a:pt x="327" y="238"/>
                </a:cubicBezTo>
                <a:cubicBezTo>
                  <a:pt x="299" y="293"/>
                  <a:pt x="299" y="293"/>
                  <a:pt x="299" y="293"/>
                </a:cubicBezTo>
                <a:cubicBezTo>
                  <a:pt x="272" y="238"/>
                  <a:pt x="272" y="238"/>
                  <a:pt x="272" y="238"/>
                </a:cubicBezTo>
                <a:cubicBezTo>
                  <a:pt x="263" y="221"/>
                  <a:pt x="236" y="221"/>
                  <a:pt x="227" y="238"/>
                </a:cubicBezTo>
                <a:cubicBezTo>
                  <a:pt x="200" y="293"/>
                  <a:pt x="200" y="293"/>
                  <a:pt x="200" y="293"/>
                </a:cubicBezTo>
                <a:cubicBezTo>
                  <a:pt x="172" y="238"/>
                  <a:pt x="172" y="238"/>
                  <a:pt x="172" y="238"/>
                </a:cubicBezTo>
                <a:cubicBezTo>
                  <a:pt x="166" y="226"/>
                  <a:pt x="151" y="221"/>
                  <a:pt x="139" y="227"/>
                </a:cubicBezTo>
                <a:cubicBezTo>
                  <a:pt x="126" y="234"/>
                  <a:pt x="122" y="248"/>
                  <a:pt x="128" y="261"/>
                </a:cubicBezTo>
                <a:cubicBezTo>
                  <a:pt x="175" y="355"/>
                  <a:pt x="175" y="355"/>
                  <a:pt x="175" y="355"/>
                </a:cubicBezTo>
                <a:cubicBezTo>
                  <a:pt x="175" y="491"/>
                  <a:pt x="175" y="491"/>
                  <a:pt x="175" y="491"/>
                </a:cubicBezTo>
                <a:cubicBezTo>
                  <a:pt x="100" y="450"/>
                  <a:pt x="50" y="374"/>
                  <a:pt x="50" y="287"/>
                </a:cubicBezTo>
                <a:cubicBezTo>
                  <a:pt x="50" y="156"/>
                  <a:pt x="162" y="50"/>
                  <a:pt x="299" y="50"/>
                </a:cubicBezTo>
                <a:cubicBezTo>
                  <a:pt x="437" y="50"/>
                  <a:pt x="548" y="156"/>
                  <a:pt x="548" y="287"/>
                </a:cubicBezTo>
                <a:cubicBezTo>
                  <a:pt x="548" y="374"/>
                  <a:pt x="498" y="450"/>
                  <a:pt x="424" y="491"/>
                </a:cubicBezTo>
                <a:close/>
              </a:path>
            </a:pathLst>
          </a:custGeom>
          <a:solidFill>
            <a:schemeClr val="bg1"/>
          </a:solidFill>
          <a:ln>
            <a:noFill/>
          </a:ln>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41" name="组合 40"/>
          <p:cNvGrpSpPr/>
          <p:nvPr/>
        </p:nvGrpSpPr>
        <p:grpSpPr>
          <a:xfrm>
            <a:off x="438050" y="4313849"/>
            <a:ext cx="206079" cy="182905"/>
            <a:chOff x="7551221" y="4142793"/>
            <a:chExt cx="388974" cy="345232"/>
          </a:xfrm>
          <a:solidFill>
            <a:schemeClr val="bg1"/>
          </a:solidFill>
        </p:grpSpPr>
        <p:sp>
          <p:nvSpPr>
            <p:cNvPr id="42" name="Freeform 5"/>
            <p:cNvSpPr>
              <a:spLocks noEditPoints="1"/>
            </p:cNvSpPr>
            <p:nvPr/>
          </p:nvSpPr>
          <p:spPr bwMode="auto">
            <a:xfrm>
              <a:off x="7831781" y="4142793"/>
              <a:ext cx="108414" cy="345232"/>
            </a:xfrm>
            <a:custGeom>
              <a:avLst/>
              <a:gdLst>
                <a:gd name="T0" fmla="*/ 194 w 194"/>
                <a:gd name="T1" fmla="*/ 164 h 617"/>
                <a:gd name="T2" fmla="*/ 194 w 194"/>
                <a:gd name="T3" fmla="*/ 164 h 617"/>
                <a:gd name="T4" fmla="*/ 194 w 194"/>
                <a:gd name="T5" fmla="*/ 160 h 617"/>
                <a:gd name="T6" fmla="*/ 193 w 194"/>
                <a:gd name="T7" fmla="*/ 160 h 617"/>
                <a:gd name="T8" fmla="*/ 193 w 194"/>
                <a:gd name="T9" fmla="*/ 159 h 617"/>
                <a:gd name="T10" fmla="*/ 192 w 194"/>
                <a:gd name="T11" fmla="*/ 156 h 617"/>
                <a:gd name="T12" fmla="*/ 192 w 194"/>
                <a:gd name="T13" fmla="*/ 156 h 617"/>
                <a:gd name="T14" fmla="*/ 192 w 194"/>
                <a:gd name="T15" fmla="*/ 156 h 617"/>
                <a:gd name="T16" fmla="*/ 115 w 194"/>
                <a:gd name="T17" fmla="*/ 11 h 617"/>
                <a:gd name="T18" fmla="*/ 97 w 194"/>
                <a:gd name="T19" fmla="*/ 0 h 617"/>
                <a:gd name="T20" fmla="*/ 80 w 194"/>
                <a:gd name="T21" fmla="*/ 11 h 617"/>
                <a:gd name="T22" fmla="*/ 3 w 194"/>
                <a:gd name="T23" fmla="*/ 156 h 617"/>
                <a:gd name="T24" fmla="*/ 3 w 194"/>
                <a:gd name="T25" fmla="*/ 156 h 617"/>
                <a:gd name="T26" fmla="*/ 3 w 194"/>
                <a:gd name="T27" fmla="*/ 156 h 617"/>
                <a:gd name="T28" fmla="*/ 2 w 194"/>
                <a:gd name="T29" fmla="*/ 159 h 617"/>
                <a:gd name="T30" fmla="*/ 1 w 194"/>
                <a:gd name="T31" fmla="*/ 160 h 617"/>
                <a:gd name="T32" fmla="*/ 1 w 194"/>
                <a:gd name="T33" fmla="*/ 160 h 617"/>
                <a:gd name="T34" fmla="*/ 1 w 194"/>
                <a:gd name="T35" fmla="*/ 164 h 617"/>
                <a:gd name="T36" fmla="*/ 1 w 194"/>
                <a:gd name="T37" fmla="*/ 164 h 617"/>
                <a:gd name="T38" fmla="*/ 0 w 194"/>
                <a:gd name="T39" fmla="*/ 166 h 617"/>
                <a:gd name="T40" fmla="*/ 0 w 194"/>
                <a:gd name="T41" fmla="*/ 597 h 617"/>
                <a:gd name="T42" fmla="*/ 20 w 194"/>
                <a:gd name="T43" fmla="*/ 617 h 617"/>
                <a:gd name="T44" fmla="*/ 174 w 194"/>
                <a:gd name="T45" fmla="*/ 617 h 617"/>
                <a:gd name="T46" fmla="*/ 194 w 194"/>
                <a:gd name="T47" fmla="*/ 597 h 617"/>
                <a:gd name="T48" fmla="*/ 194 w 194"/>
                <a:gd name="T49" fmla="*/ 166 h 617"/>
                <a:gd name="T50" fmla="*/ 194 w 194"/>
                <a:gd name="T51" fmla="*/ 164 h 617"/>
                <a:gd name="T52" fmla="*/ 40 w 194"/>
                <a:gd name="T53" fmla="*/ 193 h 617"/>
                <a:gd name="T54" fmla="*/ 91 w 194"/>
                <a:gd name="T55" fmla="*/ 209 h 617"/>
                <a:gd name="T56" fmla="*/ 97 w 194"/>
                <a:gd name="T57" fmla="*/ 210 h 617"/>
                <a:gd name="T58" fmla="*/ 103 w 194"/>
                <a:gd name="T59" fmla="*/ 209 h 617"/>
                <a:gd name="T60" fmla="*/ 154 w 194"/>
                <a:gd name="T61" fmla="*/ 193 h 617"/>
                <a:gd name="T62" fmla="*/ 154 w 194"/>
                <a:gd name="T63" fmla="*/ 491 h 617"/>
                <a:gd name="T64" fmla="*/ 40 w 194"/>
                <a:gd name="T65" fmla="*/ 491 h 617"/>
                <a:gd name="T66" fmla="*/ 40 w 194"/>
                <a:gd name="T67" fmla="*/ 193 h 617"/>
                <a:gd name="T68" fmla="*/ 97 w 194"/>
                <a:gd name="T69" fmla="*/ 63 h 617"/>
                <a:gd name="T70" fmla="*/ 145 w 194"/>
                <a:gd name="T71" fmla="*/ 154 h 617"/>
                <a:gd name="T72" fmla="*/ 97 w 194"/>
                <a:gd name="T73" fmla="*/ 169 h 617"/>
                <a:gd name="T74" fmla="*/ 49 w 194"/>
                <a:gd name="T75" fmla="*/ 154 h 617"/>
                <a:gd name="T76" fmla="*/ 97 w 194"/>
                <a:gd name="T77" fmla="*/ 63 h 617"/>
                <a:gd name="T78" fmla="*/ 40 w 194"/>
                <a:gd name="T79" fmla="*/ 577 h 617"/>
                <a:gd name="T80" fmla="*/ 40 w 194"/>
                <a:gd name="T81" fmla="*/ 577 h 617"/>
                <a:gd name="T82" fmla="*/ 40 w 194"/>
                <a:gd name="T83" fmla="*/ 531 h 617"/>
                <a:gd name="T84" fmla="*/ 154 w 194"/>
                <a:gd name="T85" fmla="*/ 531 h 617"/>
                <a:gd name="T86" fmla="*/ 154 w 194"/>
                <a:gd name="T87" fmla="*/ 577 h 617"/>
                <a:gd name="T88" fmla="*/ 40 w 194"/>
                <a:gd name="T89" fmla="*/ 57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4" h="617">
                  <a:moveTo>
                    <a:pt x="194" y="164"/>
                  </a:moveTo>
                  <a:cubicBezTo>
                    <a:pt x="194" y="164"/>
                    <a:pt x="194" y="164"/>
                    <a:pt x="194" y="164"/>
                  </a:cubicBezTo>
                  <a:cubicBezTo>
                    <a:pt x="194" y="162"/>
                    <a:pt x="194" y="161"/>
                    <a:pt x="194" y="160"/>
                  </a:cubicBezTo>
                  <a:cubicBezTo>
                    <a:pt x="194" y="160"/>
                    <a:pt x="194" y="160"/>
                    <a:pt x="193" y="160"/>
                  </a:cubicBezTo>
                  <a:cubicBezTo>
                    <a:pt x="193" y="160"/>
                    <a:pt x="193" y="160"/>
                    <a:pt x="193" y="159"/>
                  </a:cubicBezTo>
                  <a:cubicBezTo>
                    <a:pt x="193" y="158"/>
                    <a:pt x="193" y="157"/>
                    <a:pt x="192" y="156"/>
                  </a:cubicBezTo>
                  <a:cubicBezTo>
                    <a:pt x="192" y="156"/>
                    <a:pt x="192" y="156"/>
                    <a:pt x="192" y="156"/>
                  </a:cubicBezTo>
                  <a:cubicBezTo>
                    <a:pt x="192" y="156"/>
                    <a:pt x="192" y="156"/>
                    <a:pt x="192" y="156"/>
                  </a:cubicBezTo>
                  <a:cubicBezTo>
                    <a:pt x="115" y="11"/>
                    <a:pt x="115" y="11"/>
                    <a:pt x="115" y="11"/>
                  </a:cubicBezTo>
                  <a:cubicBezTo>
                    <a:pt x="112" y="4"/>
                    <a:pt x="105" y="0"/>
                    <a:pt x="97" y="0"/>
                  </a:cubicBezTo>
                  <a:cubicBezTo>
                    <a:pt x="90" y="0"/>
                    <a:pt x="83" y="4"/>
                    <a:pt x="80" y="11"/>
                  </a:cubicBezTo>
                  <a:cubicBezTo>
                    <a:pt x="3" y="156"/>
                    <a:pt x="3" y="156"/>
                    <a:pt x="3" y="156"/>
                  </a:cubicBezTo>
                  <a:cubicBezTo>
                    <a:pt x="3" y="156"/>
                    <a:pt x="3" y="156"/>
                    <a:pt x="3" y="156"/>
                  </a:cubicBezTo>
                  <a:cubicBezTo>
                    <a:pt x="3" y="156"/>
                    <a:pt x="3" y="156"/>
                    <a:pt x="3" y="156"/>
                  </a:cubicBezTo>
                  <a:cubicBezTo>
                    <a:pt x="2" y="157"/>
                    <a:pt x="2" y="158"/>
                    <a:pt x="2" y="159"/>
                  </a:cubicBezTo>
                  <a:cubicBezTo>
                    <a:pt x="1" y="160"/>
                    <a:pt x="1" y="160"/>
                    <a:pt x="1" y="160"/>
                  </a:cubicBezTo>
                  <a:cubicBezTo>
                    <a:pt x="1" y="160"/>
                    <a:pt x="1" y="160"/>
                    <a:pt x="1" y="160"/>
                  </a:cubicBezTo>
                  <a:cubicBezTo>
                    <a:pt x="1" y="161"/>
                    <a:pt x="1" y="162"/>
                    <a:pt x="1" y="164"/>
                  </a:cubicBezTo>
                  <a:cubicBezTo>
                    <a:pt x="1" y="164"/>
                    <a:pt x="1" y="164"/>
                    <a:pt x="1" y="164"/>
                  </a:cubicBezTo>
                  <a:cubicBezTo>
                    <a:pt x="1" y="165"/>
                    <a:pt x="0" y="165"/>
                    <a:pt x="0" y="166"/>
                  </a:cubicBezTo>
                  <a:cubicBezTo>
                    <a:pt x="0" y="597"/>
                    <a:pt x="0" y="597"/>
                    <a:pt x="0" y="597"/>
                  </a:cubicBezTo>
                  <a:cubicBezTo>
                    <a:pt x="0" y="608"/>
                    <a:pt x="9" y="617"/>
                    <a:pt x="20" y="617"/>
                  </a:cubicBezTo>
                  <a:cubicBezTo>
                    <a:pt x="174" y="617"/>
                    <a:pt x="174" y="617"/>
                    <a:pt x="174" y="617"/>
                  </a:cubicBezTo>
                  <a:cubicBezTo>
                    <a:pt x="185" y="617"/>
                    <a:pt x="194" y="608"/>
                    <a:pt x="194" y="597"/>
                  </a:cubicBezTo>
                  <a:cubicBezTo>
                    <a:pt x="194" y="166"/>
                    <a:pt x="194" y="166"/>
                    <a:pt x="194" y="166"/>
                  </a:cubicBezTo>
                  <a:cubicBezTo>
                    <a:pt x="194" y="165"/>
                    <a:pt x="194" y="165"/>
                    <a:pt x="194" y="164"/>
                  </a:cubicBezTo>
                  <a:close/>
                  <a:moveTo>
                    <a:pt x="40" y="193"/>
                  </a:moveTo>
                  <a:cubicBezTo>
                    <a:pt x="91" y="209"/>
                    <a:pt x="91" y="209"/>
                    <a:pt x="91" y="209"/>
                  </a:cubicBezTo>
                  <a:cubicBezTo>
                    <a:pt x="93" y="209"/>
                    <a:pt x="95" y="210"/>
                    <a:pt x="97" y="210"/>
                  </a:cubicBezTo>
                  <a:cubicBezTo>
                    <a:pt x="99" y="210"/>
                    <a:pt x="101" y="209"/>
                    <a:pt x="103" y="209"/>
                  </a:cubicBezTo>
                  <a:cubicBezTo>
                    <a:pt x="154" y="193"/>
                    <a:pt x="154" y="193"/>
                    <a:pt x="154" y="193"/>
                  </a:cubicBezTo>
                  <a:cubicBezTo>
                    <a:pt x="154" y="491"/>
                    <a:pt x="154" y="491"/>
                    <a:pt x="154" y="491"/>
                  </a:cubicBezTo>
                  <a:cubicBezTo>
                    <a:pt x="40" y="491"/>
                    <a:pt x="40" y="491"/>
                    <a:pt x="40" y="491"/>
                  </a:cubicBezTo>
                  <a:lnTo>
                    <a:pt x="40" y="193"/>
                  </a:lnTo>
                  <a:close/>
                  <a:moveTo>
                    <a:pt x="97" y="63"/>
                  </a:moveTo>
                  <a:cubicBezTo>
                    <a:pt x="145" y="154"/>
                    <a:pt x="145" y="154"/>
                    <a:pt x="145" y="154"/>
                  </a:cubicBezTo>
                  <a:cubicBezTo>
                    <a:pt x="97" y="169"/>
                    <a:pt x="97" y="169"/>
                    <a:pt x="97" y="169"/>
                  </a:cubicBezTo>
                  <a:cubicBezTo>
                    <a:pt x="49" y="154"/>
                    <a:pt x="49" y="154"/>
                    <a:pt x="49" y="154"/>
                  </a:cubicBezTo>
                  <a:lnTo>
                    <a:pt x="97" y="63"/>
                  </a:lnTo>
                  <a:close/>
                  <a:moveTo>
                    <a:pt x="40" y="577"/>
                  </a:moveTo>
                  <a:cubicBezTo>
                    <a:pt x="40" y="577"/>
                    <a:pt x="40" y="577"/>
                    <a:pt x="40" y="577"/>
                  </a:cubicBezTo>
                  <a:cubicBezTo>
                    <a:pt x="40" y="531"/>
                    <a:pt x="40" y="531"/>
                    <a:pt x="40" y="531"/>
                  </a:cubicBezTo>
                  <a:cubicBezTo>
                    <a:pt x="154" y="531"/>
                    <a:pt x="154" y="531"/>
                    <a:pt x="154" y="531"/>
                  </a:cubicBezTo>
                  <a:cubicBezTo>
                    <a:pt x="154" y="577"/>
                    <a:pt x="154" y="577"/>
                    <a:pt x="154" y="577"/>
                  </a:cubicBezTo>
                  <a:lnTo>
                    <a:pt x="40" y="5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Freeform 6"/>
            <p:cNvSpPr>
              <a:spLocks noEditPoints="1"/>
            </p:cNvSpPr>
            <p:nvPr/>
          </p:nvSpPr>
          <p:spPr bwMode="auto">
            <a:xfrm>
              <a:off x="7551221" y="4142793"/>
              <a:ext cx="259159" cy="345232"/>
            </a:xfrm>
            <a:custGeom>
              <a:avLst/>
              <a:gdLst>
                <a:gd name="T0" fmla="*/ 443 w 463"/>
                <a:gd name="T1" fmla="*/ 0 h 617"/>
                <a:gd name="T2" fmla="*/ 20 w 463"/>
                <a:gd name="T3" fmla="*/ 0 h 617"/>
                <a:gd name="T4" fmla="*/ 0 w 463"/>
                <a:gd name="T5" fmla="*/ 20 h 617"/>
                <a:gd name="T6" fmla="*/ 0 w 463"/>
                <a:gd name="T7" fmla="*/ 597 h 617"/>
                <a:gd name="T8" fmla="*/ 20 w 463"/>
                <a:gd name="T9" fmla="*/ 617 h 617"/>
                <a:gd name="T10" fmla="*/ 443 w 463"/>
                <a:gd name="T11" fmla="*/ 617 h 617"/>
                <a:gd name="T12" fmla="*/ 463 w 463"/>
                <a:gd name="T13" fmla="*/ 597 h 617"/>
                <a:gd name="T14" fmla="*/ 463 w 463"/>
                <a:gd name="T15" fmla="*/ 20 h 617"/>
                <a:gd name="T16" fmla="*/ 443 w 463"/>
                <a:gd name="T17" fmla="*/ 0 h 617"/>
                <a:gd name="T18" fmla="*/ 423 w 463"/>
                <a:gd name="T19" fmla="*/ 577 h 617"/>
                <a:gd name="T20" fmla="*/ 40 w 463"/>
                <a:gd name="T21" fmla="*/ 577 h 617"/>
                <a:gd name="T22" fmla="*/ 40 w 463"/>
                <a:gd name="T23" fmla="*/ 40 h 617"/>
                <a:gd name="T24" fmla="*/ 423 w 463"/>
                <a:gd name="T25" fmla="*/ 40 h 617"/>
                <a:gd name="T26" fmla="*/ 423 w 463"/>
                <a:gd name="T27" fmla="*/ 57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2" h="617">
                  <a:moveTo>
                    <a:pt x="443" y="0"/>
                  </a:moveTo>
                  <a:cubicBezTo>
                    <a:pt x="20" y="0"/>
                    <a:pt x="20" y="0"/>
                    <a:pt x="20" y="0"/>
                  </a:cubicBezTo>
                  <a:cubicBezTo>
                    <a:pt x="9" y="0"/>
                    <a:pt x="0" y="9"/>
                    <a:pt x="0" y="20"/>
                  </a:cubicBezTo>
                  <a:cubicBezTo>
                    <a:pt x="0" y="597"/>
                    <a:pt x="0" y="597"/>
                    <a:pt x="0" y="597"/>
                  </a:cubicBezTo>
                  <a:cubicBezTo>
                    <a:pt x="0" y="608"/>
                    <a:pt x="9" y="617"/>
                    <a:pt x="20" y="617"/>
                  </a:cubicBezTo>
                  <a:cubicBezTo>
                    <a:pt x="443" y="617"/>
                    <a:pt x="443" y="617"/>
                    <a:pt x="443" y="617"/>
                  </a:cubicBezTo>
                  <a:cubicBezTo>
                    <a:pt x="454" y="617"/>
                    <a:pt x="463" y="608"/>
                    <a:pt x="463" y="597"/>
                  </a:cubicBezTo>
                  <a:cubicBezTo>
                    <a:pt x="463" y="20"/>
                    <a:pt x="463" y="20"/>
                    <a:pt x="463" y="20"/>
                  </a:cubicBezTo>
                  <a:cubicBezTo>
                    <a:pt x="463" y="9"/>
                    <a:pt x="454" y="0"/>
                    <a:pt x="443" y="0"/>
                  </a:cubicBezTo>
                  <a:close/>
                  <a:moveTo>
                    <a:pt x="423" y="577"/>
                  </a:moveTo>
                  <a:cubicBezTo>
                    <a:pt x="40" y="577"/>
                    <a:pt x="40" y="577"/>
                    <a:pt x="40" y="577"/>
                  </a:cubicBezTo>
                  <a:cubicBezTo>
                    <a:pt x="40" y="40"/>
                    <a:pt x="40" y="40"/>
                    <a:pt x="40" y="40"/>
                  </a:cubicBezTo>
                  <a:cubicBezTo>
                    <a:pt x="423" y="40"/>
                    <a:pt x="423" y="40"/>
                    <a:pt x="423" y="40"/>
                  </a:cubicBezTo>
                  <a:lnTo>
                    <a:pt x="423" y="5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Freeform 7"/>
            <p:cNvSpPr/>
            <p:nvPr/>
          </p:nvSpPr>
          <p:spPr bwMode="auto">
            <a:xfrm>
              <a:off x="7595433" y="4276606"/>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5" name="Freeform 8"/>
            <p:cNvSpPr/>
            <p:nvPr/>
          </p:nvSpPr>
          <p:spPr bwMode="auto">
            <a:xfrm>
              <a:off x="7595433" y="4221105"/>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6" name="Freeform 9"/>
            <p:cNvSpPr/>
            <p:nvPr/>
          </p:nvSpPr>
          <p:spPr bwMode="auto">
            <a:xfrm>
              <a:off x="7595433" y="4331401"/>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2"/>
                    <a:pt x="307" y="20"/>
                  </a:cubicBezTo>
                  <a:cubicBezTo>
                    <a:pt x="307" y="9"/>
                    <a:pt x="298" y="0"/>
                    <a:pt x="287" y="0"/>
                  </a:cubicBezTo>
                  <a:cubicBezTo>
                    <a:pt x="20" y="0"/>
                    <a:pt x="20" y="0"/>
                    <a:pt x="20" y="0"/>
                  </a:cubicBezTo>
                  <a:cubicBezTo>
                    <a:pt x="9" y="0"/>
                    <a:pt x="0" y="9"/>
                    <a:pt x="0" y="20"/>
                  </a:cubicBezTo>
                  <a:cubicBezTo>
                    <a:pt x="0" y="32"/>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7" name="Freeform 10"/>
            <p:cNvSpPr/>
            <p:nvPr/>
          </p:nvSpPr>
          <p:spPr bwMode="auto">
            <a:xfrm>
              <a:off x="7595433" y="4386901"/>
              <a:ext cx="171911" cy="22341"/>
            </a:xfrm>
            <a:custGeom>
              <a:avLst/>
              <a:gdLst>
                <a:gd name="T0" fmla="*/ 20 w 307"/>
                <a:gd name="T1" fmla="*/ 40 h 40"/>
                <a:gd name="T2" fmla="*/ 287 w 307"/>
                <a:gd name="T3" fmla="*/ 40 h 40"/>
                <a:gd name="T4" fmla="*/ 307 w 307"/>
                <a:gd name="T5" fmla="*/ 20 h 40"/>
                <a:gd name="T6" fmla="*/ 287 w 307"/>
                <a:gd name="T7" fmla="*/ 0 h 40"/>
                <a:gd name="T8" fmla="*/ 20 w 307"/>
                <a:gd name="T9" fmla="*/ 0 h 40"/>
                <a:gd name="T10" fmla="*/ 0 w 307"/>
                <a:gd name="T11" fmla="*/ 20 h 40"/>
                <a:gd name="T12" fmla="*/ 20 w 307"/>
                <a:gd name="T13" fmla="*/ 40 h 40"/>
              </a:gdLst>
              <a:ahLst/>
              <a:cxnLst>
                <a:cxn ang="0">
                  <a:pos x="T0" y="T1"/>
                </a:cxn>
                <a:cxn ang="0">
                  <a:pos x="T2" y="T3"/>
                </a:cxn>
                <a:cxn ang="0">
                  <a:pos x="T4" y="T5"/>
                </a:cxn>
                <a:cxn ang="0">
                  <a:pos x="T6" y="T7"/>
                </a:cxn>
                <a:cxn ang="0">
                  <a:pos x="T8" y="T9"/>
                </a:cxn>
                <a:cxn ang="0">
                  <a:pos x="T10" y="T11"/>
                </a:cxn>
                <a:cxn ang="0">
                  <a:pos x="T12" y="T13"/>
                </a:cxn>
              </a:cxnLst>
              <a:rect l="0" t="0" r="r" b="b"/>
              <a:pathLst>
                <a:path w="307" h="40">
                  <a:moveTo>
                    <a:pt x="20" y="40"/>
                  </a:moveTo>
                  <a:cubicBezTo>
                    <a:pt x="287" y="40"/>
                    <a:pt x="287" y="40"/>
                    <a:pt x="287" y="40"/>
                  </a:cubicBezTo>
                  <a:cubicBezTo>
                    <a:pt x="298" y="40"/>
                    <a:pt x="307" y="31"/>
                    <a:pt x="307" y="20"/>
                  </a:cubicBezTo>
                  <a:cubicBezTo>
                    <a:pt x="307" y="9"/>
                    <a:pt x="298" y="0"/>
                    <a:pt x="287" y="0"/>
                  </a:cubicBezTo>
                  <a:cubicBezTo>
                    <a:pt x="20" y="0"/>
                    <a:pt x="20" y="0"/>
                    <a:pt x="20" y="0"/>
                  </a:cubicBezTo>
                  <a:cubicBezTo>
                    <a:pt x="9" y="0"/>
                    <a:pt x="0" y="9"/>
                    <a:pt x="0" y="20"/>
                  </a:cubicBezTo>
                  <a:cubicBezTo>
                    <a:pt x="0" y="31"/>
                    <a:pt x="9" y="40"/>
                    <a:pt x="2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pic>
        <p:nvPicPr>
          <p:cNvPr id="2" name="图片 1">
            <a:extLst>
              <a:ext uri="{FF2B5EF4-FFF2-40B4-BE49-F238E27FC236}">
                <a16:creationId xmlns:a16="http://schemas.microsoft.com/office/drawing/2014/main" id="{9959E28A-6598-91B2-73A9-52159FDC32CD}"/>
              </a:ext>
            </a:extLst>
          </p:cNvPr>
          <p:cNvPicPr>
            <a:picLocks noChangeAspect="1"/>
          </p:cNvPicPr>
          <p:nvPr/>
        </p:nvPicPr>
        <p:blipFill>
          <a:blip r:embed="rId2"/>
          <a:stretch>
            <a:fillRect/>
          </a:stretch>
        </p:blipFill>
        <p:spPr>
          <a:xfrm>
            <a:off x="5480648" y="555088"/>
            <a:ext cx="3329305" cy="2451100"/>
          </a:xfrm>
          <a:prstGeom prst="rect">
            <a:avLst/>
          </a:prstGeom>
        </p:spPr>
      </p:pic>
      <p:pic>
        <p:nvPicPr>
          <p:cNvPr id="10" name="图片 9">
            <a:extLst>
              <a:ext uri="{FF2B5EF4-FFF2-40B4-BE49-F238E27FC236}">
                <a16:creationId xmlns:a16="http://schemas.microsoft.com/office/drawing/2014/main" id="{BF84CC92-85D7-C736-CAD6-34A89E0BCBEA}"/>
              </a:ext>
            </a:extLst>
          </p:cNvPr>
          <p:cNvPicPr>
            <a:picLocks noChangeAspect="1"/>
          </p:cNvPicPr>
          <p:nvPr/>
        </p:nvPicPr>
        <p:blipFill>
          <a:blip r:embed="rId3"/>
          <a:stretch>
            <a:fillRect/>
          </a:stretch>
        </p:blipFill>
        <p:spPr>
          <a:xfrm>
            <a:off x="5305385" y="3184469"/>
            <a:ext cx="3590882" cy="1736664"/>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grpSp>
        <p:nvGrpSpPr>
          <p:cNvPr id="4" name="组合 3"/>
          <p:cNvGrpSpPr/>
          <p:nvPr/>
        </p:nvGrpSpPr>
        <p:grpSpPr>
          <a:xfrm>
            <a:off x="3814333" y="838251"/>
            <a:ext cx="1515335" cy="1515335"/>
            <a:chOff x="3738489" y="766689"/>
            <a:chExt cx="1667021" cy="1667021"/>
          </a:xfrm>
        </p:grpSpPr>
        <p:sp>
          <p:nvSpPr>
            <p:cNvPr id="3" name="椭圆 2"/>
            <p:cNvSpPr/>
            <p:nvPr/>
          </p:nvSpPr>
          <p:spPr>
            <a:xfrm>
              <a:off x="3738489" y="766689"/>
              <a:ext cx="1667021" cy="1667021"/>
            </a:xfrm>
            <a:prstGeom prst="ellipse">
              <a:avLst/>
            </a:prstGeom>
            <a:ln w="57150">
              <a:solidFill>
                <a:srgbClr val="EEF2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3" name="文本框 122"/>
            <p:cNvSpPr txBox="1"/>
            <p:nvPr/>
          </p:nvSpPr>
          <p:spPr>
            <a:xfrm>
              <a:off x="3863441" y="1092368"/>
              <a:ext cx="1417116" cy="1015663"/>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rPr>
                <a:t>04</a:t>
              </a:r>
              <a:endParaRPr kumimoji="0" lang="zh-CN" altLang="en-US" sz="5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汉仪旗黑-50S"/>
              </a:endParaRPr>
            </a:p>
          </p:txBody>
        </p:sp>
      </p:grpSp>
      <p:sp>
        <p:nvSpPr>
          <p:cNvPr id="124" name="矩形 123"/>
          <p:cNvSpPr/>
          <p:nvPr/>
        </p:nvSpPr>
        <p:spPr bwMode="auto">
          <a:xfrm>
            <a:off x="3915409" y="2617767"/>
            <a:ext cx="1313180" cy="769441"/>
          </a:xfrm>
          <a:prstGeom prst="rect">
            <a:avLst/>
          </a:prstGeom>
        </p:spPr>
        <p:txBody>
          <a:bodyPr wrap="none">
            <a:spAutoFit/>
          </a:bodyPr>
          <a:lstStyle/>
          <a:p>
            <a:pPr algn="ctr"/>
            <a:r>
              <a:rPr lang="zh-CN" altLang="en-US" sz="4400" kern="100" dirty="0">
                <a:solidFill>
                  <a:schemeClr val="accent1"/>
                </a:solidFill>
                <a:latin typeface="思源宋体 CN Heavy" pitchFamily="18" charset="-122"/>
                <a:ea typeface="思源宋体 CN Heavy" pitchFamily="18" charset="-122"/>
                <a:sym typeface="汉仪旗黑-50S"/>
              </a:rPr>
              <a:t>总结</a:t>
            </a:r>
          </a:p>
        </p:txBody>
      </p:sp>
      <p:sp>
        <p:nvSpPr>
          <p:cNvPr id="125" name="矩形 124"/>
          <p:cNvSpPr/>
          <p:nvPr/>
        </p:nvSpPr>
        <p:spPr>
          <a:xfrm>
            <a:off x="2005968" y="3372917"/>
            <a:ext cx="5132064" cy="276999"/>
          </a:xfrm>
          <a:prstGeom prst="rect">
            <a:avLst/>
          </a:prstGeom>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sym typeface="汉仪旗黑-50S"/>
              </a:rPr>
              <a:t>Summary</a:t>
            </a:r>
          </a:p>
        </p:txBody>
      </p:sp>
      <p:cxnSp>
        <p:nvCxnSpPr>
          <p:cNvPr id="126" name="直接连接符 125"/>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圆角 4"/>
          <p:cNvSpPr/>
          <p:nvPr/>
        </p:nvSpPr>
        <p:spPr>
          <a:xfrm>
            <a:off x="4035287" y="4277801"/>
            <a:ext cx="1073426" cy="310102"/>
          </a:xfrm>
          <a:prstGeom prst="roundRect">
            <a:avLst>
              <a:gd name="adj"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第四单元</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
            <a:ext cx="9144001" cy="5588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4" name="矩形 3"/>
          <p:cNvSpPr/>
          <p:nvPr/>
        </p:nvSpPr>
        <p:spPr bwMode="auto">
          <a:xfrm>
            <a:off x="133866" y="95405"/>
            <a:ext cx="697627" cy="400110"/>
          </a:xfrm>
          <a:prstGeom prst="rect">
            <a:avLst/>
          </a:prstGeom>
        </p:spPr>
        <p:txBody>
          <a:bodyPr wrap="none">
            <a:spAutoFit/>
          </a:bodyPr>
          <a:lstStyle/>
          <a:p>
            <a:r>
              <a:rPr lang="zh-CN" altLang="en-US" sz="2000" kern="100" dirty="0">
                <a:solidFill>
                  <a:schemeClr val="bg1"/>
                </a:solidFill>
                <a:latin typeface="思源宋体 CN Heavy" pitchFamily="18" charset="-122"/>
                <a:ea typeface="思源宋体 CN Heavy" pitchFamily="18" charset="-122"/>
                <a:cs typeface="汉仪旗黑-50S" panose="00020600040101010101" charset="-122"/>
                <a:sym typeface="汉仪旗黑-50S"/>
              </a:rPr>
              <a:t>总结</a:t>
            </a:r>
          </a:p>
        </p:txBody>
      </p:sp>
      <p:sp>
        <p:nvSpPr>
          <p:cNvPr id="46" name="矩形: 圆角 45"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469172" y="1204912"/>
            <a:ext cx="2569130" cy="3671888"/>
          </a:xfrm>
          <a:prstGeom prst="roundRect">
            <a:avLst>
              <a:gd name="adj" fmla="val 2547"/>
            </a:avLst>
          </a:prstGeom>
          <a:solidFill>
            <a:schemeClr val="accent1"/>
          </a:solidFill>
          <a:ln w="9525" cap="rnd">
            <a:noFill/>
            <a:prstDash val="solid"/>
          </a:ln>
          <a:effectLst>
            <a:outerShdw blurRad="342900" dist="469900" dir="5400000" sx="75000" sy="75000" algn="t" rotWithShape="0">
              <a:schemeClr val="accent1">
                <a:lumMod val="50000"/>
                <a:alpha val="2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微软雅黑" panose="020B0503020204020204" pitchFamily="34" charset="-122"/>
              <a:ea typeface="微软雅黑" panose="020B0503020204020204" pitchFamily="34" charset="-122"/>
            </a:endParaRPr>
          </a:p>
        </p:txBody>
      </p:sp>
      <p:sp>
        <p:nvSpPr>
          <p:cNvPr id="47" name="矩形: 圆角 46"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3262497" y="1204912"/>
            <a:ext cx="2569130" cy="3671888"/>
          </a:xfrm>
          <a:prstGeom prst="roundRect">
            <a:avLst>
              <a:gd name="adj" fmla="val 2369"/>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bg1"/>
              </a:solidFill>
              <a:latin typeface="微软雅黑" panose="020B0503020204020204" pitchFamily="34" charset="-122"/>
              <a:ea typeface="微软雅黑" panose="020B0503020204020204" pitchFamily="34" charset="-122"/>
            </a:endParaRPr>
          </a:p>
        </p:txBody>
      </p:sp>
      <p:sp>
        <p:nvSpPr>
          <p:cNvPr id="48" name="矩形: 圆角 47"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6055822" y="1204912"/>
            <a:ext cx="2569130" cy="3671888"/>
          </a:xfrm>
          <a:prstGeom prst="roundRect">
            <a:avLst>
              <a:gd name="adj" fmla="val 2013"/>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bg1"/>
              </a:solidFill>
              <a:latin typeface="微软雅黑" panose="020B0503020204020204" pitchFamily="34" charset="-122"/>
              <a:ea typeface="微软雅黑" panose="020B0503020204020204" pitchFamily="34" charset="-122"/>
            </a:endParaRPr>
          </a:p>
        </p:txBody>
      </p:sp>
      <p:sp>
        <p:nvSpPr>
          <p:cNvPr id="49" name="矩形 48"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607146" y="2308267"/>
            <a:ext cx="23391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400" b="1" dirty="0">
                <a:solidFill>
                  <a:schemeClr val="bg1"/>
                </a:solidFill>
                <a:latin typeface="微软雅黑" panose="020B0503020204020204" pitchFamily="34" charset="-122"/>
                <a:ea typeface="微软雅黑" panose="020B0503020204020204" pitchFamily="34" charset="-122"/>
                <a:sym typeface="汉仪旗黑-50S"/>
              </a:rPr>
              <a:t>自监督学习的可行性与价值</a:t>
            </a:r>
          </a:p>
        </p:txBody>
      </p:sp>
      <p:sp>
        <p:nvSpPr>
          <p:cNvPr id="50" name="矩形 49"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619933" y="2640676"/>
            <a:ext cx="2148205" cy="2002792"/>
          </a:xfrm>
          <a:prstGeom prst="rect">
            <a:avLst/>
          </a:prstGeom>
        </p:spPr>
        <p:txBody>
          <a:bodyPr wrap="square">
            <a:spAutoFit/>
          </a:bodyPr>
          <a:lstStyle/>
          <a:p>
            <a:pPr>
              <a:lnSpc>
                <a:spcPct val="150000"/>
              </a:lnSpc>
              <a:spcBef>
                <a:spcPts val="600"/>
              </a:spcBef>
            </a:pPr>
            <a:r>
              <a:rPr lang="zh-CN" altLang="en-US" sz="1050" dirty="0">
                <a:solidFill>
                  <a:schemeClr val="bg1"/>
                </a:solidFill>
                <a:latin typeface="微软雅黑" panose="020B0503020204020204" pitchFamily="34" charset="-122"/>
                <a:ea typeface="微软雅黑" panose="020B0503020204020204" pitchFamily="34" charset="-122"/>
                <a:sym typeface="汉仪旗黑-50S"/>
              </a:rPr>
              <a:t>实验结果表明，自监督学习在视觉领域具有很强的可行性和发展潜力。只要具备足够的数据规模和合适的模型容量，模型就能在没有人工标注的情况下学到稳定、可迁移的视觉特征，实现“预训练一次，多场景复用”，有效简化视觉系统的构建流程。</a:t>
            </a:r>
          </a:p>
        </p:txBody>
      </p:sp>
      <p:sp>
        <p:nvSpPr>
          <p:cNvPr id="51" name="矩形 50"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3325408" y="2324892"/>
            <a:ext cx="20906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en-US" altLang="zh-CN" sz="1600" b="1" dirty="0">
                <a:solidFill>
                  <a:schemeClr val="accent1"/>
                </a:solidFill>
                <a:latin typeface="微软雅黑" panose="020B0503020204020204" pitchFamily="34" charset="-122"/>
                <a:ea typeface="微软雅黑" panose="020B0503020204020204" pitchFamily="34" charset="-122"/>
                <a:sym typeface="汉仪旗黑-50S"/>
              </a:rPr>
              <a:t>DINOv2 </a:t>
            </a:r>
            <a:r>
              <a:rPr lang="zh-CN" altLang="en-US" sz="1600" b="1" dirty="0">
                <a:solidFill>
                  <a:schemeClr val="accent1"/>
                </a:solidFill>
                <a:latin typeface="微软雅黑" panose="020B0503020204020204" pitchFamily="34" charset="-122"/>
                <a:ea typeface="微软雅黑" panose="020B0503020204020204" pitchFamily="34" charset="-122"/>
                <a:sym typeface="汉仪旗黑-50S"/>
              </a:rPr>
              <a:t>的技术创新</a:t>
            </a:r>
          </a:p>
        </p:txBody>
      </p:sp>
      <p:sp>
        <p:nvSpPr>
          <p:cNvPr id="52" name="矩形 51"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3338195" y="2657301"/>
            <a:ext cx="2148205" cy="2065694"/>
          </a:xfrm>
          <a:prstGeom prst="rect">
            <a:avLst/>
          </a:prstGeom>
        </p:spPr>
        <p:txBody>
          <a:bodyPr wrap="square">
            <a:spAutoFit/>
          </a:bodyPr>
          <a:lstStyle/>
          <a:p>
            <a:pPr marL="228600" indent="-228600">
              <a:lnSpc>
                <a:spcPct val="150000"/>
              </a:lnSpc>
              <a:spcBef>
                <a:spcPts val="600"/>
              </a:spcBef>
              <a:buAutoNum type="arabicPeriod"/>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rPr>
              <a:t>通过 </a:t>
            </a:r>
            <a:r>
              <a:rPr lang="en-US" altLang="zh-CN" sz="1000" dirty="0" err="1">
                <a:solidFill>
                  <a:schemeClr val="tx1">
                    <a:lumMod val="75000"/>
                    <a:lumOff val="25000"/>
                  </a:schemeClr>
                </a:solidFill>
                <a:latin typeface="微软雅黑" panose="020B0503020204020204" pitchFamily="34" charset="-122"/>
                <a:ea typeface="微软雅黑" panose="020B0503020204020204" pitchFamily="34" charset="-122"/>
                <a:sym typeface="汉仪旗黑-50S"/>
              </a:rPr>
              <a:t>FlashAttention</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rPr>
              <a:t>、序列打包、全分片数据并行等技术优化了大规模训练效率；</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endParaRPr>
          </a:p>
          <a:p>
            <a:pPr marL="228600" indent="-228600">
              <a:lnSpc>
                <a:spcPct val="150000"/>
              </a:lnSpc>
              <a:spcBef>
                <a:spcPts val="600"/>
              </a:spcBef>
              <a:buAutoNum type="arabicPeriod"/>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rPr>
              <a:t>采用 知识蒸馏 让小模型继承大模型能力，兼顾性能与轻量化；</a:t>
            </a:r>
            <a:endPar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endParaRPr>
          </a:p>
          <a:p>
            <a:pPr marL="228600" indent="-228600">
              <a:lnSpc>
                <a:spcPct val="150000"/>
              </a:lnSpc>
              <a:spcBef>
                <a:spcPts val="600"/>
              </a:spcBef>
              <a:buAutoNum type="arabicPeriod"/>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rPr>
              <a:t>多目标损失设计 同时学习全局语义与局部细节，从而提升多任务表现。</a:t>
            </a:r>
          </a:p>
        </p:txBody>
      </p:sp>
      <p:sp>
        <p:nvSpPr>
          <p:cNvPr id="53" name="矩形 52"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6160048" y="2302722"/>
            <a:ext cx="20313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0"/>
              </a:spcBef>
              <a:spcAft>
                <a:spcPct val="0"/>
              </a:spcAft>
            </a:pPr>
            <a:r>
              <a:rPr lang="zh-CN" altLang="en-US" sz="1600" b="1" dirty="0">
                <a:solidFill>
                  <a:schemeClr val="accent1"/>
                </a:solidFill>
                <a:latin typeface="微软雅黑" panose="020B0503020204020204" pitchFamily="34" charset="-122"/>
                <a:ea typeface="微软雅黑" panose="020B0503020204020204" pitchFamily="34" charset="-122"/>
                <a:sym typeface="汉仪旗黑-50S"/>
              </a:rPr>
              <a:t>现存问题与改进方向</a:t>
            </a:r>
          </a:p>
        </p:txBody>
      </p:sp>
      <p:sp>
        <p:nvSpPr>
          <p:cNvPr id="54" name="矩形 53"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p:nvPr/>
        </p:nvSpPr>
        <p:spPr>
          <a:xfrm>
            <a:off x="6172835" y="2641910"/>
            <a:ext cx="2148205" cy="2002792"/>
          </a:xfrm>
          <a:prstGeom prst="rect">
            <a:avLst/>
          </a:prstGeom>
        </p:spPr>
        <p:txBody>
          <a:bodyPr wrap="square">
            <a:spAutoFit/>
          </a:bodyPr>
          <a:lstStyle/>
          <a:p>
            <a:pPr>
              <a:lnSpc>
                <a:spcPct val="150000"/>
              </a:lnSpc>
              <a:spcBef>
                <a:spcPts val="600"/>
              </a:spcBef>
            </a:pPr>
            <a:r>
              <a:rPr lang="zh-CN" altLang="en-US" sz="1050" dirty="0">
                <a:solidFill>
                  <a:schemeClr val="tx1">
                    <a:lumMod val="75000"/>
                    <a:lumOff val="25000"/>
                  </a:schemeClr>
                </a:solidFill>
                <a:latin typeface="微软雅黑" panose="020B0503020204020204" pitchFamily="34" charset="-122"/>
                <a:ea typeface="微软雅黑" panose="020B0503020204020204" pitchFamily="34" charset="-122"/>
                <a:sym typeface="汉仪旗黑-50S"/>
              </a:rPr>
              <a:t>实验也发现一些值得关注的问题：模型在不同地区或类型的数据上表现存在差异，说明仍需改进数据的多样性与公平性；同时，大规模训练的计算成本和能耗较高，限制了其在资源有限环境中的应用。未来可在数据均衡与高效训练方面进一步优化。</a:t>
            </a:r>
          </a:p>
        </p:txBody>
      </p:sp>
      <p:sp>
        <p:nvSpPr>
          <p:cNvPr id="58" name="Freeform 5"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a:spLocks noEditPoints="1"/>
          </p:cNvSpPr>
          <p:nvPr/>
        </p:nvSpPr>
        <p:spPr bwMode="auto">
          <a:xfrm>
            <a:off x="764912" y="1583075"/>
            <a:ext cx="519434" cy="659675"/>
          </a:xfrm>
          <a:custGeom>
            <a:avLst/>
            <a:gdLst>
              <a:gd name="T0" fmla="*/ 613 w 623"/>
              <a:gd name="T1" fmla="*/ 84 h 798"/>
              <a:gd name="T2" fmla="*/ 504 w 623"/>
              <a:gd name="T3" fmla="*/ 10 h 798"/>
              <a:gd name="T4" fmla="*/ 423 w 623"/>
              <a:gd name="T5" fmla="*/ 91 h 798"/>
              <a:gd name="T6" fmla="*/ 224 w 623"/>
              <a:gd name="T7" fmla="*/ 291 h 798"/>
              <a:gd name="T8" fmla="*/ 181 w 623"/>
              <a:gd name="T9" fmla="*/ 283 h 798"/>
              <a:gd name="T10" fmla="*/ 181 w 623"/>
              <a:gd name="T11" fmla="*/ 318 h 798"/>
              <a:gd name="T12" fmla="*/ 132 w 623"/>
              <a:gd name="T13" fmla="*/ 383 h 798"/>
              <a:gd name="T14" fmla="*/ 206 w 623"/>
              <a:gd name="T15" fmla="*/ 492 h 798"/>
              <a:gd name="T16" fmla="*/ 241 w 623"/>
              <a:gd name="T17" fmla="*/ 492 h 798"/>
              <a:gd name="T18" fmla="*/ 305 w 623"/>
              <a:gd name="T19" fmla="*/ 443 h 798"/>
              <a:gd name="T20" fmla="*/ 341 w 623"/>
              <a:gd name="T21" fmla="*/ 408 h 798"/>
              <a:gd name="T22" fmla="*/ 446 w 623"/>
              <a:gd name="T23" fmla="*/ 287 h 798"/>
              <a:gd name="T24" fmla="*/ 496 w 623"/>
              <a:gd name="T25" fmla="*/ 268 h 798"/>
              <a:gd name="T26" fmla="*/ 463 w 623"/>
              <a:gd name="T27" fmla="*/ 550 h 798"/>
              <a:gd name="T28" fmla="*/ 75 w 623"/>
              <a:gd name="T29" fmla="*/ 525 h 798"/>
              <a:gd name="T30" fmla="*/ 75 w 623"/>
              <a:gd name="T31" fmla="*/ 574 h 798"/>
              <a:gd name="T32" fmla="*/ 312 w 623"/>
              <a:gd name="T33" fmla="*/ 574 h 798"/>
              <a:gd name="T34" fmla="*/ 298 w 623"/>
              <a:gd name="T35" fmla="*/ 649 h 798"/>
              <a:gd name="T36" fmla="*/ 0 w 623"/>
              <a:gd name="T37" fmla="*/ 674 h 798"/>
              <a:gd name="T38" fmla="*/ 0 w 623"/>
              <a:gd name="T39" fmla="*/ 773 h 798"/>
              <a:gd name="T40" fmla="*/ 25 w 623"/>
              <a:gd name="T41" fmla="*/ 798 h 798"/>
              <a:gd name="T42" fmla="*/ 596 w 623"/>
              <a:gd name="T43" fmla="*/ 773 h 798"/>
              <a:gd name="T44" fmla="*/ 596 w 623"/>
              <a:gd name="T45" fmla="*/ 674 h 798"/>
              <a:gd name="T46" fmla="*/ 571 w 623"/>
              <a:gd name="T47" fmla="*/ 649 h 798"/>
              <a:gd name="T48" fmla="*/ 497 w 623"/>
              <a:gd name="T49" fmla="*/ 624 h 798"/>
              <a:gd name="T50" fmla="*/ 596 w 623"/>
              <a:gd name="T51" fmla="*/ 395 h 798"/>
              <a:gd name="T52" fmla="*/ 525 w 623"/>
              <a:gd name="T53" fmla="*/ 229 h 798"/>
              <a:gd name="T54" fmla="*/ 613 w 623"/>
              <a:gd name="T55" fmla="*/ 120 h 798"/>
              <a:gd name="T56" fmla="*/ 546 w 623"/>
              <a:gd name="T57" fmla="*/ 748 h 798"/>
              <a:gd name="T58" fmla="*/ 50 w 623"/>
              <a:gd name="T59" fmla="*/ 698 h 798"/>
              <a:gd name="T60" fmla="*/ 348 w 623"/>
              <a:gd name="T61" fmla="*/ 649 h 798"/>
              <a:gd name="T62" fmla="*/ 397 w 623"/>
              <a:gd name="T63" fmla="*/ 574 h 798"/>
              <a:gd name="T64" fmla="*/ 447 w 623"/>
              <a:gd name="T65" fmla="*/ 649 h 798"/>
              <a:gd name="T66" fmla="*/ 522 w 623"/>
              <a:gd name="T67" fmla="*/ 63 h 798"/>
              <a:gd name="T68" fmla="*/ 522 w 623"/>
              <a:gd name="T69" fmla="*/ 141 h 798"/>
              <a:gd name="T70" fmla="*/ 516 w 623"/>
              <a:gd name="T71" fmla="*/ 132 h 798"/>
              <a:gd name="T72" fmla="*/ 488 w 623"/>
              <a:gd name="T73" fmla="*/ 105 h 798"/>
              <a:gd name="T74" fmla="*/ 522 w 623"/>
              <a:gd name="T75" fmla="*/ 63 h 798"/>
              <a:gd name="T76" fmla="*/ 184 w 623"/>
              <a:gd name="T77" fmla="*/ 400 h 798"/>
              <a:gd name="T78" fmla="*/ 263 w 623"/>
              <a:gd name="T79" fmla="*/ 400 h 798"/>
              <a:gd name="T80" fmla="*/ 298 w 623"/>
              <a:gd name="T81" fmla="*/ 365 h 798"/>
              <a:gd name="T82" fmla="*/ 348 w 623"/>
              <a:gd name="T83" fmla="*/ 237 h 798"/>
              <a:gd name="T84" fmla="*/ 354 w 623"/>
              <a:gd name="T85" fmla="*/ 246 h 798"/>
              <a:gd name="T86" fmla="*/ 382 w 623"/>
              <a:gd name="T87" fmla="*/ 273 h 798"/>
              <a:gd name="T88" fmla="*/ 298 w 623"/>
              <a:gd name="T89" fmla="*/ 365 h 798"/>
              <a:gd name="T90" fmla="*/ 385 w 623"/>
              <a:gd name="T91" fmla="*/ 189 h 798"/>
              <a:gd name="T92" fmla="*/ 484 w 623"/>
              <a:gd name="T93" fmla="*/ 189 h 798"/>
              <a:gd name="T94" fmla="*/ 435 w 623"/>
              <a:gd name="T95" fmla="*/ 239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623" h="798">
                <a:moveTo>
                  <a:pt x="613" y="120"/>
                </a:moveTo>
                <a:cubicBezTo>
                  <a:pt x="623" y="110"/>
                  <a:pt x="623" y="94"/>
                  <a:pt x="613" y="84"/>
                </a:cubicBezTo>
                <a:cubicBezTo>
                  <a:pt x="539" y="10"/>
                  <a:pt x="539" y="10"/>
                  <a:pt x="539" y="10"/>
                </a:cubicBezTo>
                <a:cubicBezTo>
                  <a:pt x="529" y="0"/>
                  <a:pt x="514" y="0"/>
                  <a:pt x="504" y="10"/>
                </a:cubicBezTo>
                <a:cubicBezTo>
                  <a:pt x="504" y="10"/>
                  <a:pt x="504" y="10"/>
                  <a:pt x="504" y="10"/>
                </a:cubicBezTo>
                <a:cubicBezTo>
                  <a:pt x="423" y="91"/>
                  <a:pt x="423" y="91"/>
                  <a:pt x="423" y="91"/>
                </a:cubicBezTo>
                <a:cubicBezTo>
                  <a:pt x="378" y="96"/>
                  <a:pt x="342" y="132"/>
                  <a:pt x="337" y="178"/>
                </a:cubicBezTo>
                <a:cubicBezTo>
                  <a:pt x="224" y="291"/>
                  <a:pt x="224" y="291"/>
                  <a:pt x="224" y="291"/>
                </a:cubicBezTo>
                <a:cubicBezTo>
                  <a:pt x="216" y="283"/>
                  <a:pt x="216" y="283"/>
                  <a:pt x="216" y="283"/>
                </a:cubicBezTo>
                <a:cubicBezTo>
                  <a:pt x="207" y="274"/>
                  <a:pt x="191" y="274"/>
                  <a:pt x="181" y="283"/>
                </a:cubicBezTo>
                <a:cubicBezTo>
                  <a:pt x="172" y="293"/>
                  <a:pt x="172" y="309"/>
                  <a:pt x="181" y="318"/>
                </a:cubicBezTo>
                <a:cubicBezTo>
                  <a:pt x="181" y="318"/>
                  <a:pt x="181" y="318"/>
                  <a:pt x="181" y="318"/>
                </a:cubicBezTo>
                <a:cubicBezTo>
                  <a:pt x="189" y="326"/>
                  <a:pt x="189" y="326"/>
                  <a:pt x="189" y="326"/>
                </a:cubicBezTo>
                <a:cubicBezTo>
                  <a:pt x="132" y="383"/>
                  <a:pt x="132" y="383"/>
                  <a:pt x="132" y="383"/>
                </a:cubicBezTo>
                <a:cubicBezTo>
                  <a:pt x="122" y="392"/>
                  <a:pt x="122" y="408"/>
                  <a:pt x="132" y="418"/>
                </a:cubicBezTo>
                <a:cubicBezTo>
                  <a:pt x="206" y="492"/>
                  <a:pt x="206" y="492"/>
                  <a:pt x="206" y="492"/>
                </a:cubicBezTo>
                <a:cubicBezTo>
                  <a:pt x="216" y="502"/>
                  <a:pt x="232" y="502"/>
                  <a:pt x="241" y="492"/>
                </a:cubicBezTo>
                <a:cubicBezTo>
                  <a:pt x="241" y="492"/>
                  <a:pt x="241" y="492"/>
                  <a:pt x="241" y="492"/>
                </a:cubicBezTo>
                <a:cubicBezTo>
                  <a:pt x="298" y="435"/>
                  <a:pt x="298" y="435"/>
                  <a:pt x="298" y="435"/>
                </a:cubicBezTo>
                <a:cubicBezTo>
                  <a:pt x="305" y="443"/>
                  <a:pt x="305" y="443"/>
                  <a:pt x="305" y="443"/>
                </a:cubicBezTo>
                <a:cubicBezTo>
                  <a:pt x="315" y="452"/>
                  <a:pt x="331" y="452"/>
                  <a:pt x="341" y="443"/>
                </a:cubicBezTo>
                <a:cubicBezTo>
                  <a:pt x="350" y="433"/>
                  <a:pt x="350" y="417"/>
                  <a:pt x="341" y="408"/>
                </a:cubicBezTo>
                <a:cubicBezTo>
                  <a:pt x="333" y="400"/>
                  <a:pt x="333" y="400"/>
                  <a:pt x="333" y="400"/>
                </a:cubicBezTo>
                <a:cubicBezTo>
                  <a:pt x="446" y="287"/>
                  <a:pt x="446" y="287"/>
                  <a:pt x="446" y="287"/>
                </a:cubicBezTo>
                <a:cubicBezTo>
                  <a:pt x="464" y="285"/>
                  <a:pt x="481" y="278"/>
                  <a:pt x="495" y="267"/>
                </a:cubicBezTo>
                <a:cubicBezTo>
                  <a:pt x="496" y="267"/>
                  <a:pt x="496" y="268"/>
                  <a:pt x="496" y="268"/>
                </a:cubicBezTo>
                <a:cubicBezTo>
                  <a:pt x="528" y="302"/>
                  <a:pt x="546" y="348"/>
                  <a:pt x="546" y="395"/>
                </a:cubicBezTo>
                <a:cubicBezTo>
                  <a:pt x="546" y="457"/>
                  <a:pt x="515" y="514"/>
                  <a:pt x="463" y="550"/>
                </a:cubicBezTo>
                <a:cubicBezTo>
                  <a:pt x="445" y="534"/>
                  <a:pt x="422" y="525"/>
                  <a:pt x="397" y="525"/>
                </a:cubicBezTo>
                <a:cubicBezTo>
                  <a:pt x="75" y="525"/>
                  <a:pt x="75" y="525"/>
                  <a:pt x="75" y="525"/>
                </a:cubicBezTo>
                <a:cubicBezTo>
                  <a:pt x="61" y="525"/>
                  <a:pt x="50" y="536"/>
                  <a:pt x="50" y="549"/>
                </a:cubicBezTo>
                <a:cubicBezTo>
                  <a:pt x="50" y="563"/>
                  <a:pt x="61" y="574"/>
                  <a:pt x="75" y="574"/>
                </a:cubicBezTo>
                <a:cubicBezTo>
                  <a:pt x="75" y="574"/>
                  <a:pt x="75" y="574"/>
                  <a:pt x="75" y="574"/>
                </a:cubicBezTo>
                <a:cubicBezTo>
                  <a:pt x="312" y="574"/>
                  <a:pt x="312" y="574"/>
                  <a:pt x="312" y="574"/>
                </a:cubicBezTo>
                <a:cubicBezTo>
                  <a:pt x="303" y="589"/>
                  <a:pt x="298" y="606"/>
                  <a:pt x="298" y="624"/>
                </a:cubicBezTo>
                <a:cubicBezTo>
                  <a:pt x="298" y="649"/>
                  <a:pt x="298" y="649"/>
                  <a:pt x="298" y="649"/>
                </a:cubicBezTo>
                <a:cubicBezTo>
                  <a:pt x="25" y="649"/>
                  <a:pt x="25" y="649"/>
                  <a:pt x="25" y="649"/>
                </a:cubicBezTo>
                <a:cubicBezTo>
                  <a:pt x="12" y="649"/>
                  <a:pt x="0" y="660"/>
                  <a:pt x="0" y="674"/>
                </a:cubicBezTo>
                <a:cubicBezTo>
                  <a:pt x="0" y="674"/>
                  <a:pt x="0" y="674"/>
                  <a:pt x="0" y="674"/>
                </a:cubicBezTo>
                <a:cubicBezTo>
                  <a:pt x="0" y="773"/>
                  <a:pt x="0" y="773"/>
                  <a:pt x="0" y="773"/>
                </a:cubicBezTo>
                <a:cubicBezTo>
                  <a:pt x="0" y="787"/>
                  <a:pt x="12" y="798"/>
                  <a:pt x="25" y="798"/>
                </a:cubicBezTo>
                <a:cubicBezTo>
                  <a:pt x="25" y="798"/>
                  <a:pt x="25" y="798"/>
                  <a:pt x="25" y="798"/>
                </a:cubicBezTo>
                <a:cubicBezTo>
                  <a:pt x="571" y="798"/>
                  <a:pt x="571" y="798"/>
                  <a:pt x="571" y="798"/>
                </a:cubicBezTo>
                <a:cubicBezTo>
                  <a:pt x="585" y="798"/>
                  <a:pt x="596" y="787"/>
                  <a:pt x="596" y="773"/>
                </a:cubicBezTo>
                <a:cubicBezTo>
                  <a:pt x="596" y="773"/>
                  <a:pt x="596" y="773"/>
                  <a:pt x="596" y="773"/>
                </a:cubicBezTo>
                <a:cubicBezTo>
                  <a:pt x="596" y="674"/>
                  <a:pt x="596" y="674"/>
                  <a:pt x="596" y="674"/>
                </a:cubicBezTo>
                <a:cubicBezTo>
                  <a:pt x="596" y="660"/>
                  <a:pt x="585" y="649"/>
                  <a:pt x="571" y="649"/>
                </a:cubicBezTo>
                <a:cubicBezTo>
                  <a:pt x="571" y="649"/>
                  <a:pt x="571" y="649"/>
                  <a:pt x="571" y="649"/>
                </a:cubicBezTo>
                <a:cubicBezTo>
                  <a:pt x="497" y="649"/>
                  <a:pt x="497" y="649"/>
                  <a:pt x="497" y="649"/>
                </a:cubicBezTo>
                <a:cubicBezTo>
                  <a:pt x="497" y="624"/>
                  <a:pt x="497" y="624"/>
                  <a:pt x="497" y="624"/>
                </a:cubicBezTo>
                <a:cubicBezTo>
                  <a:pt x="497" y="613"/>
                  <a:pt x="495" y="602"/>
                  <a:pt x="491" y="591"/>
                </a:cubicBezTo>
                <a:cubicBezTo>
                  <a:pt x="557" y="546"/>
                  <a:pt x="596" y="473"/>
                  <a:pt x="596" y="395"/>
                </a:cubicBezTo>
                <a:cubicBezTo>
                  <a:pt x="596" y="335"/>
                  <a:pt x="573" y="278"/>
                  <a:pt x="532" y="234"/>
                </a:cubicBezTo>
                <a:cubicBezTo>
                  <a:pt x="530" y="232"/>
                  <a:pt x="528" y="230"/>
                  <a:pt x="525" y="229"/>
                </a:cubicBezTo>
                <a:cubicBezTo>
                  <a:pt x="529" y="220"/>
                  <a:pt x="532" y="210"/>
                  <a:pt x="533" y="200"/>
                </a:cubicBezTo>
                <a:lnTo>
                  <a:pt x="613" y="120"/>
                </a:lnTo>
                <a:close/>
                <a:moveTo>
                  <a:pt x="546" y="698"/>
                </a:moveTo>
                <a:cubicBezTo>
                  <a:pt x="546" y="748"/>
                  <a:pt x="546" y="748"/>
                  <a:pt x="546" y="748"/>
                </a:cubicBezTo>
                <a:cubicBezTo>
                  <a:pt x="50" y="748"/>
                  <a:pt x="50" y="748"/>
                  <a:pt x="50" y="748"/>
                </a:cubicBezTo>
                <a:cubicBezTo>
                  <a:pt x="50" y="698"/>
                  <a:pt x="50" y="698"/>
                  <a:pt x="50" y="698"/>
                </a:cubicBezTo>
                <a:lnTo>
                  <a:pt x="546" y="698"/>
                </a:lnTo>
                <a:close/>
                <a:moveTo>
                  <a:pt x="348" y="649"/>
                </a:moveTo>
                <a:cubicBezTo>
                  <a:pt x="348" y="624"/>
                  <a:pt x="348" y="624"/>
                  <a:pt x="348" y="624"/>
                </a:cubicBezTo>
                <a:cubicBezTo>
                  <a:pt x="348" y="597"/>
                  <a:pt x="370" y="574"/>
                  <a:pt x="397" y="574"/>
                </a:cubicBezTo>
                <a:cubicBezTo>
                  <a:pt x="425" y="574"/>
                  <a:pt x="447" y="597"/>
                  <a:pt x="447" y="624"/>
                </a:cubicBezTo>
                <a:cubicBezTo>
                  <a:pt x="447" y="649"/>
                  <a:pt x="447" y="649"/>
                  <a:pt x="447" y="649"/>
                </a:cubicBezTo>
                <a:lnTo>
                  <a:pt x="348" y="649"/>
                </a:lnTo>
                <a:close/>
                <a:moveTo>
                  <a:pt x="522" y="63"/>
                </a:moveTo>
                <a:cubicBezTo>
                  <a:pt x="561" y="102"/>
                  <a:pt x="561" y="102"/>
                  <a:pt x="561" y="102"/>
                </a:cubicBezTo>
                <a:cubicBezTo>
                  <a:pt x="522" y="141"/>
                  <a:pt x="522" y="141"/>
                  <a:pt x="522" y="141"/>
                </a:cubicBezTo>
                <a:cubicBezTo>
                  <a:pt x="521" y="139"/>
                  <a:pt x="519" y="138"/>
                  <a:pt x="518" y="136"/>
                </a:cubicBezTo>
                <a:cubicBezTo>
                  <a:pt x="517" y="135"/>
                  <a:pt x="517" y="133"/>
                  <a:pt x="516" y="132"/>
                </a:cubicBezTo>
                <a:cubicBezTo>
                  <a:pt x="509" y="123"/>
                  <a:pt x="501" y="114"/>
                  <a:pt x="492" y="108"/>
                </a:cubicBezTo>
                <a:cubicBezTo>
                  <a:pt x="490" y="107"/>
                  <a:pt x="489" y="106"/>
                  <a:pt x="488" y="105"/>
                </a:cubicBezTo>
                <a:cubicBezTo>
                  <a:pt x="486" y="104"/>
                  <a:pt x="484" y="103"/>
                  <a:pt x="482" y="102"/>
                </a:cubicBezTo>
                <a:lnTo>
                  <a:pt x="522" y="63"/>
                </a:lnTo>
                <a:close/>
                <a:moveTo>
                  <a:pt x="224" y="440"/>
                </a:moveTo>
                <a:cubicBezTo>
                  <a:pt x="184" y="400"/>
                  <a:pt x="184" y="400"/>
                  <a:pt x="184" y="400"/>
                </a:cubicBezTo>
                <a:cubicBezTo>
                  <a:pt x="224" y="361"/>
                  <a:pt x="224" y="361"/>
                  <a:pt x="224" y="361"/>
                </a:cubicBezTo>
                <a:cubicBezTo>
                  <a:pt x="263" y="400"/>
                  <a:pt x="263" y="400"/>
                  <a:pt x="263" y="400"/>
                </a:cubicBezTo>
                <a:lnTo>
                  <a:pt x="224" y="440"/>
                </a:lnTo>
                <a:close/>
                <a:moveTo>
                  <a:pt x="298" y="365"/>
                </a:moveTo>
                <a:cubicBezTo>
                  <a:pt x="259" y="326"/>
                  <a:pt x="259" y="326"/>
                  <a:pt x="259" y="326"/>
                </a:cubicBezTo>
                <a:cubicBezTo>
                  <a:pt x="348" y="237"/>
                  <a:pt x="348" y="237"/>
                  <a:pt x="348" y="237"/>
                </a:cubicBezTo>
                <a:cubicBezTo>
                  <a:pt x="349" y="239"/>
                  <a:pt x="350" y="240"/>
                  <a:pt x="351" y="242"/>
                </a:cubicBezTo>
                <a:cubicBezTo>
                  <a:pt x="352" y="243"/>
                  <a:pt x="353" y="245"/>
                  <a:pt x="354" y="246"/>
                </a:cubicBezTo>
                <a:cubicBezTo>
                  <a:pt x="360" y="255"/>
                  <a:pt x="368" y="264"/>
                  <a:pt x="378" y="270"/>
                </a:cubicBezTo>
                <a:cubicBezTo>
                  <a:pt x="379" y="271"/>
                  <a:pt x="380" y="272"/>
                  <a:pt x="382" y="273"/>
                </a:cubicBezTo>
                <a:cubicBezTo>
                  <a:pt x="384" y="274"/>
                  <a:pt x="385" y="275"/>
                  <a:pt x="387" y="276"/>
                </a:cubicBezTo>
                <a:lnTo>
                  <a:pt x="298" y="365"/>
                </a:lnTo>
                <a:close/>
                <a:moveTo>
                  <a:pt x="435" y="239"/>
                </a:moveTo>
                <a:cubicBezTo>
                  <a:pt x="407" y="239"/>
                  <a:pt x="385" y="217"/>
                  <a:pt x="385" y="189"/>
                </a:cubicBezTo>
                <a:cubicBezTo>
                  <a:pt x="385" y="162"/>
                  <a:pt x="407" y="139"/>
                  <a:pt x="435" y="139"/>
                </a:cubicBezTo>
                <a:cubicBezTo>
                  <a:pt x="462" y="139"/>
                  <a:pt x="484" y="161"/>
                  <a:pt x="484" y="189"/>
                </a:cubicBezTo>
                <a:cubicBezTo>
                  <a:pt x="484" y="189"/>
                  <a:pt x="484" y="189"/>
                  <a:pt x="484" y="189"/>
                </a:cubicBezTo>
                <a:cubicBezTo>
                  <a:pt x="484" y="216"/>
                  <a:pt x="462" y="239"/>
                  <a:pt x="435" y="239"/>
                </a:cubicBezTo>
                <a:close/>
              </a:path>
            </a:pathLst>
          </a:custGeom>
          <a:solidFill>
            <a:schemeClr val="bg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59" name="Freeform 9"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a:spLocks noEditPoints="1"/>
          </p:cNvSpPr>
          <p:nvPr/>
        </p:nvSpPr>
        <p:spPr bwMode="auto">
          <a:xfrm>
            <a:off x="3403377" y="1621214"/>
            <a:ext cx="585202" cy="583396"/>
          </a:xfrm>
          <a:custGeom>
            <a:avLst/>
            <a:gdLst>
              <a:gd name="T0" fmla="*/ 623 w 797"/>
              <a:gd name="T1" fmla="*/ 324 h 797"/>
              <a:gd name="T2" fmla="*/ 672 w 797"/>
              <a:gd name="T3" fmla="*/ 373 h 797"/>
              <a:gd name="T4" fmla="*/ 423 w 797"/>
              <a:gd name="T5" fmla="*/ 324 h 797"/>
              <a:gd name="T6" fmla="*/ 374 w 797"/>
              <a:gd name="T7" fmla="*/ 373 h 797"/>
              <a:gd name="T8" fmla="*/ 423 w 797"/>
              <a:gd name="T9" fmla="*/ 324 h 797"/>
              <a:gd name="T10" fmla="*/ 125 w 797"/>
              <a:gd name="T11" fmla="*/ 324 h 797"/>
              <a:gd name="T12" fmla="*/ 174 w 797"/>
              <a:gd name="T13" fmla="*/ 373 h 797"/>
              <a:gd name="T14" fmla="*/ 747 w 797"/>
              <a:gd name="T15" fmla="*/ 249 h 797"/>
              <a:gd name="T16" fmla="*/ 722 w 797"/>
              <a:gd name="T17" fmla="*/ 0 h 797"/>
              <a:gd name="T18" fmla="*/ 573 w 797"/>
              <a:gd name="T19" fmla="*/ 0 h 797"/>
              <a:gd name="T20" fmla="*/ 548 w 797"/>
              <a:gd name="T21" fmla="*/ 25 h 797"/>
              <a:gd name="T22" fmla="*/ 498 w 797"/>
              <a:gd name="T23" fmla="*/ 249 h 797"/>
              <a:gd name="T24" fmla="*/ 473 w 797"/>
              <a:gd name="T25" fmla="*/ 0 h 797"/>
              <a:gd name="T26" fmla="*/ 324 w 797"/>
              <a:gd name="T27" fmla="*/ 0 h 797"/>
              <a:gd name="T28" fmla="*/ 299 w 797"/>
              <a:gd name="T29" fmla="*/ 25 h 797"/>
              <a:gd name="T30" fmla="*/ 249 w 797"/>
              <a:gd name="T31" fmla="*/ 249 h 797"/>
              <a:gd name="T32" fmla="*/ 224 w 797"/>
              <a:gd name="T33" fmla="*/ 0 h 797"/>
              <a:gd name="T34" fmla="*/ 75 w 797"/>
              <a:gd name="T35" fmla="*/ 0 h 797"/>
              <a:gd name="T36" fmla="*/ 50 w 797"/>
              <a:gd name="T37" fmla="*/ 25 h 797"/>
              <a:gd name="T38" fmla="*/ 0 w 797"/>
              <a:gd name="T39" fmla="*/ 299 h 797"/>
              <a:gd name="T40" fmla="*/ 50 w 797"/>
              <a:gd name="T41" fmla="*/ 448 h 797"/>
              <a:gd name="T42" fmla="*/ 149 w 797"/>
              <a:gd name="T43" fmla="*/ 797 h 797"/>
              <a:gd name="T44" fmla="*/ 249 w 797"/>
              <a:gd name="T45" fmla="*/ 448 h 797"/>
              <a:gd name="T46" fmla="*/ 299 w 797"/>
              <a:gd name="T47" fmla="*/ 697 h 797"/>
              <a:gd name="T48" fmla="*/ 498 w 797"/>
              <a:gd name="T49" fmla="*/ 697 h 797"/>
              <a:gd name="T50" fmla="*/ 548 w 797"/>
              <a:gd name="T51" fmla="*/ 448 h 797"/>
              <a:gd name="T52" fmla="*/ 647 w 797"/>
              <a:gd name="T53" fmla="*/ 797 h 797"/>
              <a:gd name="T54" fmla="*/ 747 w 797"/>
              <a:gd name="T55" fmla="*/ 448 h 797"/>
              <a:gd name="T56" fmla="*/ 797 w 797"/>
              <a:gd name="T57" fmla="*/ 299 h 797"/>
              <a:gd name="T58" fmla="*/ 598 w 797"/>
              <a:gd name="T59" fmla="*/ 50 h 797"/>
              <a:gd name="T60" fmla="*/ 697 w 797"/>
              <a:gd name="T61" fmla="*/ 99 h 797"/>
              <a:gd name="T62" fmla="*/ 598 w 797"/>
              <a:gd name="T63" fmla="*/ 50 h 797"/>
              <a:gd name="T64" fmla="*/ 697 w 797"/>
              <a:gd name="T65" fmla="*/ 149 h 797"/>
              <a:gd name="T66" fmla="*/ 598 w 797"/>
              <a:gd name="T67" fmla="*/ 249 h 797"/>
              <a:gd name="T68" fmla="*/ 349 w 797"/>
              <a:gd name="T69" fmla="*/ 50 h 797"/>
              <a:gd name="T70" fmla="*/ 448 w 797"/>
              <a:gd name="T71" fmla="*/ 99 h 797"/>
              <a:gd name="T72" fmla="*/ 349 w 797"/>
              <a:gd name="T73" fmla="*/ 50 h 797"/>
              <a:gd name="T74" fmla="*/ 448 w 797"/>
              <a:gd name="T75" fmla="*/ 149 h 797"/>
              <a:gd name="T76" fmla="*/ 349 w 797"/>
              <a:gd name="T77" fmla="*/ 249 h 797"/>
              <a:gd name="T78" fmla="*/ 100 w 797"/>
              <a:gd name="T79" fmla="*/ 50 h 797"/>
              <a:gd name="T80" fmla="*/ 199 w 797"/>
              <a:gd name="T81" fmla="*/ 99 h 797"/>
              <a:gd name="T82" fmla="*/ 100 w 797"/>
              <a:gd name="T83" fmla="*/ 50 h 797"/>
              <a:gd name="T84" fmla="*/ 199 w 797"/>
              <a:gd name="T85" fmla="*/ 149 h 797"/>
              <a:gd name="T86" fmla="*/ 100 w 797"/>
              <a:gd name="T87" fmla="*/ 249 h 797"/>
              <a:gd name="T88" fmla="*/ 199 w 797"/>
              <a:gd name="T89" fmla="*/ 697 h 797"/>
              <a:gd name="T90" fmla="*/ 100 w 797"/>
              <a:gd name="T91" fmla="*/ 697 h 797"/>
              <a:gd name="T92" fmla="*/ 199 w 797"/>
              <a:gd name="T93" fmla="*/ 448 h 797"/>
              <a:gd name="T94" fmla="*/ 448 w 797"/>
              <a:gd name="T95" fmla="*/ 697 h 797"/>
              <a:gd name="T96" fmla="*/ 349 w 797"/>
              <a:gd name="T97" fmla="*/ 697 h 797"/>
              <a:gd name="T98" fmla="*/ 448 w 797"/>
              <a:gd name="T99" fmla="*/ 448 h 797"/>
              <a:gd name="T100" fmla="*/ 697 w 797"/>
              <a:gd name="T101" fmla="*/ 697 h 797"/>
              <a:gd name="T102" fmla="*/ 598 w 797"/>
              <a:gd name="T103" fmla="*/ 697 h 797"/>
              <a:gd name="T104" fmla="*/ 697 w 797"/>
              <a:gd name="T105" fmla="*/ 448 h 797"/>
              <a:gd name="T106" fmla="*/ 747 w 797"/>
              <a:gd name="T107" fmla="*/ 398 h 797"/>
              <a:gd name="T108" fmla="*/ 50 w 797"/>
              <a:gd name="T109" fmla="*/ 299 h 797"/>
              <a:gd name="T110" fmla="*/ 747 w 797"/>
              <a:gd name="T111" fmla="*/ 398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97" h="797">
                <a:moveTo>
                  <a:pt x="672" y="324"/>
                </a:moveTo>
                <a:cubicBezTo>
                  <a:pt x="623" y="324"/>
                  <a:pt x="623" y="324"/>
                  <a:pt x="623" y="324"/>
                </a:cubicBezTo>
                <a:cubicBezTo>
                  <a:pt x="623" y="373"/>
                  <a:pt x="623" y="373"/>
                  <a:pt x="623" y="373"/>
                </a:cubicBezTo>
                <a:cubicBezTo>
                  <a:pt x="672" y="373"/>
                  <a:pt x="672" y="373"/>
                  <a:pt x="672" y="373"/>
                </a:cubicBezTo>
                <a:lnTo>
                  <a:pt x="672" y="324"/>
                </a:lnTo>
                <a:close/>
                <a:moveTo>
                  <a:pt x="423" y="324"/>
                </a:moveTo>
                <a:cubicBezTo>
                  <a:pt x="374" y="324"/>
                  <a:pt x="374" y="324"/>
                  <a:pt x="374" y="324"/>
                </a:cubicBezTo>
                <a:cubicBezTo>
                  <a:pt x="374" y="373"/>
                  <a:pt x="374" y="373"/>
                  <a:pt x="374" y="373"/>
                </a:cubicBezTo>
                <a:cubicBezTo>
                  <a:pt x="423" y="373"/>
                  <a:pt x="423" y="373"/>
                  <a:pt x="423" y="373"/>
                </a:cubicBezTo>
                <a:lnTo>
                  <a:pt x="423" y="324"/>
                </a:lnTo>
                <a:close/>
                <a:moveTo>
                  <a:pt x="174" y="324"/>
                </a:moveTo>
                <a:cubicBezTo>
                  <a:pt x="125" y="324"/>
                  <a:pt x="125" y="324"/>
                  <a:pt x="125" y="324"/>
                </a:cubicBezTo>
                <a:cubicBezTo>
                  <a:pt x="125" y="373"/>
                  <a:pt x="125" y="373"/>
                  <a:pt x="125" y="373"/>
                </a:cubicBezTo>
                <a:cubicBezTo>
                  <a:pt x="174" y="373"/>
                  <a:pt x="174" y="373"/>
                  <a:pt x="174" y="373"/>
                </a:cubicBezTo>
                <a:lnTo>
                  <a:pt x="174" y="324"/>
                </a:lnTo>
                <a:close/>
                <a:moveTo>
                  <a:pt x="747" y="249"/>
                </a:moveTo>
                <a:cubicBezTo>
                  <a:pt x="747" y="25"/>
                  <a:pt x="747" y="25"/>
                  <a:pt x="747" y="25"/>
                </a:cubicBezTo>
                <a:cubicBezTo>
                  <a:pt x="747" y="11"/>
                  <a:pt x="736" y="0"/>
                  <a:pt x="722" y="0"/>
                </a:cubicBezTo>
                <a:cubicBezTo>
                  <a:pt x="722" y="0"/>
                  <a:pt x="722" y="0"/>
                  <a:pt x="722" y="0"/>
                </a:cubicBezTo>
                <a:cubicBezTo>
                  <a:pt x="573" y="0"/>
                  <a:pt x="573" y="0"/>
                  <a:pt x="573" y="0"/>
                </a:cubicBezTo>
                <a:cubicBezTo>
                  <a:pt x="559" y="0"/>
                  <a:pt x="548" y="11"/>
                  <a:pt x="548" y="25"/>
                </a:cubicBezTo>
                <a:cubicBezTo>
                  <a:pt x="548" y="25"/>
                  <a:pt x="548" y="25"/>
                  <a:pt x="548" y="25"/>
                </a:cubicBezTo>
                <a:cubicBezTo>
                  <a:pt x="548" y="249"/>
                  <a:pt x="548" y="249"/>
                  <a:pt x="548" y="249"/>
                </a:cubicBezTo>
                <a:cubicBezTo>
                  <a:pt x="498" y="249"/>
                  <a:pt x="498" y="249"/>
                  <a:pt x="498" y="249"/>
                </a:cubicBezTo>
                <a:cubicBezTo>
                  <a:pt x="498" y="25"/>
                  <a:pt x="498" y="25"/>
                  <a:pt x="498" y="25"/>
                </a:cubicBezTo>
                <a:cubicBezTo>
                  <a:pt x="498" y="11"/>
                  <a:pt x="487" y="0"/>
                  <a:pt x="473" y="0"/>
                </a:cubicBezTo>
                <a:cubicBezTo>
                  <a:pt x="473" y="0"/>
                  <a:pt x="473" y="0"/>
                  <a:pt x="473" y="0"/>
                </a:cubicBezTo>
                <a:cubicBezTo>
                  <a:pt x="324" y="0"/>
                  <a:pt x="324" y="0"/>
                  <a:pt x="324" y="0"/>
                </a:cubicBezTo>
                <a:cubicBezTo>
                  <a:pt x="310" y="0"/>
                  <a:pt x="299" y="11"/>
                  <a:pt x="299" y="25"/>
                </a:cubicBezTo>
                <a:cubicBezTo>
                  <a:pt x="299" y="25"/>
                  <a:pt x="299" y="25"/>
                  <a:pt x="299" y="25"/>
                </a:cubicBezTo>
                <a:cubicBezTo>
                  <a:pt x="299" y="249"/>
                  <a:pt x="299" y="249"/>
                  <a:pt x="299" y="249"/>
                </a:cubicBezTo>
                <a:cubicBezTo>
                  <a:pt x="249" y="249"/>
                  <a:pt x="249" y="249"/>
                  <a:pt x="249" y="249"/>
                </a:cubicBezTo>
                <a:cubicBezTo>
                  <a:pt x="249" y="25"/>
                  <a:pt x="249" y="25"/>
                  <a:pt x="249" y="25"/>
                </a:cubicBezTo>
                <a:cubicBezTo>
                  <a:pt x="249" y="11"/>
                  <a:pt x="238" y="0"/>
                  <a:pt x="224" y="0"/>
                </a:cubicBezTo>
                <a:cubicBezTo>
                  <a:pt x="224" y="0"/>
                  <a:pt x="224" y="0"/>
                  <a:pt x="224" y="0"/>
                </a:cubicBezTo>
                <a:cubicBezTo>
                  <a:pt x="75" y="0"/>
                  <a:pt x="75" y="0"/>
                  <a:pt x="75" y="0"/>
                </a:cubicBezTo>
                <a:cubicBezTo>
                  <a:pt x="61" y="0"/>
                  <a:pt x="50" y="11"/>
                  <a:pt x="50" y="25"/>
                </a:cubicBezTo>
                <a:cubicBezTo>
                  <a:pt x="50" y="25"/>
                  <a:pt x="50" y="25"/>
                  <a:pt x="50" y="25"/>
                </a:cubicBezTo>
                <a:cubicBezTo>
                  <a:pt x="50" y="249"/>
                  <a:pt x="50" y="249"/>
                  <a:pt x="50" y="249"/>
                </a:cubicBezTo>
                <a:cubicBezTo>
                  <a:pt x="22" y="249"/>
                  <a:pt x="0" y="271"/>
                  <a:pt x="0" y="299"/>
                </a:cubicBezTo>
                <a:cubicBezTo>
                  <a:pt x="0" y="398"/>
                  <a:pt x="0" y="398"/>
                  <a:pt x="0" y="398"/>
                </a:cubicBezTo>
                <a:cubicBezTo>
                  <a:pt x="0" y="426"/>
                  <a:pt x="22" y="448"/>
                  <a:pt x="50" y="448"/>
                </a:cubicBezTo>
                <a:cubicBezTo>
                  <a:pt x="50" y="697"/>
                  <a:pt x="50" y="697"/>
                  <a:pt x="50" y="697"/>
                </a:cubicBezTo>
                <a:cubicBezTo>
                  <a:pt x="50" y="752"/>
                  <a:pt x="94" y="797"/>
                  <a:pt x="149" y="797"/>
                </a:cubicBezTo>
                <a:cubicBezTo>
                  <a:pt x="204" y="797"/>
                  <a:pt x="249" y="752"/>
                  <a:pt x="249" y="697"/>
                </a:cubicBezTo>
                <a:cubicBezTo>
                  <a:pt x="249" y="448"/>
                  <a:pt x="249" y="448"/>
                  <a:pt x="249" y="448"/>
                </a:cubicBezTo>
                <a:cubicBezTo>
                  <a:pt x="299" y="448"/>
                  <a:pt x="299" y="448"/>
                  <a:pt x="299" y="448"/>
                </a:cubicBezTo>
                <a:cubicBezTo>
                  <a:pt x="299" y="697"/>
                  <a:pt x="299" y="697"/>
                  <a:pt x="299" y="697"/>
                </a:cubicBezTo>
                <a:cubicBezTo>
                  <a:pt x="299" y="752"/>
                  <a:pt x="343" y="797"/>
                  <a:pt x="398" y="797"/>
                </a:cubicBezTo>
                <a:cubicBezTo>
                  <a:pt x="453" y="797"/>
                  <a:pt x="498" y="752"/>
                  <a:pt x="498" y="697"/>
                </a:cubicBezTo>
                <a:cubicBezTo>
                  <a:pt x="498" y="448"/>
                  <a:pt x="498" y="448"/>
                  <a:pt x="498" y="448"/>
                </a:cubicBezTo>
                <a:cubicBezTo>
                  <a:pt x="548" y="448"/>
                  <a:pt x="548" y="448"/>
                  <a:pt x="548" y="448"/>
                </a:cubicBezTo>
                <a:cubicBezTo>
                  <a:pt x="548" y="697"/>
                  <a:pt x="548" y="697"/>
                  <a:pt x="548" y="697"/>
                </a:cubicBezTo>
                <a:cubicBezTo>
                  <a:pt x="548" y="752"/>
                  <a:pt x="592" y="797"/>
                  <a:pt x="647" y="797"/>
                </a:cubicBezTo>
                <a:cubicBezTo>
                  <a:pt x="702" y="797"/>
                  <a:pt x="747" y="752"/>
                  <a:pt x="747" y="697"/>
                </a:cubicBezTo>
                <a:cubicBezTo>
                  <a:pt x="747" y="448"/>
                  <a:pt x="747" y="448"/>
                  <a:pt x="747" y="448"/>
                </a:cubicBezTo>
                <a:cubicBezTo>
                  <a:pt x="775" y="448"/>
                  <a:pt x="797" y="426"/>
                  <a:pt x="797" y="398"/>
                </a:cubicBezTo>
                <a:cubicBezTo>
                  <a:pt x="797" y="299"/>
                  <a:pt x="797" y="299"/>
                  <a:pt x="797" y="299"/>
                </a:cubicBezTo>
                <a:cubicBezTo>
                  <a:pt x="797" y="271"/>
                  <a:pt x="775" y="249"/>
                  <a:pt x="747" y="249"/>
                </a:cubicBezTo>
                <a:close/>
                <a:moveTo>
                  <a:pt x="598" y="50"/>
                </a:moveTo>
                <a:cubicBezTo>
                  <a:pt x="697" y="50"/>
                  <a:pt x="697" y="50"/>
                  <a:pt x="697" y="50"/>
                </a:cubicBezTo>
                <a:cubicBezTo>
                  <a:pt x="697" y="99"/>
                  <a:pt x="697" y="99"/>
                  <a:pt x="697" y="99"/>
                </a:cubicBezTo>
                <a:cubicBezTo>
                  <a:pt x="598" y="99"/>
                  <a:pt x="598" y="99"/>
                  <a:pt x="598" y="99"/>
                </a:cubicBezTo>
                <a:lnTo>
                  <a:pt x="598" y="50"/>
                </a:lnTo>
                <a:close/>
                <a:moveTo>
                  <a:pt x="598" y="149"/>
                </a:moveTo>
                <a:cubicBezTo>
                  <a:pt x="697" y="149"/>
                  <a:pt x="697" y="149"/>
                  <a:pt x="697" y="149"/>
                </a:cubicBezTo>
                <a:cubicBezTo>
                  <a:pt x="697" y="249"/>
                  <a:pt x="697" y="249"/>
                  <a:pt x="697" y="249"/>
                </a:cubicBezTo>
                <a:cubicBezTo>
                  <a:pt x="598" y="249"/>
                  <a:pt x="598" y="249"/>
                  <a:pt x="598" y="249"/>
                </a:cubicBezTo>
                <a:lnTo>
                  <a:pt x="598" y="149"/>
                </a:lnTo>
                <a:close/>
                <a:moveTo>
                  <a:pt x="349" y="50"/>
                </a:moveTo>
                <a:cubicBezTo>
                  <a:pt x="448" y="50"/>
                  <a:pt x="448" y="50"/>
                  <a:pt x="448" y="50"/>
                </a:cubicBezTo>
                <a:cubicBezTo>
                  <a:pt x="448" y="99"/>
                  <a:pt x="448" y="99"/>
                  <a:pt x="448" y="99"/>
                </a:cubicBezTo>
                <a:cubicBezTo>
                  <a:pt x="349" y="99"/>
                  <a:pt x="349" y="99"/>
                  <a:pt x="349" y="99"/>
                </a:cubicBezTo>
                <a:lnTo>
                  <a:pt x="349" y="50"/>
                </a:lnTo>
                <a:close/>
                <a:moveTo>
                  <a:pt x="349" y="149"/>
                </a:moveTo>
                <a:cubicBezTo>
                  <a:pt x="448" y="149"/>
                  <a:pt x="448" y="149"/>
                  <a:pt x="448" y="149"/>
                </a:cubicBezTo>
                <a:cubicBezTo>
                  <a:pt x="448" y="249"/>
                  <a:pt x="448" y="249"/>
                  <a:pt x="448" y="249"/>
                </a:cubicBezTo>
                <a:cubicBezTo>
                  <a:pt x="349" y="249"/>
                  <a:pt x="349" y="249"/>
                  <a:pt x="349" y="249"/>
                </a:cubicBezTo>
                <a:lnTo>
                  <a:pt x="349" y="149"/>
                </a:lnTo>
                <a:close/>
                <a:moveTo>
                  <a:pt x="100" y="50"/>
                </a:moveTo>
                <a:cubicBezTo>
                  <a:pt x="199" y="50"/>
                  <a:pt x="199" y="50"/>
                  <a:pt x="199" y="50"/>
                </a:cubicBezTo>
                <a:cubicBezTo>
                  <a:pt x="199" y="99"/>
                  <a:pt x="199" y="99"/>
                  <a:pt x="199" y="99"/>
                </a:cubicBezTo>
                <a:cubicBezTo>
                  <a:pt x="100" y="99"/>
                  <a:pt x="100" y="99"/>
                  <a:pt x="100" y="99"/>
                </a:cubicBezTo>
                <a:lnTo>
                  <a:pt x="100" y="50"/>
                </a:lnTo>
                <a:close/>
                <a:moveTo>
                  <a:pt x="100" y="149"/>
                </a:moveTo>
                <a:cubicBezTo>
                  <a:pt x="199" y="149"/>
                  <a:pt x="199" y="149"/>
                  <a:pt x="199" y="149"/>
                </a:cubicBezTo>
                <a:cubicBezTo>
                  <a:pt x="199" y="249"/>
                  <a:pt x="199" y="249"/>
                  <a:pt x="199" y="249"/>
                </a:cubicBezTo>
                <a:cubicBezTo>
                  <a:pt x="100" y="249"/>
                  <a:pt x="100" y="249"/>
                  <a:pt x="100" y="249"/>
                </a:cubicBezTo>
                <a:lnTo>
                  <a:pt x="100" y="149"/>
                </a:lnTo>
                <a:close/>
                <a:moveTo>
                  <a:pt x="199" y="697"/>
                </a:moveTo>
                <a:cubicBezTo>
                  <a:pt x="199" y="725"/>
                  <a:pt x="177" y="747"/>
                  <a:pt x="149" y="747"/>
                </a:cubicBezTo>
                <a:cubicBezTo>
                  <a:pt x="122" y="747"/>
                  <a:pt x="100" y="725"/>
                  <a:pt x="100" y="697"/>
                </a:cubicBezTo>
                <a:cubicBezTo>
                  <a:pt x="100" y="448"/>
                  <a:pt x="100" y="448"/>
                  <a:pt x="100" y="448"/>
                </a:cubicBezTo>
                <a:cubicBezTo>
                  <a:pt x="199" y="448"/>
                  <a:pt x="199" y="448"/>
                  <a:pt x="199" y="448"/>
                </a:cubicBezTo>
                <a:lnTo>
                  <a:pt x="199" y="697"/>
                </a:lnTo>
                <a:close/>
                <a:moveTo>
                  <a:pt x="448" y="697"/>
                </a:moveTo>
                <a:cubicBezTo>
                  <a:pt x="448" y="725"/>
                  <a:pt x="426" y="747"/>
                  <a:pt x="398" y="747"/>
                </a:cubicBezTo>
                <a:cubicBezTo>
                  <a:pt x="371" y="747"/>
                  <a:pt x="349" y="725"/>
                  <a:pt x="349" y="697"/>
                </a:cubicBezTo>
                <a:cubicBezTo>
                  <a:pt x="349" y="448"/>
                  <a:pt x="349" y="448"/>
                  <a:pt x="349" y="448"/>
                </a:cubicBezTo>
                <a:cubicBezTo>
                  <a:pt x="448" y="448"/>
                  <a:pt x="448" y="448"/>
                  <a:pt x="448" y="448"/>
                </a:cubicBezTo>
                <a:lnTo>
                  <a:pt x="448" y="697"/>
                </a:lnTo>
                <a:close/>
                <a:moveTo>
                  <a:pt x="697" y="697"/>
                </a:moveTo>
                <a:cubicBezTo>
                  <a:pt x="697" y="725"/>
                  <a:pt x="675" y="747"/>
                  <a:pt x="647" y="747"/>
                </a:cubicBezTo>
                <a:cubicBezTo>
                  <a:pt x="620" y="747"/>
                  <a:pt x="598" y="725"/>
                  <a:pt x="598" y="697"/>
                </a:cubicBezTo>
                <a:cubicBezTo>
                  <a:pt x="598" y="448"/>
                  <a:pt x="598" y="448"/>
                  <a:pt x="598" y="448"/>
                </a:cubicBezTo>
                <a:cubicBezTo>
                  <a:pt x="697" y="448"/>
                  <a:pt x="697" y="448"/>
                  <a:pt x="697" y="448"/>
                </a:cubicBezTo>
                <a:lnTo>
                  <a:pt x="697" y="697"/>
                </a:lnTo>
                <a:close/>
                <a:moveTo>
                  <a:pt x="747" y="398"/>
                </a:moveTo>
                <a:cubicBezTo>
                  <a:pt x="50" y="398"/>
                  <a:pt x="50" y="398"/>
                  <a:pt x="50" y="398"/>
                </a:cubicBezTo>
                <a:cubicBezTo>
                  <a:pt x="50" y="299"/>
                  <a:pt x="50" y="299"/>
                  <a:pt x="50" y="299"/>
                </a:cubicBezTo>
                <a:cubicBezTo>
                  <a:pt x="747" y="299"/>
                  <a:pt x="747" y="299"/>
                  <a:pt x="747" y="299"/>
                </a:cubicBezTo>
                <a:lnTo>
                  <a:pt x="747" y="398"/>
                </a:lnTo>
                <a:close/>
              </a:path>
            </a:pathLst>
          </a:custGeom>
          <a:solidFill>
            <a:schemeClr val="accent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
        <p:nvSpPr>
          <p:cNvPr id="60" name="Freeform 13" descr="e7d195523061f1c09e9d68d7cf438b91ef959ecb14fc25d26BBA7F7DBC18E55DFF4014AF651F0BF2569D4B6C1DA7F1A4683A481403BD872FC687266AD13265C1DE7C373772FD8728ABDD69ADD03BFF5BE2862BC891DBB79E004BD18D3DE377B6E0622BA3AC5E82C8FDF1C48190BDE792199061322E8497607F0914105F5FFE30FBA29C6E910E03373D57138554C1EDD0"/>
          <p:cNvSpPr>
            <a:spLocks noEditPoints="1"/>
          </p:cNvSpPr>
          <p:nvPr/>
        </p:nvSpPr>
        <p:spPr bwMode="auto">
          <a:xfrm>
            <a:off x="6240686" y="1568636"/>
            <a:ext cx="519435" cy="688553"/>
          </a:xfrm>
          <a:custGeom>
            <a:avLst/>
            <a:gdLst>
              <a:gd name="T0" fmla="*/ 598 w 598"/>
              <a:gd name="T1" fmla="*/ 287 h 797"/>
              <a:gd name="T2" fmla="*/ 299 w 598"/>
              <a:gd name="T3" fmla="*/ 0 h 797"/>
              <a:gd name="T4" fmla="*/ 0 w 598"/>
              <a:gd name="T5" fmla="*/ 287 h 797"/>
              <a:gd name="T6" fmla="*/ 167 w 598"/>
              <a:gd name="T7" fmla="*/ 543 h 797"/>
              <a:gd name="T8" fmla="*/ 163 w 598"/>
              <a:gd name="T9" fmla="*/ 623 h 797"/>
              <a:gd name="T10" fmla="*/ 150 w 598"/>
              <a:gd name="T11" fmla="*/ 660 h 797"/>
              <a:gd name="T12" fmla="*/ 212 w 598"/>
              <a:gd name="T13" fmla="*/ 723 h 797"/>
              <a:gd name="T14" fmla="*/ 225 w 598"/>
              <a:gd name="T15" fmla="*/ 723 h 797"/>
              <a:gd name="T16" fmla="*/ 299 w 598"/>
              <a:gd name="T17" fmla="*/ 797 h 797"/>
              <a:gd name="T18" fmla="*/ 374 w 598"/>
              <a:gd name="T19" fmla="*/ 723 h 797"/>
              <a:gd name="T20" fmla="*/ 386 w 598"/>
              <a:gd name="T21" fmla="*/ 723 h 797"/>
              <a:gd name="T22" fmla="*/ 449 w 598"/>
              <a:gd name="T23" fmla="*/ 660 h 797"/>
              <a:gd name="T24" fmla="*/ 436 w 598"/>
              <a:gd name="T25" fmla="*/ 623 h 797"/>
              <a:gd name="T26" fmla="*/ 432 w 598"/>
              <a:gd name="T27" fmla="*/ 543 h 797"/>
              <a:gd name="T28" fmla="*/ 598 w 598"/>
              <a:gd name="T29" fmla="*/ 287 h 797"/>
              <a:gd name="T30" fmla="*/ 225 w 598"/>
              <a:gd name="T31" fmla="*/ 355 h 797"/>
              <a:gd name="T32" fmla="*/ 249 w 598"/>
              <a:gd name="T33" fmla="*/ 305 h 797"/>
              <a:gd name="T34" fmla="*/ 277 w 598"/>
              <a:gd name="T35" fmla="*/ 360 h 797"/>
              <a:gd name="T36" fmla="*/ 322 w 598"/>
              <a:gd name="T37" fmla="*/ 360 h 797"/>
              <a:gd name="T38" fmla="*/ 349 w 598"/>
              <a:gd name="T39" fmla="*/ 305 h 797"/>
              <a:gd name="T40" fmla="*/ 374 w 598"/>
              <a:gd name="T41" fmla="*/ 355 h 797"/>
              <a:gd name="T42" fmla="*/ 374 w 598"/>
              <a:gd name="T43" fmla="*/ 512 h 797"/>
              <a:gd name="T44" fmla="*/ 225 w 598"/>
              <a:gd name="T45" fmla="*/ 512 h 797"/>
              <a:gd name="T46" fmla="*/ 225 w 598"/>
              <a:gd name="T47" fmla="*/ 355 h 797"/>
              <a:gd name="T48" fmla="*/ 200 w 598"/>
              <a:gd name="T49" fmla="*/ 586 h 797"/>
              <a:gd name="T50" fmla="*/ 212 w 598"/>
              <a:gd name="T51" fmla="*/ 573 h 797"/>
              <a:gd name="T52" fmla="*/ 386 w 598"/>
              <a:gd name="T53" fmla="*/ 573 h 797"/>
              <a:gd name="T54" fmla="*/ 399 w 598"/>
              <a:gd name="T55" fmla="*/ 586 h 797"/>
              <a:gd name="T56" fmla="*/ 386 w 598"/>
              <a:gd name="T57" fmla="*/ 598 h 797"/>
              <a:gd name="T58" fmla="*/ 212 w 598"/>
              <a:gd name="T59" fmla="*/ 598 h 797"/>
              <a:gd name="T60" fmla="*/ 200 w 598"/>
              <a:gd name="T61" fmla="*/ 586 h 797"/>
              <a:gd name="T62" fmla="*/ 299 w 598"/>
              <a:gd name="T63" fmla="*/ 747 h 797"/>
              <a:gd name="T64" fmla="*/ 274 w 598"/>
              <a:gd name="T65" fmla="*/ 723 h 797"/>
              <a:gd name="T66" fmla="*/ 324 w 598"/>
              <a:gd name="T67" fmla="*/ 723 h 797"/>
              <a:gd name="T68" fmla="*/ 299 w 598"/>
              <a:gd name="T69" fmla="*/ 747 h 797"/>
              <a:gd name="T70" fmla="*/ 386 w 598"/>
              <a:gd name="T71" fmla="*/ 673 h 797"/>
              <a:gd name="T72" fmla="*/ 212 w 598"/>
              <a:gd name="T73" fmla="*/ 673 h 797"/>
              <a:gd name="T74" fmla="*/ 200 w 598"/>
              <a:gd name="T75" fmla="*/ 660 h 797"/>
              <a:gd name="T76" fmla="*/ 212 w 598"/>
              <a:gd name="T77" fmla="*/ 648 h 797"/>
              <a:gd name="T78" fmla="*/ 386 w 598"/>
              <a:gd name="T79" fmla="*/ 648 h 797"/>
              <a:gd name="T80" fmla="*/ 399 w 598"/>
              <a:gd name="T81" fmla="*/ 660 h 797"/>
              <a:gd name="T82" fmla="*/ 386 w 598"/>
              <a:gd name="T83" fmla="*/ 673 h 797"/>
              <a:gd name="T84" fmla="*/ 424 w 598"/>
              <a:gd name="T85" fmla="*/ 491 h 797"/>
              <a:gd name="T86" fmla="*/ 424 w 598"/>
              <a:gd name="T87" fmla="*/ 355 h 797"/>
              <a:gd name="T88" fmla="*/ 471 w 598"/>
              <a:gd name="T89" fmla="*/ 261 h 797"/>
              <a:gd name="T90" fmla="*/ 460 w 598"/>
              <a:gd name="T91" fmla="*/ 227 h 797"/>
              <a:gd name="T92" fmla="*/ 426 w 598"/>
              <a:gd name="T93" fmla="*/ 238 h 797"/>
              <a:gd name="T94" fmla="*/ 399 w 598"/>
              <a:gd name="T95" fmla="*/ 293 h 797"/>
              <a:gd name="T96" fmla="*/ 371 w 598"/>
              <a:gd name="T97" fmla="*/ 238 h 797"/>
              <a:gd name="T98" fmla="*/ 327 w 598"/>
              <a:gd name="T99" fmla="*/ 238 h 797"/>
              <a:gd name="T100" fmla="*/ 299 w 598"/>
              <a:gd name="T101" fmla="*/ 293 h 797"/>
              <a:gd name="T102" fmla="*/ 272 w 598"/>
              <a:gd name="T103" fmla="*/ 238 h 797"/>
              <a:gd name="T104" fmla="*/ 227 w 598"/>
              <a:gd name="T105" fmla="*/ 238 h 797"/>
              <a:gd name="T106" fmla="*/ 200 w 598"/>
              <a:gd name="T107" fmla="*/ 293 h 797"/>
              <a:gd name="T108" fmla="*/ 172 w 598"/>
              <a:gd name="T109" fmla="*/ 238 h 797"/>
              <a:gd name="T110" fmla="*/ 139 w 598"/>
              <a:gd name="T111" fmla="*/ 227 h 797"/>
              <a:gd name="T112" fmla="*/ 128 w 598"/>
              <a:gd name="T113" fmla="*/ 261 h 797"/>
              <a:gd name="T114" fmla="*/ 175 w 598"/>
              <a:gd name="T115" fmla="*/ 355 h 797"/>
              <a:gd name="T116" fmla="*/ 175 w 598"/>
              <a:gd name="T117" fmla="*/ 491 h 797"/>
              <a:gd name="T118" fmla="*/ 50 w 598"/>
              <a:gd name="T119" fmla="*/ 287 h 797"/>
              <a:gd name="T120" fmla="*/ 299 w 598"/>
              <a:gd name="T121" fmla="*/ 50 h 797"/>
              <a:gd name="T122" fmla="*/ 548 w 598"/>
              <a:gd name="T123" fmla="*/ 287 h 797"/>
              <a:gd name="T124" fmla="*/ 424 w 598"/>
              <a:gd name="T125" fmla="*/ 491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98" h="797">
                <a:moveTo>
                  <a:pt x="598" y="287"/>
                </a:moveTo>
                <a:cubicBezTo>
                  <a:pt x="598" y="129"/>
                  <a:pt x="464" y="0"/>
                  <a:pt x="299" y="0"/>
                </a:cubicBezTo>
                <a:cubicBezTo>
                  <a:pt x="134" y="0"/>
                  <a:pt x="0" y="129"/>
                  <a:pt x="0" y="287"/>
                </a:cubicBezTo>
                <a:cubicBezTo>
                  <a:pt x="0" y="399"/>
                  <a:pt x="68" y="496"/>
                  <a:pt x="167" y="543"/>
                </a:cubicBezTo>
                <a:cubicBezTo>
                  <a:pt x="146" y="565"/>
                  <a:pt x="144" y="599"/>
                  <a:pt x="163" y="623"/>
                </a:cubicBezTo>
                <a:cubicBezTo>
                  <a:pt x="154" y="634"/>
                  <a:pt x="150" y="647"/>
                  <a:pt x="150" y="660"/>
                </a:cubicBezTo>
                <a:cubicBezTo>
                  <a:pt x="150" y="695"/>
                  <a:pt x="178" y="723"/>
                  <a:pt x="212" y="723"/>
                </a:cubicBezTo>
                <a:cubicBezTo>
                  <a:pt x="225" y="723"/>
                  <a:pt x="225" y="723"/>
                  <a:pt x="225" y="723"/>
                </a:cubicBezTo>
                <a:cubicBezTo>
                  <a:pt x="225" y="764"/>
                  <a:pt x="258" y="797"/>
                  <a:pt x="299" y="797"/>
                </a:cubicBezTo>
                <a:cubicBezTo>
                  <a:pt x="340" y="797"/>
                  <a:pt x="374" y="764"/>
                  <a:pt x="374" y="723"/>
                </a:cubicBezTo>
                <a:cubicBezTo>
                  <a:pt x="386" y="723"/>
                  <a:pt x="386" y="723"/>
                  <a:pt x="386" y="723"/>
                </a:cubicBezTo>
                <a:cubicBezTo>
                  <a:pt x="421" y="723"/>
                  <a:pt x="449" y="695"/>
                  <a:pt x="449" y="660"/>
                </a:cubicBezTo>
                <a:cubicBezTo>
                  <a:pt x="449" y="647"/>
                  <a:pt x="444" y="634"/>
                  <a:pt x="436" y="623"/>
                </a:cubicBezTo>
                <a:cubicBezTo>
                  <a:pt x="454" y="599"/>
                  <a:pt x="453" y="565"/>
                  <a:pt x="432" y="543"/>
                </a:cubicBezTo>
                <a:cubicBezTo>
                  <a:pt x="530" y="496"/>
                  <a:pt x="598" y="399"/>
                  <a:pt x="598" y="287"/>
                </a:cubicBezTo>
                <a:close/>
                <a:moveTo>
                  <a:pt x="225" y="355"/>
                </a:moveTo>
                <a:cubicBezTo>
                  <a:pt x="249" y="305"/>
                  <a:pt x="249" y="305"/>
                  <a:pt x="249" y="305"/>
                </a:cubicBezTo>
                <a:cubicBezTo>
                  <a:pt x="277" y="360"/>
                  <a:pt x="277" y="360"/>
                  <a:pt x="277" y="360"/>
                </a:cubicBezTo>
                <a:cubicBezTo>
                  <a:pt x="285" y="377"/>
                  <a:pt x="313" y="377"/>
                  <a:pt x="322" y="360"/>
                </a:cubicBezTo>
                <a:cubicBezTo>
                  <a:pt x="349" y="305"/>
                  <a:pt x="349" y="305"/>
                  <a:pt x="349" y="305"/>
                </a:cubicBezTo>
                <a:cubicBezTo>
                  <a:pt x="374" y="355"/>
                  <a:pt x="374" y="355"/>
                  <a:pt x="374" y="355"/>
                </a:cubicBezTo>
                <a:cubicBezTo>
                  <a:pt x="374" y="512"/>
                  <a:pt x="374" y="512"/>
                  <a:pt x="374" y="512"/>
                </a:cubicBezTo>
                <a:cubicBezTo>
                  <a:pt x="325" y="527"/>
                  <a:pt x="273" y="527"/>
                  <a:pt x="225" y="512"/>
                </a:cubicBezTo>
                <a:lnTo>
                  <a:pt x="225" y="355"/>
                </a:lnTo>
                <a:close/>
                <a:moveTo>
                  <a:pt x="200" y="586"/>
                </a:moveTo>
                <a:cubicBezTo>
                  <a:pt x="200" y="579"/>
                  <a:pt x="205" y="573"/>
                  <a:pt x="212" y="573"/>
                </a:cubicBezTo>
                <a:cubicBezTo>
                  <a:pt x="386" y="573"/>
                  <a:pt x="386" y="573"/>
                  <a:pt x="386" y="573"/>
                </a:cubicBezTo>
                <a:cubicBezTo>
                  <a:pt x="393" y="573"/>
                  <a:pt x="399" y="579"/>
                  <a:pt x="399" y="586"/>
                </a:cubicBezTo>
                <a:cubicBezTo>
                  <a:pt x="399" y="593"/>
                  <a:pt x="393" y="598"/>
                  <a:pt x="386" y="598"/>
                </a:cubicBezTo>
                <a:cubicBezTo>
                  <a:pt x="212" y="598"/>
                  <a:pt x="212" y="598"/>
                  <a:pt x="212" y="598"/>
                </a:cubicBezTo>
                <a:cubicBezTo>
                  <a:pt x="205" y="598"/>
                  <a:pt x="200" y="592"/>
                  <a:pt x="200" y="586"/>
                </a:cubicBezTo>
                <a:close/>
                <a:moveTo>
                  <a:pt x="299" y="747"/>
                </a:moveTo>
                <a:cubicBezTo>
                  <a:pt x="285" y="747"/>
                  <a:pt x="274" y="736"/>
                  <a:pt x="274" y="723"/>
                </a:cubicBezTo>
                <a:cubicBezTo>
                  <a:pt x="324" y="723"/>
                  <a:pt x="324" y="723"/>
                  <a:pt x="324" y="723"/>
                </a:cubicBezTo>
                <a:cubicBezTo>
                  <a:pt x="324" y="736"/>
                  <a:pt x="313" y="747"/>
                  <a:pt x="299" y="747"/>
                </a:cubicBezTo>
                <a:close/>
                <a:moveTo>
                  <a:pt x="386" y="673"/>
                </a:moveTo>
                <a:cubicBezTo>
                  <a:pt x="212" y="673"/>
                  <a:pt x="212" y="673"/>
                  <a:pt x="212" y="673"/>
                </a:cubicBezTo>
                <a:cubicBezTo>
                  <a:pt x="205" y="673"/>
                  <a:pt x="200" y="667"/>
                  <a:pt x="200" y="660"/>
                </a:cubicBezTo>
                <a:cubicBezTo>
                  <a:pt x="200" y="653"/>
                  <a:pt x="205" y="648"/>
                  <a:pt x="212" y="648"/>
                </a:cubicBezTo>
                <a:cubicBezTo>
                  <a:pt x="386" y="648"/>
                  <a:pt x="386" y="648"/>
                  <a:pt x="386" y="648"/>
                </a:cubicBezTo>
                <a:cubicBezTo>
                  <a:pt x="393" y="648"/>
                  <a:pt x="399" y="654"/>
                  <a:pt x="399" y="660"/>
                </a:cubicBezTo>
                <a:cubicBezTo>
                  <a:pt x="399" y="667"/>
                  <a:pt x="393" y="673"/>
                  <a:pt x="386" y="673"/>
                </a:cubicBezTo>
                <a:close/>
                <a:moveTo>
                  <a:pt x="424" y="491"/>
                </a:moveTo>
                <a:cubicBezTo>
                  <a:pt x="424" y="355"/>
                  <a:pt x="424" y="355"/>
                  <a:pt x="424" y="355"/>
                </a:cubicBezTo>
                <a:cubicBezTo>
                  <a:pt x="471" y="261"/>
                  <a:pt x="471" y="261"/>
                  <a:pt x="471" y="261"/>
                </a:cubicBezTo>
                <a:cubicBezTo>
                  <a:pt x="477" y="248"/>
                  <a:pt x="472" y="233"/>
                  <a:pt x="460" y="227"/>
                </a:cubicBezTo>
                <a:cubicBezTo>
                  <a:pt x="447" y="221"/>
                  <a:pt x="433" y="226"/>
                  <a:pt x="426" y="238"/>
                </a:cubicBezTo>
                <a:cubicBezTo>
                  <a:pt x="399" y="293"/>
                  <a:pt x="399" y="293"/>
                  <a:pt x="399" y="293"/>
                </a:cubicBezTo>
                <a:cubicBezTo>
                  <a:pt x="371" y="238"/>
                  <a:pt x="371" y="238"/>
                  <a:pt x="371" y="238"/>
                </a:cubicBezTo>
                <a:cubicBezTo>
                  <a:pt x="363" y="221"/>
                  <a:pt x="335" y="221"/>
                  <a:pt x="327" y="238"/>
                </a:cubicBezTo>
                <a:cubicBezTo>
                  <a:pt x="299" y="293"/>
                  <a:pt x="299" y="293"/>
                  <a:pt x="299" y="293"/>
                </a:cubicBezTo>
                <a:cubicBezTo>
                  <a:pt x="272" y="238"/>
                  <a:pt x="272" y="238"/>
                  <a:pt x="272" y="238"/>
                </a:cubicBezTo>
                <a:cubicBezTo>
                  <a:pt x="263" y="221"/>
                  <a:pt x="236" y="221"/>
                  <a:pt x="227" y="238"/>
                </a:cubicBezTo>
                <a:cubicBezTo>
                  <a:pt x="200" y="293"/>
                  <a:pt x="200" y="293"/>
                  <a:pt x="200" y="293"/>
                </a:cubicBezTo>
                <a:cubicBezTo>
                  <a:pt x="172" y="238"/>
                  <a:pt x="172" y="238"/>
                  <a:pt x="172" y="238"/>
                </a:cubicBezTo>
                <a:cubicBezTo>
                  <a:pt x="166" y="226"/>
                  <a:pt x="151" y="221"/>
                  <a:pt x="139" y="227"/>
                </a:cubicBezTo>
                <a:cubicBezTo>
                  <a:pt x="126" y="234"/>
                  <a:pt x="122" y="248"/>
                  <a:pt x="128" y="261"/>
                </a:cubicBezTo>
                <a:cubicBezTo>
                  <a:pt x="175" y="355"/>
                  <a:pt x="175" y="355"/>
                  <a:pt x="175" y="355"/>
                </a:cubicBezTo>
                <a:cubicBezTo>
                  <a:pt x="175" y="491"/>
                  <a:pt x="175" y="491"/>
                  <a:pt x="175" y="491"/>
                </a:cubicBezTo>
                <a:cubicBezTo>
                  <a:pt x="100" y="450"/>
                  <a:pt x="50" y="374"/>
                  <a:pt x="50" y="287"/>
                </a:cubicBezTo>
                <a:cubicBezTo>
                  <a:pt x="50" y="156"/>
                  <a:pt x="162" y="50"/>
                  <a:pt x="299" y="50"/>
                </a:cubicBezTo>
                <a:cubicBezTo>
                  <a:pt x="437" y="50"/>
                  <a:pt x="548" y="156"/>
                  <a:pt x="548" y="287"/>
                </a:cubicBezTo>
                <a:cubicBezTo>
                  <a:pt x="548" y="374"/>
                  <a:pt x="498" y="450"/>
                  <a:pt x="424" y="491"/>
                </a:cubicBezTo>
                <a:close/>
              </a:path>
            </a:pathLst>
          </a:custGeom>
          <a:solidFill>
            <a:schemeClr val="accent1"/>
          </a:solidFill>
          <a:ln>
            <a:no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1" cy="14911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10" name="文本框 9"/>
          <p:cNvSpPr txBox="1"/>
          <p:nvPr/>
        </p:nvSpPr>
        <p:spPr>
          <a:xfrm>
            <a:off x="2631061" y="4213225"/>
            <a:ext cx="3855252" cy="253916"/>
          </a:xfrm>
          <a:prstGeom prst="rect">
            <a:avLst/>
          </a:prstGeom>
          <a:noFill/>
        </p:spPr>
        <p:txBody>
          <a:bodyPr wrap="square">
            <a:spAutoFit/>
          </a:body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rPr>
              <a:t>答辩学生：李盛鹏   </a:t>
            </a:r>
            <a:r>
              <a:rPr lang="zh-CN" altLang="en-US" sz="1050" dirty="0">
                <a:solidFill>
                  <a:schemeClr val="tx1">
                    <a:lumMod val="85000"/>
                    <a:lumOff val="15000"/>
                  </a:schemeClr>
                </a:solidFill>
                <a:latin typeface="微软雅黑" panose="020B0503020204020204" pitchFamily="34" charset="-122"/>
                <a:ea typeface="微软雅黑" panose="020B0503020204020204" pitchFamily="34" charset="-122"/>
                <a:sym typeface="汉仪旗黑-50S"/>
              </a:rPr>
              <a:t>学号：</a:t>
            </a:r>
            <a:r>
              <a:rPr lang="en-US" altLang="zh-CN" sz="1050" dirty="0">
                <a:solidFill>
                  <a:schemeClr val="tx1">
                    <a:lumMod val="85000"/>
                    <a:lumOff val="15000"/>
                  </a:schemeClr>
                </a:solidFill>
                <a:latin typeface="微软雅黑" panose="020B0503020204020204" pitchFamily="34" charset="-122"/>
                <a:ea typeface="微软雅黑" panose="020B0503020204020204" pitchFamily="34" charset="-122"/>
                <a:sym typeface="汉仪旗黑-50S"/>
              </a:rPr>
              <a:t>2351136</a:t>
            </a:r>
            <a:r>
              <a:rPr kumimoji="0" lang="zh-CN" altLang="en-US"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rPr>
              <a:t>      </a:t>
            </a:r>
            <a:endParaRPr kumimoji="0" lang="en-US" altLang="zh-CN" sz="1050" b="0" i="0" u="none" strike="noStrike" kern="1200" cap="none" spc="0" normalizeH="0" baseline="0" noProof="0" dirty="0">
              <a:ln>
                <a:noFill/>
              </a:ln>
              <a:solidFill>
                <a:schemeClr val="tx1">
                  <a:lumMod val="85000"/>
                  <a:lumOff val="15000"/>
                </a:schemeClr>
              </a:solidFill>
              <a:effectLst/>
              <a:uLnTx/>
              <a:uFillTx/>
              <a:latin typeface="微软雅黑" panose="020B0503020204020204" pitchFamily="34" charset="-122"/>
              <a:ea typeface="微软雅黑" panose="020B0503020204020204" pitchFamily="34" charset="-122"/>
              <a:cs typeface="+mn-cs"/>
              <a:sym typeface="汉仪旗黑-50S"/>
            </a:endParaRPr>
          </a:p>
        </p:txBody>
      </p:sp>
      <p:sp>
        <p:nvSpPr>
          <p:cNvPr id="12" name="矩形 11"/>
          <p:cNvSpPr/>
          <p:nvPr/>
        </p:nvSpPr>
        <p:spPr bwMode="auto">
          <a:xfrm>
            <a:off x="2222639" y="2687596"/>
            <a:ext cx="4698722" cy="769441"/>
          </a:xfrm>
          <a:prstGeom prst="rect">
            <a:avLst/>
          </a:prstGeom>
        </p:spPr>
        <p:txBody>
          <a:bodyPr wrap="none">
            <a:spAutoFit/>
          </a:bodyPr>
          <a:lstStyle/>
          <a:p>
            <a:pPr algn="ctr"/>
            <a:r>
              <a:rPr lang="zh-CN" altLang="en-US" sz="4400" kern="100" dirty="0">
                <a:solidFill>
                  <a:schemeClr val="accent1"/>
                </a:solidFill>
                <a:latin typeface="思源宋体 CN Heavy" pitchFamily="18" charset="-122"/>
                <a:ea typeface="思源宋体 CN Heavy" pitchFamily="18" charset="-122"/>
                <a:cs typeface="汉仪旗黑-50S" panose="00020600040101010101" charset="-122"/>
                <a:sym typeface="汉仪旗黑-50S"/>
              </a:rPr>
              <a:t>恳请老师批评指正</a:t>
            </a:r>
          </a:p>
        </p:txBody>
      </p:sp>
      <p:sp>
        <p:nvSpPr>
          <p:cNvPr id="13" name="矩形 12"/>
          <p:cNvSpPr/>
          <p:nvPr/>
        </p:nvSpPr>
        <p:spPr>
          <a:xfrm>
            <a:off x="1860062" y="3469698"/>
            <a:ext cx="5447323" cy="276999"/>
          </a:xfrm>
          <a:prstGeom prst="rect">
            <a:avLst/>
          </a:prstGeom>
        </p:spPr>
        <p:txBody>
          <a:bodyPr wrap="square">
            <a:spAutoFit/>
          </a:bodyPr>
          <a:lstStyle/>
          <a:p>
            <a:pPr marL="0" marR="0" lvl="0" indent="0" algn="dist" defTabSz="685800" rtl="0" eaLnBrk="1" fontAlgn="auto" latinLnBrk="0" hangingPunct="1">
              <a:lnSpc>
                <a:spcPct val="100000"/>
              </a:lnSpc>
              <a:spcBef>
                <a:spcPct val="0"/>
              </a:spcBef>
              <a:spcAft>
                <a:spcPct val="0"/>
              </a:spcAft>
              <a:buClrTx/>
              <a:buSzTx/>
              <a:buFontTx/>
              <a:buNone/>
              <a:defRPr/>
            </a:pPr>
            <a:r>
              <a:rPr kumimoji="0" lang="en-US" altLang="zh-CN" sz="1200" b="0" i="0" u="none" strike="noStrike" kern="1200" cap="none"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sym typeface="汉仪旗黑-50S"/>
              </a:rPr>
              <a:t>THANK YOU FOR YOUR CRITICISM AND CORRECTION</a:t>
            </a:r>
          </a:p>
        </p:txBody>
      </p:sp>
      <p:cxnSp>
        <p:nvCxnSpPr>
          <p:cNvPr id="8" name="直接连接符 7"/>
          <p:cNvCxnSpPr/>
          <p:nvPr/>
        </p:nvCxnSpPr>
        <p:spPr>
          <a:xfrm>
            <a:off x="3769895" y="3970421"/>
            <a:ext cx="160421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AE1D5488-7102-1D53-010C-256BC4A41431}"/>
              </a:ext>
            </a:extLst>
          </p:cNvPr>
          <p:cNvSpPr txBox="1"/>
          <p:nvPr/>
        </p:nvSpPr>
        <p:spPr>
          <a:xfrm>
            <a:off x="2286000" y="4794021"/>
            <a:ext cx="4572000" cy="307777"/>
          </a:xfrm>
          <a:prstGeom prst="rect">
            <a:avLst/>
          </a:prstGeom>
          <a:noFill/>
        </p:spPr>
        <p:txBody>
          <a:bodyPr wrap="square">
            <a:spAutoFit/>
          </a:bodyPr>
          <a:lstStyle/>
          <a:p>
            <a:pPr algn="ctr"/>
            <a:r>
              <a:rPr lang="zh-CN" altLang="en-US" sz="1400" kern="100" dirty="0">
                <a:solidFill>
                  <a:schemeClr val="accent1"/>
                </a:solidFill>
                <a:latin typeface="微软雅黑" panose="020B0503020204020204" pitchFamily="34" charset="-122"/>
                <a:ea typeface="微软雅黑" panose="020B0503020204020204" pitchFamily="34" charset="-122"/>
                <a:cs typeface="汉仪旗黑-50S" panose="00020600040101010101" charset="-122"/>
                <a:sym typeface="汉仪旗黑-50S"/>
              </a:rPr>
              <a:t>同济大学计算机科学与技术学院 大数据本科班</a:t>
            </a:r>
            <a:endParaRPr lang="en-US" altLang="zh-CN" sz="1400" kern="100" dirty="0">
              <a:solidFill>
                <a:schemeClr val="accent1"/>
              </a:solidFill>
              <a:latin typeface="微软雅黑" panose="020B0503020204020204" pitchFamily="34" charset="-122"/>
              <a:ea typeface="微软雅黑" panose="020B0503020204020204" pitchFamily="34" charset="-122"/>
              <a:cs typeface="汉仪旗黑-50S" panose="00020600040101010101" charset="-122"/>
              <a:sym typeface="汉仪旗黑-50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ISLIDE.GUIDESSETTING" val="{&quot;Id&quot;:&quot;GuidesStyle_Narrow&quot;,&quot;Name&quot;:&quot;较窄&quot;,&quot;Kind&quot;:&quot;System&quot;,&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第一PPT，www.1ppt.com">
  <a:themeElements>
    <a:clrScheme name="蓝色清新答辩1">
      <a:dk1>
        <a:sysClr val="windowText" lastClr="000000"/>
      </a:dk1>
      <a:lt1>
        <a:sysClr val="window" lastClr="FFFFFF"/>
      </a:lt1>
      <a:dk2>
        <a:srgbClr val="EEF2F5"/>
      </a:dk2>
      <a:lt2>
        <a:srgbClr val="E7E6E6"/>
      </a:lt2>
      <a:accent1>
        <a:srgbClr val="304371"/>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汉仪雅酷黑 65W">
      <a:majorFont>
        <a:latin typeface="汉仪旗黑-50S"/>
        <a:ea typeface="汉仪雅酷黑 65W"/>
        <a:cs typeface="Arial"/>
      </a:majorFont>
      <a:minorFont>
        <a:latin typeface="汉仪旗黑-50S"/>
        <a:ea typeface="汉仪旗黑-50S"/>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旗黑-50S"/>
        <a:ea typeface="汉仪旗黑-50S"/>
        <a:cs typeface="Arial"/>
        <a:font script="Jpan" typeface="ＭＳ Ｐゴシック"/>
        <a:font script="Hang" typeface="맑은 고딕"/>
        <a:font script="Hans" typeface="汉仪旗黑-50S"/>
        <a:font script="Hant" typeface="新細明體"/>
        <a:font script="Arab" typeface="汉仪旗黑-50S"/>
        <a:font script="Hebr" typeface="汉仪旗黑-50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ajorFont>
      <a:minorFont>
        <a:latin typeface="汉仪旗黑-50S"/>
        <a:ea typeface="汉仪旗黑-50S"/>
        <a:cs typeface="Arial"/>
        <a:font script="Jpan" typeface="ＭＳ Ｐゴシック"/>
        <a:font script="Hang" typeface="맑은 고딕"/>
        <a:font script="Hans" typeface="汉仪旗黑-50S"/>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汉仪旗黑-50S"/>
        <a:ea typeface="汉仪旗黑-50S"/>
        <a:cs typeface="Arial"/>
        <a:font script="Jpan" typeface="ＭＳ Ｐゴシック"/>
        <a:font script="Hang" typeface="맑은 고딕"/>
        <a:font script="Hans" typeface="汉仪旗黑-50S"/>
        <a:font script="Hant" typeface="新細明體"/>
        <a:font script="Arab" typeface="汉仪旗黑-50S"/>
        <a:font script="Hebr" typeface="汉仪旗黑-50S"/>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旗黑-50S"/>
        <a:font script="Uigh" typeface="Microsoft Uighur"/>
        <a:font script="Geor" typeface="Sylfaen"/>
      </a:majorFont>
      <a:minorFont>
        <a:latin typeface="汉仪旗黑-50S"/>
        <a:ea typeface="汉仪旗黑-50S"/>
        <a:cs typeface="Arial"/>
        <a:font script="Jpan" typeface="ＭＳ Ｐゴシック"/>
        <a:font script="Hang" typeface="맑은 고딕"/>
        <a:font script="Hans" typeface="汉仪旗黑-50S"/>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267</TotalTime>
  <Words>574</Words>
  <Application>Microsoft Office PowerPoint</Application>
  <PresentationFormat>全屏显示(16:9)</PresentationFormat>
  <Paragraphs>81</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11</vt:i4>
      </vt:variant>
    </vt:vector>
  </HeadingPairs>
  <TitlesOfParts>
    <vt:vector size="19" baseType="lpstr">
      <vt:lpstr>等线</vt:lpstr>
      <vt:lpstr>思源宋体 CN Heavy</vt:lpstr>
      <vt:lpstr>宋体</vt:lpstr>
      <vt:lpstr>微软雅黑</vt:lpstr>
      <vt:lpstr>Arial</vt:lpstr>
      <vt:lpstr>Cambria Math</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高级答辩</dc:title>
  <dc:creator>第一PPT</dc:creator>
  <cp:keywords>www.1ppt.com</cp:keywords>
  <dc:description>www.1ppt.com</dc:description>
  <cp:lastModifiedBy>盛鹏 李</cp:lastModifiedBy>
  <cp:revision>68</cp:revision>
  <dcterms:created xsi:type="dcterms:W3CDTF">2021-12-15T02:56:00Z</dcterms:created>
  <dcterms:modified xsi:type="dcterms:W3CDTF">2025-11-09T16:35:10Z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5DB334A8F75C4FDC9178319DB0F9FE21</vt:lpwstr>
  </property>
  <property fmtid="{D5CDD505-2E9C-101B-9397-08002B2CF9AE}" pid="3" name="KSOProductBuildVer">
    <vt:lpwstr>2052-12.1.0.21541</vt:lpwstr>
  </property>
  <property fmtid="{D5CDD505-2E9C-101B-9397-08002B2CF9AE}" pid="4" name="KSOTemplateUUID">
    <vt:lpwstr>v1.0_mb_nCm6L9xiEG7jF5Ub3wU6/A==</vt:lpwstr>
  </property>
</Properties>
</file>