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29"/>
  </p:notesMasterIdLst>
  <p:handoutMasterIdLst>
    <p:handoutMasterId r:id="rId30"/>
  </p:handoutMasterIdLst>
  <p:sldIdLst>
    <p:sldId id="256" r:id="rId2"/>
    <p:sldId id="348" r:id="rId3"/>
    <p:sldId id="347" r:id="rId4"/>
    <p:sldId id="257" r:id="rId5"/>
    <p:sldId id="349" r:id="rId6"/>
    <p:sldId id="258" r:id="rId7"/>
    <p:sldId id="259" r:id="rId8"/>
    <p:sldId id="260" r:id="rId9"/>
    <p:sldId id="5144" r:id="rId10"/>
    <p:sldId id="5150" r:id="rId11"/>
    <p:sldId id="5151" r:id="rId12"/>
    <p:sldId id="5152" r:id="rId13"/>
    <p:sldId id="5153" r:id="rId14"/>
    <p:sldId id="5154" r:id="rId15"/>
    <p:sldId id="261" r:id="rId16"/>
    <p:sldId id="350" r:id="rId17"/>
    <p:sldId id="262" r:id="rId18"/>
    <p:sldId id="263" r:id="rId19"/>
    <p:sldId id="264" r:id="rId20"/>
    <p:sldId id="351" r:id="rId21"/>
    <p:sldId id="265" r:id="rId22"/>
    <p:sldId id="266" r:id="rId23"/>
    <p:sldId id="352" r:id="rId24"/>
    <p:sldId id="267" r:id="rId25"/>
    <p:sldId id="5155" r:id="rId26"/>
    <p:sldId id="268" r:id="rId27"/>
    <p:sldId id="5156" r:id="rId28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56"/>
            <p14:sldId id="348"/>
            <p14:sldId id="347"/>
            <p14:sldId id="257"/>
            <p14:sldId id="349"/>
            <p14:sldId id="258"/>
            <p14:sldId id="259"/>
            <p14:sldId id="260"/>
            <p14:sldId id="5144"/>
            <p14:sldId id="5150"/>
            <p14:sldId id="5151"/>
            <p14:sldId id="5152"/>
            <p14:sldId id="5153"/>
            <p14:sldId id="5154"/>
            <p14:sldId id="261"/>
            <p14:sldId id="350"/>
            <p14:sldId id="262"/>
            <p14:sldId id="263"/>
            <p14:sldId id="264"/>
            <p14:sldId id="351"/>
            <p14:sldId id="265"/>
            <p14:sldId id="266"/>
            <p14:sldId id="352"/>
            <p14:sldId id="267"/>
            <p14:sldId id="5155"/>
            <p14:sldId id="268"/>
            <p14:sldId id="51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3" autoAdjust="0"/>
    <p:restoredTop sz="93775" autoAdjust="0"/>
  </p:normalViewPr>
  <p:slideViewPr>
    <p:cSldViewPr>
      <p:cViewPr varScale="1">
        <p:scale>
          <a:sx n="106" d="100"/>
          <a:sy n="106" d="100"/>
        </p:scale>
        <p:origin x="758" y="62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692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066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12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142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600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294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27</a:t>
            </a:fld>
            <a:endParaRPr lang="fi-FI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123478"/>
            <a:ext cx="6480720" cy="514102"/>
          </a:xfrm>
          <a:prstGeom prst="rect">
            <a:avLst/>
          </a:prstGeom>
          <a:solidFill>
            <a:schemeClr val="bg1"/>
          </a:solidFill>
        </p:spPr>
        <p:txBody>
          <a:bodyPr rtlCol="0">
            <a:noAutofit/>
          </a:bodyPr>
          <a:lstStyle>
            <a:lvl1pPr algn="l"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D7A9122C-2794-4A95-85D5-67E362F7E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2726" y="201457"/>
            <a:ext cx="1587734" cy="386697"/>
          </a:xfrm>
          <a:prstGeom prst="rect">
            <a:avLst/>
          </a:prstGeom>
        </p:spPr>
      </p:pic>
      <p:cxnSp>
        <p:nvCxnSpPr>
          <p:cNvPr id="5" name="PA-102211">
            <a:extLst>
              <a:ext uri="{FF2B5EF4-FFF2-40B4-BE49-F238E27FC236}">
                <a16:creationId xmlns:a16="http://schemas.microsoft.com/office/drawing/2014/main" id="{C87527B0-2AEC-439E-9D61-9F881129AF8A}"/>
              </a:ext>
            </a:extLst>
          </p:cNvPr>
          <p:cNvCxnSpPr/>
          <p:nvPr userDrawn="1">
            <p:custDataLst>
              <p:tags r:id="rId1"/>
            </p:custDataLst>
          </p:nvPr>
        </p:nvCxnSpPr>
        <p:spPr>
          <a:xfrm>
            <a:off x="355283" y="699542"/>
            <a:ext cx="855517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等腰三角形 3">
            <a:extLst>
              <a:ext uri="{FF2B5EF4-FFF2-40B4-BE49-F238E27FC236}">
                <a16:creationId xmlns:a16="http://schemas.microsoft.com/office/drawing/2014/main" id="{85669494-41B5-4632-B1D9-01C055E75766}"/>
              </a:ext>
            </a:extLst>
          </p:cNvPr>
          <p:cNvSpPr/>
          <p:nvPr userDrawn="1"/>
        </p:nvSpPr>
        <p:spPr>
          <a:xfrm rot="5400000">
            <a:off x="319564" y="290513"/>
            <a:ext cx="273368" cy="20193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ceanbase.com/product/oceanbase-database-community-rn/releaseNote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7C02F531-AD62-D0D6-3383-5400B80BC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2"/>
            <a:ext cx="9146680" cy="510213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CC5342A-3AA2-4319-3BFF-796773D5781C}"/>
              </a:ext>
            </a:extLst>
          </p:cNvPr>
          <p:cNvSpPr txBox="1"/>
          <p:nvPr/>
        </p:nvSpPr>
        <p:spPr>
          <a:xfrm>
            <a:off x="1581593" y="4166633"/>
            <a:ext cx="1953733" cy="350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z="1675" dirty="0"/>
              <a:t>指导老师：李文根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1FE82D-8343-DFF0-86B5-B379C7294EC0}"/>
              </a:ext>
            </a:extLst>
          </p:cNvPr>
          <p:cNvSpPr txBox="1"/>
          <p:nvPr/>
        </p:nvSpPr>
        <p:spPr>
          <a:xfrm>
            <a:off x="4771360" y="4166633"/>
            <a:ext cx="3269512" cy="350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75" dirty="0">
                <a:latin typeface="黑体" panose="02010609060101010101" pitchFamily="49" charset="-122"/>
                <a:ea typeface="黑体" panose="02010609060101010101" pitchFamily="49" charset="-122"/>
              </a:rPr>
              <a:t>团队：杨钦战，程亦诚，李盛鹏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702343-F066-EC3B-BCF0-B63B79464606}"/>
              </a:ext>
            </a:extLst>
          </p:cNvPr>
          <p:cNvSpPr txBox="1"/>
          <p:nvPr/>
        </p:nvSpPr>
        <p:spPr>
          <a:xfrm>
            <a:off x="6964325" y="4544786"/>
            <a:ext cx="3269512" cy="350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75" dirty="0">
                <a:latin typeface="黑体" panose="02010609060101010101" pitchFamily="49" charset="-122"/>
                <a:ea typeface="黑体" panose="02010609060101010101" pitchFamily="49" charset="-122"/>
              </a:rPr>
              <a:t>日期：</a:t>
            </a:r>
            <a:r>
              <a:rPr lang="en-US" altLang="zh-CN" sz="1675" dirty="0">
                <a:latin typeface="黑体" panose="02010609060101010101" pitchFamily="49" charset="-122"/>
                <a:ea typeface="黑体" panose="02010609060101010101" pitchFamily="49" charset="-122"/>
              </a:rPr>
              <a:t>2026.1.1</a:t>
            </a:r>
            <a:endParaRPr lang="zh-CN" altLang="en-US" sz="1675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C07FB5-9CC4-48F2-A879-E801494520F5}"/>
              </a:ext>
            </a:extLst>
          </p:cNvPr>
          <p:cNvSpPr/>
          <p:nvPr/>
        </p:nvSpPr>
        <p:spPr>
          <a:xfrm>
            <a:off x="18375" y="19936"/>
            <a:ext cx="3483281" cy="5103628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B582A2-E1BA-428A-9E48-3D475D1DDB23}"/>
              </a:ext>
            </a:extLst>
          </p:cNvPr>
          <p:cNvSpPr txBox="1"/>
          <p:nvPr/>
        </p:nvSpPr>
        <p:spPr>
          <a:xfrm>
            <a:off x="4716616" y="556378"/>
            <a:ext cx="2278715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0531">
              <a:defRPr/>
            </a:pPr>
            <a:r>
              <a:rPr lang="en-US" altLang="zh-CN" sz="2679" b="1" dirty="0">
                <a:solidFill>
                  <a:srgbClr val="005A8A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CONTENTS</a:t>
            </a:r>
            <a:endParaRPr lang="zh-CN" altLang="en-US" sz="2679" b="1" dirty="0">
              <a:solidFill>
                <a:srgbClr val="005A8A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7EDAF44-FC6E-471F-B579-EFFBBFD543B4}"/>
              </a:ext>
            </a:extLst>
          </p:cNvPr>
          <p:cNvGrpSpPr/>
          <p:nvPr/>
        </p:nvGrpSpPr>
        <p:grpSpPr>
          <a:xfrm>
            <a:off x="4716614" y="1443484"/>
            <a:ext cx="2491925" cy="458907"/>
            <a:chOff x="6588037" y="2227220"/>
            <a:chExt cx="3348525" cy="616656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FC18541-1EDC-4A4F-BB66-D4888DCFB88C}"/>
                </a:ext>
              </a:extLst>
            </p:cNvPr>
            <p:cNvGrpSpPr/>
            <p:nvPr/>
          </p:nvGrpSpPr>
          <p:grpSpPr>
            <a:xfrm>
              <a:off x="6588037" y="2227220"/>
              <a:ext cx="3348525" cy="616656"/>
              <a:chOff x="6588037" y="2227220"/>
              <a:chExt cx="3348525" cy="616656"/>
            </a:xfrm>
          </p:grpSpPr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7F7056A-74B0-40C5-ADE6-8FFD207D247D}"/>
                  </a:ext>
                </a:extLst>
              </p:cNvPr>
              <p:cNvSpPr txBox="1"/>
              <p:nvPr/>
            </p:nvSpPr>
            <p:spPr>
              <a:xfrm>
                <a:off x="6588037" y="2227220"/>
                <a:ext cx="1020723" cy="616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0531">
                  <a:defRPr/>
                </a:pPr>
                <a:r>
                  <a:rPr lang="en-US" altLang="zh-CN" sz="2382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01</a:t>
                </a:r>
                <a:endParaRPr lang="zh-CN" altLang="en-US" sz="2382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DE54445-99F6-41A4-BB92-77DE17BA2779}"/>
                  </a:ext>
                </a:extLst>
              </p:cNvPr>
              <p:cNvSpPr/>
              <p:nvPr/>
            </p:nvSpPr>
            <p:spPr>
              <a:xfrm>
                <a:off x="7467606" y="2278143"/>
                <a:ext cx="2468956" cy="4933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0531">
                  <a:defRPr/>
                </a:pPr>
                <a:r>
                  <a:rPr lang="en-US" altLang="zh-CN" sz="1786" b="1" dirty="0" err="1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OcenBase</a:t>
                </a:r>
                <a:r>
                  <a:rPr lang="en-US" altLang="zh-CN" sz="1786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 </a:t>
                </a:r>
                <a:r>
                  <a:rPr lang="zh-CN" altLang="en-US" sz="1786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简介</a:t>
                </a:r>
                <a:endParaRPr lang="zh-CN" altLang="en-US" sz="1786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B9B0397-BFC7-4025-8F36-1A3071A01873}"/>
                </a:ext>
              </a:extLst>
            </p:cNvPr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DEE4682-1DDF-47C9-B4B7-A1D195B03673}"/>
              </a:ext>
            </a:extLst>
          </p:cNvPr>
          <p:cNvGrpSpPr/>
          <p:nvPr/>
        </p:nvGrpSpPr>
        <p:grpSpPr>
          <a:xfrm>
            <a:off x="4716614" y="2079197"/>
            <a:ext cx="2950383" cy="458907"/>
            <a:chOff x="6588037" y="2227220"/>
            <a:chExt cx="3964579" cy="61665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DE15DE0C-C5BF-4F51-9C05-D721DA2CA45A}"/>
                </a:ext>
              </a:extLst>
            </p:cNvPr>
            <p:cNvGrpSpPr/>
            <p:nvPr/>
          </p:nvGrpSpPr>
          <p:grpSpPr>
            <a:xfrm>
              <a:off x="6588037" y="2227220"/>
              <a:ext cx="3964579" cy="616656"/>
              <a:chOff x="6588037" y="2227220"/>
              <a:chExt cx="3964579" cy="616656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73BDF19-4629-4034-9C45-D76A46D4A6F1}"/>
                  </a:ext>
                </a:extLst>
              </p:cNvPr>
              <p:cNvSpPr txBox="1"/>
              <p:nvPr/>
            </p:nvSpPr>
            <p:spPr>
              <a:xfrm>
                <a:off x="6588037" y="2227220"/>
                <a:ext cx="1020724" cy="616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0531">
                  <a:defRPr/>
                </a:pPr>
                <a:r>
                  <a:rPr lang="en-US" altLang="zh-CN" sz="2382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02</a:t>
                </a:r>
                <a:endParaRPr lang="zh-CN" altLang="en-US" sz="2382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19B6583D-65F5-4330-9E1C-25250315BB73}"/>
                  </a:ext>
                </a:extLst>
              </p:cNvPr>
              <p:cNvSpPr/>
              <p:nvPr/>
            </p:nvSpPr>
            <p:spPr>
              <a:xfrm>
                <a:off x="7467606" y="2278143"/>
                <a:ext cx="3085010" cy="4933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0531">
                  <a:defRPr/>
                </a:pPr>
                <a:r>
                  <a:rPr lang="en-US" altLang="zh-CN" sz="1786" b="1" dirty="0" err="1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OcenBase</a:t>
                </a:r>
                <a:r>
                  <a:rPr lang="en-US" altLang="zh-CN" sz="1786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 </a:t>
                </a:r>
                <a:r>
                  <a:rPr lang="zh-CN" altLang="en-US" sz="1786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事务概念</a:t>
                </a:r>
                <a:endParaRPr lang="zh-CN" altLang="en-US" sz="1786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3B5E786-7DCC-4D63-812D-DFD0F6CB7E57}"/>
                </a:ext>
              </a:extLst>
            </p:cNvPr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D2C984D-3E94-4D84-8AB9-B4EB276C630B}"/>
              </a:ext>
            </a:extLst>
          </p:cNvPr>
          <p:cNvGrpSpPr/>
          <p:nvPr/>
        </p:nvGrpSpPr>
        <p:grpSpPr>
          <a:xfrm>
            <a:off x="4716615" y="2699085"/>
            <a:ext cx="3408843" cy="458907"/>
            <a:chOff x="6588037" y="2227220"/>
            <a:chExt cx="4580633" cy="616656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CE1F2623-C372-4252-ACE2-3AC28EC4490E}"/>
                </a:ext>
              </a:extLst>
            </p:cNvPr>
            <p:cNvGrpSpPr/>
            <p:nvPr/>
          </p:nvGrpSpPr>
          <p:grpSpPr>
            <a:xfrm>
              <a:off x="6588037" y="2227220"/>
              <a:ext cx="4580633" cy="616656"/>
              <a:chOff x="6588037" y="2227220"/>
              <a:chExt cx="4580633" cy="616656"/>
            </a:xfrm>
          </p:grpSpPr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1DE4362-D07F-477E-AC41-341A241EEBA6}"/>
                  </a:ext>
                </a:extLst>
              </p:cNvPr>
              <p:cNvSpPr txBox="1"/>
              <p:nvPr/>
            </p:nvSpPr>
            <p:spPr>
              <a:xfrm>
                <a:off x="6588037" y="2227220"/>
                <a:ext cx="1020725" cy="616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0531">
                  <a:defRPr/>
                </a:pPr>
                <a:r>
                  <a:rPr lang="en-US" altLang="zh-CN" sz="2382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03</a:t>
                </a:r>
                <a:endParaRPr lang="zh-CN" altLang="en-US" sz="2382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3292BE4C-C036-44B3-9CAB-D42BB67D15B3}"/>
                  </a:ext>
                </a:extLst>
              </p:cNvPr>
              <p:cNvSpPr/>
              <p:nvPr/>
            </p:nvSpPr>
            <p:spPr>
              <a:xfrm>
                <a:off x="7467606" y="2278143"/>
                <a:ext cx="3701064" cy="4933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0531">
                  <a:defRPr/>
                </a:pPr>
                <a:r>
                  <a:rPr lang="en-US" altLang="zh-CN" sz="1786" b="1" dirty="0" err="1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OcenBase</a:t>
                </a:r>
                <a:r>
                  <a:rPr lang="en-US" altLang="zh-CN" sz="1786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 </a:t>
                </a:r>
                <a:r>
                  <a:rPr lang="zh-CN" altLang="en-US" sz="1786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事务管理特点</a:t>
                </a:r>
                <a:endParaRPr lang="zh-CN" altLang="en-US" sz="1786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6B2F5F7-1CF7-4640-A753-0092859B3BE6}"/>
                </a:ext>
              </a:extLst>
            </p:cNvPr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84B32EB-9B5E-496F-8010-BFF2ACFF54BD}"/>
              </a:ext>
            </a:extLst>
          </p:cNvPr>
          <p:cNvGrpSpPr/>
          <p:nvPr/>
        </p:nvGrpSpPr>
        <p:grpSpPr>
          <a:xfrm>
            <a:off x="4716615" y="3318973"/>
            <a:ext cx="3867302" cy="458907"/>
            <a:chOff x="6588037" y="2227220"/>
            <a:chExt cx="5196688" cy="616656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A182596-2005-4575-9FCE-A1EFFA8256E2}"/>
                </a:ext>
              </a:extLst>
            </p:cNvPr>
            <p:cNvGrpSpPr/>
            <p:nvPr/>
          </p:nvGrpSpPr>
          <p:grpSpPr>
            <a:xfrm>
              <a:off x="6588037" y="2227220"/>
              <a:ext cx="5196688" cy="616656"/>
              <a:chOff x="6588037" y="2227220"/>
              <a:chExt cx="5196688" cy="616656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2FD6E5A-E1F1-4755-89DA-BAB615458FBF}"/>
                  </a:ext>
                </a:extLst>
              </p:cNvPr>
              <p:cNvSpPr txBox="1"/>
              <p:nvPr/>
            </p:nvSpPr>
            <p:spPr>
              <a:xfrm>
                <a:off x="6588037" y="2227220"/>
                <a:ext cx="1020723" cy="616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0531">
                  <a:defRPr/>
                </a:pPr>
                <a:r>
                  <a:rPr lang="en-US" altLang="zh-CN" sz="2382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04</a:t>
                </a:r>
                <a:endParaRPr lang="zh-CN" altLang="en-US" sz="2382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745AA64B-6D07-4BC7-A593-B6B9806417C9}"/>
                  </a:ext>
                </a:extLst>
              </p:cNvPr>
              <p:cNvSpPr/>
              <p:nvPr/>
            </p:nvSpPr>
            <p:spPr>
              <a:xfrm>
                <a:off x="7467606" y="2278143"/>
                <a:ext cx="4317119" cy="4933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0531">
                  <a:defRPr/>
                </a:pPr>
                <a:r>
                  <a:rPr lang="en-US" altLang="zh-CN" sz="1786" b="1" dirty="0" err="1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OcenBase</a:t>
                </a:r>
                <a:r>
                  <a:rPr lang="en-US" altLang="zh-CN" sz="1786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 </a:t>
                </a:r>
                <a:r>
                  <a:rPr lang="zh-CN" altLang="en-US" sz="1786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事务管理源码探究</a:t>
                </a:r>
                <a:endParaRPr lang="zh-CN" altLang="en-US" sz="1786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864F116-E011-4EEF-8894-6A5F2416C2C9}"/>
                </a:ext>
              </a:extLst>
            </p:cNvPr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F9023BD-6E47-4CC3-9978-B886EBA94770}"/>
              </a:ext>
            </a:extLst>
          </p:cNvPr>
          <p:cNvGrpSpPr/>
          <p:nvPr/>
        </p:nvGrpSpPr>
        <p:grpSpPr>
          <a:xfrm>
            <a:off x="4729899" y="3938862"/>
            <a:ext cx="3867302" cy="458907"/>
            <a:chOff x="6588037" y="2227220"/>
            <a:chExt cx="5196686" cy="616656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F881DF69-806D-4230-AF39-6CE66987F0EF}"/>
                </a:ext>
              </a:extLst>
            </p:cNvPr>
            <p:cNvGrpSpPr/>
            <p:nvPr/>
          </p:nvGrpSpPr>
          <p:grpSpPr>
            <a:xfrm>
              <a:off x="6588037" y="2227220"/>
              <a:ext cx="5196686" cy="616656"/>
              <a:chOff x="6588037" y="2227220"/>
              <a:chExt cx="5196686" cy="616656"/>
            </a:xfrm>
          </p:grpSpPr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D5F3979-0BC9-4CB9-96B0-254DF86F629E}"/>
                  </a:ext>
                </a:extLst>
              </p:cNvPr>
              <p:cNvSpPr txBox="1"/>
              <p:nvPr/>
            </p:nvSpPr>
            <p:spPr>
              <a:xfrm>
                <a:off x="6588037" y="2227220"/>
                <a:ext cx="1020724" cy="616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0531">
                  <a:defRPr/>
                </a:pPr>
                <a:r>
                  <a:rPr lang="en-US" altLang="zh-CN" sz="2382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05</a:t>
                </a:r>
                <a:endParaRPr lang="zh-CN" altLang="en-US" sz="2382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9CA4945-D95E-42B0-BAB0-370FEB4F196A}"/>
                  </a:ext>
                </a:extLst>
              </p:cNvPr>
              <p:cNvSpPr/>
              <p:nvPr/>
            </p:nvSpPr>
            <p:spPr>
              <a:xfrm>
                <a:off x="7467606" y="2278143"/>
                <a:ext cx="4317117" cy="4933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0531">
                  <a:defRPr/>
                </a:pPr>
                <a:r>
                  <a:rPr lang="en-US" altLang="zh-CN" sz="1786" b="1" dirty="0" err="1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OcenBase</a:t>
                </a:r>
                <a:r>
                  <a:rPr lang="en-US" altLang="zh-CN" sz="1786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 </a:t>
                </a:r>
                <a:r>
                  <a:rPr lang="zh-CN" altLang="en-US" sz="1786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总结、创新与展望</a:t>
                </a:r>
              </a:p>
            </p:txBody>
          </p:sp>
        </p:grp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599A80E6-897A-42D8-B152-E718D7F545FD}"/>
                </a:ext>
              </a:extLst>
            </p:cNvPr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65C1287-DAC9-4447-9797-CC4BEB1D4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8" y="2199234"/>
            <a:ext cx="1417674" cy="141767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80" y="1408257"/>
            <a:ext cx="1501269" cy="518137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180" y="556378"/>
            <a:ext cx="731670" cy="7316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3F378FF-25DA-E403-D20A-6AC33AFEB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384" y="162170"/>
            <a:ext cx="1012576" cy="20370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F8DF522-2BB6-0529-8A94-7D45C72FE8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4303" y="4495973"/>
            <a:ext cx="2115014" cy="49128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2CDC8EB-038A-EAD5-3A99-19E1D813CB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562" y="4495974"/>
            <a:ext cx="1311362" cy="43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90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C800E5-A1B3-4306-BC1E-9FCC4A76230D}"/>
              </a:ext>
            </a:extLst>
          </p:cNvPr>
          <p:cNvSpPr/>
          <p:nvPr/>
        </p:nvSpPr>
        <p:spPr>
          <a:xfrm>
            <a:off x="18375" y="19936"/>
            <a:ext cx="9090184" cy="2691691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6DBED7-A45E-41D4-BE4B-6F506990CE4E}"/>
              </a:ext>
            </a:extLst>
          </p:cNvPr>
          <p:cNvSpPr/>
          <p:nvPr/>
        </p:nvSpPr>
        <p:spPr>
          <a:xfrm>
            <a:off x="2242083" y="2194690"/>
            <a:ext cx="4659835" cy="1003632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4112A8-51B9-42E0-A937-1FF3959A6007}"/>
              </a:ext>
            </a:extLst>
          </p:cNvPr>
          <p:cNvSpPr/>
          <p:nvPr/>
        </p:nvSpPr>
        <p:spPr>
          <a:xfrm>
            <a:off x="3132425" y="2454713"/>
            <a:ext cx="3071675" cy="504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0531">
              <a:defRPr/>
            </a:pPr>
            <a:r>
              <a:rPr lang="en-US" altLang="zh-CN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1.</a:t>
            </a:r>
            <a:r>
              <a:rPr lang="zh-CN" altLang="en-US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</a:t>
            </a:r>
            <a:r>
              <a:rPr lang="en-US" altLang="zh-CN" sz="2679" b="1" dirty="0" err="1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OcenBase</a:t>
            </a:r>
            <a:r>
              <a:rPr lang="en-US" altLang="zh-CN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</a:t>
            </a:r>
            <a:r>
              <a:rPr lang="zh-CN" altLang="en-US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简介</a:t>
            </a:r>
            <a:endParaRPr lang="zh-CN" altLang="en-US" sz="2679" dirty="0">
              <a:solidFill>
                <a:prstClr val="black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883" y="581142"/>
            <a:ext cx="973998" cy="9739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499" y="740599"/>
            <a:ext cx="1811431" cy="6251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490BED7-0923-DF03-8A55-51831B63B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36" y="2811026"/>
            <a:ext cx="1012576" cy="203706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5FC926-9CBA-90E5-248C-025C81A07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3299" y="3324987"/>
            <a:ext cx="2463165" cy="5721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E25254-D4A9-2EB4-8FA2-38120F984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907" y="3308068"/>
            <a:ext cx="1649966" cy="54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081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D160AC47-74B2-5709-5113-E6BF8BA0F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81" y="19936"/>
            <a:ext cx="9149361" cy="51036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C800E5-A1B3-4306-BC1E-9FCC4A76230D}"/>
              </a:ext>
            </a:extLst>
          </p:cNvPr>
          <p:cNvSpPr/>
          <p:nvPr/>
        </p:nvSpPr>
        <p:spPr>
          <a:xfrm>
            <a:off x="18375" y="19936"/>
            <a:ext cx="9090184" cy="2691691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6DBED7-A45E-41D4-BE4B-6F506990CE4E}"/>
              </a:ext>
            </a:extLst>
          </p:cNvPr>
          <p:cNvSpPr/>
          <p:nvPr/>
        </p:nvSpPr>
        <p:spPr>
          <a:xfrm>
            <a:off x="2242083" y="2194690"/>
            <a:ext cx="4659835" cy="1003632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4112A8-51B9-42E0-A937-1FF3959A6007}"/>
              </a:ext>
            </a:extLst>
          </p:cNvPr>
          <p:cNvSpPr/>
          <p:nvPr/>
        </p:nvSpPr>
        <p:spPr>
          <a:xfrm>
            <a:off x="2897372" y="2454713"/>
            <a:ext cx="3757760" cy="504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0531">
              <a:defRPr/>
            </a:pPr>
            <a:r>
              <a:rPr lang="en-US" altLang="zh-CN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2.</a:t>
            </a:r>
            <a:r>
              <a:rPr lang="zh-CN" altLang="en-US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</a:t>
            </a:r>
            <a:r>
              <a:rPr lang="en-US" altLang="zh-CN" sz="2679" b="1" dirty="0" err="1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OcenBase</a:t>
            </a:r>
            <a:r>
              <a:rPr lang="en-US" altLang="zh-CN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</a:t>
            </a:r>
            <a:r>
              <a:rPr lang="zh-CN" altLang="en-US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事务概念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883" y="581142"/>
            <a:ext cx="973998" cy="9739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499" y="740599"/>
            <a:ext cx="1811431" cy="6251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490BED7-0923-DF03-8A55-51831B63B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36" y="2811026"/>
            <a:ext cx="1012576" cy="203706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5FC926-9CBA-90E5-248C-025C81A07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3299" y="3324987"/>
            <a:ext cx="2463165" cy="5721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E25254-D4A9-2EB4-8FA2-38120F984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907" y="3308068"/>
            <a:ext cx="1649966" cy="54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240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日程表&#10;&#10;AI 生成的内容可能不正确。">
            <a:extLst>
              <a:ext uri="{FF2B5EF4-FFF2-40B4-BE49-F238E27FC236}">
                <a16:creationId xmlns:a16="http://schemas.microsoft.com/office/drawing/2014/main" id="{9E3257B0-F7C6-7342-358A-D95B25CDC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81" y="19936"/>
            <a:ext cx="9149361" cy="51036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CB803D0C-F988-9376-80D3-2B4F6D0E0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"/>
            <a:ext cx="9146681" cy="51021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47B46E03-A5C0-128E-2C3C-2C512F0A4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81" y="19936"/>
            <a:ext cx="9149361" cy="51036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OceanBase</a:t>
            </a:r>
            <a:r>
              <a:rPr lang="en-US" altLang="zh-CN" dirty="0"/>
              <a:t> </a:t>
            </a:r>
            <a:r>
              <a:rPr lang="zh-CN" altLang="en-US" dirty="0"/>
              <a:t>中事务的概念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B34C52-5828-248A-8703-E7DEA1D59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41" y="156018"/>
            <a:ext cx="1914943" cy="4490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AD60FF-4C5C-B5D3-14C8-B37DCA605F9A}"/>
              </a:ext>
            </a:extLst>
          </p:cNvPr>
          <p:cNvSpPr/>
          <p:nvPr/>
        </p:nvSpPr>
        <p:spPr>
          <a:xfrm>
            <a:off x="468313" y="771550"/>
            <a:ext cx="2231479" cy="5141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数据库事务实现基础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5BC20E-FB5C-A281-3D94-87A1CC0E63AA}"/>
              </a:ext>
            </a:extLst>
          </p:cNvPr>
          <p:cNvSpPr txBox="1"/>
          <p:nvPr/>
        </p:nvSpPr>
        <p:spPr>
          <a:xfrm>
            <a:off x="191625" y="1459447"/>
            <a:ext cx="5924487" cy="272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语句级回滚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当一条语句执行未发生错误时，其所作修改将生效；若执行过程中出现错误，则会撤销该语句的所有操作。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语句级回滚的效果如同该语句从未执行过，从而确保数据库事务的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。回滚操作涵盖全局索引、触发器、行锁等相关元素。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两阶段提交协议（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2PC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2PC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是一种经典且具有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强一致性、中心化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特性的原子提交协议。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由协调者（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Coordinator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）发起提议，参与者（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Participant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）根据提议反馈结果，协调者依据反馈结果决定提交或回滚。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OceanBase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实现方式：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OceanBase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通过原生的两阶段提交协议，保障分布式事务的原子性。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0DF1C9C-61CC-F329-3F86-7C8AB91AD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52" y="1527748"/>
            <a:ext cx="2848376" cy="208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6078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OceanBase</a:t>
            </a:r>
            <a:r>
              <a:rPr lang="en-US" altLang="zh-CN" dirty="0"/>
              <a:t> </a:t>
            </a:r>
            <a:r>
              <a:rPr lang="zh-CN" altLang="en-US" dirty="0"/>
              <a:t>中事务的概念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B34C52-5828-248A-8703-E7DEA1D59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41" y="156018"/>
            <a:ext cx="1914943" cy="4490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AD60FF-4C5C-B5D3-14C8-B37DCA605F9A}"/>
              </a:ext>
            </a:extLst>
          </p:cNvPr>
          <p:cNvSpPr/>
          <p:nvPr/>
        </p:nvSpPr>
        <p:spPr>
          <a:xfrm>
            <a:off x="468313" y="771550"/>
            <a:ext cx="2231479" cy="5141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事务的作用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5BC20E-FB5C-A281-3D94-87A1CC0E63AA}"/>
              </a:ext>
            </a:extLst>
          </p:cNvPr>
          <p:cNvSpPr txBox="1"/>
          <p:nvPr/>
        </p:nvSpPr>
        <p:spPr>
          <a:xfrm>
            <a:off x="191625" y="1459447"/>
            <a:ext cx="7476719" cy="323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语句级回滚以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增强系统可恢复性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在发生系统故障时，事务机制保证所有操作要么全部生效，要么全部撤销，从而维护数据库的完整状态。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维护数据一致性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基于分布式系统架构与一致性协议，确保数据在多个节点之间保持同步与一致。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有效管理并发操作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通过事务隔离机制与锁定策略，协调多用户并发访问，保障数据处理的一致性与正确性。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的专长与优势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分布式事务协调：运用高效的分布式共识算法与协议，显著提升跨节点事务的执行效率与一致性保障。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可配置的隔离级别：支持多种事务隔离等级，用户可根据业务场景与性能需求，灵活调整隔离强度。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662925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OceanBase</a:t>
            </a:r>
            <a:r>
              <a:rPr lang="en-US" altLang="zh-CN" dirty="0"/>
              <a:t> </a:t>
            </a:r>
            <a:r>
              <a:rPr lang="zh-CN" altLang="en-US" dirty="0"/>
              <a:t>中事务的概念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B34C52-5828-248A-8703-E7DEA1D59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41" y="156018"/>
            <a:ext cx="1914943" cy="4490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AD60FF-4C5C-B5D3-14C8-B37DCA605F9A}"/>
              </a:ext>
            </a:extLst>
          </p:cNvPr>
          <p:cNvSpPr/>
          <p:nvPr/>
        </p:nvSpPr>
        <p:spPr>
          <a:xfrm>
            <a:off x="468313" y="771550"/>
            <a:ext cx="2231479" cy="5141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事务的结构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5BC20E-FB5C-A281-3D94-87A1CC0E63AA}"/>
              </a:ext>
            </a:extLst>
          </p:cNvPr>
          <p:cNvSpPr txBox="1"/>
          <p:nvPr/>
        </p:nvSpPr>
        <p:spPr>
          <a:xfrm>
            <a:off x="191625" y="1459447"/>
            <a:ext cx="8772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中的事务模型遵循常规数据库事务流程，即每个数据库事务由一条或多条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DML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语句组成。完整的事务流程涵盖事务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启动、语句执行及事务结束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三个阶段。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72C5EA-C8B8-AD7F-A5E6-1F923D0B1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161028"/>
            <a:ext cx="6615640" cy="241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0000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OceanBase</a:t>
            </a:r>
            <a:r>
              <a:rPr lang="en-US" altLang="zh-CN" dirty="0"/>
              <a:t> </a:t>
            </a:r>
            <a:r>
              <a:rPr lang="zh-CN" altLang="en-US" dirty="0"/>
              <a:t>中事务的概念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B34C52-5828-248A-8703-E7DEA1D59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41" y="156018"/>
            <a:ext cx="1914943" cy="4490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AD60FF-4C5C-B5D3-14C8-B37DCA605F9A}"/>
              </a:ext>
            </a:extLst>
          </p:cNvPr>
          <p:cNvSpPr/>
          <p:nvPr/>
        </p:nvSpPr>
        <p:spPr>
          <a:xfrm>
            <a:off x="468313" y="771550"/>
            <a:ext cx="2231479" cy="5141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事务的结构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5BC20E-FB5C-A281-3D94-87A1CC0E63AA}"/>
              </a:ext>
            </a:extLst>
          </p:cNvPr>
          <p:cNvSpPr txBox="1"/>
          <p:nvPr/>
        </p:nvSpPr>
        <p:spPr>
          <a:xfrm>
            <a:off x="191625" y="1459447"/>
            <a:ext cx="8772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中的事务模型遵循常规数据库事务流程，即每个数据库事务由一条或多条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DML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语句组成。完整的事务流程涵盖事务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启动、语句执行及事务结束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三个阶段。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72C5EA-C8B8-AD7F-A5E6-1F923D0B1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161028"/>
            <a:ext cx="6615640" cy="241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2012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OceanBase</a:t>
            </a:r>
            <a:r>
              <a:rPr lang="en-US" altLang="zh-CN" dirty="0"/>
              <a:t> </a:t>
            </a:r>
            <a:r>
              <a:rPr lang="zh-CN" altLang="en-US" dirty="0"/>
              <a:t>中事务的概念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B34C52-5828-248A-8703-E7DEA1D59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41" y="156018"/>
            <a:ext cx="1914943" cy="4490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AD60FF-4C5C-B5D3-14C8-B37DCA605F9A}"/>
              </a:ext>
            </a:extLst>
          </p:cNvPr>
          <p:cNvSpPr/>
          <p:nvPr/>
        </p:nvSpPr>
        <p:spPr>
          <a:xfrm>
            <a:off x="468313" y="771550"/>
            <a:ext cx="2231479" cy="5141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事务的结构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5BC20E-FB5C-A281-3D94-87A1CC0E63AA}"/>
              </a:ext>
            </a:extLst>
          </p:cNvPr>
          <p:cNvSpPr txBox="1"/>
          <p:nvPr/>
        </p:nvSpPr>
        <p:spPr>
          <a:xfrm>
            <a:off x="2339752" y="1448212"/>
            <a:ext cx="66126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事务执行期间，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会在每个相关的数据分区中建立对应的事务上下文。该上下文用于跟踪语句执行时的数据快照版本，并记录对当前分区所做的数据变更。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43B3B1-3E6C-3FF2-05B5-758C37A1D168}"/>
              </a:ext>
            </a:extLst>
          </p:cNvPr>
          <p:cNvSpPr/>
          <p:nvPr/>
        </p:nvSpPr>
        <p:spPr>
          <a:xfrm>
            <a:off x="468313" y="1606888"/>
            <a:ext cx="1655415" cy="4213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语句执行阶段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7BCA17-AD5B-9233-FD72-C1D80581FAD1}"/>
              </a:ext>
            </a:extLst>
          </p:cNvPr>
          <p:cNvSpPr/>
          <p:nvPr/>
        </p:nvSpPr>
        <p:spPr>
          <a:xfrm>
            <a:off x="468312" y="2499742"/>
            <a:ext cx="1655415" cy="4213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事务终止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9E0628-2FBA-45B9-79B5-EA21DFC4FE55}"/>
              </a:ext>
            </a:extLst>
          </p:cNvPr>
          <p:cNvSpPr txBox="1"/>
          <p:nvPr/>
        </p:nvSpPr>
        <p:spPr>
          <a:xfrm>
            <a:off x="2350408" y="2349436"/>
            <a:ext cx="6612623" cy="2332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显式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终止事务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COMMIT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：将事务内所有数据修改永久存储至数据库。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ROLLBACK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：撤销事务中进行的所有数据操作。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隐式</a:t>
            </a:r>
            <a:r>
              <a:rPr lang="zh-CN" altLang="en-US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提交事务</a:t>
            </a:r>
            <a:endParaRPr lang="en-US" altLang="zh-CN" dirty="0">
              <a:solidFill>
                <a:srgbClr val="0F111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当执行数据定义语言（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DDL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）操作（例如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CREATE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DROP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等）时。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会自动提交当前事务，后续操作将在新的事务中执行。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连接断开时的处理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如果客户端在事务进行期间意外断开连接，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会隐式触发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ROLLBACK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操作，回滚该未完成事务中的所有修改。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262043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OceanBase</a:t>
            </a:r>
            <a:r>
              <a:rPr lang="en-US" altLang="zh-CN" dirty="0"/>
              <a:t> </a:t>
            </a:r>
            <a:r>
              <a:rPr lang="zh-CN" altLang="en-US" dirty="0"/>
              <a:t>中事务的概念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B34C52-5828-248A-8703-E7DEA1D59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41" y="156018"/>
            <a:ext cx="1914943" cy="4490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AD60FF-4C5C-B5D3-14C8-B37DCA605F9A}"/>
              </a:ext>
            </a:extLst>
          </p:cNvPr>
          <p:cNvSpPr/>
          <p:nvPr/>
        </p:nvSpPr>
        <p:spPr>
          <a:xfrm>
            <a:off x="468313" y="771550"/>
            <a:ext cx="2231479" cy="5141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活跃事务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5BC20E-FB5C-A281-3D94-87A1CC0E63AA}"/>
              </a:ext>
            </a:extLst>
          </p:cNvPr>
          <p:cNvSpPr txBox="1"/>
          <p:nvPr/>
        </p:nvSpPr>
        <p:spPr>
          <a:xfrm>
            <a:off x="460961" y="1419622"/>
            <a:ext cx="7782927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活跃事务是指事务已经开启，但还没有提交或者回滚的事务。活跃事务所做的修改在提交前都</a:t>
            </a:r>
          </a:p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临时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的，其它的事务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无法看到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9E0628-2FBA-45B9-79B5-EA21DFC4FE55}"/>
              </a:ext>
            </a:extLst>
          </p:cNvPr>
          <p:cNvSpPr txBox="1"/>
          <p:nvPr/>
        </p:nvSpPr>
        <p:spPr>
          <a:xfrm>
            <a:off x="611560" y="2819126"/>
            <a:ext cx="8064896" cy="1772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Savepoint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数据库支持用户自定义的事务内部执行标记。用户可在事务过程中设置多个这样的标记，并在需要时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让事务恢复到指定标记的状态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执行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ROLLBACK TO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指令时，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数据库会在内部完成以下步骤：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回滚当前事务中晚于该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Savepoint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对应“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sequence”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的所有数据修改，并释放相关联的行锁。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5750">
              <a:buFont typeface="Wingdings" panose="05000000000000000000" pitchFamily="2" charset="2"/>
              <a:buChar char="n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清除晚于该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Savepoint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的所有已定义的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Savepoint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完成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ROLLBACK TO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指令后，事务仍然处于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可继续执行的状态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F35C2D-F1D0-3E8D-8FA3-214DD37CBB4A}"/>
              </a:ext>
            </a:extLst>
          </p:cNvPr>
          <p:cNvSpPr/>
          <p:nvPr/>
        </p:nvSpPr>
        <p:spPr>
          <a:xfrm>
            <a:off x="460961" y="2092385"/>
            <a:ext cx="2231479" cy="5141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Savepoint</a:t>
            </a:r>
            <a:endParaRPr lang="en-US" altLang="zh-CN" sz="1600" b="1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458474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0188C401-B386-22C0-362D-140CD03F2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36"/>
            <a:ext cx="9210926" cy="51379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C800E5-A1B3-4306-BC1E-9FCC4A76230D}"/>
              </a:ext>
            </a:extLst>
          </p:cNvPr>
          <p:cNvSpPr/>
          <p:nvPr/>
        </p:nvSpPr>
        <p:spPr>
          <a:xfrm>
            <a:off x="18375" y="19936"/>
            <a:ext cx="9090184" cy="2691691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6DBED7-A45E-41D4-BE4B-6F506990CE4E}"/>
              </a:ext>
            </a:extLst>
          </p:cNvPr>
          <p:cNvSpPr/>
          <p:nvPr/>
        </p:nvSpPr>
        <p:spPr>
          <a:xfrm>
            <a:off x="2242083" y="2194690"/>
            <a:ext cx="4659835" cy="1003632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4112A8-51B9-42E0-A937-1FF3959A6007}"/>
              </a:ext>
            </a:extLst>
          </p:cNvPr>
          <p:cNvSpPr/>
          <p:nvPr/>
        </p:nvSpPr>
        <p:spPr>
          <a:xfrm>
            <a:off x="2458779" y="2454713"/>
            <a:ext cx="4443845" cy="504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0531">
              <a:defRPr/>
            </a:pPr>
            <a:r>
              <a:rPr lang="en-US" altLang="zh-CN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3.</a:t>
            </a:r>
            <a:r>
              <a:rPr lang="zh-CN" altLang="en-US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</a:t>
            </a:r>
            <a:r>
              <a:rPr lang="en-US" altLang="zh-CN" sz="2679" b="1" dirty="0" err="1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OcenBase</a:t>
            </a:r>
            <a:r>
              <a:rPr lang="en-US" altLang="zh-CN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</a:t>
            </a:r>
            <a:r>
              <a:rPr lang="zh-CN" altLang="en-US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事务管理特点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883" y="581142"/>
            <a:ext cx="973998" cy="9739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499" y="740599"/>
            <a:ext cx="1811431" cy="6251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490BED7-0923-DF03-8A55-51831B63B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36" y="2811026"/>
            <a:ext cx="1012576" cy="203706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5FC926-9CBA-90E5-248C-025C81A07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3299" y="3324987"/>
            <a:ext cx="2463165" cy="5721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E25254-D4A9-2EB4-8FA2-38120F984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907" y="3308068"/>
            <a:ext cx="1649966" cy="54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876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35764099-48EB-031A-000A-8F0D9E848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"/>
            <a:ext cx="9146681" cy="51021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图示&#10;&#10;AI 生成的内容可能不正确。">
            <a:extLst>
              <a:ext uri="{FF2B5EF4-FFF2-40B4-BE49-F238E27FC236}">
                <a16:creationId xmlns:a16="http://schemas.microsoft.com/office/drawing/2014/main" id="{2B61364E-10A2-4377-0C94-60079F649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81" y="19936"/>
            <a:ext cx="9149361" cy="51036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手机屏幕截图&#10;&#10;AI 生成的内容可能不正确。">
            <a:extLst>
              <a:ext uri="{FF2B5EF4-FFF2-40B4-BE49-F238E27FC236}">
                <a16:creationId xmlns:a16="http://schemas.microsoft.com/office/drawing/2014/main" id="{BF51904A-07A5-32F5-E7DC-FF8657800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81" y="19936"/>
            <a:ext cx="9149361" cy="51036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C800E5-A1B3-4306-BC1E-9FCC4A76230D}"/>
              </a:ext>
            </a:extLst>
          </p:cNvPr>
          <p:cNvSpPr/>
          <p:nvPr/>
        </p:nvSpPr>
        <p:spPr>
          <a:xfrm>
            <a:off x="18375" y="19936"/>
            <a:ext cx="9090184" cy="2691691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6DBED7-A45E-41D4-BE4B-6F506990CE4E}"/>
              </a:ext>
            </a:extLst>
          </p:cNvPr>
          <p:cNvSpPr/>
          <p:nvPr/>
        </p:nvSpPr>
        <p:spPr>
          <a:xfrm>
            <a:off x="2020186" y="2194690"/>
            <a:ext cx="5478790" cy="1003632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4112A8-51B9-42E0-A937-1FF3959A6007}"/>
              </a:ext>
            </a:extLst>
          </p:cNvPr>
          <p:cNvSpPr/>
          <p:nvPr/>
        </p:nvSpPr>
        <p:spPr>
          <a:xfrm>
            <a:off x="2342919" y="2466210"/>
            <a:ext cx="5129930" cy="504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0531">
              <a:defRPr/>
            </a:pPr>
            <a:r>
              <a:rPr lang="en-US" altLang="zh-CN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4.</a:t>
            </a:r>
            <a:r>
              <a:rPr lang="zh-CN" altLang="en-US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</a:t>
            </a:r>
            <a:r>
              <a:rPr lang="en-US" altLang="zh-CN" sz="2679" b="1" dirty="0" err="1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OcenBase</a:t>
            </a:r>
            <a:r>
              <a:rPr lang="en-US" altLang="zh-CN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</a:t>
            </a:r>
            <a:r>
              <a:rPr lang="zh-CN" altLang="en-US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事务管理源码探究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883" y="581142"/>
            <a:ext cx="973998" cy="9739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499" y="740599"/>
            <a:ext cx="1811431" cy="6251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490BED7-0923-DF03-8A55-51831B63B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36" y="2811026"/>
            <a:ext cx="1012576" cy="203706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5FC926-9CBA-90E5-248C-025C81A07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3299" y="3324987"/>
            <a:ext cx="2463165" cy="5721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E25254-D4A9-2EB4-8FA2-38120F984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907" y="3308068"/>
            <a:ext cx="1649966" cy="54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902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92730F83-D872-D3F8-CCB3-8E3CA4391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36"/>
            <a:ext cx="9149361" cy="51036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电脑屏幕的照片上有文字&#10;&#10;AI 生成的内容可能不正确。">
            <a:extLst>
              <a:ext uri="{FF2B5EF4-FFF2-40B4-BE49-F238E27FC236}">
                <a16:creationId xmlns:a16="http://schemas.microsoft.com/office/drawing/2014/main" id="{5AD7A7E3-FC15-6EF5-2DBE-C5B7AB754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"/>
            <a:ext cx="9146681" cy="51021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0C800E5-A1B3-4306-BC1E-9FCC4A76230D}"/>
              </a:ext>
            </a:extLst>
          </p:cNvPr>
          <p:cNvSpPr/>
          <p:nvPr/>
        </p:nvSpPr>
        <p:spPr>
          <a:xfrm>
            <a:off x="18375" y="19936"/>
            <a:ext cx="9090184" cy="2691691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86DBED7-A45E-41D4-BE4B-6F506990CE4E}"/>
              </a:ext>
            </a:extLst>
          </p:cNvPr>
          <p:cNvSpPr/>
          <p:nvPr/>
        </p:nvSpPr>
        <p:spPr>
          <a:xfrm>
            <a:off x="2242083" y="2194690"/>
            <a:ext cx="4659835" cy="1003632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33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4112A8-51B9-42E0-A937-1FF3959A6007}"/>
              </a:ext>
            </a:extLst>
          </p:cNvPr>
          <p:cNvSpPr/>
          <p:nvPr/>
        </p:nvSpPr>
        <p:spPr>
          <a:xfrm>
            <a:off x="3522070" y="2454713"/>
            <a:ext cx="2209259" cy="504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0531">
              <a:defRPr/>
            </a:pPr>
            <a:r>
              <a:rPr lang="en-US" altLang="zh-CN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5.</a:t>
            </a:r>
            <a:r>
              <a:rPr lang="zh-CN" altLang="en-US" sz="2679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总结与创新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883" y="581142"/>
            <a:ext cx="973998" cy="9739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499" y="740599"/>
            <a:ext cx="1811431" cy="6251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490BED7-0923-DF03-8A55-51831B63B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36" y="2811026"/>
            <a:ext cx="1012576" cy="203706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5FC926-9CBA-90E5-248C-025C81A07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3299" y="3324987"/>
            <a:ext cx="2463165" cy="5721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E25254-D4A9-2EB4-8FA2-38120F984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907" y="3308068"/>
            <a:ext cx="1649966" cy="54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251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C1AC7A6C-0DB2-6067-976D-521729D57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"/>
            <a:ext cx="9146681" cy="51021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FA42-28B1-44D8-974C-70151752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与前期调研的差异化分析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B34C52-5828-248A-8703-E7DEA1D59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41" y="156018"/>
            <a:ext cx="1914943" cy="4490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AD60FF-4C5C-B5D3-14C8-B37DCA605F9A}"/>
              </a:ext>
            </a:extLst>
          </p:cNvPr>
          <p:cNvSpPr/>
          <p:nvPr/>
        </p:nvSpPr>
        <p:spPr>
          <a:xfrm>
            <a:off x="468313" y="788592"/>
            <a:ext cx="2231479" cy="3429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600" b="1" dirty="0">
                <a:solidFill>
                  <a:srgbClr val="0F1115"/>
                </a:solidFill>
                <a:effectLst/>
                <a:latin typeface="quote-cjk-patch"/>
              </a:rPr>
              <a:t>对事务结构的深度解析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5BC20E-FB5C-A281-3D94-87A1CC0E63AA}"/>
              </a:ext>
            </a:extLst>
          </p:cNvPr>
          <p:cNvSpPr txBox="1"/>
          <p:nvPr/>
        </p:nvSpPr>
        <p:spPr>
          <a:xfrm>
            <a:off x="191625" y="1203598"/>
            <a:ext cx="87728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在前期基础上，进一步明确了事务从开始到结束的具体流程细节。补充分析了事务结构的完整阶段划分，包括事务启动、语句执行、事务终止的具体步骤，并结合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的实际架构对每个环节进行了针对性说明。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A7B6F8-94BD-6298-6159-87F9DE8B5EF3}"/>
              </a:ext>
            </a:extLst>
          </p:cNvPr>
          <p:cNvSpPr/>
          <p:nvPr/>
        </p:nvSpPr>
        <p:spPr>
          <a:xfrm>
            <a:off x="468313" y="1942262"/>
            <a:ext cx="2087463" cy="3302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600" b="1" dirty="0">
                <a:solidFill>
                  <a:srgbClr val="0F1115"/>
                </a:solidFill>
                <a:effectLst/>
                <a:latin typeface="quote-cjk-patch"/>
              </a:rPr>
              <a:t>事务机制的关键深化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1BE37B-08B8-E713-A531-A5479605ABF6}"/>
              </a:ext>
            </a:extLst>
          </p:cNvPr>
          <p:cNvSpPr txBox="1"/>
          <p:nvPr/>
        </p:nvSpPr>
        <p:spPr>
          <a:xfrm>
            <a:off x="185567" y="2272464"/>
            <a:ext cx="8772863" cy="99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MVCC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与行锁协同实现的具体方式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：相比之前，本次调研更深入地探究了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MVCC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与行锁共同保障并发一致性的具体工作原理，明确了在读写分离场景下两者如何配合以实现高效的事务并发。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Redo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日志与 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Paxos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协议的结合机制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：我们进一步挖掘了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Redo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日志在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多副本一致性中的角色，详细阐述了日志如何与 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Paxos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协议协同，在保证事务持久性的同时，实现多副本间的数据强一致。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0986F9-E7B5-F253-B019-5A7734D91764}"/>
              </a:ext>
            </a:extLst>
          </p:cNvPr>
          <p:cNvSpPr/>
          <p:nvPr/>
        </p:nvSpPr>
        <p:spPr>
          <a:xfrm>
            <a:off x="467544" y="3269660"/>
            <a:ext cx="2232248" cy="28210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600" b="1" dirty="0">
                <a:solidFill>
                  <a:srgbClr val="0F1115"/>
                </a:solidFill>
                <a:effectLst/>
                <a:latin typeface="quote-cjk-patch"/>
              </a:rPr>
              <a:t>事务源码的进一步拆解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0B07AD-A11C-A3CB-1940-C9FBD5AD56FC}"/>
              </a:ext>
            </a:extLst>
          </p:cNvPr>
          <p:cNvSpPr txBox="1"/>
          <p:nvPr/>
        </p:nvSpPr>
        <p:spPr>
          <a:xfrm>
            <a:off x="185566" y="3619322"/>
            <a:ext cx="8772863" cy="1471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在之前梳理的事务接口基础上，细化了对各接口调用关系与功能协作的分析，明确了外部接口、核心接口、分区接口的分层设计与交互逻辑。</a:t>
            </a:r>
            <a:endParaRPr lang="en-US" altLang="zh-CN" b="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对会话中与事务相关的数据结构进行了更细致的解读，新增了对事务状态管理、时间戳生成机制以及提交协议在源码中的具体实现分析。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在日志模块部分，新增了对不同日志类型（如提交日志、回放日志）的生成、传输与恢复过程的代码追踪，进一步解释了日志系统如何保障事务的原子性与持久性。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169192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5B037850-FFDD-359C-4420-2B1B180E6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1"/>
            <a:ext cx="9146681" cy="510213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B1DD0A6-D164-C4C5-B5C4-F4F47E78A7BE}"/>
              </a:ext>
            </a:extLst>
          </p:cNvPr>
          <p:cNvSpPr txBox="1"/>
          <p:nvPr/>
        </p:nvSpPr>
        <p:spPr>
          <a:xfrm>
            <a:off x="331485" y="1035319"/>
            <a:ext cx="8546701" cy="3918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6" dirty="0"/>
              <a:t>[1] CSDN. </a:t>
            </a:r>
            <a:r>
              <a:rPr lang="zh-CN" altLang="en-US" sz="1256" dirty="0"/>
              <a:t>第四章：</a:t>
            </a:r>
            <a:r>
              <a:rPr lang="en-US" altLang="zh-CN" sz="1256" dirty="0" err="1"/>
              <a:t>OceanBase</a:t>
            </a:r>
            <a:r>
              <a:rPr lang="en-US" altLang="zh-CN" sz="1256" dirty="0"/>
              <a:t> </a:t>
            </a:r>
            <a:r>
              <a:rPr lang="zh-CN" altLang="en-US" sz="1256" dirty="0"/>
              <a:t>集群技术架构（分布式事务、</a:t>
            </a:r>
            <a:r>
              <a:rPr lang="en-US" altLang="zh-CN" sz="1256" dirty="0"/>
              <a:t>MVCC</a:t>
            </a:r>
            <a:r>
              <a:rPr lang="zh-CN" altLang="en-US" sz="1256" dirty="0"/>
              <a:t>、事务隔离级别）</a:t>
            </a:r>
            <a:r>
              <a:rPr lang="en-US" altLang="zh-CN" sz="1256" dirty="0"/>
              <a:t>[OL].(2023-03-15)[2023-12-10].https://blog.csdn.net/qq_43714918/article/details/129557961.</a:t>
            </a:r>
          </a:p>
          <a:p>
            <a:r>
              <a:rPr lang="en-US" altLang="zh-CN" sz="1256" dirty="0"/>
              <a:t>[2] </a:t>
            </a:r>
            <a:r>
              <a:rPr lang="zh-CN" altLang="en-US" sz="1256" dirty="0"/>
              <a:t>周欢</a:t>
            </a:r>
            <a:r>
              <a:rPr lang="en-US" altLang="zh-CN" sz="1256" dirty="0"/>
              <a:t>, </a:t>
            </a:r>
            <a:r>
              <a:rPr lang="zh-CN" altLang="en-US" sz="1256" dirty="0"/>
              <a:t>樊秋实</a:t>
            </a:r>
            <a:r>
              <a:rPr lang="en-US" altLang="zh-CN" sz="1256" dirty="0"/>
              <a:t>, and </a:t>
            </a:r>
            <a:r>
              <a:rPr lang="zh-CN" altLang="en-US" sz="1256" dirty="0"/>
              <a:t>胡华梁</a:t>
            </a:r>
            <a:r>
              <a:rPr lang="en-US" altLang="zh-CN" sz="1256" dirty="0"/>
              <a:t>. "</a:t>
            </a:r>
            <a:r>
              <a:rPr lang="en-US" altLang="zh-CN" sz="1256" dirty="0" err="1"/>
              <a:t>OceanBase</a:t>
            </a:r>
            <a:r>
              <a:rPr lang="en-US" altLang="zh-CN" sz="1256" dirty="0"/>
              <a:t> </a:t>
            </a:r>
            <a:r>
              <a:rPr lang="zh-CN" altLang="en-US" sz="1256" dirty="0"/>
              <a:t>一致性与可用性分析</a:t>
            </a:r>
            <a:r>
              <a:rPr lang="en-US" altLang="zh-CN" sz="1256" dirty="0"/>
              <a:t>." </a:t>
            </a:r>
            <a:r>
              <a:rPr lang="zh-CN" altLang="en-US" sz="1256" dirty="0"/>
              <a:t>华东师范大学学报 </a:t>
            </a:r>
            <a:r>
              <a:rPr lang="en-US" altLang="zh-CN" sz="1256" dirty="0"/>
              <a:t>(</a:t>
            </a:r>
            <a:r>
              <a:rPr lang="zh-CN" altLang="en-US" sz="1256" dirty="0"/>
              <a:t>自然科学版</a:t>
            </a:r>
            <a:r>
              <a:rPr lang="en-US" altLang="zh-CN" sz="1256" dirty="0"/>
              <a:t>) 2014, no. 5 (2014): 103.</a:t>
            </a:r>
          </a:p>
          <a:p>
            <a:r>
              <a:rPr lang="en-US" altLang="zh-CN" sz="1256" dirty="0"/>
              <a:t>[3] Kai, L. I., and H. A. N. Fu-Sheng. "Memory transaction engine of </a:t>
            </a:r>
            <a:r>
              <a:rPr lang="en-US" altLang="zh-CN" sz="1256" dirty="0" err="1"/>
              <a:t>OceanBase</a:t>
            </a:r>
            <a:r>
              <a:rPr lang="en-US" altLang="zh-CN" sz="1256" dirty="0"/>
              <a:t>." Journal of East China Normal University (Natural Science) 2014, no. 5 (2014): 147.</a:t>
            </a:r>
          </a:p>
          <a:p>
            <a:r>
              <a:rPr lang="en-US" altLang="zh-CN" sz="1256" dirty="0"/>
              <a:t>[4] Xu, Liang-</a:t>
            </a:r>
            <a:r>
              <a:rPr lang="en-US" altLang="zh-CN" sz="1256" dirty="0" err="1"/>
              <a:t>yu</a:t>
            </a:r>
            <a:r>
              <a:rPr lang="en-US" altLang="zh-CN" sz="1256" dirty="0"/>
              <a:t>, Xiao-fang Zhang, Li-</a:t>
            </a:r>
            <a:r>
              <a:rPr lang="en-US" altLang="zh-CN" sz="1256" dirty="0" err="1"/>
              <a:t>jun</a:t>
            </a:r>
            <a:r>
              <a:rPr lang="en-US" altLang="zh-CN" sz="1256" dirty="0"/>
              <a:t> Zhang, and Jin-</a:t>
            </a:r>
            <a:r>
              <a:rPr lang="en-US" altLang="zh-CN" sz="1256" dirty="0" err="1"/>
              <a:t>tao</a:t>
            </a:r>
            <a:r>
              <a:rPr lang="en-US" altLang="zh-CN" sz="1256" dirty="0"/>
              <a:t> Gao. "Design and Implementation of Trigger on  </a:t>
            </a:r>
            <a:r>
              <a:rPr lang="en-US" altLang="zh-CN" sz="1256" dirty="0" err="1"/>
              <a:t>OceanBase</a:t>
            </a:r>
            <a:r>
              <a:rPr lang="en-US" altLang="zh-CN" sz="1256" dirty="0"/>
              <a:t>." In Advances in Computer Communication and Computational Sciences: Proceedings of IC4S 2017,  Volume 2, pp. 121-132. Springer Singapore, 2019.</a:t>
            </a:r>
          </a:p>
          <a:p>
            <a:r>
              <a:rPr lang="en-US" altLang="zh-CN" sz="1256" dirty="0"/>
              <a:t>[5] Huan, Z. H. O. U., F. A. N. Qiu-Shi, and H. U. Hua-Liang. "Consistency and availability in </a:t>
            </a:r>
            <a:r>
              <a:rPr lang="en-US" altLang="zh-CN" sz="1256" dirty="0" err="1"/>
              <a:t>OceanBase</a:t>
            </a:r>
            <a:r>
              <a:rPr lang="en-US" altLang="zh-CN" sz="1256" dirty="0"/>
              <a:t>." Journal of East China Normal University (Natural Science) 2014, no. 5 (2014): 103.</a:t>
            </a:r>
          </a:p>
          <a:p>
            <a:r>
              <a:rPr lang="en-US" altLang="zh-CN" sz="1256" dirty="0"/>
              <a:t>[6] </a:t>
            </a:r>
            <a:r>
              <a:rPr lang="zh-CN" altLang="en-US" sz="1256" dirty="0"/>
              <a:t>祝君</a:t>
            </a:r>
            <a:r>
              <a:rPr lang="en-US" altLang="zh-CN" sz="1256" dirty="0"/>
              <a:t>, </a:t>
            </a:r>
            <a:r>
              <a:rPr lang="zh-CN" altLang="en-US" sz="1256" dirty="0"/>
              <a:t>刘柏众</a:t>
            </a:r>
            <a:r>
              <a:rPr lang="en-US" altLang="zh-CN" sz="1256" dirty="0"/>
              <a:t>, </a:t>
            </a:r>
            <a:r>
              <a:rPr lang="zh-CN" altLang="en-US" sz="1256" dirty="0"/>
              <a:t>余晟隽</a:t>
            </a:r>
            <a:r>
              <a:rPr lang="en-US" altLang="zh-CN" sz="1256" dirty="0"/>
              <a:t>, </a:t>
            </a:r>
            <a:r>
              <a:rPr lang="zh-CN" altLang="en-US" sz="1256" dirty="0"/>
              <a:t>宫学庆</a:t>
            </a:r>
            <a:r>
              <a:rPr lang="en-US" altLang="zh-CN" sz="1256" dirty="0"/>
              <a:t>, and </a:t>
            </a:r>
            <a:r>
              <a:rPr lang="zh-CN" altLang="en-US" sz="1256" dirty="0"/>
              <a:t>周敏奇</a:t>
            </a:r>
            <a:r>
              <a:rPr lang="en-US" altLang="zh-CN" sz="1256" dirty="0"/>
              <a:t>. "</a:t>
            </a:r>
            <a:r>
              <a:rPr lang="zh-CN" altLang="en-US" sz="1256" dirty="0"/>
              <a:t>面向 </a:t>
            </a:r>
            <a:r>
              <a:rPr lang="en-US" altLang="zh-CN" sz="1256" dirty="0" err="1"/>
              <a:t>OceanBase</a:t>
            </a:r>
            <a:r>
              <a:rPr lang="en-US" altLang="zh-CN" sz="1256" dirty="0"/>
              <a:t> </a:t>
            </a:r>
            <a:r>
              <a:rPr lang="zh-CN" altLang="en-US" sz="1256" dirty="0"/>
              <a:t>的存储过程设计与实现</a:t>
            </a:r>
            <a:r>
              <a:rPr lang="en-US" altLang="zh-CN" sz="1256" dirty="0"/>
              <a:t>." </a:t>
            </a:r>
            <a:r>
              <a:rPr lang="zh-CN" altLang="en-US" sz="1256" dirty="0"/>
              <a:t>华东师范大学学报 </a:t>
            </a:r>
            <a:r>
              <a:rPr lang="en-US" altLang="zh-CN" sz="1256" dirty="0"/>
              <a:t>(</a:t>
            </a:r>
            <a:r>
              <a:rPr lang="zh-CN" altLang="en-US" sz="1256" dirty="0"/>
              <a:t>自然科学版</a:t>
            </a:r>
            <a:r>
              <a:rPr lang="en-US" altLang="zh-CN" sz="1256" dirty="0"/>
              <a:t>) 2016, no. 5 (2016): 144.</a:t>
            </a:r>
          </a:p>
          <a:p>
            <a:r>
              <a:rPr lang="en-US" altLang="zh-CN" sz="1256" dirty="0"/>
              <a:t>[7] </a:t>
            </a:r>
            <a:r>
              <a:rPr lang="en-US" altLang="zh-CN" sz="1256" dirty="0" err="1"/>
              <a:t>OceanBase</a:t>
            </a:r>
            <a:r>
              <a:rPr lang="zh-CN" altLang="en-US" sz="1256" dirty="0"/>
              <a:t>版本发布记录 </a:t>
            </a:r>
            <a:r>
              <a:rPr lang="en-US" altLang="zh-CN" sz="1256" dirty="0">
                <a:hlinkClick r:id="rId3"/>
              </a:rPr>
              <a:t>https://www.oceanbase.com/product/oceanbase-database-community-rn/releaseNote</a:t>
            </a:r>
            <a:endParaRPr lang="en-US" altLang="zh-CN" sz="1256" dirty="0"/>
          </a:p>
          <a:p>
            <a:r>
              <a:rPr lang="en-US" altLang="zh-CN" sz="1256" dirty="0"/>
              <a:t>[8] </a:t>
            </a:r>
            <a:r>
              <a:rPr lang="zh-CN" altLang="en-US" sz="1256" dirty="0"/>
              <a:t>彭煜玮</a:t>
            </a:r>
            <a:r>
              <a:rPr lang="en-US" altLang="zh-CN" sz="1256" dirty="0"/>
              <a:t>, </a:t>
            </a:r>
            <a:r>
              <a:rPr lang="zh-CN" altLang="en-US" sz="1256" dirty="0"/>
              <a:t>杨传辉</a:t>
            </a:r>
            <a:r>
              <a:rPr lang="en-US" altLang="zh-CN" sz="1256" dirty="0"/>
              <a:t>, </a:t>
            </a:r>
            <a:r>
              <a:rPr lang="zh-CN" altLang="en-US" sz="1256" dirty="0"/>
              <a:t>杨志丰</a:t>
            </a:r>
            <a:r>
              <a:rPr lang="en-US" altLang="zh-CN" sz="1256" dirty="0"/>
              <a:t>. </a:t>
            </a:r>
            <a:r>
              <a:rPr lang="en-US" altLang="zh-CN" sz="1256" dirty="0" err="1"/>
              <a:t>OceanBase</a:t>
            </a:r>
            <a:r>
              <a:rPr lang="en-US" altLang="zh-CN" sz="1256" dirty="0"/>
              <a:t> </a:t>
            </a:r>
            <a:r>
              <a:rPr lang="zh-CN" altLang="en-US" sz="1256" dirty="0"/>
              <a:t>源码解析</a:t>
            </a:r>
            <a:r>
              <a:rPr lang="en-US" altLang="zh-CN" sz="1256" dirty="0"/>
              <a:t>. </a:t>
            </a:r>
            <a:r>
              <a:rPr lang="zh-CN" altLang="en-US" sz="1256" dirty="0"/>
              <a:t>机械工业出版社</a:t>
            </a:r>
            <a:r>
              <a:rPr lang="en-US" altLang="zh-CN" sz="1256" dirty="0"/>
              <a:t>, 2023.</a:t>
            </a:r>
          </a:p>
          <a:p>
            <a:r>
              <a:rPr lang="en-US" altLang="zh-CN" sz="1256" dirty="0"/>
              <a:t>[9] </a:t>
            </a:r>
            <a:r>
              <a:rPr lang="en-US" altLang="zh-CN" sz="1256" dirty="0" err="1"/>
              <a:t>Zhenkun</a:t>
            </a:r>
            <a:r>
              <a:rPr lang="en-US" altLang="zh-CN" sz="1256" dirty="0"/>
              <a:t> Yang ,</a:t>
            </a:r>
            <a:r>
              <a:rPr lang="en-US" altLang="zh-CN" sz="1256" dirty="0" err="1"/>
              <a:t>Chuanhui</a:t>
            </a:r>
            <a:r>
              <a:rPr lang="en-US" altLang="zh-CN" sz="1256" dirty="0"/>
              <a:t> Yang ,</a:t>
            </a:r>
            <a:r>
              <a:rPr lang="en-US" altLang="zh-CN" sz="1256" dirty="0" err="1"/>
              <a:t>Fusheng</a:t>
            </a:r>
            <a:r>
              <a:rPr lang="en-US" altLang="zh-CN" sz="1256" dirty="0"/>
              <a:t> Han. </a:t>
            </a:r>
            <a:r>
              <a:rPr lang="en-US" altLang="zh-CN" sz="1256" dirty="0" err="1"/>
              <a:t>OceanBase</a:t>
            </a:r>
            <a:r>
              <a:rPr lang="en-US" altLang="zh-CN" sz="1256" dirty="0"/>
              <a:t>: A 707 Million </a:t>
            </a:r>
            <a:r>
              <a:rPr lang="en-US" altLang="zh-CN" sz="1256" dirty="0" err="1"/>
              <a:t>tpmC</a:t>
            </a:r>
            <a:r>
              <a:rPr lang="en-US" altLang="zh-CN" sz="1256" dirty="0"/>
              <a:t> Distributed Relational Database System. 2022,PVLDB,15,12,3385-3397.</a:t>
            </a:r>
          </a:p>
          <a:p>
            <a:r>
              <a:rPr lang="en-US" altLang="zh-CN" sz="1256" dirty="0"/>
              <a:t>[10] </a:t>
            </a:r>
            <a:r>
              <a:rPr lang="zh-CN" altLang="en-US" sz="1256" dirty="0"/>
              <a:t>李凯</a:t>
            </a:r>
            <a:r>
              <a:rPr lang="en-US" altLang="zh-CN" sz="1256" dirty="0"/>
              <a:t>, and </a:t>
            </a:r>
            <a:r>
              <a:rPr lang="zh-CN" altLang="en-US" sz="1256" dirty="0"/>
              <a:t>韩富晟</a:t>
            </a:r>
            <a:r>
              <a:rPr lang="en-US" altLang="zh-CN" sz="1256" dirty="0"/>
              <a:t>. "</a:t>
            </a:r>
            <a:r>
              <a:rPr lang="en-US" altLang="zh-CN" sz="1256" dirty="0" err="1"/>
              <a:t>OceanBase</a:t>
            </a:r>
            <a:r>
              <a:rPr lang="en-US" altLang="zh-CN" sz="1256" dirty="0"/>
              <a:t> </a:t>
            </a:r>
            <a:r>
              <a:rPr lang="zh-CN" altLang="en-US" sz="1256" dirty="0"/>
              <a:t>内存事务引擎</a:t>
            </a:r>
            <a:r>
              <a:rPr lang="en-US" altLang="zh-CN" sz="1256" dirty="0"/>
              <a:t>." </a:t>
            </a:r>
            <a:r>
              <a:rPr lang="zh-CN" altLang="en-US" sz="1256" dirty="0"/>
              <a:t>华东师范大学学报 </a:t>
            </a:r>
            <a:r>
              <a:rPr lang="en-US" altLang="zh-CN" sz="1256" dirty="0"/>
              <a:t>(</a:t>
            </a:r>
            <a:r>
              <a:rPr lang="zh-CN" altLang="en-US" sz="1256" dirty="0"/>
              <a:t>自然科学版</a:t>
            </a:r>
            <a:r>
              <a:rPr lang="en-US" altLang="zh-CN" sz="1256" dirty="0"/>
              <a:t>) 2014, no. 5 (2014): 147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49174"/>
            <a:ext cx="1943199" cy="53477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51520" y="1827746"/>
            <a:ext cx="871156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恳请老师批评指正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115616" y="2355726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1"/>
          <p:cNvSpPr txBox="1">
            <a:spLocks noChangeArrowheads="1"/>
          </p:cNvSpPr>
          <p:nvPr/>
        </p:nvSpPr>
        <p:spPr bwMode="auto">
          <a:xfrm>
            <a:off x="1789889" y="4201081"/>
            <a:ext cx="5715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Jan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, 2026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379855" y="2571750"/>
            <a:ext cx="6535420" cy="149606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txBody>
          <a:bodyPr wrap="square" rtlCol="0">
            <a:noAutofit/>
          </a:bodyPr>
          <a:lstStyle/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小组成员与分工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2351582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程亦诚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大数据：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资料收集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2352748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杨钦战  信息安全：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资料整理，论文收集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2351136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李盛鹏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大数据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：资料整理与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制作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5"/>
</p:tagLst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24576</TotalTime>
  <Words>1503</Words>
  <Application>Microsoft Office PowerPoint</Application>
  <PresentationFormat>全屏显示(16:9)</PresentationFormat>
  <Paragraphs>101</Paragraphs>
  <Slides>27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quote-cjk-patch</vt:lpstr>
      <vt:lpstr>等线</vt:lpstr>
      <vt:lpstr>黑体</vt:lpstr>
      <vt:lpstr>微软雅黑</vt:lpstr>
      <vt:lpstr>字魂105号-简雅黑</vt:lpstr>
      <vt:lpstr>Arial</vt:lpstr>
      <vt:lpstr>Times New Roman</vt:lpstr>
      <vt:lpstr>Trebuchet MS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OceanBase 中事务的概念</vt:lpstr>
      <vt:lpstr>OceanBase 中事务的概念</vt:lpstr>
      <vt:lpstr>OceanBase 中事务的概念</vt:lpstr>
      <vt:lpstr>OceanBase 中事务的概念</vt:lpstr>
      <vt:lpstr>OceanBase 中事务的概念</vt:lpstr>
      <vt:lpstr>OceanBase 中事务的概念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与前期调研的差异化分析</vt:lpstr>
      <vt:lpstr>PowerPoint 演示文稿</vt:lpstr>
      <vt:lpstr>PowerPoint 演示文稿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盛鹏 李</cp:lastModifiedBy>
  <cp:revision>1823</cp:revision>
  <dcterms:created xsi:type="dcterms:W3CDTF">2007-09-26T12:04:45Z</dcterms:created>
  <dcterms:modified xsi:type="dcterms:W3CDTF">2026-01-02T07:44:10Z</dcterms:modified>
</cp:coreProperties>
</file>