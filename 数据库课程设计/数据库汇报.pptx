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</p:sldMasterIdLst>
  <p:notesMasterIdLst>
    <p:notesMasterId r:id="rId22"/>
  </p:notesMasterIdLst>
  <p:handoutMasterIdLst>
    <p:handoutMasterId r:id="rId23"/>
  </p:handoutMasterIdLst>
  <p:sldIdLst>
    <p:sldId id="2657" r:id="rId2"/>
    <p:sldId id="348" r:id="rId3"/>
    <p:sldId id="347" r:id="rId4"/>
    <p:sldId id="5150" r:id="rId5"/>
    <p:sldId id="5151" r:id="rId6"/>
    <p:sldId id="5161" r:id="rId7"/>
    <p:sldId id="5153" r:id="rId8"/>
    <p:sldId id="5162" r:id="rId9"/>
    <p:sldId id="5152" r:id="rId10"/>
    <p:sldId id="5155" r:id="rId11"/>
    <p:sldId id="5159" r:id="rId12"/>
    <p:sldId id="5164" r:id="rId13"/>
    <p:sldId id="5156" r:id="rId14"/>
    <p:sldId id="5157" r:id="rId15"/>
    <p:sldId id="5168" r:id="rId16"/>
    <p:sldId id="5165" r:id="rId17"/>
    <p:sldId id="5166" r:id="rId18"/>
    <p:sldId id="5167" r:id="rId19"/>
    <p:sldId id="5169" r:id="rId20"/>
    <p:sldId id="5154" r:id="rId21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1pPr>
    <a:lvl2pPr marL="4556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2pPr>
    <a:lvl3pPr marL="9128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3pPr>
    <a:lvl4pPr marL="13700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4pPr>
    <a:lvl5pPr marL="18272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2657"/>
            <p14:sldId id="348"/>
            <p14:sldId id="347"/>
            <p14:sldId id="5150"/>
            <p14:sldId id="5151"/>
            <p14:sldId id="5161"/>
            <p14:sldId id="5153"/>
            <p14:sldId id="5162"/>
            <p14:sldId id="5152"/>
            <p14:sldId id="5155"/>
            <p14:sldId id="5159"/>
            <p14:sldId id="5164"/>
            <p14:sldId id="5156"/>
            <p14:sldId id="5157"/>
            <p14:sldId id="5168"/>
            <p14:sldId id="5165"/>
            <p14:sldId id="5166"/>
            <p14:sldId id="5167"/>
            <p14:sldId id="5169"/>
            <p14:sldId id="51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DE7"/>
    <a:srgbClr val="F5FEBE"/>
    <a:srgbClr val="F7FE98"/>
    <a:srgbClr val="1B06BA"/>
    <a:srgbClr val="080808"/>
    <a:srgbClr val="339933"/>
    <a:srgbClr val="B5880B"/>
    <a:srgbClr val="E87071"/>
    <a:srgbClr val="00B3EE"/>
    <a:srgbClr val="93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63" autoAdjust="0"/>
    <p:restoredTop sz="93182" autoAdjust="0"/>
  </p:normalViewPr>
  <p:slideViewPr>
    <p:cSldViewPr>
      <p:cViewPr varScale="1">
        <p:scale>
          <a:sx n="105" d="100"/>
          <a:sy n="105" d="100"/>
        </p:scale>
        <p:origin x="230" y="62"/>
      </p:cViewPr>
      <p:guideLst>
        <p:guide orient="horz" pos="3838"/>
        <p:guide pos="295"/>
        <p:guide pos="5193"/>
        <p:guide pos="3152"/>
        <p:guide orient="horz" pos="287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357266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 noProof="0"/>
              <a:t>Muokkaa tekstin perustyylejä napsauttamalla</a:t>
            </a:r>
          </a:p>
          <a:p>
            <a:pPr lvl="1"/>
            <a:r>
              <a:rPr lang="fi-FI" noProof="0"/>
              <a:t>toinen taso</a:t>
            </a:r>
          </a:p>
          <a:p>
            <a:pPr lvl="2"/>
            <a:r>
              <a:rPr lang="fi-FI" noProof="0"/>
              <a:t>kolmas taso</a:t>
            </a:r>
          </a:p>
          <a:p>
            <a:pPr lvl="3"/>
            <a:r>
              <a:rPr lang="fi-FI" noProof="0"/>
              <a:t>neljäs taso</a:t>
            </a:r>
          </a:p>
          <a:p>
            <a:pPr lvl="4"/>
            <a:r>
              <a:rPr lang="fi-FI" noProof="0"/>
              <a:t>viides taso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  <a:pPr>
                <a:defRPr/>
              </a:pPr>
              <a:t>‹#›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20416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768680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8692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066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014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841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9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366980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10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69292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504093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12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27400723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13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26647652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14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4880300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15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186894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16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9832698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17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8837472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18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29311866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19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7924735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20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703464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611560" y="123478"/>
            <a:ext cx="6480720" cy="514102"/>
          </a:xfrm>
          <a:prstGeom prst="rect">
            <a:avLst/>
          </a:prstGeom>
          <a:solidFill>
            <a:schemeClr val="bg1"/>
          </a:solidFill>
        </p:spPr>
        <p:txBody>
          <a:bodyPr rtlCol="0">
            <a:noAutofit/>
          </a:bodyPr>
          <a:lstStyle>
            <a:lvl1pPr algn="l">
              <a:defRPr sz="2400" b="1" baseline="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defRPr sz="20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D7A9122C-2794-4A95-85D5-67E362F7EF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2726" y="201457"/>
            <a:ext cx="1587734" cy="386697"/>
          </a:xfrm>
          <a:prstGeom prst="rect">
            <a:avLst/>
          </a:prstGeom>
        </p:spPr>
      </p:pic>
      <p:cxnSp>
        <p:nvCxnSpPr>
          <p:cNvPr id="5" name="PA-102211">
            <a:extLst>
              <a:ext uri="{FF2B5EF4-FFF2-40B4-BE49-F238E27FC236}">
                <a16:creationId xmlns:a16="http://schemas.microsoft.com/office/drawing/2014/main" id="{C87527B0-2AEC-439E-9D61-9F881129AF8A}"/>
              </a:ext>
            </a:extLst>
          </p:cNvPr>
          <p:cNvCxnSpPr/>
          <p:nvPr userDrawn="1">
            <p:custDataLst>
              <p:tags r:id="rId1"/>
            </p:custDataLst>
          </p:nvPr>
        </p:nvCxnSpPr>
        <p:spPr>
          <a:xfrm>
            <a:off x="355283" y="699542"/>
            <a:ext cx="8555177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等腰三角形 3">
            <a:extLst>
              <a:ext uri="{FF2B5EF4-FFF2-40B4-BE49-F238E27FC236}">
                <a16:creationId xmlns:a16="http://schemas.microsoft.com/office/drawing/2014/main" id="{85669494-41B5-4632-B1D9-01C055E75766}"/>
              </a:ext>
            </a:extLst>
          </p:cNvPr>
          <p:cNvSpPr/>
          <p:nvPr userDrawn="1"/>
        </p:nvSpPr>
        <p:spPr>
          <a:xfrm rot="5400000">
            <a:off x="319564" y="290513"/>
            <a:ext cx="273368" cy="20193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569259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4540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E5853F-F8D3-4201-B7D6-19EE6B4D4F23}"/>
              </a:ext>
            </a:extLst>
          </p:cNvPr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2" r:id="rId2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3926E56-11E2-4B2B-AA1C-5D1F684EF6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49174"/>
            <a:ext cx="1943199" cy="53477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AD42D23-9145-41EA-AB27-9AA088E35FFA}"/>
              </a:ext>
            </a:extLst>
          </p:cNvPr>
          <p:cNvSpPr txBox="1"/>
          <p:nvPr/>
        </p:nvSpPr>
        <p:spPr>
          <a:xfrm>
            <a:off x="1152127" y="2120538"/>
            <a:ext cx="69847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zh-CN" altLang="en-US" sz="28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蓝核智眼</a:t>
            </a:r>
            <a:r>
              <a:rPr lang="en-US" altLang="zh-CN" sz="28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28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海洋放射性物质检测系统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28E2A0A-490D-4FA0-814E-6AD027047792}"/>
              </a:ext>
            </a:extLst>
          </p:cNvPr>
          <p:cNvCxnSpPr/>
          <p:nvPr/>
        </p:nvCxnSpPr>
        <p:spPr>
          <a:xfrm>
            <a:off x="1152128" y="2691158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1">
            <a:extLst>
              <a:ext uri="{FF2B5EF4-FFF2-40B4-BE49-F238E27FC236}">
                <a16:creationId xmlns:a16="http://schemas.microsoft.com/office/drawing/2014/main" id="{660725AF-9C86-4A91-AD17-08FDE39EA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761" y="3592397"/>
            <a:ext cx="5715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iti SC Medium" charset="-122"/>
              </a:rPr>
              <a:t>Dec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iti SC Medium" charset="-122"/>
              </a:rPr>
              <a:t> 23, 2025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eiti SC Medium" charset="-122"/>
            </a:endParaRPr>
          </a:p>
        </p:txBody>
      </p:sp>
      <p:sp>
        <p:nvSpPr>
          <p:cNvPr id="17" name="副标题 3074">
            <a:extLst>
              <a:ext uri="{FF2B5EF4-FFF2-40B4-BE49-F238E27FC236}">
                <a16:creationId xmlns:a16="http://schemas.microsoft.com/office/drawing/2014/main" id="{7ED359D8-6165-457C-A6B9-9EC554BCC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761" y="2967471"/>
            <a:ext cx="5714999" cy="53333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143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0002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4574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9146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3718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171450" marR="0" lvl="0" indent="-171450" algn="ctr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2351136</a:t>
            </a:r>
            <a:r>
              <a:rPr lang="zh-CN" altLang="en-US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李盛鹏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506C26-9F07-8B08-3F2A-64E8643C20C7}"/>
              </a:ext>
            </a:extLst>
          </p:cNvPr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83883" y="1088708"/>
            <a:ext cx="2704624" cy="208121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marL="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altLang="zh-CN" sz="24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500" dirty="0">
                <a:solidFill>
                  <a:srgbClr val="116CEE"/>
                </a:solidFill>
                <a:latin typeface="华文中宋" panose="02010600040101010101" charset="-122"/>
                <a:cs typeface="Arial" panose="020B0604020202020204" pitchFamily="34" charset="0"/>
              </a:rPr>
              <a:t>数据库原理课程设计期末报告</a:t>
            </a:r>
          </a:p>
        </p:txBody>
      </p:sp>
      <p:pic>
        <p:nvPicPr>
          <p:cNvPr id="7" name="图片 6" descr="蓝色的天空&#10;&#10;AI 生成的内容可能不正确。">
            <a:extLst>
              <a:ext uri="{FF2B5EF4-FFF2-40B4-BE49-F238E27FC236}">
                <a16:creationId xmlns:a16="http://schemas.microsoft.com/office/drawing/2014/main" id="{C4536504-F750-051B-9E2B-4B71EB4DAA1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930" y="151726"/>
            <a:ext cx="1409090" cy="1878787"/>
          </a:xfrm>
          <a:prstGeom prst="rect">
            <a:avLst/>
          </a:prstGeom>
        </p:spPr>
      </p:pic>
      <p:pic>
        <p:nvPicPr>
          <p:cNvPr id="9" name="图片 8" descr="浮在水上&#10;&#10;AI 生成的内容可能不正确。">
            <a:extLst>
              <a:ext uri="{FF2B5EF4-FFF2-40B4-BE49-F238E27FC236}">
                <a16:creationId xmlns:a16="http://schemas.microsoft.com/office/drawing/2014/main" id="{43416494-60A9-D03D-4763-938F7B82228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383" y="151726"/>
            <a:ext cx="1327700" cy="187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460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C07FB5-9CC4-48F2-A879-E801494520F5}"/>
              </a:ext>
            </a:extLst>
          </p:cNvPr>
          <p:cNvSpPr/>
          <p:nvPr/>
        </p:nvSpPr>
        <p:spPr>
          <a:xfrm>
            <a:off x="-17200" y="0"/>
            <a:ext cx="3510494" cy="5143500"/>
          </a:xfrm>
          <a:prstGeom prst="rect">
            <a:avLst/>
          </a:prstGeom>
          <a:solidFill>
            <a:srgbClr val="005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B582A2-E1BA-428A-9E48-3D475D1DDB23}"/>
              </a:ext>
            </a:extLst>
          </p:cNvPr>
          <p:cNvSpPr txBox="1"/>
          <p:nvPr/>
        </p:nvSpPr>
        <p:spPr>
          <a:xfrm>
            <a:off x="4717746" y="540633"/>
            <a:ext cx="229651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700" b="1" dirty="0">
                <a:solidFill>
                  <a:srgbClr val="005A8A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CONTENTS</a:t>
            </a:r>
            <a:endParaRPr lang="zh-CN" altLang="en-US" sz="2700" b="1" dirty="0">
              <a:solidFill>
                <a:srgbClr val="005A8A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7EDAF44-FC6E-471F-B579-EFFBBFD543B4}"/>
              </a:ext>
            </a:extLst>
          </p:cNvPr>
          <p:cNvGrpSpPr/>
          <p:nvPr/>
        </p:nvGrpSpPr>
        <p:grpSpPr>
          <a:xfrm>
            <a:off x="4717745" y="1434670"/>
            <a:ext cx="2460170" cy="461665"/>
            <a:chOff x="6588037" y="2227220"/>
            <a:chExt cx="3280226" cy="615553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7FC18541-1EDC-4A4F-BB66-D4888DCFB88C}"/>
                </a:ext>
              </a:extLst>
            </p:cNvPr>
            <p:cNvGrpSpPr/>
            <p:nvPr/>
          </p:nvGrpSpPr>
          <p:grpSpPr>
            <a:xfrm>
              <a:off x="6588037" y="2227220"/>
              <a:ext cx="3280226" cy="615553"/>
              <a:chOff x="6588037" y="2227220"/>
              <a:chExt cx="3280226" cy="615553"/>
            </a:xfrm>
          </p:grpSpPr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7F7056A-74B0-40C5-ADE6-8FFD207D247D}"/>
                  </a:ext>
                </a:extLst>
              </p:cNvPr>
              <p:cNvSpPr txBox="1"/>
              <p:nvPr/>
            </p:nvSpPr>
            <p:spPr>
              <a:xfrm>
                <a:off x="6588037" y="2227220"/>
                <a:ext cx="1020724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solidFill>
                      <a:srgbClr val="005A8A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01</a:t>
                </a:r>
                <a:endParaRPr lang="zh-CN" altLang="en-US" sz="2400" b="1" dirty="0">
                  <a:solidFill>
                    <a:srgbClr val="005A8A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DE54445-99F6-41A4-BB92-77DE17BA2779}"/>
                  </a:ext>
                </a:extLst>
              </p:cNvPr>
              <p:cNvSpPr/>
              <p:nvPr/>
            </p:nvSpPr>
            <p:spPr>
              <a:xfrm>
                <a:off x="7467606" y="2278143"/>
                <a:ext cx="2400657" cy="492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800" b="1" dirty="0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研究背景与现状</a:t>
                </a:r>
                <a:endParaRPr lang="zh-CN" altLang="en-US" sz="1800" dirty="0">
                  <a:solidFill>
                    <a:prstClr val="black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8B9B0397-BFC7-4025-8F36-1A3071A01873}"/>
                </a:ext>
              </a:extLst>
            </p:cNvPr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DEE4682-1DDF-47C9-B4B7-A1D195B03673}"/>
              </a:ext>
            </a:extLst>
          </p:cNvPr>
          <p:cNvGrpSpPr/>
          <p:nvPr/>
        </p:nvGrpSpPr>
        <p:grpSpPr>
          <a:xfrm>
            <a:off x="4717746" y="2075349"/>
            <a:ext cx="2921835" cy="461665"/>
            <a:chOff x="6588037" y="2227220"/>
            <a:chExt cx="3895779" cy="615553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DE15DE0C-C5BF-4F51-9C05-D721DA2CA45A}"/>
                </a:ext>
              </a:extLst>
            </p:cNvPr>
            <p:cNvGrpSpPr/>
            <p:nvPr/>
          </p:nvGrpSpPr>
          <p:grpSpPr>
            <a:xfrm>
              <a:off x="6588037" y="2227220"/>
              <a:ext cx="3895779" cy="615553"/>
              <a:chOff x="6588037" y="2227220"/>
              <a:chExt cx="3895779" cy="615553"/>
            </a:xfrm>
          </p:grpSpPr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73BDF19-4629-4034-9C45-D76A46D4A6F1}"/>
                  </a:ext>
                </a:extLst>
              </p:cNvPr>
              <p:cNvSpPr txBox="1"/>
              <p:nvPr/>
            </p:nvSpPr>
            <p:spPr>
              <a:xfrm>
                <a:off x="6588037" y="2227220"/>
                <a:ext cx="1020724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solidFill>
                      <a:srgbClr val="005A8A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02</a:t>
                </a:r>
                <a:endParaRPr lang="zh-CN" altLang="en-US" sz="2400" b="1" dirty="0">
                  <a:solidFill>
                    <a:srgbClr val="005A8A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9B6583D-65F5-4330-9E1C-25250315BB73}"/>
                  </a:ext>
                </a:extLst>
              </p:cNvPr>
              <p:cNvSpPr/>
              <p:nvPr/>
            </p:nvSpPr>
            <p:spPr>
              <a:xfrm>
                <a:off x="7467606" y="2278143"/>
                <a:ext cx="3016210" cy="492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800" b="1" dirty="0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系统需求与用户分析</a:t>
                </a:r>
                <a:endParaRPr lang="zh-CN" altLang="en-US" sz="1800" dirty="0">
                  <a:solidFill>
                    <a:prstClr val="black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E3B5E786-7DCC-4D63-812D-DFD0F6CB7E57}"/>
                </a:ext>
              </a:extLst>
            </p:cNvPr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D2C984D-3E94-4D84-8AB9-B4EB276C630B}"/>
              </a:ext>
            </a:extLst>
          </p:cNvPr>
          <p:cNvGrpSpPr/>
          <p:nvPr/>
        </p:nvGrpSpPr>
        <p:grpSpPr>
          <a:xfrm>
            <a:off x="4717745" y="2700081"/>
            <a:ext cx="2921835" cy="461665"/>
            <a:chOff x="6588037" y="2227220"/>
            <a:chExt cx="3895779" cy="615553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CE1F2623-C372-4252-ACE2-3AC28EC4490E}"/>
                </a:ext>
              </a:extLst>
            </p:cNvPr>
            <p:cNvGrpSpPr/>
            <p:nvPr/>
          </p:nvGrpSpPr>
          <p:grpSpPr>
            <a:xfrm>
              <a:off x="6588037" y="2227220"/>
              <a:ext cx="3895779" cy="615553"/>
              <a:chOff x="6588037" y="2227220"/>
              <a:chExt cx="3895779" cy="615553"/>
            </a:xfrm>
          </p:grpSpPr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1DE4362-D07F-477E-AC41-341A241EEBA6}"/>
                  </a:ext>
                </a:extLst>
              </p:cNvPr>
              <p:cNvSpPr txBox="1"/>
              <p:nvPr/>
            </p:nvSpPr>
            <p:spPr>
              <a:xfrm>
                <a:off x="6588037" y="2227220"/>
                <a:ext cx="1020724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solidFill>
                      <a:srgbClr val="005A8A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03</a:t>
                </a:r>
                <a:endParaRPr lang="zh-CN" altLang="en-US" sz="2400" b="1" dirty="0">
                  <a:solidFill>
                    <a:srgbClr val="005A8A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3292BE4C-C036-44B3-9CAB-D42BB67D15B3}"/>
                  </a:ext>
                </a:extLst>
              </p:cNvPr>
              <p:cNvSpPr/>
              <p:nvPr/>
            </p:nvSpPr>
            <p:spPr>
              <a:xfrm>
                <a:off x="7467606" y="2278143"/>
                <a:ext cx="3016210" cy="492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800" b="1" dirty="0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数据库的设计与实现</a:t>
                </a:r>
                <a:endParaRPr lang="zh-CN" altLang="en-US" sz="1800" dirty="0">
                  <a:solidFill>
                    <a:prstClr val="black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E6B2F5F7-1CF7-4640-A753-0092859B3BE6}"/>
                </a:ext>
              </a:extLst>
            </p:cNvPr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84B32EB-9B5E-496F-8010-BFF2ACFF54BD}"/>
              </a:ext>
            </a:extLst>
          </p:cNvPr>
          <p:cNvGrpSpPr/>
          <p:nvPr/>
        </p:nvGrpSpPr>
        <p:grpSpPr>
          <a:xfrm>
            <a:off x="4717744" y="3324812"/>
            <a:ext cx="1306008" cy="461665"/>
            <a:chOff x="6588037" y="2227220"/>
            <a:chExt cx="1741344" cy="615553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1A182596-2005-4575-9FCE-A1EFFA8256E2}"/>
                </a:ext>
              </a:extLst>
            </p:cNvPr>
            <p:cNvGrpSpPr/>
            <p:nvPr/>
          </p:nvGrpSpPr>
          <p:grpSpPr>
            <a:xfrm>
              <a:off x="6588037" y="2227220"/>
              <a:ext cx="1741344" cy="615553"/>
              <a:chOff x="6588037" y="2227220"/>
              <a:chExt cx="1741344" cy="615553"/>
            </a:xfrm>
          </p:grpSpPr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12FD6E5A-E1F1-4755-89DA-BAB615458FBF}"/>
                  </a:ext>
                </a:extLst>
              </p:cNvPr>
              <p:cNvSpPr txBox="1"/>
              <p:nvPr/>
            </p:nvSpPr>
            <p:spPr>
              <a:xfrm>
                <a:off x="6588037" y="2227220"/>
                <a:ext cx="1020724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solidFill>
                      <a:srgbClr val="005A8A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04</a:t>
                </a:r>
                <a:endParaRPr lang="zh-CN" altLang="en-US" sz="2400" b="1" dirty="0">
                  <a:solidFill>
                    <a:srgbClr val="005A8A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745AA64B-6D07-4BC7-A593-B6B9806417C9}"/>
                  </a:ext>
                </a:extLst>
              </p:cNvPr>
              <p:cNvSpPr/>
              <p:nvPr/>
            </p:nvSpPr>
            <p:spPr>
              <a:xfrm>
                <a:off x="7467606" y="2278143"/>
                <a:ext cx="861775" cy="492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800" b="1" dirty="0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致谢</a:t>
                </a:r>
                <a:endParaRPr lang="zh-CN" altLang="en-US" sz="1800" dirty="0">
                  <a:solidFill>
                    <a:prstClr val="black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5864F116-E011-4EEF-8894-6A5F2416C2C9}"/>
                </a:ext>
              </a:extLst>
            </p:cNvPr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65C1287-DAC9-4447-9797-CC4BEB1D4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671" y="2196323"/>
            <a:ext cx="1428750" cy="142875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47" y="1399168"/>
            <a:ext cx="1512998" cy="522185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353" y="540632"/>
            <a:ext cx="737387" cy="73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19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0C800E5-A1B3-4306-BC1E-9FCC4A76230D}"/>
              </a:ext>
            </a:extLst>
          </p:cNvPr>
          <p:cNvSpPr/>
          <p:nvPr/>
        </p:nvSpPr>
        <p:spPr>
          <a:xfrm>
            <a:off x="-17201" y="0"/>
            <a:ext cx="9161201" cy="2712720"/>
          </a:xfrm>
          <a:prstGeom prst="rect">
            <a:avLst/>
          </a:prstGeom>
          <a:solidFill>
            <a:srgbClr val="005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986DBED7-A45E-41D4-BE4B-6F506990CE4E}"/>
              </a:ext>
            </a:extLst>
          </p:cNvPr>
          <p:cNvSpPr/>
          <p:nvPr/>
        </p:nvSpPr>
        <p:spPr>
          <a:xfrm>
            <a:off x="2223880" y="2191744"/>
            <a:ext cx="4696241" cy="1011473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5A8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4112A8-51B9-42E0-A937-1FF3959A6007}"/>
              </a:ext>
            </a:extLst>
          </p:cNvPr>
          <p:cNvSpPr/>
          <p:nvPr/>
        </p:nvSpPr>
        <p:spPr>
          <a:xfrm>
            <a:off x="3121178" y="2453798"/>
            <a:ext cx="312617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7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1.</a:t>
            </a:r>
            <a:r>
              <a:rPr lang="zh-CN" altLang="en-US" sz="27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  研究背景与现状</a:t>
            </a:r>
            <a:endParaRPr lang="zh-CN" altLang="en-US" sz="2700" dirty="0">
              <a:solidFill>
                <a:prstClr val="black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522" y="565590"/>
            <a:ext cx="981608" cy="98160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065" y="726292"/>
            <a:ext cx="1825583" cy="63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08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9FA42-28B1-44D8-974C-70151752C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研究背景与现状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052001-98B9-44FF-B1B9-0A2D77673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Background</a:t>
            </a:r>
            <a:endParaRPr lang="zh-CN" altLang="en-US" b="1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全球核能利用、海洋开发和国际产业活动的不断扩大</a:t>
            </a:r>
            <a:endParaRPr lang="en-US" altLang="zh-CN" dirty="0"/>
          </a:p>
          <a:p>
            <a:pPr lvl="1"/>
            <a:r>
              <a:rPr lang="zh-CN" altLang="en-US" dirty="0"/>
              <a:t>核废水泄露和不良的善后处理</a:t>
            </a:r>
            <a:endParaRPr lang="en-US" altLang="zh-CN" dirty="0"/>
          </a:p>
          <a:p>
            <a:pPr lvl="1"/>
            <a:r>
              <a:rPr lang="zh-CN" altLang="en-US" dirty="0"/>
              <a:t>放射性物质在其中具有</a:t>
            </a:r>
            <a:r>
              <a:rPr lang="zh-CN" altLang="en-US" b="1" dirty="0"/>
              <a:t>扩散范围广、迁移路径隐蔽、富集途径复杂</a:t>
            </a:r>
            <a:r>
              <a:rPr lang="zh-CN" altLang="en-US" dirty="0"/>
              <a:t>等特点</a:t>
            </a:r>
            <a:endParaRPr lang="en-US" altLang="zh-CN" dirty="0"/>
          </a:p>
          <a:p>
            <a:pPr lvl="1"/>
            <a:r>
              <a:rPr lang="zh-CN" altLang="en-US" dirty="0"/>
              <a:t>提供</a:t>
            </a:r>
            <a:r>
              <a:rPr lang="zh-CN" altLang="en-US" b="1" dirty="0"/>
              <a:t>可信、及时、可追溯</a:t>
            </a:r>
            <a:r>
              <a:rPr lang="zh-CN" altLang="en-US" dirty="0"/>
              <a:t>的技术支撑，为区域国家的海洋生态安全和核风险管理提供科学依据。</a:t>
            </a:r>
            <a:endParaRPr lang="en-US" altLang="zh-CN" dirty="0"/>
          </a:p>
          <a:p>
            <a:pPr lvl="1"/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b="1" dirty="0">
                <a:solidFill>
                  <a:srgbClr val="C00000"/>
                </a:solidFill>
              </a:rPr>
              <a:t>Constraints</a:t>
            </a:r>
          </a:p>
          <a:p>
            <a:pPr lvl="1"/>
            <a:r>
              <a:rPr lang="zh-CN" altLang="en-US" dirty="0"/>
              <a:t>数据采集分散且不统一</a:t>
            </a:r>
            <a:endParaRPr lang="en-US" altLang="zh-CN" dirty="0"/>
          </a:p>
          <a:p>
            <a:pPr lvl="1"/>
            <a:r>
              <a:rPr lang="zh-CN" altLang="en-US" dirty="0"/>
              <a:t>数据实时性不足</a:t>
            </a:r>
            <a:endParaRPr lang="en-US" altLang="zh-CN" dirty="0"/>
          </a:p>
          <a:p>
            <a:pPr lvl="1"/>
            <a:r>
              <a:rPr lang="zh-CN" altLang="en-US" dirty="0"/>
              <a:t>放射性异常检测与预警机制薄弱</a:t>
            </a:r>
            <a:endParaRPr lang="en-US" altLang="zh-CN" dirty="0"/>
          </a:p>
          <a:p>
            <a:endParaRPr lang="zh-CN" altLang="en-US" b="1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6545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F888-7A1A-41B9-83DD-691819A8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Source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752E53-F4A4-412B-B148-6CC51B0CC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</a:rPr>
              <a:t>数据来源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zh-CN" altLang="en-US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IAEA MARIS Project</a:t>
            </a:r>
          </a:p>
          <a:p>
            <a:pPr lvl="1"/>
            <a:r>
              <a:rPr lang="zh-CN" altLang="en-US" sz="18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洋流数据</a:t>
            </a:r>
            <a:r>
              <a:rPr lang="en-US" altLang="zh-CN" sz="18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 sz="1800" b="1" dirty="0">
                <a:solidFill>
                  <a:srgbClr val="116CE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40k+</a:t>
            </a:r>
            <a:r>
              <a:rPr lang="zh-CN" altLang="en-US" sz="18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，生物采样数据</a:t>
            </a:r>
            <a:r>
              <a:rPr lang="en-US" altLang="zh-CN" sz="18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 sz="1800" b="1" dirty="0">
                <a:solidFill>
                  <a:srgbClr val="116CE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30k+</a:t>
            </a:r>
          </a:p>
          <a:p>
            <a:pPr lvl="1"/>
            <a:r>
              <a:rPr lang="zh-CN" altLang="en-US" sz="18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沉积物数据</a:t>
            </a:r>
            <a:r>
              <a:rPr lang="en-US" altLang="zh-CN" sz="18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 sz="1800" b="1" dirty="0">
                <a:solidFill>
                  <a:srgbClr val="116CE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10k+</a:t>
            </a:r>
            <a:r>
              <a:rPr lang="zh-CN" altLang="en-US" sz="18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，有害物质数据</a:t>
            </a:r>
            <a:r>
              <a:rPr lang="en-US" altLang="zh-CN" sz="18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 sz="1800" b="1" dirty="0">
                <a:solidFill>
                  <a:srgbClr val="116CE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4k+</a:t>
            </a:r>
            <a:endParaRPr lang="en-US" altLang="zh-CN" dirty="0"/>
          </a:p>
          <a:p>
            <a:pPr lvl="1"/>
            <a:r>
              <a:rPr lang="zh-CN" altLang="en-US" sz="18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时间跨度为</a:t>
            </a:r>
            <a:r>
              <a:rPr lang="en-US" altLang="zh-CN" sz="1800" b="1" dirty="0">
                <a:solidFill>
                  <a:srgbClr val="116CE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1974-2025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92B243A-DD3E-C752-B0FF-B0200326C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60" y="923623"/>
            <a:ext cx="2355533" cy="52339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FE1AA45-A663-2DB1-AC8A-9B09CC1A3103}"/>
              </a:ext>
            </a:extLst>
          </p:cNvPr>
          <p:cNvSpPr txBox="1"/>
          <p:nvPr/>
        </p:nvSpPr>
        <p:spPr>
          <a:xfrm>
            <a:off x="4489079" y="4692069"/>
            <a:ext cx="432625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altLang="zh-CN" sz="900" dirty="0"/>
              <a:t>I</a:t>
            </a:r>
            <a:r>
              <a:rPr lang="zh-CN" altLang="en-US" sz="900" dirty="0"/>
              <a:t>AEA MARIS, 202</a:t>
            </a:r>
            <a:r>
              <a:rPr lang="en-US" altLang="zh-CN" sz="900" dirty="0"/>
              <a:t>5</a:t>
            </a:r>
            <a:r>
              <a:rPr lang="zh-CN" altLang="en-US" sz="900" dirty="0"/>
              <a:t>. IAEA Marine Radioactivity Information System.In: Division of IAEA Marine Environment Laboratories[online]. Monaco.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9E2A2C9-1211-039A-3ADD-30BDB9108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1826035"/>
            <a:ext cx="3788688" cy="82359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D5F4653-5079-632D-1A0C-CA63DB3DE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80" y="2828734"/>
            <a:ext cx="3744416" cy="170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74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0C800E5-A1B3-4306-BC1E-9FCC4A76230D}"/>
              </a:ext>
            </a:extLst>
          </p:cNvPr>
          <p:cNvSpPr/>
          <p:nvPr/>
        </p:nvSpPr>
        <p:spPr>
          <a:xfrm>
            <a:off x="-17201" y="0"/>
            <a:ext cx="9161201" cy="2712720"/>
          </a:xfrm>
          <a:prstGeom prst="rect">
            <a:avLst/>
          </a:prstGeom>
          <a:solidFill>
            <a:srgbClr val="005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986DBED7-A45E-41D4-BE4B-6F506990CE4E}"/>
              </a:ext>
            </a:extLst>
          </p:cNvPr>
          <p:cNvSpPr/>
          <p:nvPr/>
        </p:nvSpPr>
        <p:spPr>
          <a:xfrm>
            <a:off x="2223880" y="2191744"/>
            <a:ext cx="4696241" cy="1011473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5A8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4112A8-51B9-42E0-A937-1FF3959A6007}"/>
              </a:ext>
            </a:extLst>
          </p:cNvPr>
          <p:cNvSpPr/>
          <p:nvPr/>
        </p:nvSpPr>
        <p:spPr>
          <a:xfrm>
            <a:off x="2915816" y="2458804"/>
            <a:ext cx="3613490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7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2.</a:t>
            </a:r>
            <a:r>
              <a:rPr lang="zh-CN" altLang="en-US" sz="27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系统需求与用户分析</a:t>
            </a:r>
            <a:endParaRPr lang="zh-CN" altLang="en-US" sz="2700" dirty="0">
              <a:solidFill>
                <a:prstClr val="black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522" y="565590"/>
            <a:ext cx="981608" cy="98160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065" y="726292"/>
            <a:ext cx="1825583" cy="63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048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4ED880-9912-471B-AE0A-AF8D2C68D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系统需求与用户分析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00F451-4D14-404C-AFE5-86B2A61D8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</a:rPr>
              <a:t>需求分析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sz="20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数据管理</a:t>
            </a:r>
            <a:endParaRPr lang="en-US" altLang="zh-CN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/>
            <a:r>
              <a:rPr lang="en-US" altLang="zh-CN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 </a:t>
            </a:r>
            <a:r>
              <a:rPr lang="zh-CN" altLang="en-US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数据增删改查</a:t>
            </a:r>
            <a:endParaRPr lang="en-US" altLang="zh-CN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lvl="1"/>
            <a:r>
              <a:rPr lang="zh-CN" altLang="en-US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 用户管理</a:t>
            </a:r>
            <a:endParaRPr lang="en-US" altLang="zh-CN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r>
              <a:rPr lang="zh-CN" altLang="en-US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数据分析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数据看板</a:t>
            </a:r>
            <a:endParaRPr lang="en-US" altLang="zh-CN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lvl="1"/>
            <a:r>
              <a:rPr lang="zh-CN" altLang="en-US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数据可视化</a:t>
            </a:r>
            <a:endParaRPr lang="en-US" altLang="zh-CN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lvl="1"/>
            <a:endParaRPr lang="en-US" altLang="zh-CN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90DB23-18E8-00D0-90EE-9C4E7B8D4D3C}"/>
              </a:ext>
            </a:extLst>
          </p:cNvPr>
          <p:cNvGrpSpPr/>
          <p:nvPr/>
        </p:nvGrpSpPr>
        <p:grpSpPr>
          <a:xfrm>
            <a:off x="6928901" y="2980365"/>
            <a:ext cx="1963579" cy="1671638"/>
            <a:chOff x="1515" y="6329"/>
            <a:chExt cx="4123" cy="3510"/>
          </a:xfrm>
        </p:grpSpPr>
        <p:sp>
          <p:nvSpPr>
            <p:cNvPr id="5" name="流程图: 合并 4">
              <a:extLst>
                <a:ext uri="{FF2B5EF4-FFF2-40B4-BE49-F238E27FC236}">
                  <a16:creationId xmlns:a16="http://schemas.microsoft.com/office/drawing/2014/main" id="{0629EEF0-B962-A27A-D9FB-D98C50FDCBD3}"/>
                </a:ext>
              </a:extLst>
            </p:cNvPr>
            <p:cNvSpPr/>
            <p:nvPr/>
          </p:nvSpPr>
          <p:spPr>
            <a:xfrm flipV="1">
              <a:off x="1515" y="6329"/>
              <a:ext cx="4123" cy="3510"/>
            </a:xfrm>
            <a:prstGeom prst="flowChartMerge">
              <a:avLst/>
            </a:prstGeom>
            <a:solidFill>
              <a:srgbClr val="116CEE">
                <a:alpha val="37000"/>
              </a:srgb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/>
            </a:p>
          </p:txBody>
        </p:sp>
        <p:sp>
          <p:nvSpPr>
            <p:cNvPr id="6" name="流程图: 合并 5">
              <a:extLst>
                <a:ext uri="{FF2B5EF4-FFF2-40B4-BE49-F238E27FC236}">
                  <a16:creationId xmlns:a16="http://schemas.microsoft.com/office/drawing/2014/main" id="{26DAFBE9-6F15-72D3-83D9-1A29CEBAFB25}"/>
                </a:ext>
              </a:extLst>
            </p:cNvPr>
            <p:cNvSpPr/>
            <p:nvPr/>
          </p:nvSpPr>
          <p:spPr>
            <a:xfrm flipV="1">
              <a:off x="1989" y="6329"/>
              <a:ext cx="3175" cy="2704"/>
            </a:xfrm>
            <a:prstGeom prst="flowChartMerge">
              <a:avLst/>
            </a:prstGeom>
            <a:solidFill>
              <a:srgbClr val="116CEE">
                <a:alpha val="36000"/>
              </a:srgb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/>
            </a:p>
          </p:txBody>
        </p:sp>
        <p:sp>
          <p:nvSpPr>
            <p:cNvPr id="7" name="流程图: 合并 6">
              <a:extLst>
                <a:ext uri="{FF2B5EF4-FFF2-40B4-BE49-F238E27FC236}">
                  <a16:creationId xmlns:a16="http://schemas.microsoft.com/office/drawing/2014/main" id="{6A9DED47-3E5F-0408-365C-3865868B470D}"/>
                </a:ext>
              </a:extLst>
            </p:cNvPr>
            <p:cNvSpPr/>
            <p:nvPr/>
          </p:nvSpPr>
          <p:spPr>
            <a:xfrm flipV="1">
              <a:off x="2595" y="6329"/>
              <a:ext cx="1998" cy="1702"/>
            </a:xfrm>
            <a:prstGeom prst="flowChartMerge">
              <a:avLst/>
            </a:prstGeom>
            <a:solidFill>
              <a:schemeClr val="accent1">
                <a:alpha val="95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EFAE8F0-4C09-3098-B8BA-82333AFFA6E9}"/>
                </a:ext>
              </a:extLst>
            </p:cNvPr>
            <p:cNvSpPr txBox="1"/>
            <p:nvPr/>
          </p:nvSpPr>
          <p:spPr>
            <a:xfrm>
              <a:off x="2077" y="7397"/>
              <a:ext cx="3017" cy="57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  <a:sym typeface="+mn-ea"/>
                </a:rPr>
                <a:t>管理员用户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6FDF2C8-18F8-72C5-1F6F-88407C788767}"/>
                </a:ext>
              </a:extLst>
            </p:cNvPr>
            <p:cNvSpPr txBox="1"/>
            <p:nvPr/>
          </p:nvSpPr>
          <p:spPr>
            <a:xfrm>
              <a:off x="2577" y="8306"/>
              <a:ext cx="2016" cy="100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dirty="0">
                  <a:solidFill>
                    <a:srgbClr val="24292F"/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  <a:sym typeface="+mn-ea"/>
                </a:rPr>
                <a:t>数据管理用户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00665E5-A9BF-138F-0BED-114551342B62}"/>
                </a:ext>
              </a:extLst>
            </p:cNvPr>
            <p:cNvSpPr txBox="1"/>
            <p:nvPr/>
          </p:nvSpPr>
          <p:spPr>
            <a:xfrm>
              <a:off x="2791" y="9149"/>
              <a:ext cx="1588" cy="57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>
                  <a:solidFill>
                    <a:srgbClr val="24292F"/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  <a:sym typeface="+mn-ea"/>
                </a:rPr>
                <a:t>普通用户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2D5936CB-1C39-F525-44A4-4B441CA8EE2E}"/>
              </a:ext>
            </a:extLst>
          </p:cNvPr>
          <p:cNvSpPr txBox="1"/>
          <p:nvPr/>
        </p:nvSpPr>
        <p:spPr>
          <a:xfrm>
            <a:off x="4293120" y="802592"/>
            <a:ext cx="4646296" cy="178061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125000"/>
              </a:lnSpc>
              <a:buChar char="•"/>
            </a:pP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用户划分：</a:t>
            </a:r>
          </a:p>
          <a:p>
            <a:pPr marL="342900" indent="-342900" eaLnBrk="0" hangingPunct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管理员用户：管理用户与数据审核</a:t>
            </a:r>
          </a:p>
          <a:p>
            <a:pPr marL="342900" indent="-342900" eaLnBrk="0" hangingPunct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数据管理用户：数据具体录入和管理</a:t>
            </a:r>
          </a:p>
          <a:p>
            <a:pPr marL="342900" indent="-342900" eaLnBrk="0" hangingPunct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普通用户：仅获取数据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3771A61-6A5D-5382-62A3-0F42936E1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107689"/>
              </p:ext>
            </p:extLst>
          </p:nvPr>
        </p:nvGraphicFramePr>
        <p:xfrm>
          <a:off x="132573" y="3363838"/>
          <a:ext cx="6422472" cy="1354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5618">
                  <a:extLst>
                    <a:ext uri="{9D8B030D-6E8A-4147-A177-3AD203B41FA5}">
                      <a16:colId xmlns:a16="http://schemas.microsoft.com/office/drawing/2014/main" val="2972839528"/>
                    </a:ext>
                  </a:extLst>
                </a:gridCol>
                <a:gridCol w="1825697">
                  <a:extLst>
                    <a:ext uri="{9D8B030D-6E8A-4147-A177-3AD203B41FA5}">
                      <a16:colId xmlns:a16="http://schemas.microsoft.com/office/drawing/2014/main" val="1038838889"/>
                    </a:ext>
                  </a:extLst>
                </a:gridCol>
                <a:gridCol w="1385539">
                  <a:extLst>
                    <a:ext uri="{9D8B030D-6E8A-4147-A177-3AD203B41FA5}">
                      <a16:colId xmlns:a16="http://schemas.microsoft.com/office/drawing/2014/main" val="3654239300"/>
                    </a:ext>
                  </a:extLst>
                </a:gridCol>
                <a:gridCol w="1605618">
                  <a:extLst>
                    <a:ext uri="{9D8B030D-6E8A-4147-A177-3AD203B41FA5}">
                      <a16:colId xmlns:a16="http://schemas.microsoft.com/office/drawing/2014/main" val="2293030146"/>
                    </a:ext>
                  </a:extLst>
                </a:gridCol>
              </a:tblGrid>
              <a:tr h="44851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海洋放射污染分析人员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放射源管理人员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样本检测人员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科研人员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1442012"/>
                  </a:ext>
                </a:extLst>
              </a:tr>
              <a:tr h="44851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福岛核事故等意外事故不可控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核电站运行状态变更滞后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手工录入错误率</a:t>
                      </a:r>
                      <a:r>
                        <a:rPr lang="en-US" altLang="zh-CN" sz="1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3-5%</a:t>
                      </a:r>
                      <a:endParaRPr lang="zh-CN" altLang="en-US" sz="1200" b="1" i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数据难获取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9924123"/>
                  </a:ext>
                </a:extLst>
              </a:tr>
              <a:tr h="44851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异常数据</a:t>
                      </a:r>
                      <a:r>
                        <a:rPr lang="zh-CN" altLang="en-US" sz="1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发现不及时</a:t>
                      </a:r>
                      <a:endParaRPr lang="zh-CN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放射源状态</a:t>
                      </a:r>
                      <a:r>
                        <a:rPr lang="zh-CN" altLang="en-US" sz="1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更新不及时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检测</a:t>
                      </a:r>
                      <a:r>
                        <a:rPr lang="zh-CN" altLang="en-US" sz="1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效率低下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相关数据</a:t>
                      </a:r>
                      <a:r>
                        <a:rPr lang="zh-CN" altLang="en-US" sz="1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有获取需求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3492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1620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0C800E5-A1B3-4306-BC1E-9FCC4A76230D}"/>
              </a:ext>
            </a:extLst>
          </p:cNvPr>
          <p:cNvSpPr/>
          <p:nvPr/>
        </p:nvSpPr>
        <p:spPr>
          <a:xfrm>
            <a:off x="-17201" y="0"/>
            <a:ext cx="9161201" cy="2712720"/>
          </a:xfrm>
          <a:prstGeom prst="rect">
            <a:avLst/>
          </a:prstGeom>
          <a:solidFill>
            <a:srgbClr val="005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986DBED7-A45E-41D4-BE4B-6F506990CE4E}"/>
              </a:ext>
            </a:extLst>
          </p:cNvPr>
          <p:cNvSpPr/>
          <p:nvPr/>
        </p:nvSpPr>
        <p:spPr>
          <a:xfrm>
            <a:off x="2223880" y="2191744"/>
            <a:ext cx="4696241" cy="1011473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5A8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4112A8-51B9-42E0-A937-1FF3959A6007}"/>
              </a:ext>
            </a:extLst>
          </p:cNvPr>
          <p:cNvSpPr/>
          <p:nvPr/>
        </p:nvSpPr>
        <p:spPr>
          <a:xfrm>
            <a:off x="2872142" y="2458804"/>
            <a:ext cx="371608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7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3. </a:t>
            </a:r>
            <a:r>
              <a:rPr lang="zh-CN" altLang="en-US" sz="27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数据库的设计与实现</a:t>
            </a:r>
            <a:endParaRPr lang="zh-CN" altLang="en-US" sz="2700" dirty="0">
              <a:solidFill>
                <a:prstClr val="black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522" y="565590"/>
            <a:ext cx="981608" cy="98160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065" y="726292"/>
            <a:ext cx="1825583" cy="63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673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8C702A2B-F146-A677-076C-B284C061EF6A}"/>
              </a:ext>
            </a:extLst>
          </p:cNvPr>
          <p:cNvSpPr/>
          <p:nvPr/>
        </p:nvSpPr>
        <p:spPr>
          <a:xfrm>
            <a:off x="2002990" y="3224008"/>
            <a:ext cx="4298776" cy="8530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A0AE9D09-9639-8AE7-79CC-29EA73047A6A}"/>
              </a:ext>
            </a:extLst>
          </p:cNvPr>
          <p:cNvSpPr/>
          <p:nvPr/>
        </p:nvSpPr>
        <p:spPr>
          <a:xfrm>
            <a:off x="2002990" y="2071880"/>
            <a:ext cx="4298776" cy="8530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626D92C-D58A-E091-AE97-F7640665FB4E}"/>
              </a:ext>
            </a:extLst>
          </p:cNvPr>
          <p:cNvSpPr/>
          <p:nvPr/>
        </p:nvSpPr>
        <p:spPr>
          <a:xfrm>
            <a:off x="1979713" y="926826"/>
            <a:ext cx="4298776" cy="8530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6D9FA42-28B1-44D8-974C-70151752C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 err="1">
                <a:latin typeface="华文中宋" panose="02010600040101010101" charset="-122"/>
                <a:cs typeface="Arial" panose="020B0604020202020204" pitchFamily="34" charset="0"/>
              </a:rPr>
              <a:t>解决方案</a:t>
            </a:r>
            <a:endParaRPr lang="en-US" altLang="zh-CN" sz="2400" dirty="0">
              <a:latin typeface="华文中宋" panose="02010600040101010101" charset="-122"/>
              <a:cs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C33E4D4-209F-5581-964E-30A4B258C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418" y="1227906"/>
            <a:ext cx="1095375" cy="43815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F4EC32B-B529-F4CE-97F1-1A2087622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356" y="3392393"/>
            <a:ext cx="688853" cy="50794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2885284-2B21-C73C-99CE-06C4DF39D5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8244" y="2363426"/>
            <a:ext cx="694672" cy="35700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CD77A7B-1468-54AC-BAE7-B33E430CC4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9822" y="2382288"/>
            <a:ext cx="924778" cy="355587"/>
          </a:xfrm>
          <a:prstGeom prst="rect">
            <a:avLst/>
          </a:prstGeom>
        </p:spPr>
      </p:pic>
      <p:sp>
        <p:nvSpPr>
          <p:cNvPr id="25" name="流程图: 存储数据 24">
            <a:extLst>
              <a:ext uri="{FF2B5EF4-FFF2-40B4-BE49-F238E27FC236}">
                <a16:creationId xmlns:a16="http://schemas.microsoft.com/office/drawing/2014/main" id="{065A9CEA-83D1-14EB-16F8-D210D8EAF9C5}"/>
              </a:ext>
            </a:extLst>
          </p:cNvPr>
          <p:cNvSpPr/>
          <p:nvPr/>
        </p:nvSpPr>
        <p:spPr>
          <a:xfrm rot="16200000">
            <a:off x="3483879" y="629342"/>
            <a:ext cx="2178360" cy="9144000"/>
          </a:xfrm>
          <a:prstGeom prst="flowChartOnlineStorag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5D95740-A9F1-0CDB-BEB7-3F36B8AABE94}"/>
              </a:ext>
            </a:extLst>
          </p:cNvPr>
          <p:cNvSpPr txBox="1"/>
          <p:nvPr/>
        </p:nvSpPr>
        <p:spPr>
          <a:xfrm>
            <a:off x="-8786" y="4508892"/>
            <a:ext cx="9144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i="0" dirty="0">
                <a:solidFill>
                  <a:schemeClr val="bg1"/>
                </a:solidFill>
                <a:effectLst/>
                <a:latin typeface="quote-cjk-patch"/>
              </a:rPr>
              <a:t>系统基于</a:t>
            </a:r>
            <a:r>
              <a:rPr lang="zh-CN" altLang="en-US" sz="1400" b="1" i="0" dirty="0">
                <a:solidFill>
                  <a:srgbClr val="FFFF00"/>
                </a:solidFill>
                <a:effectLst/>
                <a:latin typeface="quote-cjk-patch"/>
              </a:rPr>
              <a:t>前后端分离</a:t>
            </a:r>
            <a:r>
              <a:rPr lang="zh-CN" altLang="en-US" sz="1400" b="1" i="0" dirty="0">
                <a:solidFill>
                  <a:schemeClr val="bg1"/>
                </a:solidFill>
                <a:effectLst/>
                <a:latin typeface="quote-cjk-patch"/>
              </a:rPr>
              <a:t>模式进行设计，前端由 </a:t>
            </a:r>
            <a:r>
              <a:rPr lang="en-US" altLang="zh-CN" sz="1400" b="1" i="0" dirty="0">
                <a:solidFill>
                  <a:srgbClr val="FFFF00"/>
                </a:solidFill>
                <a:effectLst/>
                <a:latin typeface="quote-cjk-patch"/>
              </a:rPr>
              <a:t>Vue.js </a:t>
            </a:r>
            <a:r>
              <a:rPr lang="zh-CN" altLang="en-US" sz="1400" b="1" i="0" dirty="0">
                <a:solidFill>
                  <a:schemeClr val="bg1"/>
                </a:solidFill>
                <a:effectLst/>
                <a:latin typeface="quote-cjk-patch"/>
              </a:rPr>
              <a:t>驱动，后端基于 </a:t>
            </a:r>
            <a:r>
              <a:rPr lang="en-US" altLang="zh-CN" sz="1400" b="1" i="0" dirty="0">
                <a:solidFill>
                  <a:srgbClr val="FFFF00"/>
                </a:solidFill>
                <a:effectLst/>
                <a:latin typeface="quote-cjk-patch"/>
              </a:rPr>
              <a:t>Java + </a:t>
            </a:r>
            <a:r>
              <a:rPr lang="en-US" altLang="zh-CN" sz="1400" b="1" i="0" dirty="0" err="1">
                <a:solidFill>
                  <a:srgbClr val="FFFF00"/>
                </a:solidFill>
                <a:effectLst/>
                <a:latin typeface="quote-cjk-patch"/>
              </a:rPr>
              <a:t>Netty</a:t>
            </a:r>
            <a:r>
              <a:rPr lang="en-US" altLang="zh-CN" sz="1400" b="1" i="0" dirty="0">
                <a:solidFill>
                  <a:srgbClr val="FFFF00"/>
                </a:solidFill>
                <a:effectLst/>
                <a:latin typeface="quote-cjk-patch"/>
              </a:rPr>
              <a:t> </a:t>
            </a:r>
            <a:r>
              <a:rPr lang="zh-CN" altLang="en-US" sz="1400" b="1" i="0" dirty="0">
                <a:solidFill>
                  <a:schemeClr val="bg1"/>
                </a:solidFill>
                <a:effectLst/>
                <a:latin typeface="quote-cjk-patch"/>
              </a:rPr>
              <a:t>自主实现的 </a:t>
            </a:r>
            <a:r>
              <a:rPr lang="en-US" altLang="zh-CN" sz="1400" b="1" i="0" dirty="0">
                <a:solidFill>
                  <a:schemeClr val="bg1"/>
                </a:solidFill>
                <a:effectLst/>
                <a:latin typeface="quote-cjk-patch"/>
              </a:rPr>
              <a:t>REST API </a:t>
            </a:r>
            <a:r>
              <a:rPr lang="zh-CN" altLang="en-US" sz="1400" b="1" i="0" dirty="0">
                <a:solidFill>
                  <a:schemeClr val="bg1"/>
                </a:solidFill>
                <a:effectLst/>
                <a:latin typeface="quote-cjk-patch"/>
              </a:rPr>
              <a:t>服务，集成了 </a:t>
            </a:r>
            <a:r>
              <a:rPr lang="en-US" altLang="zh-CN" sz="1400" b="1" i="0" dirty="0">
                <a:solidFill>
                  <a:srgbClr val="FFFF00"/>
                </a:solidFill>
                <a:effectLst/>
                <a:latin typeface="quote-cjk-patch"/>
              </a:rPr>
              <a:t>MySQL </a:t>
            </a:r>
            <a:r>
              <a:rPr lang="zh-CN" altLang="en-US" sz="1400" b="1" i="0" dirty="0">
                <a:solidFill>
                  <a:srgbClr val="FFFF00"/>
                </a:solidFill>
                <a:effectLst/>
                <a:latin typeface="quote-cjk-patch"/>
              </a:rPr>
              <a:t>数据库</a:t>
            </a:r>
            <a:r>
              <a:rPr lang="zh-CN" altLang="en-US" sz="1400" b="1" i="0" dirty="0">
                <a:solidFill>
                  <a:schemeClr val="bg1"/>
                </a:solidFill>
                <a:effectLst/>
                <a:latin typeface="quote-cjk-patch"/>
              </a:rPr>
              <a:t>和</a:t>
            </a:r>
            <a:r>
              <a:rPr lang="zh-CN" altLang="en-US" sz="1400" b="1" i="0" dirty="0">
                <a:solidFill>
                  <a:srgbClr val="FFFF00"/>
                </a:solidFill>
                <a:effectLst/>
                <a:latin typeface="quote-cjk-patch"/>
              </a:rPr>
              <a:t>流式处理 </a:t>
            </a:r>
            <a:r>
              <a:rPr lang="en-US" altLang="zh-CN" sz="1400" b="1" i="0" dirty="0" err="1">
                <a:solidFill>
                  <a:srgbClr val="FFFF00"/>
                </a:solidFill>
                <a:effectLst/>
                <a:latin typeface="quote-cjk-patch"/>
              </a:rPr>
              <a:t>Flink</a:t>
            </a:r>
            <a:endParaRPr lang="zh-CN" altLang="en-US" sz="1400" b="1" dirty="0">
              <a:solidFill>
                <a:srgbClr val="FFFF00"/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A6D5D03-A247-8EA2-FD70-4AB80CE7019C}"/>
              </a:ext>
            </a:extLst>
          </p:cNvPr>
          <p:cNvSpPr/>
          <p:nvPr/>
        </p:nvSpPr>
        <p:spPr>
          <a:xfrm>
            <a:off x="372259" y="926406"/>
            <a:ext cx="1521363" cy="814854"/>
          </a:xfrm>
          <a:prstGeom prst="roundRect">
            <a:avLst/>
          </a:prstGeom>
          <a:solidFill>
            <a:srgbClr val="F7FE98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6167C39-D6BB-8D2B-4E31-00D74F5E9DA3}"/>
              </a:ext>
            </a:extLst>
          </p:cNvPr>
          <p:cNvSpPr/>
          <p:nvPr/>
        </p:nvSpPr>
        <p:spPr>
          <a:xfrm>
            <a:off x="516903" y="1119403"/>
            <a:ext cx="123207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应用层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99D34989-FF26-4B64-479E-97D4D3A850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8919" y="1222055"/>
            <a:ext cx="792087" cy="441048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85AF64D2-C606-BDA3-96BF-94BE7D1BEE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6645" y="1221839"/>
            <a:ext cx="972581" cy="441264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FF208A94-E42C-1EB1-5F95-157F3621F2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5316" y="1221839"/>
            <a:ext cx="874649" cy="441264"/>
          </a:xfrm>
          <a:prstGeom prst="rect">
            <a:avLst/>
          </a:prstGeom>
        </p:spPr>
      </p:pic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45F76884-7DD8-78D9-FF71-F30964949FF3}"/>
              </a:ext>
            </a:extLst>
          </p:cNvPr>
          <p:cNvSpPr/>
          <p:nvPr/>
        </p:nvSpPr>
        <p:spPr>
          <a:xfrm>
            <a:off x="6449194" y="922640"/>
            <a:ext cx="2515293" cy="853085"/>
          </a:xfrm>
          <a:prstGeom prst="roundRect">
            <a:avLst/>
          </a:prstGeom>
          <a:solidFill>
            <a:srgbClr val="FCFD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7E15A86-AA01-8CCB-D6EA-5D052B17506A}"/>
              </a:ext>
            </a:extLst>
          </p:cNvPr>
          <p:cNvSpPr txBox="1"/>
          <p:nvPr/>
        </p:nvSpPr>
        <p:spPr>
          <a:xfrm>
            <a:off x="6876256" y="954821"/>
            <a:ext cx="1367632" cy="824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用户界面展示</a:t>
            </a:r>
            <a:endParaRPr lang="en-US" altLang="zh-CN" dirty="0"/>
          </a:p>
          <a:p>
            <a:r>
              <a:rPr lang="zh-CN" altLang="en-US" dirty="0"/>
              <a:t>业务逻辑处理</a:t>
            </a:r>
            <a:endParaRPr lang="en-US" altLang="zh-CN" dirty="0"/>
          </a:p>
          <a:p>
            <a:r>
              <a:rPr lang="en-US" altLang="zh-CN" dirty="0"/>
              <a:t>API</a:t>
            </a:r>
            <a:r>
              <a:rPr lang="zh-CN" altLang="en-US" dirty="0"/>
              <a:t>调用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89BEF4FF-C272-FBA1-1174-278BA625AD9A}"/>
              </a:ext>
            </a:extLst>
          </p:cNvPr>
          <p:cNvSpPr/>
          <p:nvPr/>
        </p:nvSpPr>
        <p:spPr>
          <a:xfrm>
            <a:off x="395536" y="2071460"/>
            <a:ext cx="1521363" cy="814854"/>
          </a:xfrm>
          <a:prstGeom prst="roundRect">
            <a:avLst/>
          </a:prstGeom>
          <a:solidFill>
            <a:srgbClr val="F7FE98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8D3FCCB5-F296-7307-EF8F-C0A3DF95460E}"/>
              </a:ext>
            </a:extLst>
          </p:cNvPr>
          <p:cNvSpPr/>
          <p:nvPr/>
        </p:nvSpPr>
        <p:spPr>
          <a:xfrm>
            <a:off x="6472471" y="2067694"/>
            <a:ext cx="2515293" cy="853085"/>
          </a:xfrm>
          <a:prstGeom prst="roundRect">
            <a:avLst/>
          </a:prstGeom>
          <a:solidFill>
            <a:srgbClr val="FCFD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837BB2B-CCFD-B8AC-673D-2F723701BBC0}"/>
              </a:ext>
            </a:extLst>
          </p:cNvPr>
          <p:cNvSpPr/>
          <p:nvPr/>
        </p:nvSpPr>
        <p:spPr>
          <a:xfrm>
            <a:off x="364322" y="2067694"/>
            <a:ext cx="161539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业务逻辑实现层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59A07E6-4EBF-3C4B-7C04-DF839E8926B8}"/>
              </a:ext>
            </a:extLst>
          </p:cNvPr>
          <p:cNvSpPr txBox="1"/>
          <p:nvPr/>
        </p:nvSpPr>
        <p:spPr>
          <a:xfrm>
            <a:off x="6948784" y="2067694"/>
            <a:ext cx="1367632" cy="824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API</a:t>
            </a:r>
            <a:r>
              <a:rPr lang="zh-CN" altLang="en-US" dirty="0"/>
              <a:t>接口提供</a:t>
            </a:r>
            <a:endParaRPr lang="en-US" altLang="zh-CN" dirty="0"/>
          </a:p>
          <a:p>
            <a:r>
              <a:rPr lang="zh-CN" altLang="en-US" dirty="0"/>
              <a:t>业务逻辑处理</a:t>
            </a:r>
            <a:endParaRPr lang="en-US" altLang="zh-CN" dirty="0"/>
          </a:p>
          <a:p>
            <a:r>
              <a:rPr lang="zh-CN" altLang="en-US" dirty="0"/>
              <a:t>数据访问控制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1E359C2B-963B-F011-31A3-CAF075BF920D}"/>
              </a:ext>
            </a:extLst>
          </p:cNvPr>
          <p:cNvSpPr/>
          <p:nvPr/>
        </p:nvSpPr>
        <p:spPr>
          <a:xfrm>
            <a:off x="395536" y="3223588"/>
            <a:ext cx="1521363" cy="814854"/>
          </a:xfrm>
          <a:prstGeom prst="roundRect">
            <a:avLst/>
          </a:prstGeom>
          <a:solidFill>
            <a:srgbClr val="F7FE98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90C67A71-E437-3987-3FAF-DD001BA5B064}"/>
              </a:ext>
            </a:extLst>
          </p:cNvPr>
          <p:cNvSpPr/>
          <p:nvPr/>
        </p:nvSpPr>
        <p:spPr>
          <a:xfrm>
            <a:off x="6472471" y="3219822"/>
            <a:ext cx="2515293" cy="853085"/>
          </a:xfrm>
          <a:prstGeom prst="roundRect">
            <a:avLst/>
          </a:prstGeom>
          <a:solidFill>
            <a:srgbClr val="FCFD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82ADBB7-709A-5710-F50F-1C8E99EA1326}"/>
              </a:ext>
            </a:extLst>
          </p:cNvPr>
          <p:cNvSpPr/>
          <p:nvPr/>
        </p:nvSpPr>
        <p:spPr>
          <a:xfrm>
            <a:off x="251520" y="3363838"/>
            <a:ext cx="1786096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数据管理层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E78A964-AB70-FA3E-2425-8AF3A9430898}"/>
              </a:ext>
            </a:extLst>
          </p:cNvPr>
          <p:cNvSpPr txBox="1"/>
          <p:nvPr/>
        </p:nvSpPr>
        <p:spPr>
          <a:xfrm>
            <a:off x="7020791" y="3259077"/>
            <a:ext cx="1521363" cy="824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数据存储</a:t>
            </a:r>
            <a:endParaRPr lang="en-US" altLang="zh-CN" dirty="0"/>
          </a:p>
          <a:p>
            <a:r>
              <a:rPr lang="zh-CN" altLang="en-US" dirty="0"/>
              <a:t>数据管理</a:t>
            </a:r>
            <a:endParaRPr lang="en-US" altLang="zh-CN" dirty="0"/>
          </a:p>
          <a:p>
            <a:r>
              <a:rPr lang="zh-CN" altLang="en-US" dirty="0"/>
              <a:t>数据一致性保证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1673465-E86E-E42C-DD4D-DD1BCCDDC9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2423" y="2370621"/>
            <a:ext cx="1249419" cy="37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153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F888-7A1A-41B9-83DD-691819A8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Design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752E53-F4A4-412B-B148-6CC51B0CC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</a:rPr>
              <a:t>数据库设计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4AC89AC3-E098-B578-14B3-03863E3CE0E2}"/>
              </a:ext>
            </a:extLst>
          </p:cNvPr>
          <p:cNvSpPr txBox="1"/>
          <p:nvPr/>
        </p:nvSpPr>
        <p:spPr>
          <a:xfrm>
            <a:off x="107504" y="2979937"/>
            <a:ext cx="2312708" cy="180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105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User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放射性核素表样本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洋流表</a:t>
            </a:r>
            <a:endParaRPr lang="en-US" altLang="zh-CN" sz="1050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放射源表</a:t>
            </a:r>
            <a:endParaRPr lang="en-US" altLang="zh-CN" sz="1050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洋流</a:t>
            </a:r>
            <a:r>
              <a:rPr lang="en-US" altLang="zh-CN" sz="105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</a:t>
            </a:r>
            <a:r>
              <a:rPr lang="zh-CN" altLang="en-US" sz="105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放射源关系表</a:t>
            </a:r>
            <a:endParaRPr lang="en-US" altLang="zh-CN" sz="1050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监测站点表</a:t>
            </a:r>
            <a:endParaRPr lang="en-US" altLang="zh-CN" sz="1050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样本表</a:t>
            </a:r>
            <a:endParaRPr lang="en-US" altLang="zh-CN" sz="1050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检测记录表</a:t>
            </a:r>
            <a:endParaRPr lang="en-US" altLang="zh-CN" sz="1050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增删改查请求表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BB4E6CF6-0045-A713-92E5-C5C9FB7962A6}"/>
              </a:ext>
            </a:extLst>
          </p:cNvPr>
          <p:cNvSpPr txBox="1"/>
          <p:nvPr/>
        </p:nvSpPr>
        <p:spPr>
          <a:xfrm>
            <a:off x="323528" y="2616432"/>
            <a:ext cx="1240155" cy="2539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105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概念设计</a:t>
            </a:r>
          </a:p>
        </p:txBody>
      </p:sp>
      <p:pic>
        <p:nvPicPr>
          <p:cNvPr id="24" name="图片 23" descr="图示&#10;&#10;AI 生成的内容可能不正确。">
            <a:extLst>
              <a:ext uri="{FF2B5EF4-FFF2-40B4-BE49-F238E27FC236}">
                <a16:creationId xmlns:a16="http://schemas.microsoft.com/office/drawing/2014/main" id="{C50C80A5-EA60-093D-F092-4524588757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01"/>
          <a:stretch/>
        </p:blipFill>
        <p:spPr>
          <a:xfrm>
            <a:off x="1723836" y="1208856"/>
            <a:ext cx="6712648" cy="393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305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F888-7A1A-41B9-83DD-691819A8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Design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752E53-F4A4-412B-B148-6CC51B0CC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</a:rPr>
              <a:t>数据库设计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58FC39-FE15-41D1-E9C6-E0A12AFBA440}"/>
              </a:ext>
            </a:extLst>
          </p:cNvPr>
          <p:cNvSpPr txBox="1"/>
          <p:nvPr/>
        </p:nvSpPr>
        <p:spPr>
          <a:xfrm>
            <a:off x="611560" y="1347614"/>
            <a:ext cx="124015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18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逻辑设计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E0CF25-7771-F595-1FEB-B067B07EEED7}"/>
              </a:ext>
            </a:extLst>
          </p:cNvPr>
          <p:cNvSpPr txBox="1"/>
          <p:nvPr/>
        </p:nvSpPr>
        <p:spPr>
          <a:xfrm>
            <a:off x="395536" y="1776394"/>
            <a:ext cx="139989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3NF </a:t>
            </a:r>
            <a:r>
              <a:rPr lang="zh-CN" altLang="en-US" sz="18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原则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B5CB9E-6CB4-0E59-F55C-93B39E65D9A3}"/>
              </a:ext>
            </a:extLst>
          </p:cNvPr>
          <p:cNvSpPr txBox="1"/>
          <p:nvPr/>
        </p:nvSpPr>
        <p:spPr>
          <a:xfrm>
            <a:off x="637626" y="2309695"/>
            <a:ext cx="112606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18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物理设计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B32C3EB-CAEE-3D63-549E-11938DA5DCD4}"/>
              </a:ext>
            </a:extLst>
          </p:cNvPr>
          <p:cNvSpPr txBox="1"/>
          <p:nvPr/>
        </p:nvSpPr>
        <p:spPr>
          <a:xfrm>
            <a:off x="395536" y="2653305"/>
            <a:ext cx="2206181" cy="16989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索引设计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安全性设计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视图访问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权限限制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数据安全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549314-6D3D-C8C6-6C8B-8432C0F5116A}"/>
              </a:ext>
            </a:extLst>
          </p:cNvPr>
          <p:cNvSpPr txBox="1"/>
          <p:nvPr/>
        </p:nvSpPr>
        <p:spPr>
          <a:xfrm>
            <a:off x="5940152" y="4863913"/>
            <a:ext cx="1240155" cy="2539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5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索引设计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04EF7CC3-B15D-BD29-2294-6A4649895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274933"/>
              </p:ext>
            </p:extLst>
          </p:nvPr>
        </p:nvGraphicFramePr>
        <p:xfrm>
          <a:off x="3470913" y="765191"/>
          <a:ext cx="5440864" cy="4048310"/>
        </p:xfrm>
        <a:graphic>
          <a:graphicData uri="http://schemas.openxmlformats.org/drawingml/2006/table">
            <a:tbl>
              <a:tblPr/>
              <a:tblGrid>
                <a:gridCol w="1360216">
                  <a:extLst>
                    <a:ext uri="{9D8B030D-6E8A-4147-A177-3AD203B41FA5}">
                      <a16:colId xmlns:a16="http://schemas.microsoft.com/office/drawing/2014/main" val="2898075057"/>
                    </a:ext>
                  </a:extLst>
                </a:gridCol>
                <a:gridCol w="1360216">
                  <a:extLst>
                    <a:ext uri="{9D8B030D-6E8A-4147-A177-3AD203B41FA5}">
                      <a16:colId xmlns:a16="http://schemas.microsoft.com/office/drawing/2014/main" val="1080151306"/>
                    </a:ext>
                  </a:extLst>
                </a:gridCol>
                <a:gridCol w="1360216">
                  <a:extLst>
                    <a:ext uri="{9D8B030D-6E8A-4147-A177-3AD203B41FA5}">
                      <a16:colId xmlns:a16="http://schemas.microsoft.com/office/drawing/2014/main" val="2518672565"/>
                    </a:ext>
                  </a:extLst>
                </a:gridCol>
                <a:gridCol w="1360216">
                  <a:extLst>
                    <a:ext uri="{9D8B030D-6E8A-4147-A177-3AD203B41FA5}">
                      <a16:colId xmlns:a16="http://schemas.microsoft.com/office/drawing/2014/main" val="2709482197"/>
                    </a:ext>
                  </a:extLst>
                </a:gridCol>
              </a:tblGrid>
              <a:tr h="13613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>
                          <a:effectLst/>
                        </a:rPr>
                        <a:t>表名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>
                          <a:effectLst/>
                        </a:rPr>
                        <a:t>属性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>
                          <a:effectLst/>
                        </a:rPr>
                        <a:t>索引类型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>
                          <a:effectLst/>
                        </a:rPr>
                        <a:t>描述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477620"/>
                  </a:ext>
                </a:extLst>
              </a:tr>
              <a:tr h="136131"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effectLst/>
                        </a:rPr>
                        <a:t>Radionuclide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Symbol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唯一索引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核素符号唯一标识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08532"/>
                  </a:ext>
                </a:extLst>
              </a:tr>
              <a:tr h="136131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Radionuclide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Name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普通索引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加速按名称查询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33695"/>
                  </a:ext>
                </a:extLst>
              </a:tr>
              <a:tr h="136131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RadioactiveSource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Latitude, Longitude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组合索引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加速按经纬度查询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477189"/>
                  </a:ext>
                </a:extLst>
              </a:tr>
              <a:tr h="136131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RadioactiveSource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OperationStatus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普通索引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按运行状态查询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666861"/>
                  </a:ext>
                </a:extLst>
              </a:tr>
              <a:tr h="136131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RadioactiveSource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 err="1">
                          <a:effectLst/>
                        </a:rPr>
                        <a:t>CountryISO</a:t>
                      </a:r>
                      <a:endParaRPr lang="en-US" sz="800" dirty="0">
                        <a:effectLst/>
                      </a:endParaRP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普通索引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按国家查询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616226"/>
                  </a:ext>
                </a:extLst>
              </a:tr>
              <a:tr h="136131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RadioactiveSource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NuclideID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外键索引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关联核素表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253657"/>
                  </a:ext>
                </a:extLst>
              </a:tr>
              <a:tr h="136131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RadioactiveSource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DiscoveryTime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普通索引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按发现时间查询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372945"/>
                  </a:ext>
                </a:extLst>
              </a:tr>
              <a:tr h="136131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OceanCurrent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Direction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普通索引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按流向查询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25700"/>
                  </a:ext>
                </a:extLst>
              </a:tr>
              <a:tr h="153857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CurrentSourceRelation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CurrentName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外键索引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关联洋流表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987083"/>
                  </a:ext>
                </a:extLst>
              </a:tr>
              <a:tr h="153857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CurrentSourceRelation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SourceID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外键索引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关联放射源表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352621"/>
                  </a:ext>
                </a:extLst>
              </a:tr>
              <a:tr h="251648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CurrentSourceRelation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CurrentName, SourceID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唯一索引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确保洋流与放射源关系唯一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285391"/>
                  </a:ext>
                </a:extLst>
              </a:tr>
              <a:tr h="136131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Station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Latitude, Longitude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组合索引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加速按经纬度查询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162349"/>
                  </a:ext>
                </a:extLst>
              </a:tr>
              <a:tr h="136131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Station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StationName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普通索引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按站点名称查询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731789"/>
                  </a:ext>
                </a:extLst>
              </a:tr>
              <a:tr h="136131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Station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StationType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普通索引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按站点类型查询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371255"/>
                  </a:ext>
                </a:extLst>
              </a:tr>
              <a:tr h="136131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Sample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StationID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外键索引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关联监测站点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904654"/>
                  </a:ext>
                </a:extLst>
              </a:tr>
              <a:tr h="136131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Sample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SampleType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普通索引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按样本类型查询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728485"/>
                  </a:ext>
                </a:extLst>
              </a:tr>
              <a:tr h="136131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Sample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SamplingTime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普通索引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按采样时间查询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72679"/>
                  </a:ext>
                </a:extLst>
              </a:tr>
              <a:tr h="153857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MeasurementRecord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SampleID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外键索引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关联样本表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1392"/>
                  </a:ext>
                </a:extLst>
              </a:tr>
              <a:tr h="153857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MeasurementRecord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NuclideID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外键索引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关联核素表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577194"/>
                  </a:ext>
                </a:extLst>
              </a:tr>
              <a:tr h="153857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MeasurementRecord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CompletionTime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普通索引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按完成时间查询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730633"/>
                  </a:ext>
                </a:extLst>
              </a:tr>
              <a:tr h="153857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MeasurementRecord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ReportNumber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普通索引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按报告编号查询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161598"/>
                  </a:ext>
                </a:extLst>
              </a:tr>
              <a:tr h="136131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User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Username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唯一索引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用户名唯一标识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930014"/>
                  </a:ext>
                </a:extLst>
              </a:tr>
              <a:tr h="136131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User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Role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普通索引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按角色查询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977679"/>
                  </a:ext>
                </a:extLst>
              </a:tr>
              <a:tr h="136131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UserRecordRelation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UserID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外键索引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关联用户表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0671"/>
                  </a:ext>
                </a:extLst>
              </a:tr>
              <a:tr h="136131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UserRecordRelation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RecordID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外键索引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关联检测记录表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164976"/>
                  </a:ext>
                </a:extLst>
              </a:tr>
              <a:tr h="136131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UserRecordRelation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ActionTime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>
                          <a:effectLst/>
                        </a:rPr>
                        <a:t>普通索引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800" dirty="0">
                          <a:effectLst/>
                        </a:rPr>
                        <a:t>按操作时间查询</a:t>
                      </a:r>
                    </a:p>
                  </a:txBody>
                  <a:tcPr marL="21757" marR="21757" marT="10878" marB="108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582504"/>
                  </a:ext>
                </a:extLst>
              </a:tr>
            </a:tbl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78E37870-E630-5533-80D7-3845C049A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24969" y="1269949"/>
            <a:ext cx="1015312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973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F888-7A1A-41B9-83DD-691819A8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Design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752E53-F4A4-412B-B148-6CC51B0CC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</a:rPr>
              <a:t>管理平台设计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4AAFFA9-B660-C744-41BB-C80650FFB63B}"/>
              </a:ext>
            </a:extLst>
          </p:cNvPr>
          <p:cNvSpPr txBox="1"/>
          <p:nvPr/>
        </p:nvSpPr>
        <p:spPr>
          <a:xfrm>
            <a:off x="7020272" y="1491630"/>
            <a:ext cx="221373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zh-CN" altLang="en-US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海洋主题视觉 </a:t>
            </a:r>
          </a:p>
          <a:p>
            <a:pPr algn="l">
              <a:buFont typeface="+mj-lt"/>
              <a:buAutoNum type="arabicPeriod"/>
            </a:pPr>
            <a:r>
              <a:rPr lang="zh-CN" altLang="en-US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数据可视化仪表盘</a:t>
            </a:r>
            <a:endParaRPr lang="en-US" altLang="zh-CN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algn="l">
              <a:buFont typeface="+mj-lt"/>
              <a:buAutoNum type="arabicPeriod"/>
            </a:pPr>
            <a:r>
              <a:rPr lang="zh-CN" altLang="en-US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左侧导航栏分层 </a:t>
            </a:r>
          </a:p>
          <a:p>
            <a:pPr algn="l">
              <a:buFont typeface="+mj-lt"/>
              <a:buAutoNum type="arabicPeriod"/>
            </a:pPr>
            <a:r>
              <a:rPr lang="zh-CN" altLang="en-US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动态权限控制 </a:t>
            </a:r>
          </a:p>
          <a:p>
            <a:pPr algn="l">
              <a:buFont typeface="+mj-lt"/>
              <a:buAutoNum type="arabicPeriod"/>
            </a:pPr>
            <a:r>
              <a:rPr lang="zh-CN" altLang="en-US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响应式布局 </a:t>
            </a:r>
            <a:endParaRPr lang="en-US" altLang="zh-CN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algn="l">
              <a:buFont typeface="+mj-lt"/>
              <a:buAutoNum type="arabicPeriod"/>
            </a:pPr>
            <a:endParaRPr lang="en-US" altLang="zh-CN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61B30E6-1D0C-5E09-C487-0F8666E4E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16" y="1244871"/>
            <a:ext cx="6645911" cy="310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67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7F8A873A-83EB-1D89-C851-A0D15F224CE7}"/>
              </a:ext>
            </a:extLst>
          </p:cNvPr>
          <p:cNvGrpSpPr/>
          <p:nvPr/>
        </p:nvGrpSpPr>
        <p:grpSpPr>
          <a:xfrm>
            <a:off x="6012160" y="930703"/>
            <a:ext cx="2880320" cy="3945302"/>
            <a:chOff x="1043607" y="1275606"/>
            <a:chExt cx="1957831" cy="2376264"/>
          </a:xfrm>
        </p:grpSpPr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6F72BE11-8D64-A725-BD2F-ED238F20C8BA}"/>
                </a:ext>
              </a:extLst>
            </p:cNvPr>
            <p:cNvSpPr/>
            <p:nvPr/>
          </p:nvSpPr>
          <p:spPr>
            <a:xfrm>
              <a:off x="1043608" y="1275606"/>
              <a:ext cx="1957830" cy="237626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99DA15A-D69A-B798-016F-2F935DB144A0}"/>
                </a:ext>
              </a:extLst>
            </p:cNvPr>
            <p:cNvSpPr/>
            <p:nvPr/>
          </p:nvSpPr>
          <p:spPr>
            <a:xfrm>
              <a:off x="1043607" y="1275606"/>
              <a:ext cx="1957831" cy="24649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华文中宋" panose="02010600040101010101" charset="-122"/>
                  <a:ea typeface="华文中宋" panose="02010600040101010101" charset="-122"/>
                </a:rPr>
                <a:t>海洋主题视觉 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01BCF888-7A1A-41B9-83DD-691819A8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Design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4AAFFA9-B660-C744-41BB-C80650FFB63B}"/>
              </a:ext>
            </a:extLst>
          </p:cNvPr>
          <p:cNvSpPr txBox="1"/>
          <p:nvPr/>
        </p:nvSpPr>
        <p:spPr>
          <a:xfrm>
            <a:off x="3155849" y="4227933"/>
            <a:ext cx="2568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整体设计兼具科技感与易用性。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D055453-7ADE-AD8E-F077-C6AA27AF6AFA}"/>
              </a:ext>
            </a:extLst>
          </p:cNvPr>
          <p:cNvGrpSpPr/>
          <p:nvPr/>
        </p:nvGrpSpPr>
        <p:grpSpPr>
          <a:xfrm>
            <a:off x="395536" y="915566"/>
            <a:ext cx="2431490" cy="4032448"/>
            <a:chOff x="1043607" y="1275605"/>
            <a:chExt cx="1957831" cy="2376265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7F897F60-725A-A3D9-9310-3258E62A3F6F}"/>
                </a:ext>
              </a:extLst>
            </p:cNvPr>
            <p:cNvSpPr/>
            <p:nvPr/>
          </p:nvSpPr>
          <p:spPr>
            <a:xfrm>
              <a:off x="1043608" y="1275606"/>
              <a:ext cx="1957830" cy="237626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DB1F3DA-8882-DAD3-D99D-3FD7D649F6CA}"/>
                </a:ext>
              </a:extLst>
            </p:cNvPr>
            <p:cNvSpPr/>
            <p:nvPr/>
          </p:nvSpPr>
          <p:spPr>
            <a:xfrm>
              <a:off x="1043607" y="1275605"/>
              <a:ext cx="1957831" cy="28973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华文中宋" panose="02010600040101010101" charset="-122"/>
                  <a:ea typeface="华文中宋" panose="02010600040101010101" charset="-122"/>
                </a:rPr>
                <a:t>数据统计仪表盘</a:t>
              </a:r>
              <a:endParaRPr lang="en-US" altLang="zh-CN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5410F3E2-8474-A4B6-0EBC-411E44A5A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50" y="2352045"/>
            <a:ext cx="2305309" cy="65586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D67DF1C-4035-094E-A47B-1154E21D7EAC}"/>
              </a:ext>
            </a:extLst>
          </p:cNvPr>
          <p:cNvSpPr txBox="1"/>
          <p:nvPr/>
        </p:nvSpPr>
        <p:spPr>
          <a:xfrm>
            <a:off x="535968" y="3261464"/>
            <a:ext cx="2305309" cy="1341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核心指标聚焦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altLang="zh-CN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数据全景一览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altLang="zh-CN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业务状态透明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A306067-D9DF-1C52-484F-319DC039410E}"/>
              </a:ext>
            </a:extLst>
          </p:cNvPr>
          <p:cNvGrpSpPr/>
          <p:nvPr/>
        </p:nvGrpSpPr>
        <p:grpSpPr>
          <a:xfrm>
            <a:off x="3288407" y="915567"/>
            <a:ext cx="2431490" cy="2808311"/>
            <a:chOff x="1043607" y="1275606"/>
            <a:chExt cx="1957831" cy="2376264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5B4955CA-6AA7-F9A4-C8B0-8ECC0301E9C5}"/>
                </a:ext>
              </a:extLst>
            </p:cNvPr>
            <p:cNvSpPr/>
            <p:nvPr/>
          </p:nvSpPr>
          <p:spPr>
            <a:xfrm>
              <a:off x="1043608" y="1275606"/>
              <a:ext cx="1957830" cy="237626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88484A3-25AA-1135-D0A2-4AFB8E8B06BC}"/>
                </a:ext>
              </a:extLst>
            </p:cNvPr>
            <p:cNvSpPr/>
            <p:nvPr/>
          </p:nvSpPr>
          <p:spPr>
            <a:xfrm>
              <a:off x="1043607" y="1275606"/>
              <a:ext cx="1957831" cy="359106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华文中宋" panose="02010600040101010101" charset="-122"/>
                  <a:ea typeface="华文中宋" panose="02010600040101010101" charset="-122"/>
                </a:rPr>
                <a:t>左侧导航栏分层 </a:t>
              </a:r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51ED9449-7735-6D21-B89D-CDB383A0B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970" y="1525982"/>
            <a:ext cx="1065996" cy="1994871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0FA99949-5E01-5BE0-91F5-039EB1F6BAFF}"/>
              </a:ext>
            </a:extLst>
          </p:cNvPr>
          <p:cNvSpPr txBox="1"/>
          <p:nvPr/>
        </p:nvSpPr>
        <p:spPr>
          <a:xfrm>
            <a:off x="4375842" y="1592214"/>
            <a:ext cx="1276382" cy="1341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信息架构清晰</a:t>
            </a:r>
            <a:endParaRPr lang="en-US" altLang="zh-CN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altLang="zh-CN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功能分区明确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altLang="zh-CN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降低认知负荷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22268AF-8E07-2BD9-5F29-A81CCE2E1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842" y="1525982"/>
            <a:ext cx="2285952" cy="65586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523C0FDA-B4EE-A41C-2C95-66C3E0ED3A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6605" y="1407237"/>
            <a:ext cx="2571858" cy="145009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A1CC26BF-9949-2F00-B324-42F7581729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8169" y="2946647"/>
            <a:ext cx="1728302" cy="189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662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F888-7A1A-41B9-83DD-691819A8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权限控制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5A3EB3-3EF8-5CE3-024C-7FB6229AAF57}"/>
              </a:ext>
            </a:extLst>
          </p:cNvPr>
          <p:cNvSpPr txBox="1"/>
          <p:nvPr/>
        </p:nvSpPr>
        <p:spPr>
          <a:xfrm>
            <a:off x="6251598" y="2653858"/>
            <a:ext cx="2499360" cy="447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5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动态权限控制 </a:t>
            </a:r>
          </a:p>
          <a:p>
            <a:pPr algn="ctr"/>
            <a:r>
              <a:rPr lang="zh-CN" altLang="en-US" sz="105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管理员、数据录入员与用户菜单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8769D4-7A27-6A5C-CFB3-2AA0110704A8}"/>
              </a:ext>
            </a:extLst>
          </p:cNvPr>
          <p:cNvSpPr txBox="1"/>
          <p:nvPr/>
        </p:nvSpPr>
        <p:spPr>
          <a:xfrm>
            <a:off x="5969993" y="1757204"/>
            <a:ext cx="1240155" cy="2539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5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数据审核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33BBEE6-7F75-19F0-2BBF-0EA9B9A90B61}"/>
              </a:ext>
            </a:extLst>
          </p:cNvPr>
          <p:cNvSpPr txBox="1"/>
          <p:nvPr/>
        </p:nvSpPr>
        <p:spPr>
          <a:xfrm>
            <a:off x="1180383" y="4889584"/>
            <a:ext cx="1240155" cy="2539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5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用户管理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787E5C0-C084-1A55-8335-0D885199F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3" y="817310"/>
            <a:ext cx="2664296" cy="217253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FD9C28C-9202-10FF-C7DF-45F50FD82CF4}"/>
              </a:ext>
            </a:extLst>
          </p:cNvPr>
          <p:cNvSpPr txBox="1"/>
          <p:nvPr/>
        </p:nvSpPr>
        <p:spPr>
          <a:xfrm>
            <a:off x="516020" y="3003168"/>
            <a:ext cx="2499360" cy="2539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5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数据库表单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4E4B441-B91F-2A27-76C3-BC4309DBC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470" y="3296086"/>
            <a:ext cx="3281944" cy="148709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4F529E0-ACEB-757B-993E-07562643E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1920" y="758819"/>
            <a:ext cx="4743101" cy="86348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93DF082-D996-9501-398E-B25C676067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3928" y="1790893"/>
            <a:ext cx="1798513" cy="110546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561FE69-A9CB-BB65-70C9-509EE4B05B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441" y="2969779"/>
            <a:ext cx="885086" cy="2046763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C4C85285-590D-5863-6246-1EE3D65F17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7599" y="3146429"/>
            <a:ext cx="924817" cy="1914869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87C7D029-A859-9DE3-D990-D1B97273D4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0148" y="3276901"/>
            <a:ext cx="943399" cy="174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436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F888-7A1A-41B9-83DD-691819A8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消息面板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6A372C8-A62D-4505-9602-781FAA55B9E7}"/>
              </a:ext>
            </a:extLst>
          </p:cNvPr>
          <p:cNvSpPr txBox="1"/>
          <p:nvPr/>
        </p:nvSpPr>
        <p:spPr>
          <a:xfrm>
            <a:off x="7012746" y="1663104"/>
            <a:ext cx="2359822" cy="336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个人信息页面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528BC2E-EC0E-DD1F-897F-8A2984B0F931}"/>
              </a:ext>
            </a:extLst>
          </p:cNvPr>
          <p:cNvSpPr txBox="1"/>
          <p:nvPr/>
        </p:nvSpPr>
        <p:spPr>
          <a:xfrm>
            <a:off x="7182544" y="3311920"/>
            <a:ext cx="1842525" cy="1142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动态展示消息信息</a:t>
            </a:r>
            <a:endParaRPr lang="en-US" altLang="zh-CN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透明系统消息，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在用户心中建立起系统的专业性和可靠性</a:t>
            </a:r>
            <a:endParaRPr lang="zh-CN" altLang="en-US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BFB8103-C845-1381-6122-326532614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50" y="1009354"/>
            <a:ext cx="6216713" cy="14890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1F759FD-1A87-7180-AF43-50093AF1A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929" y="2697207"/>
            <a:ext cx="3815655" cy="232281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90A8FCE-25F2-4459-4A1B-6C3FBCC636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9953" y="2746375"/>
            <a:ext cx="2880320" cy="227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77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F888-7A1A-41B9-83DD-691819A8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可视化数据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264098-0676-6717-9A0D-176D93D9E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42" y="896223"/>
            <a:ext cx="4125143" cy="195636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B40E930-A41C-BCFA-CC00-F5A0DCF73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43" y="2923380"/>
            <a:ext cx="4125142" cy="2096642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84EEA0DB-4ECC-1F5C-E34F-170820D08501}"/>
              </a:ext>
            </a:extLst>
          </p:cNvPr>
          <p:cNvGrpSpPr/>
          <p:nvPr/>
        </p:nvGrpSpPr>
        <p:grpSpPr>
          <a:xfrm>
            <a:off x="5407963" y="896223"/>
            <a:ext cx="2431488" cy="2394798"/>
            <a:chOff x="1059615" y="1127099"/>
            <a:chExt cx="1957830" cy="2440659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51B7C2AB-0C40-DF39-9924-683DE8D368BD}"/>
                </a:ext>
              </a:extLst>
            </p:cNvPr>
            <p:cNvSpPr/>
            <p:nvPr/>
          </p:nvSpPr>
          <p:spPr>
            <a:xfrm>
              <a:off x="1059615" y="1191494"/>
              <a:ext cx="1957830" cy="237626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DE87D85-0ED8-B3E7-B22C-3A5ACC9AD430}"/>
                </a:ext>
              </a:extLst>
            </p:cNvPr>
            <p:cNvSpPr/>
            <p:nvPr/>
          </p:nvSpPr>
          <p:spPr>
            <a:xfrm>
              <a:off x="1061242" y="1127099"/>
              <a:ext cx="1956203" cy="41786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华文中宋" panose="02010600040101010101" charset="-122"/>
                  <a:ea typeface="华文中宋" panose="02010600040101010101" charset="-122"/>
                </a:rPr>
                <a:t>数据看板</a:t>
              </a:r>
              <a:endParaRPr lang="en-US" altLang="zh-CN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705A3EB3-3EF8-5CE3-024C-7FB6229AAF57}"/>
              </a:ext>
            </a:extLst>
          </p:cNvPr>
          <p:cNvSpPr txBox="1"/>
          <p:nvPr/>
        </p:nvSpPr>
        <p:spPr>
          <a:xfrm>
            <a:off x="5375611" y="1363130"/>
            <a:ext cx="2499360" cy="13111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提供各洋流海域的</a:t>
            </a:r>
            <a:r>
              <a:rPr lang="zh-CN" altLang="en-US" sz="1200" b="1" dirty="0">
                <a:solidFill>
                  <a:srgbClr val="FFC000"/>
                </a:solidFill>
                <a:latin typeface="华文中宋" panose="02010600040101010101" charset="-122"/>
                <a:ea typeface="华文中宋" panose="02010600040101010101" charset="-122"/>
              </a:rPr>
              <a:t>放射性物质</a:t>
            </a:r>
            <a:r>
              <a:rPr lang="zh-CN" altLang="en-US" sz="12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平均浓度变化</a:t>
            </a:r>
            <a:endParaRPr lang="en-US" altLang="zh-CN" sz="1200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algn="ctr"/>
            <a:endParaRPr lang="en-US" altLang="zh-CN" sz="1200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algn="ctr"/>
            <a:endParaRPr lang="en-US" altLang="zh-CN" sz="1200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algn="ctr"/>
            <a:r>
              <a:rPr lang="zh-CN" altLang="en-US" sz="12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监测全球洋流放射性浓度变化，提供</a:t>
            </a:r>
            <a:r>
              <a:rPr lang="zh-CN" altLang="en-US" sz="1200" b="1" dirty="0">
                <a:solidFill>
                  <a:srgbClr val="FFC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预警生态风险</a:t>
            </a:r>
            <a:r>
              <a:rPr lang="zh-CN" altLang="en-US" sz="12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与</a:t>
            </a:r>
            <a:r>
              <a:rPr lang="zh-CN" altLang="en-US" sz="1200" b="1" dirty="0">
                <a:solidFill>
                  <a:srgbClr val="FFC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追溯污染源</a:t>
            </a:r>
            <a:r>
              <a:rPr lang="zh-CN" altLang="en-US" sz="12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帮助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499E6E4-9EBD-510E-0088-9C7932ED651E}"/>
              </a:ext>
            </a:extLst>
          </p:cNvPr>
          <p:cNvGrpSpPr/>
          <p:nvPr/>
        </p:nvGrpSpPr>
        <p:grpSpPr>
          <a:xfrm>
            <a:off x="5407963" y="2922292"/>
            <a:ext cx="2431488" cy="1782416"/>
            <a:chOff x="1059615" y="1127099"/>
            <a:chExt cx="1957830" cy="2440659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90220B10-4F33-239F-05AD-509F1C49FD10}"/>
                </a:ext>
              </a:extLst>
            </p:cNvPr>
            <p:cNvSpPr/>
            <p:nvPr/>
          </p:nvSpPr>
          <p:spPr>
            <a:xfrm>
              <a:off x="1059615" y="1191494"/>
              <a:ext cx="1957830" cy="237626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2C970DC-F8C2-E6F2-52D2-AD455D43D420}"/>
                </a:ext>
              </a:extLst>
            </p:cNvPr>
            <p:cNvSpPr/>
            <p:nvPr/>
          </p:nvSpPr>
          <p:spPr>
            <a:xfrm>
              <a:off x="1061242" y="1127099"/>
              <a:ext cx="1956203" cy="5049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华文中宋" panose="02010600040101010101" charset="-122"/>
                  <a:ea typeface="华文中宋" panose="02010600040101010101" charset="-122"/>
                </a:rPr>
                <a:t>多样化信息提供</a:t>
              </a:r>
              <a:endParaRPr lang="en-US" altLang="zh-CN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59A3A6DF-02F8-43B5-D962-95C88139D79D}"/>
              </a:ext>
            </a:extLst>
          </p:cNvPr>
          <p:cNvSpPr txBox="1"/>
          <p:nvPr/>
        </p:nvSpPr>
        <p:spPr>
          <a:xfrm>
            <a:off x="5374027" y="3347911"/>
            <a:ext cx="2499360" cy="134806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海洋生物放射性统计</a:t>
            </a:r>
            <a:endParaRPr lang="en-US" altLang="zh-CN" sz="1200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最新事件</a:t>
            </a:r>
            <a:endParaRPr lang="en-US" altLang="zh-CN" sz="1200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核素分布统计</a:t>
            </a:r>
            <a:endParaRPr lang="en-US" altLang="zh-CN" sz="1200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algn="ctr"/>
            <a:r>
              <a:rPr lang="zh-CN" altLang="en-US" sz="12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梳理归纳热点事件，为需要的相关人员提供</a:t>
            </a:r>
            <a:r>
              <a:rPr lang="zh-CN" altLang="en-US" sz="1200" b="1" dirty="0">
                <a:solidFill>
                  <a:srgbClr val="FFC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数据支持</a:t>
            </a:r>
            <a:r>
              <a:rPr lang="zh-CN" altLang="en-US" sz="12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和</a:t>
            </a:r>
            <a:r>
              <a:rPr lang="zh-CN" altLang="en-US" sz="1200" b="1" dirty="0">
                <a:solidFill>
                  <a:srgbClr val="FFC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时事概览</a:t>
            </a:r>
            <a:endParaRPr lang="en-US" altLang="zh-CN" sz="1200" b="1" dirty="0">
              <a:solidFill>
                <a:srgbClr val="FFC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06134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F888-7A1A-41B9-83DD-691819A8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可视化数据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1CCA678-1A3E-E6C2-15CC-0447FCFCA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063116"/>
            <a:ext cx="6732240" cy="3489374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450AF976-10D1-C10A-8EE4-22AD58FADE7F}"/>
              </a:ext>
            </a:extLst>
          </p:cNvPr>
          <p:cNvGrpSpPr/>
          <p:nvPr/>
        </p:nvGrpSpPr>
        <p:grpSpPr>
          <a:xfrm>
            <a:off x="7020272" y="1107865"/>
            <a:ext cx="1872208" cy="432048"/>
            <a:chOff x="7020272" y="1107865"/>
            <a:chExt cx="1872208" cy="432048"/>
          </a:xfrm>
        </p:grpSpPr>
        <p:sp>
          <p:nvSpPr>
            <p:cNvPr id="10" name="等腰三角形 9">
              <a:extLst>
                <a:ext uri="{FF2B5EF4-FFF2-40B4-BE49-F238E27FC236}">
                  <a16:creationId xmlns:a16="http://schemas.microsoft.com/office/drawing/2014/main" id="{DDDC453B-B1C2-AFE3-DD80-EA373B7F84C3}"/>
                </a:ext>
              </a:extLst>
            </p:cNvPr>
            <p:cNvSpPr/>
            <p:nvPr/>
          </p:nvSpPr>
          <p:spPr>
            <a:xfrm rot="16200000">
              <a:off x="6966520" y="1161617"/>
              <a:ext cx="432048" cy="32454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EC25B417-316E-0828-6732-DF1173F8E631}"/>
                </a:ext>
              </a:extLst>
            </p:cNvPr>
            <p:cNvSpPr/>
            <p:nvPr/>
          </p:nvSpPr>
          <p:spPr>
            <a:xfrm rot="5400000">
              <a:off x="8514184" y="1161617"/>
              <a:ext cx="432048" cy="32454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11A5B1C-1F6D-D76D-5A4C-6C903CF02BC8}"/>
                </a:ext>
              </a:extLst>
            </p:cNvPr>
            <p:cNvSpPr/>
            <p:nvPr/>
          </p:nvSpPr>
          <p:spPr>
            <a:xfrm>
              <a:off x="7344817" y="1107865"/>
              <a:ext cx="1223119" cy="43204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B6A372C8-A62D-4505-9602-781FAA55B9E7}"/>
              </a:ext>
            </a:extLst>
          </p:cNvPr>
          <p:cNvSpPr txBox="1"/>
          <p:nvPr/>
        </p:nvSpPr>
        <p:spPr>
          <a:xfrm>
            <a:off x="6688935" y="1887667"/>
            <a:ext cx="2359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Leaflet </a:t>
            </a:r>
            <a:r>
              <a:rPr lang="zh-CN" altLang="en-US" sz="14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开源地图库</a:t>
            </a:r>
            <a:endParaRPr lang="zh-CN" altLang="en-US" sz="1400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5A3EB3-3EF8-5CE3-024C-7FB6229AAF57}"/>
              </a:ext>
            </a:extLst>
          </p:cNvPr>
          <p:cNvSpPr txBox="1"/>
          <p:nvPr/>
        </p:nvSpPr>
        <p:spPr>
          <a:xfrm>
            <a:off x="6706696" y="1139223"/>
            <a:ext cx="2499360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rPr>
              <a:t>数字地图</a:t>
            </a:r>
            <a:endParaRPr lang="en-US" altLang="zh-CN" sz="18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528BC2E-EC0E-DD1F-897F-8A2984B0F931}"/>
              </a:ext>
            </a:extLst>
          </p:cNvPr>
          <p:cNvSpPr txBox="1"/>
          <p:nvPr/>
        </p:nvSpPr>
        <p:spPr>
          <a:xfrm>
            <a:off x="6772707" y="2498357"/>
            <a:ext cx="2359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世界各处核电站</a:t>
            </a:r>
            <a:r>
              <a:rPr lang="en-US" altLang="zh-CN" sz="14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/</a:t>
            </a:r>
            <a:r>
              <a:rPr lang="zh-CN" altLang="en-US" sz="14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采样点的地图可视化</a:t>
            </a:r>
            <a:endParaRPr lang="zh-CN" altLang="en-US" sz="1400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7117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F888-7A1A-41B9-83DD-691819A8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数据管理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528BC2E-EC0E-DD1F-897F-8A2984B0F931}"/>
              </a:ext>
            </a:extLst>
          </p:cNvPr>
          <p:cNvSpPr txBox="1"/>
          <p:nvPr/>
        </p:nvSpPr>
        <p:spPr>
          <a:xfrm>
            <a:off x="3812075" y="3363838"/>
            <a:ext cx="4968552" cy="108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数据添加</a:t>
            </a:r>
            <a:endParaRPr lang="en-US" altLang="zh-CN" sz="1400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r>
              <a:rPr lang="zh-CN" altLang="en-US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</a:rPr>
              <a:t>数据删除         需要管理员审核          </a:t>
            </a:r>
            <a:endParaRPr lang="en-US" altLang="zh-CN" sz="1400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r>
              <a:rPr lang="zh-CN" altLang="en-US" sz="140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数据修改</a:t>
            </a:r>
            <a:endParaRPr lang="en-US" altLang="zh-CN" sz="1400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r>
              <a:rPr lang="zh-CN" altLang="en-US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数据查询：提供</a:t>
            </a:r>
            <a:r>
              <a:rPr lang="en-US" altLang="zh-CN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filter</a:t>
            </a:r>
            <a:r>
              <a:rPr lang="zh-CN" altLang="en-US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范围筛选，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下拉列表以及关键字搜索</a:t>
            </a:r>
            <a:endParaRPr lang="en-US" altLang="zh-CN" dirty="0">
              <a:solidFill>
                <a:srgbClr val="24292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3004133-D966-3E53-0A86-F0BC5F25A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221" y="877666"/>
            <a:ext cx="2306128" cy="223173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373C726-32D0-6EA7-367F-E4EC4B859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29" y="3254791"/>
            <a:ext cx="2773808" cy="173305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A9AB57F-8D9D-9186-3E9A-42FED330F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0" y="806440"/>
            <a:ext cx="4716016" cy="2302963"/>
          </a:xfrm>
          <a:prstGeom prst="rect">
            <a:avLst/>
          </a:prstGeom>
        </p:spPr>
      </p:pic>
      <p:sp>
        <p:nvSpPr>
          <p:cNvPr id="21" name="右大括号 20">
            <a:extLst>
              <a:ext uri="{FF2B5EF4-FFF2-40B4-BE49-F238E27FC236}">
                <a16:creationId xmlns:a16="http://schemas.microsoft.com/office/drawing/2014/main" id="{D2055E27-FF28-0EB4-1FA9-B4DB59BA61FC}"/>
              </a:ext>
            </a:extLst>
          </p:cNvPr>
          <p:cNvSpPr/>
          <p:nvPr/>
        </p:nvSpPr>
        <p:spPr>
          <a:xfrm>
            <a:off x="4716016" y="3507854"/>
            <a:ext cx="288032" cy="603014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3B3A4F59-1A41-E7C6-EF0E-C56C3777090E}"/>
              </a:ext>
            </a:extLst>
          </p:cNvPr>
          <p:cNvSpPr/>
          <p:nvPr/>
        </p:nvSpPr>
        <p:spPr>
          <a:xfrm>
            <a:off x="6510221" y="3723878"/>
            <a:ext cx="288032" cy="14401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80D6866-A383-EDFC-F4DE-A6CF66204A1D}"/>
              </a:ext>
            </a:extLst>
          </p:cNvPr>
          <p:cNvSpPr txBox="1"/>
          <p:nvPr/>
        </p:nvSpPr>
        <p:spPr>
          <a:xfrm>
            <a:off x="6848537" y="3547751"/>
            <a:ext cx="2425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构建一个“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quote-cjk-patch"/>
              </a:rPr>
              <a:t>安全与质量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”的双重闸口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E5AECBD-5B74-201E-4337-314CFB2673DE}"/>
              </a:ext>
            </a:extLst>
          </p:cNvPr>
          <p:cNvSpPr txBox="1"/>
          <p:nvPr/>
        </p:nvSpPr>
        <p:spPr>
          <a:xfrm>
            <a:off x="6948264" y="3090541"/>
            <a:ext cx="1240155" cy="2539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50" dirty="0">
                <a:solidFill>
                  <a:srgbClr val="24292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后端数据表</a:t>
            </a:r>
          </a:p>
        </p:txBody>
      </p:sp>
    </p:spTree>
    <p:extLst>
      <p:ext uri="{BB962C8B-B14F-4D97-AF65-F5344CB8AC3E}">
        <p14:creationId xmlns:p14="http://schemas.microsoft.com/office/powerpoint/2010/main" val="785269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F888-7A1A-41B9-83DD-691819A8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数据库连接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C5A5E20-D447-786E-BCFA-F67DD94AF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5" y="985653"/>
            <a:ext cx="2937113" cy="271576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C8CB346-3D24-90B6-A9F9-BAA5139FA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9832" y="831765"/>
            <a:ext cx="4369587" cy="12093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A170FF1-AAB6-6339-767C-117AF07496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6907" y="2571750"/>
            <a:ext cx="4369587" cy="131663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6B73C4-0A45-21D4-BDB8-98E6005FD2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494" y="1203598"/>
            <a:ext cx="1642010" cy="1778965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A11063ED-2C98-5CC2-AE47-4C3170E046AE}"/>
              </a:ext>
            </a:extLst>
          </p:cNvPr>
          <p:cNvSpPr/>
          <p:nvPr/>
        </p:nvSpPr>
        <p:spPr>
          <a:xfrm>
            <a:off x="35496" y="3938753"/>
            <a:ext cx="2937112" cy="269461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加载配置并初始化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HikariCP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连接池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BC2474E-66B0-8BF1-53C1-D157F2F3ECB7}"/>
              </a:ext>
            </a:extLst>
          </p:cNvPr>
          <p:cNvSpPr/>
          <p:nvPr/>
        </p:nvSpPr>
        <p:spPr>
          <a:xfrm>
            <a:off x="3635896" y="3938752"/>
            <a:ext cx="2937112" cy="269461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0" i="0">
                <a:solidFill>
                  <a:srgbClr val="0F1115"/>
                </a:solidFill>
                <a:effectLst/>
                <a:latin typeface="quote-cjk-patch"/>
              </a:rPr>
              <a:t>安全关闭连接池，释放所有连接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0DCDE5F-05AB-F304-63E5-82FAB3F13568}"/>
              </a:ext>
            </a:extLst>
          </p:cNvPr>
          <p:cNvSpPr/>
          <p:nvPr/>
        </p:nvSpPr>
        <p:spPr>
          <a:xfrm>
            <a:off x="3966248" y="2133823"/>
            <a:ext cx="2343031" cy="269461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从池中获取连接进行操作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2C4984B-E29C-6D0E-D0CD-22784870DBFD}"/>
              </a:ext>
            </a:extLst>
          </p:cNvPr>
          <p:cNvSpPr/>
          <p:nvPr/>
        </p:nvSpPr>
        <p:spPr>
          <a:xfrm>
            <a:off x="7600122" y="3223087"/>
            <a:ext cx="1398870" cy="269461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数据库表结构</a:t>
            </a:r>
          </a:p>
        </p:txBody>
      </p:sp>
    </p:spTree>
    <p:extLst>
      <p:ext uri="{BB962C8B-B14F-4D97-AF65-F5344CB8AC3E}">
        <p14:creationId xmlns:p14="http://schemas.microsoft.com/office/powerpoint/2010/main" val="83430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3926E56-11E2-4B2B-AA1C-5D1F684EF6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49174"/>
            <a:ext cx="1943199" cy="53477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AD42D23-9145-41EA-AB27-9AA088E35FFA}"/>
              </a:ext>
            </a:extLst>
          </p:cNvPr>
          <p:cNvSpPr txBox="1"/>
          <p:nvPr/>
        </p:nvSpPr>
        <p:spPr>
          <a:xfrm>
            <a:off x="1152127" y="2120538"/>
            <a:ext cx="69847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zh-CN" altLang="en-US" sz="28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恳请老师批评指正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28E2A0A-490D-4FA0-814E-6AD027047792}"/>
              </a:ext>
            </a:extLst>
          </p:cNvPr>
          <p:cNvCxnSpPr/>
          <p:nvPr/>
        </p:nvCxnSpPr>
        <p:spPr>
          <a:xfrm>
            <a:off x="1152128" y="2691158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1">
            <a:extLst>
              <a:ext uri="{FF2B5EF4-FFF2-40B4-BE49-F238E27FC236}">
                <a16:creationId xmlns:a16="http://schemas.microsoft.com/office/drawing/2014/main" id="{660725AF-9C86-4A91-AD17-08FDE39EA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761" y="3592397"/>
            <a:ext cx="5715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iti SC Medium" charset="-122"/>
              </a:rPr>
              <a:t>Dec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iti SC Medium" charset="-122"/>
              </a:rPr>
              <a:t> 23, 2025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eiti SC Medium" charset="-122"/>
            </a:endParaRPr>
          </a:p>
        </p:txBody>
      </p:sp>
      <p:sp>
        <p:nvSpPr>
          <p:cNvPr id="17" name="副标题 3074">
            <a:extLst>
              <a:ext uri="{FF2B5EF4-FFF2-40B4-BE49-F238E27FC236}">
                <a16:creationId xmlns:a16="http://schemas.microsoft.com/office/drawing/2014/main" id="{7ED359D8-6165-457C-A6B9-9EC554BCC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761" y="2967471"/>
            <a:ext cx="5714999" cy="53333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143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0002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4574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9146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3718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171450" marR="0" lvl="0" indent="-171450" algn="ctr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2351136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李盛鹏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506C26-9F07-8B08-3F2A-64E8643C20C7}"/>
              </a:ext>
            </a:extLst>
          </p:cNvPr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83883" y="1088708"/>
            <a:ext cx="2704624" cy="208121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marL="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altLang="zh-CN" sz="24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500" dirty="0">
                <a:solidFill>
                  <a:srgbClr val="116CEE"/>
                </a:solidFill>
                <a:latin typeface="华文中宋" panose="02010600040101010101" charset="-122"/>
                <a:cs typeface="Arial" panose="020B0604020202020204" pitchFamily="34" charset="0"/>
              </a:rPr>
              <a:t>数据库原理课程设计期末报告</a:t>
            </a:r>
          </a:p>
        </p:txBody>
      </p:sp>
    </p:spTree>
    <p:extLst>
      <p:ext uri="{BB962C8B-B14F-4D97-AF65-F5344CB8AC3E}">
        <p14:creationId xmlns:p14="http://schemas.microsoft.com/office/powerpoint/2010/main" val="136408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230_1*b*1"/>
  <p:tag name="KSO_WM_TEMPLATE_CATEGORY" val="custom"/>
  <p:tag name="KSO_WM_TEMPLATE_INDEX" val="20230230"/>
  <p:tag name="KSO_WM_UNIT_LAYERLEVEL" val="1"/>
  <p:tag name="KSO_WM_TAG_VERSION" val="3.0"/>
  <p:tag name="KSO_WM_BEAUTIFY_FLAG" val=""/>
  <p:tag name="KSO_WM_UNIT_ISCONTENTSTITLE" val="0"/>
  <p:tag name="KSO_WM_UNIT_ISNUMDGMTITLE" val="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PRESET_TEXT" val="Simple &amp; Creativ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230_1*b*1"/>
  <p:tag name="KSO_WM_TEMPLATE_CATEGORY" val="custom"/>
  <p:tag name="KSO_WM_TEMPLATE_INDEX" val="20230230"/>
  <p:tag name="KSO_WM_UNIT_LAYERLEVEL" val="1"/>
  <p:tag name="KSO_WM_TAG_VERSION" val="3.0"/>
  <p:tag name="KSO_WM_BEAUTIFY_FLAG" val=""/>
  <p:tag name="KSO_WM_UNIT_ISCONTENTSTITLE" val="0"/>
  <p:tag name="KSO_WM_UNIT_ISNUMDGMTITLE" val="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PRESET_TEXT" val="Simple &amp; Creative"/>
</p:tagLst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25246</TotalTime>
  <Words>906</Words>
  <Application>Microsoft Office PowerPoint</Application>
  <PresentationFormat>全屏显示(16:9)</PresentationFormat>
  <Paragraphs>291</Paragraphs>
  <Slides>20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quote-cjk-patch</vt:lpstr>
      <vt:lpstr>等线</vt:lpstr>
      <vt:lpstr>华文中宋</vt:lpstr>
      <vt:lpstr>微软雅黑</vt:lpstr>
      <vt:lpstr>字魂105号-简雅黑</vt:lpstr>
      <vt:lpstr>Arial</vt:lpstr>
      <vt:lpstr>Times New Roman</vt:lpstr>
      <vt:lpstr>Trebuchet MS</vt:lpstr>
      <vt:lpstr>默认设计模板</vt:lpstr>
      <vt:lpstr>PowerPoint 演示文稿</vt:lpstr>
      <vt:lpstr>PowerPoint 演示文稿</vt:lpstr>
      <vt:lpstr>PowerPoint 演示文稿</vt:lpstr>
      <vt:lpstr>研究背景与现状</vt:lpstr>
      <vt:lpstr>Source</vt:lpstr>
      <vt:lpstr>PowerPoint 演示文稿</vt:lpstr>
      <vt:lpstr>系统需求与用户分析</vt:lpstr>
      <vt:lpstr>PowerPoint 演示文稿</vt:lpstr>
      <vt:lpstr>解决方案</vt:lpstr>
      <vt:lpstr>Design</vt:lpstr>
      <vt:lpstr>Design</vt:lpstr>
      <vt:lpstr>Design</vt:lpstr>
      <vt:lpstr>Design</vt:lpstr>
      <vt:lpstr>权限控制</vt:lpstr>
      <vt:lpstr>消息面板</vt:lpstr>
      <vt:lpstr>可视化数据</vt:lpstr>
      <vt:lpstr>可视化数据</vt:lpstr>
      <vt:lpstr>数据管理</vt:lpstr>
      <vt:lpstr>数据库连接</vt:lpstr>
      <vt:lpstr>PowerPoint 演示文稿</vt:lpstr>
    </vt:vector>
  </TitlesOfParts>
  <Company>Global Intelligence Alliance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盛鹏 李</cp:lastModifiedBy>
  <cp:revision>1981</cp:revision>
  <dcterms:created xsi:type="dcterms:W3CDTF">2007-09-26T12:04:45Z</dcterms:created>
  <dcterms:modified xsi:type="dcterms:W3CDTF">2025-12-23T10:05:23Z</dcterms:modified>
</cp:coreProperties>
</file>